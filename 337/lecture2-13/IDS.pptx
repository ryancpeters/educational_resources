
<file path=[Content_Types].xml><?xml version="1.0" encoding="utf-8"?>
<Types xmlns="http://schemas.openxmlformats.org/package/2006/content-types">
  <Default Extension="png" ContentType="image/png"/>
  <Default Extension="pdf" ContentType="application/pdf"/>
  <Default Extension="wmf" ContentType="image/x-w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7" r:id="rId2"/>
    <p:sldId id="264" r:id="rId3"/>
    <p:sldId id="265" r:id="rId4"/>
    <p:sldId id="266" r:id="rId5"/>
    <p:sldId id="267" r:id="rId6"/>
    <p:sldId id="268" r:id="rId7"/>
    <p:sldId id="269" r:id="rId8"/>
    <p:sldId id="290" r:id="rId9"/>
    <p:sldId id="270" r:id="rId10"/>
    <p:sldId id="271" r:id="rId11"/>
    <p:sldId id="285" r:id="rId12"/>
    <p:sldId id="274" r:id="rId13"/>
    <p:sldId id="286" r:id="rId14"/>
    <p:sldId id="275" r:id="rId15"/>
    <p:sldId id="287" r:id="rId16"/>
    <p:sldId id="291" r:id="rId17"/>
    <p:sldId id="277" r:id="rId18"/>
    <p:sldId id="278" r:id="rId19"/>
    <p:sldId id="279" r:id="rId20"/>
    <p:sldId id="280" r:id="rId21"/>
    <p:sldId id="281" r:id="rId22"/>
    <p:sldId id="282" r:id="rId23"/>
    <p:sldId id="283" r:id="rId24"/>
    <p:sldId id="292" r:id="rId25"/>
    <p:sldId id="293" r:id="rId26"/>
    <p:sldId id="294" r:id="rId27"/>
    <p:sldId id="295" r:id="rId28"/>
    <p:sldId id="296" r:id="rId29"/>
    <p:sldId id="297" r:id="rId30"/>
    <p:sldId id="298" r:id="rId31"/>
    <p:sldId id="299" r:id="rId32"/>
    <p:sldId id="288" r:id="rId33"/>
    <p:sldId id="289"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25" autoAdjust="0"/>
    <p:restoredTop sz="94660"/>
  </p:normalViewPr>
  <p:slideViewPr>
    <p:cSldViewPr snapToGrid="0">
      <p:cViewPr varScale="1">
        <p:scale>
          <a:sx n="105" d="100"/>
          <a:sy n="105" d="100"/>
        </p:scale>
        <p:origin x="12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9689993-A608-0F4A-B609-2A25CAA6B076}" type="doc">
      <dgm:prSet loTypeId="urn:microsoft.com/office/officeart/2005/8/layout/default" loCatId="" qsTypeId="urn:microsoft.com/office/officeart/2005/8/quickstyle/simple4" qsCatId="simple" csTypeId="urn:microsoft.com/office/officeart/2005/8/colors/accent1_2" csCatId="accent1" phldr="1"/>
      <dgm:spPr/>
      <dgm:t>
        <a:bodyPr/>
        <a:lstStyle/>
        <a:p>
          <a:endParaRPr lang="en-US"/>
        </a:p>
      </dgm:t>
    </dgm:pt>
    <dgm:pt modelId="{B7D5CB31-52A7-2C42-9F1A-684D27BD374A}">
      <dgm:prSet/>
      <dgm:spPr>
        <a:solidFill>
          <a:schemeClr val="accent3">
            <a:lumMod val="75000"/>
          </a:schemeClr>
        </a:solidFill>
      </dgm:spPr>
      <dgm:t>
        <a:bodyPr/>
        <a:lstStyle/>
        <a:p>
          <a:pPr rtl="0"/>
          <a:r>
            <a:rPr lang="en-US" b="1" dirty="0" smtClean="0">
              <a:solidFill>
                <a:schemeClr val="bg1"/>
              </a:solidFill>
            </a:rPr>
            <a:t>Target acquisition and information gathering</a:t>
          </a:r>
          <a:endParaRPr lang="en-US" b="1" dirty="0">
            <a:solidFill>
              <a:schemeClr val="bg1"/>
            </a:solidFill>
          </a:endParaRPr>
        </a:p>
      </dgm:t>
    </dgm:pt>
    <dgm:pt modelId="{454CFE5B-544A-2442-B675-35F2A6D4E406}" type="parTrans" cxnId="{6C439F48-2CBE-E74B-9966-ED6E0EB5E021}">
      <dgm:prSet/>
      <dgm:spPr/>
      <dgm:t>
        <a:bodyPr/>
        <a:lstStyle/>
        <a:p>
          <a:endParaRPr lang="en-US"/>
        </a:p>
      </dgm:t>
    </dgm:pt>
    <dgm:pt modelId="{D260C042-4221-AE4E-B84F-484A5D93934D}" type="sibTrans" cxnId="{6C439F48-2CBE-E74B-9966-ED6E0EB5E021}">
      <dgm:prSet/>
      <dgm:spPr/>
      <dgm:t>
        <a:bodyPr/>
        <a:lstStyle/>
        <a:p>
          <a:endParaRPr lang="en-US"/>
        </a:p>
      </dgm:t>
    </dgm:pt>
    <dgm:pt modelId="{BE967D10-76BB-244F-8366-2B2F2CB8CAA7}">
      <dgm:prSet/>
      <dgm:spPr/>
      <dgm:t>
        <a:bodyPr/>
        <a:lstStyle/>
        <a:p>
          <a:pPr rtl="0"/>
          <a:r>
            <a:rPr lang="en-US" b="1" dirty="0" smtClean="0">
              <a:solidFill>
                <a:schemeClr val="bg1"/>
              </a:solidFill>
            </a:rPr>
            <a:t>Initial access</a:t>
          </a:r>
          <a:endParaRPr lang="en-US" b="1" dirty="0">
            <a:solidFill>
              <a:schemeClr val="bg1"/>
            </a:solidFill>
          </a:endParaRPr>
        </a:p>
      </dgm:t>
    </dgm:pt>
    <dgm:pt modelId="{F86DA9D4-48CB-BB41-818D-68AFDFBD6BCC}" type="parTrans" cxnId="{4430D97D-BCC5-9941-A273-63253BF79EB2}">
      <dgm:prSet/>
      <dgm:spPr/>
      <dgm:t>
        <a:bodyPr/>
        <a:lstStyle/>
        <a:p>
          <a:endParaRPr lang="en-US"/>
        </a:p>
      </dgm:t>
    </dgm:pt>
    <dgm:pt modelId="{095A873D-16E5-B742-9604-F33541A95589}" type="sibTrans" cxnId="{4430D97D-BCC5-9941-A273-63253BF79EB2}">
      <dgm:prSet/>
      <dgm:spPr/>
      <dgm:t>
        <a:bodyPr/>
        <a:lstStyle/>
        <a:p>
          <a:endParaRPr lang="en-US"/>
        </a:p>
      </dgm:t>
    </dgm:pt>
    <dgm:pt modelId="{310E58A9-AC31-2345-9DA0-21BCB468ADB9}">
      <dgm:prSet/>
      <dgm:spPr>
        <a:solidFill>
          <a:schemeClr val="accent5">
            <a:lumMod val="75000"/>
          </a:schemeClr>
        </a:solidFill>
      </dgm:spPr>
      <dgm:t>
        <a:bodyPr/>
        <a:lstStyle/>
        <a:p>
          <a:pPr rtl="0"/>
          <a:r>
            <a:rPr lang="en-US" b="1" smtClean="0">
              <a:solidFill>
                <a:schemeClr val="bg1"/>
              </a:solidFill>
            </a:rPr>
            <a:t>Privilege escalation</a:t>
          </a:r>
          <a:endParaRPr lang="en-US" b="1">
            <a:solidFill>
              <a:schemeClr val="bg1"/>
            </a:solidFill>
          </a:endParaRPr>
        </a:p>
      </dgm:t>
    </dgm:pt>
    <dgm:pt modelId="{03E9110C-8BED-6D4A-8F43-88D8D24AB143}" type="parTrans" cxnId="{1C1CAF4F-6931-5943-978C-50DA4870C5C4}">
      <dgm:prSet/>
      <dgm:spPr/>
      <dgm:t>
        <a:bodyPr/>
        <a:lstStyle/>
        <a:p>
          <a:endParaRPr lang="en-US"/>
        </a:p>
      </dgm:t>
    </dgm:pt>
    <dgm:pt modelId="{713275A2-EF9B-C546-85BB-DD520F96A12D}" type="sibTrans" cxnId="{1C1CAF4F-6931-5943-978C-50DA4870C5C4}">
      <dgm:prSet/>
      <dgm:spPr/>
      <dgm:t>
        <a:bodyPr/>
        <a:lstStyle/>
        <a:p>
          <a:endParaRPr lang="en-US"/>
        </a:p>
      </dgm:t>
    </dgm:pt>
    <dgm:pt modelId="{0ABC1901-0F3C-9A44-B900-E447E627FD0A}">
      <dgm:prSet/>
      <dgm:spPr>
        <a:solidFill>
          <a:schemeClr val="accent5">
            <a:lumMod val="75000"/>
          </a:schemeClr>
        </a:solidFill>
      </dgm:spPr>
      <dgm:t>
        <a:bodyPr/>
        <a:lstStyle/>
        <a:p>
          <a:pPr rtl="0"/>
          <a:r>
            <a:rPr lang="en-US" b="1" dirty="0" smtClean="0">
              <a:solidFill>
                <a:schemeClr val="bg1"/>
              </a:solidFill>
            </a:rPr>
            <a:t>Information gathering or system exploit</a:t>
          </a:r>
          <a:endParaRPr lang="en-US" b="1" dirty="0">
            <a:solidFill>
              <a:schemeClr val="bg1"/>
            </a:solidFill>
          </a:endParaRPr>
        </a:p>
      </dgm:t>
    </dgm:pt>
    <dgm:pt modelId="{BC1D6A23-3960-B949-8286-BA3242B38BA1}" type="parTrans" cxnId="{5534D722-722A-9A48-A7A8-49760E75BD1A}">
      <dgm:prSet/>
      <dgm:spPr/>
      <dgm:t>
        <a:bodyPr/>
        <a:lstStyle/>
        <a:p>
          <a:endParaRPr lang="en-US"/>
        </a:p>
      </dgm:t>
    </dgm:pt>
    <dgm:pt modelId="{D65B1CB8-CAB6-4E4A-9351-DC2344934A3A}" type="sibTrans" cxnId="{5534D722-722A-9A48-A7A8-49760E75BD1A}">
      <dgm:prSet/>
      <dgm:spPr/>
      <dgm:t>
        <a:bodyPr/>
        <a:lstStyle/>
        <a:p>
          <a:endParaRPr lang="en-US"/>
        </a:p>
      </dgm:t>
    </dgm:pt>
    <dgm:pt modelId="{AB3FA4D1-D445-6E46-8475-88DDED8DF198}">
      <dgm:prSet/>
      <dgm:spPr/>
      <dgm:t>
        <a:bodyPr/>
        <a:lstStyle/>
        <a:p>
          <a:pPr rtl="0"/>
          <a:r>
            <a:rPr lang="en-US" b="1" smtClean="0">
              <a:solidFill>
                <a:schemeClr val="bg1"/>
              </a:solidFill>
            </a:rPr>
            <a:t>Maintaining access</a:t>
          </a:r>
          <a:endParaRPr lang="en-US" b="1">
            <a:solidFill>
              <a:schemeClr val="bg1"/>
            </a:solidFill>
          </a:endParaRPr>
        </a:p>
      </dgm:t>
    </dgm:pt>
    <dgm:pt modelId="{4F6846BB-6B89-0C4C-B739-C94DCCFDB257}" type="parTrans" cxnId="{F066C4BB-1A2B-6E4E-AB4D-2C6486E85294}">
      <dgm:prSet/>
      <dgm:spPr/>
      <dgm:t>
        <a:bodyPr/>
        <a:lstStyle/>
        <a:p>
          <a:endParaRPr lang="en-US"/>
        </a:p>
      </dgm:t>
    </dgm:pt>
    <dgm:pt modelId="{4A8EAB5D-7450-9046-8856-0210B53B77C9}" type="sibTrans" cxnId="{F066C4BB-1A2B-6E4E-AB4D-2C6486E85294}">
      <dgm:prSet/>
      <dgm:spPr/>
      <dgm:t>
        <a:bodyPr/>
        <a:lstStyle/>
        <a:p>
          <a:endParaRPr lang="en-US"/>
        </a:p>
      </dgm:t>
    </dgm:pt>
    <dgm:pt modelId="{6E378186-BFDE-7B45-9AFB-6ADAA33D7EF5}">
      <dgm:prSet/>
      <dgm:spPr>
        <a:solidFill>
          <a:schemeClr val="accent3">
            <a:lumMod val="75000"/>
          </a:schemeClr>
        </a:solidFill>
      </dgm:spPr>
      <dgm:t>
        <a:bodyPr/>
        <a:lstStyle/>
        <a:p>
          <a:pPr rtl="0"/>
          <a:r>
            <a:rPr lang="en-US" b="1" dirty="0" smtClean="0">
              <a:solidFill>
                <a:schemeClr val="bg1"/>
              </a:solidFill>
            </a:rPr>
            <a:t>Covering tracks</a:t>
          </a:r>
          <a:endParaRPr lang="en-US" b="1" dirty="0">
            <a:solidFill>
              <a:schemeClr val="bg1"/>
            </a:solidFill>
          </a:endParaRPr>
        </a:p>
      </dgm:t>
    </dgm:pt>
    <dgm:pt modelId="{89A27089-D4A9-5D41-9671-D6B20F519C56}" type="parTrans" cxnId="{7E33C85B-725A-5648-991B-E9A0FC31C3D6}">
      <dgm:prSet/>
      <dgm:spPr/>
      <dgm:t>
        <a:bodyPr/>
        <a:lstStyle/>
        <a:p>
          <a:endParaRPr lang="en-US"/>
        </a:p>
      </dgm:t>
    </dgm:pt>
    <dgm:pt modelId="{626E57D7-0F69-DA46-BB16-B660761110FD}" type="sibTrans" cxnId="{7E33C85B-725A-5648-991B-E9A0FC31C3D6}">
      <dgm:prSet/>
      <dgm:spPr/>
      <dgm:t>
        <a:bodyPr/>
        <a:lstStyle/>
        <a:p>
          <a:endParaRPr lang="en-US"/>
        </a:p>
      </dgm:t>
    </dgm:pt>
    <dgm:pt modelId="{8DE4CA74-0CF1-2E4D-9130-64EDAC61D05F}" type="pres">
      <dgm:prSet presAssocID="{69689993-A608-0F4A-B609-2A25CAA6B076}" presName="diagram" presStyleCnt="0">
        <dgm:presLayoutVars>
          <dgm:dir/>
          <dgm:resizeHandles val="exact"/>
        </dgm:presLayoutVars>
      </dgm:prSet>
      <dgm:spPr/>
      <dgm:t>
        <a:bodyPr/>
        <a:lstStyle/>
        <a:p>
          <a:endParaRPr lang="en-US"/>
        </a:p>
      </dgm:t>
    </dgm:pt>
    <dgm:pt modelId="{A86BA16E-AC4F-E04B-820B-E3B87DFBC5A9}" type="pres">
      <dgm:prSet presAssocID="{B7D5CB31-52A7-2C42-9F1A-684D27BD374A}" presName="node" presStyleLbl="node1" presStyleIdx="0" presStyleCnt="6">
        <dgm:presLayoutVars>
          <dgm:bulletEnabled val="1"/>
        </dgm:presLayoutVars>
      </dgm:prSet>
      <dgm:spPr/>
      <dgm:t>
        <a:bodyPr/>
        <a:lstStyle/>
        <a:p>
          <a:endParaRPr lang="en-US"/>
        </a:p>
      </dgm:t>
    </dgm:pt>
    <dgm:pt modelId="{EAA2501C-1882-6C47-8549-2A19C21E1B9E}" type="pres">
      <dgm:prSet presAssocID="{D260C042-4221-AE4E-B84F-484A5D93934D}" presName="sibTrans" presStyleCnt="0"/>
      <dgm:spPr/>
    </dgm:pt>
    <dgm:pt modelId="{BC544D0F-1EDE-9443-BA37-B40EB0DF35F8}" type="pres">
      <dgm:prSet presAssocID="{BE967D10-76BB-244F-8366-2B2F2CB8CAA7}" presName="node" presStyleLbl="node1" presStyleIdx="1" presStyleCnt="6">
        <dgm:presLayoutVars>
          <dgm:bulletEnabled val="1"/>
        </dgm:presLayoutVars>
      </dgm:prSet>
      <dgm:spPr/>
      <dgm:t>
        <a:bodyPr/>
        <a:lstStyle/>
        <a:p>
          <a:endParaRPr lang="en-US"/>
        </a:p>
      </dgm:t>
    </dgm:pt>
    <dgm:pt modelId="{014A3BC5-7E28-C84A-8281-3C0E45AE6BA6}" type="pres">
      <dgm:prSet presAssocID="{095A873D-16E5-B742-9604-F33541A95589}" presName="sibTrans" presStyleCnt="0"/>
      <dgm:spPr/>
    </dgm:pt>
    <dgm:pt modelId="{4B00634A-7EB6-4A48-B27F-677F606BAC24}" type="pres">
      <dgm:prSet presAssocID="{310E58A9-AC31-2345-9DA0-21BCB468ADB9}" presName="node" presStyleLbl="node1" presStyleIdx="2" presStyleCnt="6">
        <dgm:presLayoutVars>
          <dgm:bulletEnabled val="1"/>
        </dgm:presLayoutVars>
      </dgm:prSet>
      <dgm:spPr/>
      <dgm:t>
        <a:bodyPr/>
        <a:lstStyle/>
        <a:p>
          <a:endParaRPr lang="en-US"/>
        </a:p>
      </dgm:t>
    </dgm:pt>
    <dgm:pt modelId="{B4D22463-B97C-D24E-A6E7-9627C99941ED}" type="pres">
      <dgm:prSet presAssocID="{713275A2-EF9B-C546-85BB-DD520F96A12D}" presName="sibTrans" presStyleCnt="0"/>
      <dgm:spPr/>
    </dgm:pt>
    <dgm:pt modelId="{22169D04-2360-A443-8CE5-0174128DF5E6}" type="pres">
      <dgm:prSet presAssocID="{0ABC1901-0F3C-9A44-B900-E447E627FD0A}" presName="node" presStyleLbl="node1" presStyleIdx="3" presStyleCnt="6">
        <dgm:presLayoutVars>
          <dgm:bulletEnabled val="1"/>
        </dgm:presLayoutVars>
      </dgm:prSet>
      <dgm:spPr/>
      <dgm:t>
        <a:bodyPr/>
        <a:lstStyle/>
        <a:p>
          <a:endParaRPr lang="en-US"/>
        </a:p>
      </dgm:t>
    </dgm:pt>
    <dgm:pt modelId="{27CB4B39-F167-5A4A-9460-55FF63FFA1A8}" type="pres">
      <dgm:prSet presAssocID="{D65B1CB8-CAB6-4E4A-9351-DC2344934A3A}" presName="sibTrans" presStyleCnt="0"/>
      <dgm:spPr/>
    </dgm:pt>
    <dgm:pt modelId="{14485093-1F1B-5D49-B8E1-02E45C547FDB}" type="pres">
      <dgm:prSet presAssocID="{AB3FA4D1-D445-6E46-8475-88DDED8DF198}" presName="node" presStyleLbl="node1" presStyleIdx="4" presStyleCnt="6">
        <dgm:presLayoutVars>
          <dgm:bulletEnabled val="1"/>
        </dgm:presLayoutVars>
      </dgm:prSet>
      <dgm:spPr/>
      <dgm:t>
        <a:bodyPr/>
        <a:lstStyle/>
        <a:p>
          <a:endParaRPr lang="en-US"/>
        </a:p>
      </dgm:t>
    </dgm:pt>
    <dgm:pt modelId="{949CC21E-5DCD-8F40-AE4B-51DC4F086BB6}" type="pres">
      <dgm:prSet presAssocID="{4A8EAB5D-7450-9046-8856-0210B53B77C9}" presName="sibTrans" presStyleCnt="0"/>
      <dgm:spPr/>
    </dgm:pt>
    <dgm:pt modelId="{D278A66A-1C9D-964C-944D-320621A818BD}" type="pres">
      <dgm:prSet presAssocID="{6E378186-BFDE-7B45-9AFB-6ADAA33D7EF5}" presName="node" presStyleLbl="node1" presStyleIdx="5" presStyleCnt="6">
        <dgm:presLayoutVars>
          <dgm:bulletEnabled val="1"/>
        </dgm:presLayoutVars>
      </dgm:prSet>
      <dgm:spPr/>
      <dgm:t>
        <a:bodyPr/>
        <a:lstStyle/>
        <a:p>
          <a:endParaRPr lang="en-US"/>
        </a:p>
      </dgm:t>
    </dgm:pt>
  </dgm:ptLst>
  <dgm:cxnLst>
    <dgm:cxn modelId="{1C1CAF4F-6931-5943-978C-50DA4870C5C4}" srcId="{69689993-A608-0F4A-B609-2A25CAA6B076}" destId="{310E58A9-AC31-2345-9DA0-21BCB468ADB9}" srcOrd="2" destOrd="0" parTransId="{03E9110C-8BED-6D4A-8F43-88D8D24AB143}" sibTransId="{713275A2-EF9B-C546-85BB-DD520F96A12D}"/>
    <dgm:cxn modelId="{CCABEB63-66D4-D649-9934-A11CB5CB49B5}" type="presOf" srcId="{69689993-A608-0F4A-B609-2A25CAA6B076}" destId="{8DE4CA74-0CF1-2E4D-9130-64EDAC61D05F}" srcOrd="0" destOrd="0" presId="urn:microsoft.com/office/officeart/2005/8/layout/default"/>
    <dgm:cxn modelId="{F066C4BB-1A2B-6E4E-AB4D-2C6486E85294}" srcId="{69689993-A608-0F4A-B609-2A25CAA6B076}" destId="{AB3FA4D1-D445-6E46-8475-88DDED8DF198}" srcOrd="4" destOrd="0" parTransId="{4F6846BB-6B89-0C4C-B739-C94DCCFDB257}" sibTransId="{4A8EAB5D-7450-9046-8856-0210B53B77C9}"/>
    <dgm:cxn modelId="{95A3D18D-C569-BC4C-83BA-04DA17EFD7EA}" type="presOf" srcId="{AB3FA4D1-D445-6E46-8475-88DDED8DF198}" destId="{14485093-1F1B-5D49-B8E1-02E45C547FDB}" srcOrd="0" destOrd="0" presId="urn:microsoft.com/office/officeart/2005/8/layout/default"/>
    <dgm:cxn modelId="{4430D97D-BCC5-9941-A273-63253BF79EB2}" srcId="{69689993-A608-0F4A-B609-2A25CAA6B076}" destId="{BE967D10-76BB-244F-8366-2B2F2CB8CAA7}" srcOrd="1" destOrd="0" parTransId="{F86DA9D4-48CB-BB41-818D-68AFDFBD6BCC}" sibTransId="{095A873D-16E5-B742-9604-F33541A95589}"/>
    <dgm:cxn modelId="{BE15300C-FDA6-7346-820E-97DF136AD018}" type="presOf" srcId="{B7D5CB31-52A7-2C42-9F1A-684D27BD374A}" destId="{A86BA16E-AC4F-E04B-820B-E3B87DFBC5A9}" srcOrd="0" destOrd="0" presId="urn:microsoft.com/office/officeart/2005/8/layout/default"/>
    <dgm:cxn modelId="{6C439F48-2CBE-E74B-9966-ED6E0EB5E021}" srcId="{69689993-A608-0F4A-B609-2A25CAA6B076}" destId="{B7D5CB31-52A7-2C42-9F1A-684D27BD374A}" srcOrd="0" destOrd="0" parTransId="{454CFE5B-544A-2442-B675-35F2A6D4E406}" sibTransId="{D260C042-4221-AE4E-B84F-484A5D93934D}"/>
    <dgm:cxn modelId="{E634A3E8-4BB8-4040-BA81-0D4731D2A8E5}" type="presOf" srcId="{BE967D10-76BB-244F-8366-2B2F2CB8CAA7}" destId="{BC544D0F-1EDE-9443-BA37-B40EB0DF35F8}" srcOrd="0" destOrd="0" presId="urn:microsoft.com/office/officeart/2005/8/layout/default"/>
    <dgm:cxn modelId="{996316B7-40EA-8E4F-932D-7791EA9B1873}" type="presOf" srcId="{310E58A9-AC31-2345-9DA0-21BCB468ADB9}" destId="{4B00634A-7EB6-4A48-B27F-677F606BAC24}" srcOrd="0" destOrd="0" presId="urn:microsoft.com/office/officeart/2005/8/layout/default"/>
    <dgm:cxn modelId="{7E33C85B-725A-5648-991B-E9A0FC31C3D6}" srcId="{69689993-A608-0F4A-B609-2A25CAA6B076}" destId="{6E378186-BFDE-7B45-9AFB-6ADAA33D7EF5}" srcOrd="5" destOrd="0" parTransId="{89A27089-D4A9-5D41-9671-D6B20F519C56}" sibTransId="{626E57D7-0F69-DA46-BB16-B660761110FD}"/>
    <dgm:cxn modelId="{5534D722-722A-9A48-A7A8-49760E75BD1A}" srcId="{69689993-A608-0F4A-B609-2A25CAA6B076}" destId="{0ABC1901-0F3C-9A44-B900-E447E627FD0A}" srcOrd="3" destOrd="0" parTransId="{BC1D6A23-3960-B949-8286-BA3242B38BA1}" sibTransId="{D65B1CB8-CAB6-4E4A-9351-DC2344934A3A}"/>
    <dgm:cxn modelId="{25532CB5-EC15-A045-B394-EB06186FF920}" type="presOf" srcId="{6E378186-BFDE-7B45-9AFB-6ADAA33D7EF5}" destId="{D278A66A-1C9D-964C-944D-320621A818BD}" srcOrd="0" destOrd="0" presId="urn:microsoft.com/office/officeart/2005/8/layout/default"/>
    <dgm:cxn modelId="{93DDC6AD-0358-B44B-B3A5-E07674E6DA48}" type="presOf" srcId="{0ABC1901-0F3C-9A44-B900-E447E627FD0A}" destId="{22169D04-2360-A443-8CE5-0174128DF5E6}" srcOrd="0" destOrd="0" presId="urn:microsoft.com/office/officeart/2005/8/layout/default"/>
    <dgm:cxn modelId="{0814D2DC-F54D-0E46-BBED-CA463250B1EE}" type="presParOf" srcId="{8DE4CA74-0CF1-2E4D-9130-64EDAC61D05F}" destId="{A86BA16E-AC4F-E04B-820B-E3B87DFBC5A9}" srcOrd="0" destOrd="0" presId="urn:microsoft.com/office/officeart/2005/8/layout/default"/>
    <dgm:cxn modelId="{2E5D76AF-B477-AD40-BC9C-68C5F4CFB272}" type="presParOf" srcId="{8DE4CA74-0CF1-2E4D-9130-64EDAC61D05F}" destId="{EAA2501C-1882-6C47-8549-2A19C21E1B9E}" srcOrd="1" destOrd="0" presId="urn:microsoft.com/office/officeart/2005/8/layout/default"/>
    <dgm:cxn modelId="{1C5DF1FA-05DF-0C47-83D2-DFAC923AD9EE}" type="presParOf" srcId="{8DE4CA74-0CF1-2E4D-9130-64EDAC61D05F}" destId="{BC544D0F-1EDE-9443-BA37-B40EB0DF35F8}" srcOrd="2" destOrd="0" presId="urn:microsoft.com/office/officeart/2005/8/layout/default"/>
    <dgm:cxn modelId="{9B21C75C-6D11-7F4B-954D-9A57FAD7ED81}" type="presParOf" srcId="{8DE4CA74-0CF1-2E4D-9130-64EDAC61D05F}" destId="{014A3BC5-7E28-C84A-8281-3C0E45AE6BA6}" srcOrd="3" destOrd="0" presId="urn:microsoft.com/office/officeart/2005/8/layout/default"/>
    <dgm:cxn modelId="{CAE2CAB9-0E7C-544D-A1B8-6C0B8601E95C}" type="presParOf" srcId="{8DE4CA74-0CF1-2E4D-9130-64EDAC61D05F}" destId="{4B00634A-7EB6-4A48-B27F-677F606BAC24}" srcOrd="4" destOrd="0" presId="urn:microsoft.com/office/officeart/2005/8/layout/default"/>
    <dgm:cxn modelId="{CCE1A8C3-8118-A045-A1FD-3E67205F2AFF}" type="presParOf" srcId="{8DE4CA74-0CF1-2E4D-9130-64EDAC61D05F}" destId="{B4D22463-B97C-D24E-A6E7-9627C99941ED}" srcOrd="5" destOrd="0" presId="urn:microsoft.com/office/officeart/2005/8/layout/default"/>
    <dgm:cxn modelId="{8799B39E-4A7E-3D41-896A-BC9098E6EA7B}" type="presParOf" srcId="{8DE4CA74-0CF1-2E4D-9130-64EDAC61D05F}" destId="{22169D04-2360-A443-8CE5-0174128DF5E6}" srcOrd="6" destOrd="0" presId="urn:microsoft.com/office/officeart/2005/8/layout/default"/>
    <dgm:cxn modelId="{54C21EBE-2B69-EC44-B064-BBA64DB7ADCE}" type="presParOf" srcId="{8DE4CA74-0CF1-2E4D-9130-64EDAC61D05F}" destId="{27CB4B39-F167-5A4A-9460-55FF63FFA1A8}" srcOrd="7" destOrd="0" presId="urn:microsoft.com/office/officeart/2005/8/layout/default"/>
    <dgm:cxn modelId="{4E6B0904-C592-744A-8DAC-3098DE4823FD}" type="presParOf" srcId="{8DE4CA74-0CF1-2E4D-9130-64EDAC61D05F}" destId="{14485093-1F1B-5D49-B8E1-02E45C547FDB}" srcOrd="8" destOrd="0" presId="urn:microsoft.com/office/officeart/2005/8/layout/default"/>
    <dgm:cxn modelId="{22D715A5-BD86-FC49-AFC3-070897A2CC66}" type="presParOf" srcId="{8DE4CA74-0CF1-2E4D-9130-64EDAC61D05F}" destId="{949CC21E-5DCD-8F40-AE4B-51DC4F086BB6}" srcOrd="9" destOrd="0" presId="urn:microsoft.com/office/officeart/2005/8/layout/default"/>
    <dgm:cxn modelId="{A590542D-1653-6F43-A673-C3CFF5E7855D}" type="presParOf" srcId="{8DE4CA74-0CF1-2E4D-9130-64EDAC61D05F}" destId="{D278A66A-1C9D-964C-944D-320621A818BD}" srcOrd="10"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6BA16E-AC4F-E04B-820B-E3B87DFBC5A9}">
      <dsp:nvSpPr>
        <dsp:cNvPr id="0" name=""/>
        <dsp:cNvSpPr/>
      </dsp:nvSpPr>
      <dsp:spPr>
        <a:xfrm>
          <a:off x="0" y="513056"/>
          <a:ext cx="2700300" cy="1620180"/>
        </a:xfrm>
        <a:prstGeom prst="rect">
          <a:avLst/>
        </a:prstGeom>
        <a:solidFill>
          <a:schemeClr val="accent3">
            <a:lumMod val="75000"/>
          </a:schemeClr>
        </a:soli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1" kern="1200" dirty="0" smtClean="0">
              <a:solidFill>
                <a:schemeClr val="bg1"/>
              </a:solidFill>
            </a:rPr>
            <a:t>Target acquisition and information gathering</a:t>
          </a:r>
          <a:endParaRPr lang="en-US" sz="2500" b="1" kern="1200" dirty="0">
            <a:solidFill>
              <a:schemeClr val="bg1"/>
            </a:solidFill>
          </a:endParaRPr>
        </a:p>
      </dsp:txBody>
      <dsp:txXfrm>
        <a:off x="0" y="513056"/>
        <a:ext cx="2700300" cy="1620180"/>
      </dsp:txXfrm>
    </dsp:sp>
    <dsp:sp modelId="{BC544D0F-1EDE-9443-BA37-B40EB0DF35F8}">
      <dsp:nvSpPr>
        <dsp:cNvPr id="0" name=""/>
        <dsp:cNvSpPr/>
      </dsp:nvSpPr>
      <dsp:spPr>
        <a:xfrm>
          <a:off x="2970329" y="513056"/>
          <a:ext cx="2700300" cy="1620180"/>
        </a:xfrm>
        <a:prstGeom prst="rect">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1" kern="1200" dirty="0" smtClean="0">
              <a:solidFill>
                <a:schemeClr val="bg1"/>
              </a:solidFill>
            </a:rPr>
            <a:t>Initial access</a:t>
          </a:r>
          <a:endParaRPr lang="en-US" sz="2500" b="1" kern="1200" dirty="0">
            <a:solidFill>
              <a:schemeClr val="bg1"/>
            </a:solidFill>
          </a:endParaRPr>
        </a:p>
      </dsp:txBody>
      <dsp:txXfrm>
        <a:off x="2970329" y="513056"/>
        <a:ext cx="2700300" cy="1620180"/>
      </dsp:txXfrm>
    </dsp:sp>
    <dsp:sp modelId="{4B00634A-7EB6-4A48-B27F-677F606BAC24}">
      <dsp:nvSpPr>
        <dsp:cNvPr id="0" name=""/>
        <dsp:cNvSpPr/>
      </dsp:nvSpPr>
      <dsp:spPr>
        <a:xfrm>
          <a:off x="5940659" y="513056"/>
          <a:ext cx="2700300" cy="1620180"/>
        </a:xfrm>
        <a:prstGeom prst="rect">
          <a:avLst/>
        </a:prstGeom>
        <a:solidFill>
          <a:schemeClr val="accent5">
            <a:lumMod val="75000"/>
          </a:schemeClr>
        </a:soli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1" kern="1200" smtClean="0">
              <a:solidFill>
                <a:schemeClr val="bg1"/>
              </a:solidFill>
            </a:rPr>
            <a:t>Privilege escalation</a:t>
          </a:r>
          <a:endParaRPr lang="en-US" sz="2500" b="1" kern="1200">
            <a:solidFill>
              <a:schemeClr val="bg1"/>
            </a:solidFill>
          </a:endParaRPr>
        </a:p>
      </dsp:txBody>
      <dsp:txXfrm>
        <a:off x="5940659" y="513056"/>
        <a:ext cx="2700300" cy="1620180"/>
      </dsp:txXfrm>
    </dsp:sp>
    <dsp:sp modelId="{22169D04-2360-A443-8CE5-0174128DF5E6}">
      <dsp:nvSpPr>
        <dsp:cNvPr id="0" name=""/>
        <dsp:cNvSpPr/>
      </dsp:nvSpPr>
      <dsp:spPr>
        <a:xfrm>
          <a:off x="0" y="2403266"/>
          <a:ext cx="2700300" cy="1620180"/>
        </a:xfrm>
        <a:prstGeom prst="rect">
          <a:avLst/>
        </a:prstGeom>
        <a:solidFill>
          <a:schemeClr val="accent5">
            <a:lumMod val="75000"/>
          </a:schemeClr>
        </a:soli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1" kern="1200" dirty="0" smtClean="0">
              <a:solidFill>
                <a:schemeClr val="bg1"/>
              </a:solidFill>
            </a:rPr>
            <a:t>Information gathering or system exploit</a:t>
          </a:r>
          <a:endParaRPr lang="en-US" sz="2500" b="1" kern="1200" dirty="0">
            <a:solidFill>
              <a:schemeClr val="bg1"/>
            </a:solidFill>
          </a:endParaRPr>
        </a:p>
      </dsp:txBody>
      <dsp:txXfrm>
        <a:off x="0" y="2403266"/>
        <a:ext cx="2700300" cy="1620180"/>
      </dsp:txXfrm>
    </dsp:sp>
    <dsp:sp modelId="{14485093-1F1B-5D49-B8E1-02E45C547FDB}">
      <dsp:nvSpPr>
        <dsp:cNvPr id="0" name=""/>
        <dsp:cNvSpPr/>
      </dsp:nvSpPr>
      <dsp:spPr>
        <a:xfrm>
          <a:off x="2970329" y="2403267"/>
          <a:ext cx="2700300" cy="1620180"/>
        </a:xfrm>
        <a:prstGeom prst="rect">
          <a:avLst/>
        </a:prstGeom>
        <a:gradFill rotWithShape="0">
          <a:gsLst>
            <a:gs pos="0">
              <a:schemeClr val="accent1">
                <a:hueOff val="0"/>
                <a:satOff val="0"/>
                <a:lumOff val="0"/>
                <a:alphaOff val="0"/>
                <a:shade val="70000"/>
                <a:satMod val="120000"/>
              </a:schemeClr>
            </a:gs>
            <a:gs pos="35000">
              <a:schemeClr val="accent1">
                <a:hueOff val="0"/>
                <a:satOff val="0"/>
                <a:lumOff val="0"/>
                <a:alphaOff val="0"/>
                <a:shade val="100000"/>
                <a:satMod val="150000"/>
              </a:schemeClr>
            </a:gs>
            <a:gs pos="70000">
              <a:schemeClr val="accent1">
                <a:hueOff val="0"/>
                <a:satOff val="0"/>
                <a:lumOff val="0"/>
                <a:alphaOff val="0"/>
                <a:tint val="100000"/>
                <a:shade val="100000"/>
                <a:satMod val="200000"/>
                <a:greenMod val="100000"/>
              </a:schemeClr>
            </a:gs>
            <a:gs pos="100000">
              <a:schemeClr val="accent1">
                <a:hueOff val="0"/>
                <a:satOff val="0"/>
                <a:lumOff val="0"/>
                <a:alphaOff val="0"/>
                <a:tint val="100000"/>
                <a:shade val="100000"/>
                <a:satMod val="250000"/>
                <a:greenMod val="100000"/>
              </a:schemeClr>
            </a:gs>
          </a:gsLst>
          <a:lin ang="16200000" scaled="1"/>
        </a:gra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1" kern="1200" smtClean="0">
              <a:solidFill>
                <a:schemeClr val="bg1"/>
              </a:solidFill>
            </a:rPr>
            <a:t>Maintaining access</a:t>
          </a:r>
          <a:endParaRPr lang="en-US" sz="2500" b="1" kern="1200">
            <a:solidFill>
              <a:schemeClr val="bg1"/>
            </a:solidFill>
          </a:endParaRPr>
        </a:p>
      </dsp:txBody>
      <dsp:txXfrm>
        <a:off x="2970329" y="2403267"/>
        <a:ext cx="2700300" cy="1620180"/>
      </dsp:txXfrm>
    </dsp:sp>
    <dsp:sp modelId="{D278A66A-1C9D-964C-944D-320621A818BD}">
      <dsp:nvSpPr>
        <dsp:cNvPr id="0" name=""/>
        <dsp:cNvSpPr/>
      </dsp:nvSpPr>
      <dsp:spPr>
        <a:xfrm>
          <a:off x="5940659" y="2403267"/>
          <a:ext cx="2700300" cy="1620180"/>
        </a:xfrm>
        <a:prstGeom prst="rect">
          <a:avLst/>
        </a:prstGeom>
        <a:solidFill>
          <a:schemeClr val="accent3">
            <a:lumMod val="75000"/>
          </a:schemeClr>
        </a:solidFill>
        <a:ln>
          <a:noFill/>
        </a:ln>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lvl="0" algn="ctr" defTabSz="1111250" rtl="0">
            <a:lnSpc>
              <a:spcPct val="90000"/>
            </a:lnSpc>
            <a:spcBef>
              <a:spcPct val="0"/>
            </a:spcBef>
            <a:spcAft>
              <a:spcPct val="35000"/>
            </a:spcAft>
          </a:pPr>
          <a:r>
            <a:rPr lang="en-US" sz="2500" b="1" kern="1200" dirty="0" smtClean="0">
              <a:solidFill>
                <a:schemeClr val="bg1"/>
              </a:solidFill>
            </a:rPr>
            <a:t>Covering tracks</a:t>
          </a:r>
          <a:endParaRPr lang="en-US" sz="2500" b="1" kern="1200" dirty="0">
            <a:solidFill>
              <a:schemeClr val="bg1"/>
            </a:solidFill>
          </a:endParaRPr>
        </a:p>
      </dsp:txBody>
      <dsp:txXfrm>
        <a:off x="5940659" y="2403267"/>
        <a:ext cx="2700300" cy="1620180"/>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06E390-8DBF-4C3A-A59E-37AD67643F0F}" type="datetimeFigureOut">
              <a:rPr lang="en-US" smtClean="0"/>
              <a:t>2/13/2018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64AE829-098F-470E-AECC-B8834C1C51CF}" type="slidenum">
              <a:rPr lang="en-US" smtClean="0"/>
              <a:t>‹#›</a:t>
            </a:fld>
            <a:endParaRPr lang="en-US"/>
          </a:p>
        </p:txBody>
      </p:sp>
    </p:spTree>
    <p:extLst>
      <p:ext uri="{BB962C8B-B14F-4D97-AF65-F5344CB8AC3E}">
        <p14:creationId xmlns:p14="http://schemas.microsoft.com/office/powerpoint/2010/main" val="797645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p:cNvSpPr>
            <a:spLocks noGrp="1" noRot="1" noChangeAspect="1" noTextEdit="1"/>
          </p:cNvSpPr>
          <p:nvPr>
            <p:ph type="sldImg"/>
          </p:nvPr>
        </p:nvSpPr>
        <p:spPr>
          <a:ln/>
        </p:spPr>
      </p:sp>
      <p:sp>
        <p:nvSpPr>
          <p:cNvPr id="7270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 Firewalls can be an effective means of protecting a local system or network of systems</a:t>
            </a:r>
          </a:p>
          <a:p>
            <a:r>
              <a:rPr lang="en-US" altLang="en-US" smtClean="0">
                <a:latin typeface="Arial" panose="020B0604020202020204" pitchFamily="34" charset="0"/>
              </a:rPr>
              <a:t>from network-based security threats while at the same time affording access to the</a:t>
            </a:r>
          </a:p>
          <a:p>
            <a:r>
              <a:rPr lang="en-US" altLang="en-US" smtClean="0">
                <a:latin typeface="Arial" panose="020B0604020202020204" pitchFamily="34" charset="0"/>
              </a:rPr>
              <a:t>outside world via wide area networks and the Internet.</a:t>
            </a:r>
          </a:p>
        </p:txBody>
      </p:sp>
      <p:sp>
        <p:nvSpPr>
          <p:cNvPr id="72708"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eaLnBrk="0" hangingPunct="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eaLnBrk="0" hangingPunct="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B08E852-0C91-436E-ABD6-A98E570510BC}" type="slidenum">
              <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rPr>
              <a:pPr marL="0" marR="0" lvl="0" indent="0" algn="r" defTabSz="914400" rtl="0" eaLnBrk="1" fontAlgn="base" latinLnBrk="0" hangingPunct="1">
                <a:lnSpc>
                  <a:spcPct val="100000"/>
                </a:lnSpc>
                <a:spcBef>
                  <a:spcPct val="0"/>
                </a:spcBef>
                <a:spcAft>
                  <a:spcPct val="0"/>
                </a:spcAft>
                <a:buClrTx/>
                <a:buSzTx/>
                <a:buFontTx/>
                <a:buNone/>
                <a:tabLst/>
                <a:defRPr/>
              </a:pPr>
              <a:t>1</a:t>
            </a:fld>
            <a:endParaRPr kumimoji="0" lang="en-AU" altLang="en-US" sz="1200" b="0" i="0" u="none" strike="noStrike" kern="1200" cap="none" spc="0" normalizeH="0" baseline="0" noProof="0" smtClean="0">
              <a:ln>
                <a:noFill/>
              </a:ln>
              <a:solidFill>
                <a:srgbClr val="000000"/>
              </a:solidFill>
              <a:effectLst/>
              <a:uLnTx/>
              <a:uFillTx/>
              <a:latin typeface="Arial" panose="020B0604020202020204" pitchFamily="34" charset="0"/>
              <a:ea typeface="MS PGothic" panose="020B0600070205080204" pitchFamily="34" charset="-128"/>
              <a:cs typeface="+mn-cs"/>
            </a:endParaRPr>
          </a:p>
        </p:txBody>
      </p:sp>
    </p:spTree>
    <p:extLst>
      <p:ext uri="{BB962C8B-B14F-4D97-AF65-F5344CB8AC3E}">
        <p14:creationId xmlns:p14="http://schemas.microsoft.com/office/powerpoint/2010/main" val="21890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p:spPr>
        <p:txBody>
          <a:bodyPr/>
          <a:lstStyle/>
          <a:p>
            <a:fld id="{32E3E2C0-DBAE-124E-9CEA-224CB8F1C99C}" type="slidenum">
              <a:rPr lang="en-AU">
                <a:latin typeface="Arial" pitchFamily="-84" charset="0"/>
              </a:rPr>
              <a:pPr/>
              <a:t>4</a:t>
            </a:fld>
            <a:endParaRPr lang="en-AU" dirty="0">
              <a:latin typeface="Arial" pitchFamily="-84" charset="0"/>
            </a:endParaRPr>
          </a:p>
        </p:txBody>
      </p:sp>
      <p:sp>
        <p:nvSpPr>
          <p:cNvPr id="33795" name="Rectangle 2"/>
          <p:cNvSpPr>
            <a:spLocks noGrp="1" noRot="1" noChangeAspect="1" noChangeArrowheads="1" noTextEdit="1"/>
          </p:cNvSpPr>
          <p:nvPr>
            <p:ph type="sldImg"/>
          </p:nvPr>
        </p:nvSpPr>
        <p:spPr>
          <a:ln/>
        </p:spPr>
      </p:sp>
      <p:sp>
        <p:nvSpPr>
          <p:cNvPr id="3379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Insider attacks are among the most difficult to detect and prevent.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Employees already have access and knowledge about the structure and content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corporate databases. Insider attacks can be motivated by revenge or simply a feeling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entitlement. An example of the former is the case of Kenneth Patterson, fired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from his position as data communications manager for American Eagle Outfitters.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Patterson disabled the company’s ability to process credit card purchases during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five days of the holiday season of 2002. As for a sense of entitlement, there have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always been many employees who felt entitled to take extra office supplies for home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use, but this now extends to corporate data. An example is that of a vice-president</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sales for a stock analysis firm who quit to go to a competitor. Before she left, she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copied the customer database to take with her. The offender reported feeling no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animus toward her former employee; she simply wanted the data because it would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be useful to her.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Although IDS and IPS facilities can be useful in countering insider attacks,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other more direct approaches are of higher priority. Examples include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Enforce least privilege, only allowing access to the resources employees need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to do their job.</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Set logs to see what users access and what commands they are entering.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Protect sensitive resources with strong authentication.</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Upon termination, delete employee’s computer and network access.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  Upon termination, make a mirror image of employee’s hard drive before reissuing</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it. That evidence might be needed if your company information turns up</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 a competitor.</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 this section, we look at the techniques used for intrusion. Then we examine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ways to detect intrusion.</a:t>
            </a:r>
            <a:endParaRPr lang="en-US" dirty="0">
              <a:latin typeface="Arial" pitchFamily="-84" charset="0"/>
              <a:ea typeface="Arial" pitchFamily="-84" charset="0"/>
              <a:cs typeface="Arial" pitchFamily="-84" charset="0"/>
            </a:endParaRPr>
          </a:p>
        </p:txBody>
      </p:sp>
    </p:spTree>
    <p:extLst>
      <p:ext uri="{BB962C8B-B14F-4D97-AF65-F5344CB8AC3E}">
        <p14:creationId xmlns:p14="http://schemas.microsoft.com/office/powerpoint/2010/main" val="10199537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BC0E6F-C08E-B44A-8FBB-F5A71CE4C102}" type="slidenum">
              <a:rPr lang="en-AU"/>
              <a:pPr/>
              <a:t>5</a:t>
            </a:fld>
            <a:endParaRPr lang="en-AU" dirty="0"/>
          </a:p>
        </p:txBody>
      </p:sp>
      <p:sp>
        <p:nvSpPr>
          <p:cNvPr id="209922" name="Rectangle 2"/>
          <p:cNvSpPr>
            <a:spLocks noGrp="1" noRot="1" noChangeAspect="1" noChangeArrowheads="1" noTextEdit="1"/>
          </p:cNvSpPr>
          <p:nvPr>
            <p:ph type="sldImg"/>
          </p:nvPr>
        </p:nvSpPr>
        <p:spPr>
          <a:ln/>
        </p:spPr>
      </p:sp>
      <p:sp>
        <p:nvSpPr>
          <p:cNvPr id="209923" name="Rectangle 3"/>
          <p:cNvSpPr>
            <a:spLocks noGrp="1" noChangeArrowheads="1"/>
          </p:cNvSpPr>
          <p:nvPr>
            <p:ph type="body" idx="1"/>
          </p:nvPr>
        </p:nvSpPr>
        <p:spPr/>
        <p:txBody>
          <a:bodyPr/>
          <a:lstStyle/>
          <a:p>
            <a:r>
              <a:rPr lang="en-US" sz="1200" b="0" i="0" u="none" strike="noStrike" kern="1200" baseline="0" dirty="0" smtClean="0">
                <a:solidFill>
                  <a:schemeClr val="tx1"/>
                </a:solidFill>
                <a:latin typeface="Arial" pitchFamily="-110" charset="0"/>
                <a:ea typeface="+mn-ea"/>
                <a:cs typeface="+mn-cs"/>
              </a:rPr>
              <a:t>Intruder attacks range from the benign to the serious. At the benign end of</a:t>
            </a:r>
          </a:p>
          <a:p>
            <a:r>
              <a:rPr lang="en-US" sz="1200" b="0" i="0" u="none" strike="noStrike" kern="1200" baseline="0" dirty="0" smtClean="0">
                <a:solidFill>
                  <a:schemeClr val="tx1"/>
                </a:solidFill>
                <a:latin typeface="Arial" pitchFamily="-110" charset="0"/>
                <a:ea typeface="+mn-ea"/>
                <a:cs typeface="+mn-cs"/>
              </a:rPr>
              <a:t>the scale, there are people who simply wish to explore internets and see what is out</a:t>
            </a:r>
          </a:p>
          <a:p>
            <a:r>
              <a:rPr lang="en-US" sz="1200" b="0" i="0" u="none" strike="noStrike" kern="1200" baseline="0" dirty="0" smtClean="0">
                <a:solidFill>
                  <a:schemeClr val="tx1"/>
                </a:solidFill>
                <a:latin typeface="Arial" pitchFamily="-110" charset="0"/>
                <a:ea typeface="+mn-ea"/>
                <a:cs typeface="+mn-cs"/>
              </a:rPr>
              <a:t>there. At the serious end are individuals or groups that attempt to read privileged</a:t>
            </a:r>
          </a:p>
          <a:p>
            <a:r>
              <a:rPr lang="en-US" sz="1200" b="0" i="0" u="none" strike="noStrike" kern="1200" baseline="0" dirty="0" smtClean="0">
                <a:solidFill>
                  <a:schemeClr val="tx1"/>
                </a:solidFill>
                <a:latin typeface="Arial" pitchFamily="-110" charset="0"/>
                <a:ea typeface="+mn-ea"/>
                <a:cs typeface="+mn-cs"/>
              </a:rPr>
              <a:t>data, perform unauthorized modifications to data, or disrupt systems.</a:t>
            </a:r>
          </a:p>
          <a:p>
            <a:endParaRPr lang="en-US" sz="1200" b="0" i="0" u="none" strike="noStrike" kern="1200" baseline="0" dirty="0" smtClean="0">
              <a:solidFill>
                <a:schemeClr val="tx1"/>
              </a:solidFill>
              <a:latin typeface="Arial" pitchFamily="-110" charset="0"/>
              <a:ea typeface="+mn-ea"/>
              <a:cs typeface="+mn-cs"/>
            </a:endParaRPr>
          </a:p>
          <a:p>
            <a:r>
              <a:rPr lang="en-US" sz="1200" kern="1200" dirty="0" smtClean="0">
                <a:solidFill>
                  <a:schemeClr val="tx1"/>
                </a:solidFill>
                <a:effectLst/>
                <a:latin typeface="Arial" pitchFamily="-110" charset="0"/>
                <a:ea typeface="+mn-ea"/>
                <a:cs typeface="+mn-cs"/>
              </a:rPr>
              <a:t> NIST SP 800-61 (</a:t>
            </a:r>
            <a:r>
              <a:rPr lang="en-US" sz="1200" i="1" kern="1200" dirty="0" smtClean="0">
                <a:solidFill>
                  <a:schemeClr val="tx1"/>
                </a:solidFill>
                <a:effectLst/>
                <a:latin typeface="Arial" pitchFamily="-110" charset="0"/>
                <a:ea typeface="+mn-ea"/>
                <a:cs typeface="+mn-cs"/>
              </a:rPr>
              <a:t>Computer Security Incident Handling Guide</a:t>
            </a:r>
            <a:r>
              <a:rPr lang="en-US" sz="1200" kern="1200" dirty="0" smtClean="0">
                <a:solidFill>
                  <a:schemeClr val="tx1"/>
                </a:solidFill>
                <a:effectLst/>
                <a:latin typeface="Arial" pitchFamily="-110" charset="0"/>
                <a:ea typeface="+mn-ea"/>
                <a:cs typeface="+mn-cs"/>
              </a:rPr>
              <a:t> , August 2012)</a:t>
            </a:r>
          </a:p>
          <a:p>
            <a:r>
              <a:rPr lang="en-US" sz="1200" kern="1200" dirty="0" smtClean="0">
                <a:solidFill>
                  <a:schemeClr val="tx1"/>
                </a:solidFill>
                <a:effectLst/>
                <a:latin typeface="Arial" pitchFamily="-110" charset="0"/>
                <a:ea typeface="+mn-ea"/>
                <a:cs typeface="+mn-cs"/>
              </a:rPr>
              <a:t>lists the following examples of intrusion:</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Performing a remote root compromise of an e-mail server</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Defacing a Web server</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Guessing and cracking passwords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Copying a database containing credit card numbers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Viewing sensitive data, including payroll records and medical information,</a:t>
            </a:r>
          </a:p>
          <a:p>
            <a:r>
              <a:rPr lang="en-US" sz="1200" b="0" i="0" u="none" strike="noStrike" kern="1200" baseline="0" dirty="0" smtClean="0">
                <a:solidFill>
                  <a:schemeClr val="tx1"/>
                </a:solidFill>
                <a:latin typeface="Arial" pitchFamily="-110" charset="0"/>
                <a:ea typeface="+mn-ea"/>
                <a:cs typeface="+mn-cs"/>
              </a:rPr>
              <a:t>without authorization</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Running a packet sniffer on a workstation to capture usernames and passwords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Using a permission error on an anonymous FTP server to distribute pirated</a:t>
            </a:r>
          </a:p>
          <a:p>
            <a:r>
              <a:rPr lang="en-US" sz="1200" b="0" i="0" u="none" strike="noStrike" kern="1200" baseline="0" dirty="0" smtClean="0">
                <a:solidFill>
                  <a:schemeClr val="tx1"/>
                </a:solidFill>
                <a:latin typeface="Arial" pitchFamily="-110" charset="0"/>
                <a:ea typeface="+mn-ea"/>
                <a:cs typeface="+mn-cs"/>
              </a:rPr>
              <a:t>software and music files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Dialing into an unsecured modem and gaining internal network access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Posing as an executive, calling the help desk, resetting the executive’s e-mail</a:t>
            </a:r>
          </a:p>
          <a:p>
            <a:r>
              <a:rPr lang="en-US" sz="1200" b="0" i="0" u="none" strike="noStrike" kern="1200" baseline="0" dirty="0" smtClean="0">
                <a:solidFill>
                  <a:schemeClr val="tx1"/>
                </a:solidFill>
                <a:latin typeface="Arial" pitchFamily="-110" charset="0"/>
                <a:ea typeface="+mn-ea"/>
                <a:cs typeface="+mn-cs"/>
              </a:rPr>
              <a:t>password, and learning the new password</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Using an unattended, logged-in workstation without permission</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Intrusion detection systems (IDSs) and intrusion prevention systems (IPSs),</a:t>
            </a:r>
          </a:p>
          <a:p>
            <a:r>
              <a:rPr lang="en-US" sz="1200" b="0" i="0" u="none" strike="noStrike" kern="1200" baseline="0" dirty="0" smtClean="0">
                <a:solidFill>
                  <a:schemeClr val="tx1"/>
                </a:solidFill>
                <a:latin typeface="Arial" pitchFamily="-110" charset="0"/>
                <a:ea typeface="+mn-ea"/>
                <a:cs typeface="+mn-cs"/>
              </a:rPr>
              <a:t>of the type described in this chapter and Chapter 9, respectively, are designed to aid</a:t>
            </a:r>
          </a:p>
          <a:p>
            <a:r>
              <a:rPr lang="en-US" sz="1200" b="0" i="0" u="none" strike="noStrike" kern="1200" baseline="0" dirty="0" smtClean="0">
                <a:solidFill>
                  <a:schemeClr val="tx1"/>
                </a:solidFill>
                <a:latin typeface="Arial" pitchFamily="-110" charset="0"/>
                <a:ea typeface="+mn-ea"/>
                <a:cs typeface="+mn-cs"/>
              </a:rPr>
              <a:t>countering these types of threats. They can be reasonably effective against known,</a:t>
            </a:r>
          </a:p>
          <a:p>
            <a:r>
              <a:rPr lang="en-US" sz="1200" b="0" i="0" u="none" strike="noStrike" kern="1200" baseline="0" dirty="0" smtClean="0">
                <a:solidFill>
                  <a:schemeClr val="tx1"/>
                </a:solidFill>
                <a:latin typeface="Arial" pitchFamily="-110" charset="0"/>
                <a:ea typeface="+mn-ea"/>
                <a:cs typeface="+mn-cs"/>
              </a:rPr>
              <a:t>less sophisticated attacks, such as those by activist groups or large-scale email</a:t>
            </a:r>
          </a:p>
          <a:p>
            <a:r>
              <a:rPr lang="en-US" sz="1200" b="0" i="0" u="none" strike="noStrike" kern="1200" baseline="0" dirty="0" smtClean="0">
                <a:solidFill>
                  <a:schemeClr val="tx1"/>
                </a:solidFill>
                <a:latin typeface="Arial" pitchFamily="-110" charset="0"/>
                <a:ea typeface="+mn-ea"/>
                <a:cs typeface="+mn-cs"/>
              </a:rPr>
              <a:t>scams. They are likely less effective against the more sophisticated, targeted attacks</a:t>
            </a:r>
          </a:p>
          <a:p>
            <a:r>
              <a:rPr lang="en-US" sz="1200" b="0" i="0" u="none" strike="noStrike" kern="1200" baseline="0" dirty="0" smtClean="0">
                <a:solidFill>
                  <a:schemeClr val="tx1"/>
                </a:solidFill>
                <a:latin typeface="Arial" pitchFamily="-110" charset="0"/>
                <a:ea typeface="+mn-ea"/>
                <a:cs typeface="+mn-cs"/>
              </a:rPr>
              <a:t>by some criminal or state-sponsored intruders, since these attackers are more likely</a:t>
            </a:r>
          </a:p>
          <a:p>
            <a:r>
              <a:rPr lang="en-US" sz="1200" b="0" i="0" u="none" strike="noStrike" kern="1200" baseline="0" dirty="0" smtClean="0">
                <a:solidFill>
                  <a:schemeClr val="tx1"/>
                </a:solidFill>
                <a:latin typeface="Arial" pitchFamily="-110" charset="0"/>
                <a:ea typeface="+mn-ea"/>
                <a:cs typeface="+mn-cs"/>
              </a:rPr>
              <a:t>to use new, zero-day exploits, and to better obscure their activities on the targeted</a:t>
            </a:r>
          </a:p>
          <a:p>
            <a:r>
              <a:rPr lang="en-US" sz="1200" b="0" i="0" u="none" strike="noStrike" kern="1200" baseline="0" dirty="0" smtClean="0">
                <a:solidFill>
                  <a:schemeClr val="tx1"/>
                </a:solidFill>
                <a:latin typeface="Arial" pitchFamily="-110" charset="0"/>
                <a:ea typeface="+mn-ea"/>
                <a:cs typeface="+mn-cs"/>
              </a:rPr>
              <a:t>system. Hence they need to be part of a defense-in-depth strategy that may also</a:t>
            </a:r>
          </a:p>
          <a:p>
            <a:r>
              <a:rPr lang="en-US" sz="1200" b="0" i="0" u="none" strike="noStrike" kern="1200" baseline="0" dirty="0" smtClean="0">
                <a:solidFill>
                  <a:schemeClr val="tx1"/>
                </a:solidFill>
                <a:latin typeface="Arial" pitchFamily="-110" charset="0"/>
                <a:ea typeface="+mn-ea"/>
                <a:cs typeface="+mn-cs"/>
              </a:rPr>
              <a:t>include encryption of sensitive information, detailed audit trails, strong authentication</a:t>
            </a:r>
          </a:p>
          <a:p>
            <a:r>
              <a:rPr lang="en-US" sz="1200" b="0" i="0" u="none" strike="noStrike" kern="1200" baseline="0" dirty="0" smtClean="0">
                <a:solidFill>
                  <a:schemeClr val="tx1"/>
                </a:solidFill>
                <a:latin typeface="Arial" pitchFamily="-110" charset="0"/>
                <a:ea typeface="+mn-ea"/>
                <a:cs typeface="+mn-cs"/>
              </a:rPr>
              <a:t>and authorization controls, and active management of operating system and</a:t>
            </a:r>
          </a:p>
          <a:p>
            <a:r>
              <a:rPr lang="en-US" sz="1200" b="0" i="0" u="none" strike="noStrike" kern="1200" baseline="0" dirty="0" smtClean="0">
                <a:solidFill>
                  <a:schemeClr val="tx1"/>
                </a:solidFill>
                <a:latin typeface="Arial" pitchFamily="-110" charset="0"/>
                <a:ea typeface="+mn-ea"/>
                <a:cs typeface="+mn-cs"/>
              </a:rPr>
              <a:t>application security.</a:t>
            </a:r>
            <a:endParaRPr lang="en-US" dirty="0">
              <a:latin typeface="Times New Roman" pitchFamily="-110" charset="0"/>
            </a:endParaRPr>
          </a:p>
        </p:txBody>
      </p:sp>
    </p:spTree>
    <p:extLst>
      <p:ext uri="{BB962C8B-B14F-4D97-AF65-F5344CB8AC3E}">
        <p14:creationId xmlns:p14="http://schemas.microsoft.com/office/powerpoint/2010/main" val="6982121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Arial" pitchFamily="-110" charset="0"/>
                <a:ea typeface="+mn-ea"/>
                <a:cs typeface="+mn-cs"/>
              </a:rPr>
              <a:t> The techniques and behavior patterns of intruders are constantly shifting, to exploit</a:t>
            </a:r>
          </a:p>
          <a:p>
            <a:r>
              <a:rPr lang="en-US" sz="1200" b="0" i="0" u="none" strike="noStrike" kern="1200" baseline="0" dirty="0" smtClean="0">
                <a:solidFill>
                  <a:schemeClr val="tx1"/>
                </a:solidFill>
                <a:latin typeface="Arial" pitchFamily="-110" charset="0"/>
                <a:ea typeface="+mn-ea"/>
                <a:cs typeface="+mn-cs"/>
              </a:rPr>
              <a:t>newly discovered weaknesses and to evade detection and countermeasures. However,</a:t>
            </a:r>
          </a:p>
          <a:p>
            <a:r>
              <a:rPr lang="en-US" sz="1200" b="0" i="0" u="none" strike="noStrike" kern="1200" baseline="0" dirty="0" smtClean="0">
                <a:solidFill>
                  <a:schemeClr val="tx1"/>
                </a:solidFill>
                <a:latin typeface="Arial" pitchFamily="-110" charset="0"/>
                <a:ea typeface="+mn-ea"/>
                <a:cs typeface="+mn-cs"/>
              </a:rPr>
              <a:t>intruders typically use steps from a common attack methodology. </a:t>
            </a:r>
            <a:r>
              <a:rPr lang="en-US" sz="1200" b="0" kern="1200" dirty="0" smtClean="0">
                <a:solidFill>
                  <a:schemeClr val="tx1"/>
                </a:solidFill>
                <a:effectLst/>
                <a:latin typeface="Arial" pitchFamily="-110" charset="0"/>
                <a:ea typeface="+mn-ea"/>
                <a:cs typeface="+mn-cs"/>
              </a:rPr>
              <a:t>[VERI16] in their</a:t>
            </a:r>
          </a:p>
          <a:p>
            <a:r>
              <a:rPr lang="en-US" sz="1200" b="0" kern="1200" dirty="0" smtClean="0">
                <a:solidFill>
                  <a:schemeClr val="tx1"/>
                </a:solidFill>
                <a:effectLst/>
                <a:latin typeface="Arial" pitchFamily="-110" charset="0"/>
                <a:ea typeface="+mn-ea"/>
                <a:cs typeface="+mn-cs"/>
              </a:rPr>
              <a:t>“Wrap up” section illustrate a typical sequence of actions, starting with a phishing attack</a:t>
            </a:r>
          </a:p>
          <a:p>
            <a:r>
              <a:rPr lang="en-US" sz="1200" b="0" kern="1200" dirty="0" smtClean="0">
                <a:solidFill>
                  <a:schemeClr val="tx1"/>
                </a:solidFill>
                <a:effectLst/>
                <a:latin typeface="Arial" pitchFamily="-110" charset="0"/>
                <a:ea typeface="+mn-ea"/>
                <a:cs typeface="+mn-cs"/>
              </a:rPr>
              <a:t>that results in the installation of malware that steals login credentials that eventually</a:t>
            </a:r>
          </a:p>
          <a:p>
            <a:r>
              <a:rPr lang="en-US" sz="1200" b="0" kern="1200" dirty="0" smtClean="0">
                <a:solidFill>
                  <a:schemeClr val="tx1"/>
                </a:solidFill>
                <a:effectLst/>
                <a:latin typeface="Arial" pitchFamily="-110" charset="0"/>
                <a:ea typeface="+mn-ea"/>
                <a:cs typeface="+mn-cs"/>
              </a:rPr>
              <a:t>result in the compromise of a Point-of-Sale terminal. They note that while this is one specific</a:t>
            </a:r>
          </a:p>
          <a:p>
            <a:r>
              <a:rPr lang="en-US" sz="1200" b="0" kern="1200" dirty="0" smtClean="0">
                <a:solidFill>
                  <a:schemeClr val="tx1"/>
                </a:solidFill>
                <a:effectLst/>
                <a:latin typeface="Arial" pitchFamily="-110" charset="0"/>
                <a:ea typeface="+mn-ea"/>
                <a:cs typeface="+mn-cs"/>
              </a:rPr>
              <a:t>incident scenario, the components are commonly seen in many attacks.</a:t>
            </a:r>
          </a:p>
          <a:p>
            <a:r>
              <a:rPr lang="en-US" sz="1200" b="0" i="0" u="none" strike="noStrike" kern="1200" baseline="0" dirty="0" smtClean="0">
                <a:solidFill>
                  <a:schemeClr val="tx1"/>
                </a:solidFill>
                <a:latin typeface="Arial" pitchFamily="-110" charset="0"/>
                <a:ea typeface="+mn-ea"/>
                <a:cs typeface="+mn-cs"/>
              </a:rPr>
              <a:t> [MCCL12] discuss in detail activities associated with the following steps: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a:t>
            </a:r>
            <a:r>
              <a:rPr lang="en-US" sz="1200" b="1" i="0" u="none" strike="noStrike" kern="1200" baseline="0" dirty="0" smtClean="0">
                <a:solidFill>
                  <a:schemeClr val="tx1"/>
                </a:solidFill>
                <a:latin typeface="Arial" pitchFamily="-110" charset="0"/>
                <a:ea typeface="+mn-ea"/>
                <a:cs typeface="+mn-cs"/>
              </a:rPr>
              <a:t>Target Acquisition and Information Gathering</a:t>
            </a:r>
            <a:r>
              <a:rPr lang="en-US" sz="1200" b="0" i="0" u="none" strike="noStrike" kern="1200" baseline="0" dirty="0" smtClean="0">
                <a:solidFill>
                  <a:schemeClr val="tx1"/>
                </a:solidFill>
                <a:latin typeface="Arial" pitchFamily="-110" charset="0"/>
                <a:ea typeface="+mn-ea"/>
                <a:cs typeface="+mn-cs"/>
              </a:rPr>
              <a:t>:  Where the attacker identifies</a:t>
            </a:r>
          </a:p>
          <a:p>
            <a:r>
              <a:rPr lang="en-US" sz="1200" b="0" i="0" u="none" strike="noStrike" kern="1200" baseline="0" dirty="0" smtClean="0">
                <a:solidFill>
                  <a:schemeClr val="tx1"/>
                </a:solidFill>
                <a:latin typeface="Arial" pitchFamily="-110" charset="0"/>
                <a:ea typeface="+mn-ea"/>
                <a:cs typeface="+mn-cs"/>
              </a:rPr>
              <a:t>and characterizes the target systems using publicly available information, both</a:t>
            </a:r>
          </a:p>
          <a:p>
            <a:r>
              <a:rPr lang="en-US" sz="1200" b="0" i="0" u="none" strike="noStrike" kern="1200" baseline="0" dirty="0" smtClean="0">
                <a:solidFill>
                  <a:schemeClr val="tx1"/>
                </a:solidFill>
                <a:latin typeface="Arial" pitchFamily="-110" charset="0"/>
                <a:ea typeface="+mn-ea"/>
                <a:cs typeface="+mn-cs"/>
              </a:rPr>
              <a:t>technical and non-technical, and the use network exploration tools to map target</a:t>
            </a:r>
          </a:p>
          <a:p>
            <a:r>
              <a:rPr lang="en-US" sz="1200" b="0" i="0" u="none" strike="noStrike" kern="1200" baseline="0" dirty="0" smtClean="0">
                <a:solidFill>
                  <a:schemeClr val="tx1"/>
                </a:solidFill>
                <a:latin typeface="Arial" pitchFamily="-110" charset="0"/>
                <a:ea typeface="+mn-ea"/>
                <a:cs typeface="+mn-cs"/>
              </a:rPr>
              <a:t>resources.</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a:t>
            </a:r>
            <a:r>
              <a:rPr lang="en-US" sz="1200" b="1" i="0" u="none" strike="noStrike" kern="1200" baseline="0" dirty="0" smtClean="0">
                <a:solidFill>
                  <a:schemeClr val="tx1"/>
                </a:solidFill>
                <a:latin typeface="Arial" pitchFamily="-110" charset="0"/>
                <a:ea typeface="+mn-ea"/>
                <a:cs typeface="+mn-cs"/>
              </a:rPr>
              <a:t>Initial Access</a:t>
            </a:r>
            <a:r>
              <a:rPr lang="en-US" sz="1200" b="0" i="0" u="none" strike="noStrike" kern="1200" baseline="0" dirty="0" smtClean="0">
                <a:solidFill>
                  <a:schemeClr val="tx1"/>
                </a:solidFill>
                <a:latin typeface="Arial" pitchFamily="-110" charset="0"/>
                <a:ea typeface="+mn-ea"/>
                <a:cs typeface="+mn-cs"/>
              </a:rPr>
              <a:t>: The initial access to a target system, typically by exploiting a</a:t>
            </a:r>
          </a:p>
          <a:p>
            <a:r>
              <a:rPr lang="en-US" sz="1200" b="0" i="0" u="none" strike="noStrike" kern="1200" baseline="0" dirty="0" smtClean="0">
                <a:solidFill>
                  <a:schemeClr val="tx1"/>
                </a:solidFill>
                <a:latin typeface="Arial" pitchFamily="-110" charset="0"/>
                <a:ea typeface="+mn-ea"/>
                <a:cs typeface="+mn-cs"/>
              </a:rPr>
              <a:t>remote network vulnerability as we discuss in Chapters 10 and 11, by guessing</a:t>
            </a:r>
          </a:p>
          <a:p>
            <a:r>
              <a:rPr lang="en-US" sz="1200" b="0" i="0" u="none" strike="noStrike" kern="1200" baseline="0" dirty="0" smtClean="0">
                <a:solidFill>
                  <a:schemeClr val="tx1"/>
                </a:solidFill>
                <a:latin typeface="Arial" pitchFamily="-110" charset="0"/>
                <a:ea typeface="+mn-ea"/>
                <a:cs typeface="+mn-cs"/>
              </a:rPr>
              <a:t>weak authentication credentials used in a remote service as we discussed in</a:t>
            </a:r>
          </a:p>
          <a:p>
            <a:r>
              <a:rPr lang="en-US" sz="1200" b="0" i="0" u="none" strike="noStrike" kern="1200" baseline="0" dirty="0" smtClean="0">
                <a:solidFill>
                  <a:schemeClr val="tx1"/>
                </a:solidFill>
                <a:latin typeface="Arial" pitchFamily="-110" charset="0"/>
                <a:ea typeface="+mn-ea"/>
                <a:cs typeface="+mn-cs"/>
              </a:rPr>
              <a:t>Chapter 3, or via the installation of malware on the system using some form of</a:t>
            </a:r>
          </a:p>
          <a:p>
            <a:r>
              <a:rPr lang="en-US" sz="1200" b="0" i="0" u="none" strike="noStrike" kern="1200" baseline="0" dirty="0" smtClean="0">
                <a:solidFill>
                  <a:schemeClr val="tx1"/>
                </a:solidFill>
                <a:latin typeface="Arial" pitchFamily="-110" charset="0"/>
                <a:ea typeface="+mn-ea"/>
                <a:cs typeface="+mn-cs"/>
              </a:rPr>
              <a:t>social engineering or drive-by-download attack as we discuss in Chapter 6.</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a:t>
            </a:r>
            <a:r>
              <a:rPr lang="en-US" sz="1200" b="1" i="0" u="none" strike="noStrike" kern="1200" baseline="0" dirty="0" smtClean="0">
                <a:solidFill>
                  <a:schemeClr val="tx1"/>
                </a:solidFill>
                <a:latin typeface="Arial" pitchFamily="-110" charset="0"/>
                <a:ea typeface="+mn-ea"/>
                <a:cs typeface="+mn-cs"/>
              </a:rPr>
              <a:t>Privilege Escalation</a:t>
            </a:r>
            <a:r>
              <a:rPr lang="en-US" sz="1200" b="0" i="0" u="none" strike="noStrike" kern="1200" baseline="0" dirty="0" smtClean="0">
                <a:solidFill>
                  <a:schemeClr val="tx1"/>
                </a:solidFill>
                <a:latin typeface="Arial" pitchFamily="-110" charset="0"/>
                <a:ea typeface="+mn-ea"/>
                <a:cs typeface="+mn-cs"/>
              </a:rPr>
              <a:t>: Actions taken on the system, typically via a local access</a:t>
            </a:r>
          </a:p>
          <a:p>
            <a:r>
              <a:rPr lang="en-US" sz="1200" b="0" i="0" u="none" strike="noStrike" kern="1200" baseline="0" dirty="0" smtClean="0">
                <a:solidFill>
                  <a:schemeClr val="tx1"/>
                </a:solidFill>
                <a:latin typeface="Arial" pitchFamily="-110" charset="0"/>
                <a:ea typeface="+mn-ea"/>
                <a:cs typeface="+mn-cs"/>
              </a:rPr>
              <a:t>vulnerability as discussed in Chapters 10 and 11, to increase the privileges</a:t>
            </a:r>
          </a:p>
          <a:p>
            <a:r>
              <a:rPr lang="en-US" sz="1200" b="0" i="0" u="none" strike="noStrike" kern="1200" baseline="0" dirty="0" smtClean="0">
                <a:solidFill>
                  <a:schemeClr val="tx1"/>
                </a:solidFill>
                <a:latin typeface="Arial" pitchFamily="-110" charset="0"/>
                <a:ea typeface="+mn-ea"/>
                <a:cs typeface="+mn-cs"/>
              </a:rPr>
              <a:t>available to the attacker to enable their desired goals on the target system.</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a:t>
            </a:r>
            <a:r>
              <a:rPr lang="en-US" sz="1200" b="1" i="0" u="none" strike="noStrike" kern="1200" baseline="0" dirty="0" smtClean="0">
                <a:solidFill>
                  <a:schemeClr val="tx1"/>
                </a:solidFill>
                <a:latin typeface="Arial" pitchFamily="-110" charset="0"/>
                <a:ea typeface="+mn-ea"/>
                <a:cs typeface="+mn-cs"/>
              </a:rPr>
              <a:t>Information Gathering or System Exploit: </a:t>
            </a:r>
            <a:r>
              <a:rPr lang="en-US" sz="1200" b="0" i="0" u="none" strike="noStrike" kern="1200" baseline="0" dirty="0" smtClean="0">
                <a:solidFill>
                  <a:schemeClr val="tx1"/>
                </a:solidFill>
                <a:latin typeface="Arial" pitchFamily="-110" charset="0"/>
                <a:ea typeface="+mn-ea"/>
                <a:cs typeface="+mn-cs"/>
              </a:rPr>
              <a:t>Actions by the attacker to access</a:t>
            </a:r>
          </a:p>
          <a:p>
            <a:r>
              <a:rPr lang="en-US" sz="1200" b="0" i="0" u="none" strike="noStrike" kern="1200" baseline="0" dirty="0" smtClean="0">
                <a:solidFill>
                  <a:schemeClr val="tx1"/>
                </a:solidFill>
                <a:latin typeface="Arial" pitchFamily="-110" charset="0"/>
                <a:ea typeface="+mn-ea"/>
                <a:cs typeface="+mn-cs"/>
              </a:rPr>
              <a:t>or modify information or resources on the system, or to navigate to another</a:t>
            </a:r>
          </a:p>
          <a:p>
            <a:r>
              <a:rPr lang="en-US" sz="1200" b="0" i="0" u="none" strike="noStrike" kern="1200" baseline="0" dirty="0" smtClean="0">
                <a:solidFill>
                  <a:schemeClr val="tx1"/>
                </a:solidFill>
                <a:latin typeface="Arial" pitchFamily="-110" charset="0"/>
                <a:ea typeface="+mn-ea"/>
                <a:cs typeface="+mn-cs"/>
              </a:rPr>
              <a:t>target system.</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a:t>
            </a:r>
            <a:r>
              <a:rPr lang="en-US" sz="1200" b="1" i="0" u="none" strike="noStrike" kern="1200" baseline="0" dirty="0" smtClean="0">
                <a:solidFill>
                  <a:schemeClr val="tx1"/>
                </a:solidFill>
                <a:latin typeface="Arial" pitchFamily="-110" charset="0"/>
                <a:ea typeface="+mn-ea"/>
                <a:cs typeface="+mn-cs"/>
              </a:rPr>
              <a:t>Maintaining Access</a:t>
            </a:r>
            <a:r>
              <a:rPr lang="en-US" sz="1200" b="0" i="0" u="none" strike="noStrike" kern="1200" baseline="0" dirty="0" smtClean="0">
                <a:solidFill>
                  <a:schemeClr val="tx1"/>
                </a:solidFill>
                <a:latin typeface="Arial" pitchFamily="-110" charset="0"/>
                <a:ea typeface="+mn-ea"/>
                <a:cs typeface="+mn-cs"/>
              </a:rPr>
              <a:t>: Actions such as the installation of backdoors or other</a:t>
            </a:r>
          </a:p>
          <a:p>
            <a:r>
              <a:rPr lang="en-US" sz="1200" b="0" i="0" u="none" strike="noStrike" kern="1200" baseline="0" dirty="0" smtClean="0">
                <a:solidFill>
                  <a:schemeClr val="tx1"/>
                </a:solidFill>
                <a:latin typeface="Arial" pitchFamily="-110" charset="0"/>
                <a:ea typeface="+mn-ea"/>
                <a:cs typeface="+mn-cs"/>
              </a:rPr>
              <a:t>malicious software as we discuss in Chapter 6, or through the addition of covert</a:t>
            </a:r>
          </a:p>
          <a:p>
            <a:r>
              <a:rPr lang="en-US" sz="1200" b="0" i="0" u="none" strike="noStrike" kern="1200" baseline="0" dirty="0" smtClean="0">
                <a:solidFill>
                  <a:schemeClr val="tx1"/>
                </a:solidFill>
                <a:latin typeface="Arial" pitchFamily="-110" charset="0"/>
                <a:ea typeface="+mn-ea"/>
                <a:cs typeface="+mn-cs"/>
              </a:rPr>
              <a:t>authentication credentials or other configuration changes to the system, to</a:t>
            </a:r>
          </a:p>
          <a:p>
            <a:r>
              <a:rPr lang="en-US" sz="1200" b="0" i="0" u="none" strike="noStrike" kern="1200" baseline="0" dirty="0" smtClean="0">
                <a:solidFill>
                  <a:schemeClr val="tx1"/>
                </a:solidFill>
                <a:latin typeface="Arial" pitchFamily="-110" charset="0"/>
                <a:ea typeface="+mn-ea"/>
                <a:cs typeface="+mn-cs"/>
              </a:rPr>
              <a:t>enable continued access by the attacker after the initial attack.</a:t>
            </a:r>
          </a:p>
          <a:p>
            <a:endParaRPr lang="en-US" sz="1200" b="0" i="0" u="none" strike="noStrike" kern="1200" baseline="0" dirty="0" smtClean="0">
              <a:solidFill>
                <a:schemeClr val="tx1"/>
              </a:solidFill>
              <a:latin typeface="Arial" pitchFamily="-110" charset="0"/>
              <a:ea typeface="+mn-ea"/>
              <a:cs typeface="+mn-cs"/>
            </a:endParaRPr>
          </a:p>
          <a:p>
            <a:r>
              <a:rPr lang="en-US" sz="1200" b="0" i="0" u="none" strike="noStrike" kern="1200" baseline="0" dirty="0" smtClean="0">
                <a:solidFill>
                  <a:schemeClr val="tx1"/>
                </a:solidFill>
                <a:latin typeface="Arial" pitchFamily="-110" charset="0"/>
                <a:ea typeface="+mn-ea"/>
                <a:cs typeface="+mn-cs"/>
              </a:rPr>
              <a:t>•  </a:t>
            </a:r>
            <a:r>
              <a:rPr lang="en-US" sz="1200" b="1" i="0" u="none" strike="noStrike" kern="1200" baseline="0" dirty="0" smtClean="0">
                <a:solidFill>
                  <a:schemeClr val="tx1"/>
                </a:solidFill>
                <a:latin typeface="Arial" pitchFamily="-110" charset="0"/>
                <a:ea typeface="+mn-ea"/>
                <a:cs typeface="+mn-cs"/>
              </a:rPr>
              <a:t>Covering Tracks: </a:t>
            </a:r>
            <a:r>
              <a:rPr lang="en-US" sz="1200" b="0" i="0" u="none" strike="noStrike" kern="1200" baseline="0" dirty="0" smtClean="0">
                <a:solidFill>
                  <a:schemeClr val="tx1"/>
                </a:solidFill>
                <a:latin typeface="Arial" pitchFamily="-110" charset="0"/>
                <a:ea typeface="+mn-ea"/>
                <a:cs typeface="+mn-cs"/>
              </a:rPr>
              <a:t>Where the attacker disables or edits audit logs such as we discuss</a:t>
            </a:r>
          </a:p>
          <a:p>
            <a:r>
              <a:rPr lang="en-US" sz="1200" b="0" i="0" u="none" strike="noStrike" kern="1200" baseline="0" dirty="0" smtClean="0">
                <a:solidFill>
                  <a:schemeClr val="tx1"/>
                </a:solidFill>
                <a:latin typeface="Arial" pitchFamily="-110" charset="0"/>
                <a:ea typeface="+mn-ea"/>
                <a:cs typeface="+mn-cs"/>
              </a:rPr>
              <a:t>in Chapter 18, to remove evidence of attack activity, and uses rootkits and</a:t>
            </a:r>
          </a:p>
          <a:p>
            <a:r>
              <a:rPr lang="en-US" sz="1200" b="0" i="0" u="none" strike="noStrike" kern="1200" baseline="0" dirty="0" smtClean="0">
                <a:solidFill>
                  <a:schemeClr val="tx1"/>
                </a:solidFill>
                <a:latin typeface="Arial" pitchFamily="-110" charset="0"/>
                <a:ea typeface="+mn-ea"/>
                <a:cs typeface="+mn-cs"/>
              </a:rPr>
              <a:t>other measures to hide covertly installed files or code as we discuss in Chapter 6.</a:t>
            </a:r>
            <a:endParaRPr lang="en-US" dirty="0"/>
          </a:p>
        </p:txBody>
      </p:sp>
      <p:sp>
        <p:nvSpPr>
          <p:cNvPr id="4" name="Slide Number Placeholder 3"/>
          <p:cNvSpPr>
            <a:spLocks noGrp="1"/>
          </p:cNvSpPr>
          <p:nvPr>
            <p:ph type="sldNum" sz="quarter" idx="10"/>
          </p:nvPr>
        </p:nvSpPr>
        <p:spPr/>
        <p:txBody>
          <a:bodyPr/>
          <a:lstStyle/>
          <a:p>
            <a:fld id="{56E3D061-1765-D946-9FA1-698C704C641F}" type="slidenum">
              <a:rPr lang="en-AU" smtClean="0"/>
              <a:pPr/>
              <a:t>6</a:t>
            </a:fld>
            <a:endParaRPr lang="en-AU" dirty="0"/>
          </a:p>
        </p:txBody>
      </p:sp>
    </p:spTree>
    <p:extLst>
      <p:ext uri="{BB962C8B-B14F-4D97-AF65-F5344CB8AC3E}">
        <p14:creationId xmlns:p14="http://schemas.microsoft.com/office/powerpoint/2010/main" val="4093648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smtClean="0">
                <a:solidFill>
                  <a:schemeClr val="tx1"/>
                </a:solidFill>
                <a:latin typeface="Arial" pitchFamily="-110" charset="0"/>
                <a:ea typeface="+mn-ea"/>
                <a:cs typeface="+mn-cs"/>
              </a:rPr>
              <a:t> Table 8.1 lists examples of activities associated with the above steps.</a:t>
            </a:r>
            <a:endParaRPr lang="en-US" dirty="0"/>
          </a:p>
        </p:txBody>
      </p:sp>
      <p:sp>
        <p:nvSpPr>
          <p:cNvPr id="4" name="Slide Number Placeholder 3"/>
          <p:cNvSpPr>
            <a:spLocks noGrp="1"/>
          </p:cNvSpPr>
          <p:nvPr>
            <p:ph type="sldNum" sz="quarter" idx="10"/>
          </p:nvPr>
        </p:nvSpPr>
        <p:spPr/>
        <p:txBody>
          <a:bodyPr/>
          <a:lstStyle/>
          <a:p>
            <a:fld id="{56E3D061-1765-D946-9FA1-698C704C641F}" type="slidenum">
              <a:rPr lang="en-AU" smtClean="0"/>
              <a:pPr/>
              <a:t>7</a:t>
            </a:fld>
            <a:endParaRPr lang="en-AU" dirty="0"/>
          </a:p>
        </p:txBody>
      </p:sp>
    </p:spTree>
    <p:extLst>
      <p:ext uri="{BB962C8B-B14F-4D97-AF65-F5344CB8AC3E}">
        <p14:creationId xmlns:p14="http://schemas.microsoft.com/office/powerpoint/2010/main" val="9172772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
        <p:cNvGrpSpPr/>
        <p:nvPr/>
      </p:nvGrpSpPr>
      <p:grpSpPr>
        <a:xfrm>
          <a:off x="0" y="0"/>
          <a:ext cx="0" cy="0"/>
          <a:chOff x="0" y="0"/>
          <a:chExt cx="0" cy="0"/>
        </a:xfrm>
      </p:grpSpPr>
      <p:sp>
        <p:nvSpPr>
          <p:cNvPr id="28" name="Shape 28"/>
          <p:cNvSpPr>
            <a:spLocks noGrp="1" noRot="1" noChangeAspect="1"/>
          </p:cNvSpPr>
          <p:nvPr>
            <p:ph type="sldImg" idx="2"/>
          </p:nvPr>
        </p:nvSpPr>
        <p:spPr>
          <a:xfrm>
            <a:off x="393700" y="692150"/>
            <a:ext cx="6070600"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29" name="Shape 29"/>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buClr>
                <a:schemeClr val="dk1"/>
              </a:buClr>
              <a:buSzPct val="25000"/>
            </a:pPr>
            <a:r>
              <a:rPr lang="en-US" dirty="0" smtClean="0">
                <a:solidFill>
                  <a:schemeClr val="dk1"/>
                </a:solidFill>
              </a:rPr>
              <a:t>defense-in-depth </a:t>
            </a:r>
            <a:r>
              <a:rPr lang="en-US" dirty="0">
                <a:solidFill>
                  <a:schemeClr val="dk1"/>
                </a:solidFill>
              </a:rPr>
              <a:t>principle: we need multiple layers of defense mechanisms. That is, we need detection mechanisms even after we have deployed prevention mechanisms to detect attacks that can’t be easily prevented, or, kept out of our networks and systems.</a:t>
            </a:r>
          </a:p>
          <a:p>
            <a:pPr>
              <a:spcBef>
                <a:spcPts val="354"/>
              </a:spcBef>
              <a:buClr>
                <a:schemeClr val="dk1"/>
              </a:buClr>
            </a:pPr>
            <a:endParaRPr lang="en-US" dirty="0" smtClean="0">
              <a:solidFill>
                <a:schemeClr val="dk1"/>
              </a:solidFill>
            </a:endParaRPr>
          </a:p>
          <a:p>
            <a:pPr>
              <a:spcBef>
                <a:spcPts val="354"/>
              </a:spcBef>
              <a:buClr>
                <a:schemeClr val="dk1"/>
              </a:buClr>
            </a:pPr>
            <a:r>
              <a:rPr lang="en-US" dirty="0" smtClean="0">
                <a:solidFill>
                  <a:schemeClr val="dk1"/>
                </a:solidFill>
              </a:rPr>
              <a:t>Typically</a:t>
            </a:r>
            <a:r>
              <a:rPr lang="en-US" dirty="0">
                <a:solidFill>
                  <a:schemeClr val="dk1"/>
                </a:solidFill>
              </a:rPr>
              <a:t>, these </a:t>
            </a:r>
            <a:r>
              <a:rPr lang="en-US" dirty="0" smtClean="0">
                <a:solidFill>
                  <a:schemeClr val="dk1"/>
                </a:solidFill>
              </a:rPr>
              <a:t>detection mechanisms </a:t>
            </a:r>
            <a:r>
              <a:rPr lang="en-US" dirty="0">
                <a:solidFill>
                  <a:schemeClr val="dk1"/>
                </a:solidFill>
              </a:rPr>
              <a:t>are called intrusion detection systems.</a:t>
            </a:r>
          </a:p>
        </p:txBody>
      </p:sp>
      <p:sp>
        <p:nvSpPr>
          <p:cNvPr id="30" name="Shape 30"/>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8</a:t>
            </a:fld>
            <a:endParaRPr lang="en-US"/>
          </a:p>
        </p:txBody>
      </p:sp>
    </p:spTree>
    <p:extLst>
      <p:ext uri="{BB962C8B-B14F-4D97-AF65-F5344CB8AC3E}">
        <p14:creationId xmlns:p14="http://schemas.microsoft.com/office/powerpoint/2010/main" val="6486584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031"/>
          <p:cNvSpPr>
            <a:spLocks noGrp="1" noChangeArrowheads="1"/>
          </p:cNvSpPr>
          <p:nvPr>
            <p:ph type="sldNum" sz="quarter" idx="5"/>
          </p:nvPr>
        </p:nvSpPr>
        <p:spPr>
          <a:noFill/>
        </p:spPr>
        <p:txBody>
          <a:bodyPr/>
          <a:lstStyle/>
          <a:p>
            <a:fld id="{625ACF38-6F26-A24B-BE4F-F25C992024F8}" type="slidenum">
              <a:rPr lang="en-AU">
                <a:latin typeface="Arial" pitchFamily="-84" charset="0"/>
              </a:rPr>
              <a:pPr/>
              <a:t>10</a:t>
            </a:fld>
            <a:endParaRPr lang="en-AU" dirty="0">
              <a:latin typeface="Arial" pitchFamily="-84"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p:spPr>
        <p:txBody>
          <a:bodyPr/>
          <a:lstStyle/>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Inevitably, the best intrusion prevention system will fail. A system’s second line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of defense is intrusion detection, and this has been the focus of much research in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recent years. This interest is motivated by a number of considerations, including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following:</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1.  If an intrusion is detected quickly enough, the intruder can be identified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ejected from the system before any damage is done or any data are compromised.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Even if the detection is not sufficiently timely to preempt the intruder,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sooner that the intrusion is detected, the less the amount of damage and</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the more quickly that recovery can be achieved.</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2.  An effective intrusion detection system can serve as a deterrent, so acting to</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prevent intrusions.</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3.  Intrusion detection enables the collection of information about intrusion techniques</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that can be used to strengthen the intrusion prevention facility.</a:t>
            </a:r>
          </a:p>
          <a:p>
            <a:endParaRPr lang="en-US" sz="1200" kern="1200" baseline="0" dirty="0" smtClean="0">
              <a:solidFill>
                <a:schemeClr val="tx1"/>
              </a:solidFill>
              <a:latin typeface="Arial" pitchFamily="-107" charset="0"/>
              <a:ea typeface="ＭＳ Ｐゴシック" pitchFamily="-107" charset="-128"/>
              <a:cs typeface="ＭＳ Ｐゴシック" pitchFamily="-107" charset="-128"/>
            </a:endParaRP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Intrusion detection is based on the assumption that the behavior of the</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intruder differs from that of a legitimate user in ways that can be quantified. Of</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course, we cannot expect that there will be a crisp, exact distinction between an</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attack by an intruder and the normal use of resources by an authorized user. Rather,</a:t>
            </a:r>
          </a:p>
          <a:p>
            <a:r>
              <a:rPr lang="en-US" sz="1200" kern="1200" baseline="0" dirty="0" smtClean="0">
                <a:solidFill>
                  <a:schemeClr val="tx1"/>
                </a:solidFill>
                <a:latin typeface="Arial" pitchFamily="-107" charset="0"/>
                <a:ea typeface="ＭＳ Ｐゴシック" pitchFamily="-107" charset="-128"/>
                <a:cs typeface="ＭＳ Ｐゴシック" pitchFamily="-107" charset="-128"/>
              </a:rPr>
              <a:t>we must expect that there will be some overlap.</a:t>
            </a:r>
            <a:endParaRPr lang="en-US" dirty="0">
              <a:latin typeface="Arial" pitchFamily="-84" charset="0"/>
            </a:endParaRPr>
          </a:p>
        </p:txBody>
      </p:sp>
    </p:spTree>
    <p:extLst>
      <p:ext uri="{BB962C8B-B14F-4D97-AF65-F5344CB8AC3E}">
        <p14:creationId xmlns:p14="http://schemas.microsoft.com/office/powerpoint/2010/main" val="41992517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1D09C445-9EF7-4B62-A761-8A02FD6B970B}" type="slidenum">
              <a:rPr lang="en-AU" altLang="en-US">
                <a:latin typeface="Arial" pitchFamily="34" charset="0"/>
                <a:ea typeface="ＭＳ Ｐゴシック" pitchFamily="34" charset="-128"/>
              </a:rPr>
              <a:pPr fontAlgn="base">
                <a:spcBef>
                  <a:spcPct val="0"/>
                </a:spcBef>
                <a:spcAft>
                  <a:spcPct val="0"/>
                </a:spcAft>
              </a:pPr>
              <a:t>11</a:t>
            </a:fld>
            <a:endParaRPr lang="en-AU" altLang="en-US">
              <a:latin typeface="Arial" pitchFamily="34" charset="0"/>
              <a:ea typeface="ＭＳ Ｐゴシック" pitchFamily="34" charset="-128"/>
            </a:endParaRPr>
          </a:p>
        </p:txBody>
      </p:sp>
      <p:sp>
        <p:nvSpPr>
          <p:cNvPr id="63491"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2"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smtClean="0">
                <a:latin typeface="Times New Roman" pitchFamily="18" charset="0"/>
                <a:ea typeface="ＭＳ Ｐゴシック" pitchFamily="34" charset="-128"/>
              </a:rPr>
              <a:t>Intrusion detection systems (IDSs) can be classified as follows:</a:t>
            </a:r>
          </a:p>
          <a:p>
            <a:pPr>
              <a:spcBef>
                <a:spcPct val="0"/>
              </a:spcBef>
            </a:pPr>
            <a:r>
              <a:rPr lang="en-US" altLang="en-US" dirty="0" smtClean="0">
                <a:latin typeface="Times New Roman" pitchFamily="18" charset="0"/>
                <a:ea typeface="ＭＳ Ｐゴシック" pitchFamily="34" charset="-128"/>
                <a:cs typeface="Times New Roman" pitchFamily="18" charset="0"/>
              </a:rPr>
              <a:t>• </a:t>
            </a:r>
            <a:r>
              <a:rPr lang="en-US" altLang="en-US" b="1" dirty="0" smtClean="0">
                <a:latin typeface="Times New Roman" pitchFamily="18" charset="0"/>
                <a:ea typeface="ＭＳ Ｐゴシック" pitchFamily="34" charset="-128"/>
              </a:rPr>
              <a:t>Host-based IDS:</a:t>
            </a:r>
            <a:r>
              <a:rPr lang="en-US" altLang="en-US" dirty="0" smtClean="0">
                <a:latin typeface="Times New Roman" pitchFamily="18" charset="0"/>
                <a:ea typeface="ＭＳ Ｐゴシック" pitchFamily="34" charset="-128"/>
              </a:rPr>
              <a:t> monitors the characteristics of a single host and the events occurring within that host for suspicious activity</a:t>
            </a:r>
          </a:p>
          <a:p>
            <a:pPr>
              <a:spcBef>
                <a:spcPct val="0"/>
              </a:spcBef>
            </a:pPr>
            <a:r>
              <a:rPr lang="en-US" altLang="en-US" dirty="0" smtClean="0">
                <a:latin typeface="Times New Roman" pitchFamily="18" charset="0"/>
                <a:ea typeface="ＭＳ Ｐゴシック" pitchFamily="34" charset="-128"/>
              </a:rPr>
              <a:t>• </a:t>
            </a:r>
            <a:r>
              <a:rPr lang="en-US" altLang="en-US" b="1" dirty="0" smtClean="0">
                <a:latin typeface="Times New Roman" pitchFamily="18" charset="0"/>
                <a:ea typeface="ＭＳ Ｐゴシック" pitchFamily="34" charset="-128"/>
              </a:rPr>
              <a:t>Network-based IDS:</a:t>
            </a:r>
            <a:r>
              <a:rPr lang="en-US" altLang="en-US" dirty="0" smtClean="0">
                <a:latin typeface="Times New Roman" pitchFamily="18" charset="0"/>
                <a:ea typeface="ＭＳ Ｐゴシック" pitchFamily="34" charset="-128"/>
              </a:rPr>
              <a:t> monitors network traffic for particular network segments or devices and analyzes network, transport, and application protocols to identify suspicious activity</a:t>
            </a:r>
          </a:p>
          <a:p>
            <a:pPr>
              <a:spcBef>
                <a:spcPct val="0"/>
              </a:spcBef>
            </a:pPr>
            <a:r>
              <a:rPr lang="en-US" altLang="en-US" dirty="0" smtClean="0">
                <a:latin typeface="Times New Roman" pitchFamily="18" charset="0"/>
                <a:ea typeface="ＭＳ Ｐゴシック" pitchFamily="34" charset="-128"/>
              </a:rPr>
              <a:t>An IDS comprises three logical components:</a:t>
            </a:r>
          </a:p>
          <a:p>
            <a:pPr>
              <a:spcBef>
                <a:spcPct val="0"/>
              </a:spcBef>
            </a:pPr>
            <a:r>
              <a:rPr lang="en-US" altLang="en-US" dirty="0" smtClean="0">
                <a:latin typeface="Times New Roman" pitchFamily="18" charset="0"/>
                <a:ea typeface="ＭＳ Ｐゴシック" pitchFamily="34" charset="-128"/>
              </a:rPr>
              <a:t>• </a:t>
            </a:r>
            <a:r>
              <a:rPr lang="en-US" altLang="en-US" b="1" dirty="0" smtClean="0">
                <a:latin typeface="Times New Roman" pitchFamily="18" charset="0"/>
                <a:ea typeface="ＭＳ Ｐゴシック" pitchFamily="34" charset="-128"/>
              </a:rPr>
              <a:t>Sensors:</a:t>
            </a:r>
            <a:r>
              <a:rPr lang="en-US" altLang="en-US" dirty="0" smtClean="0">
                <a:latin typeface="Times New Roman" pitchFamily="18" charset="0"/>
                <a:ea typeface="ＭＳ Ｐゴシック" pitchFamily="34" charset="-128"/>
              </a:rPr>
              <a:t> Sensors are responsible for collecting data. The input for a sensor may be any part of a system that could contain evidence of an intrusion. Example types of input to a sensor are network packets, log files, and system call traces. Sensors collect and forward this information to the analyzer.</a:t>
            </a:r>
          </a:p>
          <a:p>
            <a:pPr>
              <a:spcBef>
                <a:spcPct val="0"/>
              </a:spcBef>
            </a:pPr>
            <a:r>
              <a:rPr lang="en-US" altLang="en-US" dirty="0" smtClean="0">
                <a:latin typeface="Times New Roman" pitchFamily="18" charset="0"/>
                <a:ea typeface="ＭＳ Ｐゴシック" pitchFamily="34" charset="-128"/>
              </a:rPr>
              <a:t>• </a:t>
            </a:r>
            <a:r>
              <a:rPr lang="en-US" altLang="en-US" b="1" dirty="0" smtClean="0">
                <a:latin typeface="Times New Roman" pitchFamily="18" charset="0"/>
                <a:ea typeface="ＭＳ Ｐゴシック" pitchFamily="34" charset="-128"/>
              </a:rPr>
              <a:t>Analyzers:</a:t>
            </a:r>
            <a:r>
              <a:rPr lang="en-US" altLang="en-US" dirty="0" smtClean="0">
                <a:latin typeface="Times New Roman" pitchFamily="18" charset="0"/>
                <a:ea typeface="ＭＳ Ｐゴシック" pitchFamily="34" charset="-128"/>
              </a:rPr>
              <a:t> Analyzers receive input from one or more sensors or from other analyzers. The analyzer is responsible for determining if an intrusion has occurred. The output of this component is an indication that an intrusion has occurred. The output may include evidence supporting the conclusion that an intrusion occurred. The analyzer may provide guidance about what actions to take as a result of the intrusion.</a:t>
            </a:r>
          </a:p>
          <a:p>
            <a:pPr>
              <a:spcBef>
                <a:spcPct val="0"/>
              </a:spcBef>
            </a:pPr>
            <a:r>
              <a:rPr lang="en-US" altLang="en-US" dirty="0" smtClean="0">
                <a:latin typeface="Times New Roman" pitchFamily="18" charset="0"/>
                <a:ea typeface="ＭＳ Ｐゴシック" pitchFamily="34" charset="-128"/>
              </a:rPr>
              <a:t>• </a:t>
            </a:r>
            <a:r>
              <a:rPr lang="en-US" altLang="en-US" b="1" dirty="0" smtClean="0">
                <a:latin typeface="Times New Roman" pitchFamily="18" charset="0"/>
                <a:ea typeface="ＭＳ Ｐゴシック" pitchFamily="34" charset="-128"/>
              </a:rPr>
              <a:t>User interface:</a:t>
            </a:r>
            <a:r>
              <a:rPr lang="en-US" altLang="en-US" dirty="0" smtClean="0">
                <a:latin typeface="Times New Roman" pitchFamily="18" charset="0"/>
                <a:ea typeface="ＭＳ Ｐゴシック" pitchFamily="34" charset="-128"/>
              </a:rPr>
              <a:t> The user interface to an IDS enables a user to view output from the system or control the behavior of the system. In some systems, the user interface may equate to a manager, director, or console component.</a:t>
            </a:r>
          </a:p>
        </p:txBody>
      </p:sp>
    </p:spTree>
    <p:extLst>
      <p:ext uri="{BB962C8B-B14F-4D97-AF65-F5344CB8AC3E}">
        <p14:creationId xmlns:p14="http://schemas.microsoft.com/office/powerpoint/2010/main" val="388836385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Slide Image Placeholder 1"/>
          <p:cNvSpPr>
            <a:spLocks noGrp="1" noRot="1" noChangeAspect="1" noTextEdit="1"/>
          </p:cNvSpPr>
          <p:nvPr>
            <p:ph type="sldImg"/>
          </p:nvPr>
        </p:nvSpPr>
        <p:spPr>
          <a:ln/>
        </p:spPr>
      </p:sp>
      <p:sp>
        <p:nvSpPr>
          <p:cNvPr id="7065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80000"/>
              </a:lnSpc>
            </a:pPr>
            <a:r>
              <a:rPr lang="en-US" altLang="en-US" sz="1000" b="1" smtClean="0">
                <a:latin typeface="Arial" panose="020B0604020202020204" pitchFamily="34" charset="0"/>
                <a:ea typeface="ヒラギノ角ゴ Pro W3" charset="-128"/>
              </a:rPr>
              <a:t>Exam Tip:</a:t>
            </a:r>
            <a:r>
              <a:rPr lang="en-US" altLang="en-US" sz="1000" smtClean="0">
                <a:latin typeface="Arial" panose="020B0604020202020204" pitchFamily="34" charset="0"/>
                <a:ea typeface="ヒラギノ角ゴ Pro W3" charset="-128"/>
              </a:rPr>
              <a:t> Know the differences between host-based and network-based IDSs. A host-based IDS runs on a specific system (server or workstation) and looks at all the activity on that host. A network-based IDS sniffs traffic from the network and sees only activity that occurs on the network. </a:t>
            </a:r>
          </a:p>
          <a:p>
            <a:pPr>
              <a:lnSpc>
                <a:spcPct val="80000"/>
              </a:lnSpc>
            </a:pPr>
            <a:endParaRPr lang="en-US" altLang="en-US" sz="1000" smtClean="0">
              <a:latin typeface="Arial" panose="020B0604020202020204" pitchFamily="34" charset="0"/>
              <a:ea typeface="ヒラギノ角ゴ Pro W3" charset="-128"/>
            </a:endParaRPr>
          </a:p>
          <a:p>
            <a:pPr>
              <a:lnSpc>
                <a:spcPct val="80000"/>
              </a:lnSpc>
            </a:pPr>
            <a:r>
              <a:rPr lang="en-US" altLang="en-US" sz="1000" smtClean="0">
                <a:latin typeface="Arial" panose="020B0604020202020204" pitchFamily="34" charset="0"/>
                <a:ea typeface="ヒラギノ角ゴ Pro W3" charset="-128"/>
              </a:rPr>
              <a:t>Whether it is network- or host-based, an IDS typically consists of several specialized components working together, as illustrated in Figure 13.2. These components are often logical and software-based rather than physical and will vary slightly from vendor to vendor and product to product. Typically, an IDS has the following logical components:</a:t>
            </a:r>
          </a:p>
          <a:p>
            <a:pPr>
              <a:lnSpc>
                <a:spcPct val="80000"/>
              </a:lnSpc>
            </a:pPr>
            <a:r>
              <a:rPr lang="en-US" altLang="en-US" sz="1000" smtClean="0">
                <a:latin typeface="Arial" panose="020B0604020202020204" pitchFamily="34" charset="0"/>
                <a:ea typeface="ヒラギノ角ゴ Pro W3" charset="-128"/>
              </a:rPr>
              <a:t>The traffic collector (or sensor) collects activity/events for the IDS to examine. On a HIDS, this could be log files, audit logs, or traffic coming to or leaving a specific system. On a NIDS, this is typically a mechanism for copying traffic off the network link—basically functioning as a sniffer. This component is often referred to as a sensor.</a:t>
            </a:r>
          </a:p>
          <a:p>
            <a:pPr>
              <a:lnSpc>
                <a:spcPct val="80000"/>
              </a:lnSpc>
            </a:pPr>
            <a:r>
              <a:rPr lang="en-US" altLang="en-US" sz="1000" smtClean="0">
                <a:latin typeface="Arial" panose="020B0604020202020204" pitchFamily="34" charset="0"/>
                <a:ea typeface="ヒラギノ角ゴ Pro W3" charset="-128"/>
              </a:rPr>
              <a:t>The analysis engine examines the collected network traffic, and compares it to known patterns of suspicious or malicious activity stored in the signature database. The analysis engine is the </a:t>
            </a:r>
            <a:r>
              <a:rPr lang="ja-JP" altLang="en-US" sz="1000" smtClean="0">
                <a:latin typeface="Arial" panose="020B0604020202020204" pitchFamily="34" charset="0"/>
                <a:ea typeface="ヒラギノ角ゴ Pro W3" charset="-128"/>
              </a:rPr>
              <a:t>“</a:t>
            </a:r>
            <a:r>
              <a:rPr lang="en-US" altLang="ja-JP" sz="1000" smtClean="0">
                <a:latin typeface="Arial" panose="020B0604020202020204" pitchFamily="34" charset="0"/>
                <a:ea typeface="ヒラギノ角ゴ Pro W3" charset="-128"/>
              </a:rPr>
              <a:t>brains</a:t>
            </a:r>
            <a:r>
              <a:rPr lang="ja-JP" altLang="en-US" sz="1000" smtClean="0">
                <a:latin typeface="Arial" panose="020B0604020202020204" pitchFamily="34" charset="0"/>
                <a:ea typeface="ヒラギノ角ゴ Pro W3" charset="-128"/>
              </a:rPr>
              <a:t>”</a:t>
            </a:r>
            <a:r>
              <a:rPr lang="en-US" altLang="ja-JP" sz="1000" smtClean="0">
                <a:latin typeface="Arial" panose="020B0604020202020204" pitchFamily="34" charset="0"/>
                <a:ea typeface="ヒラギノ角ゴ Pro W3" charset="-128"/>
              </a:rPr>
              <a:t> of the IDS.</a:t>
            </a:r>
          </a:p>
          <a:p>
            <a:pPr>
              <a:lnSpc>
                <a:spcPct val="80000"/>
              </a:lnSpc>
            </a:pPr>
            <a:r>
              <a:rPr lang="en-US" altLang="en-US" sz="1000" smtClean="0">
                <a:latin typeface="Arial" panose="020B0604020202020204" pitchFamily="34" charset="0"/>
                <a:ea typeface="ヒラギノ角ゴ Pro W3" charset="-128"/>
              </a:rPr>
              <a:t>The signature database is a collection of patterns and definitions of known suspicious or malicious activity.</a:t>
            </a:r>
          </a:p>
          <a:p>
            <a:pPr>
              <a:lnSpc>
                <a:spcPct val="80000"/>
              </a:lnSpc>
            </a:pPr>
            <a:r>
              <a:rPr lang="en-US" altLang="en-US" sz="1000" smtClean="0">
                <a:latin typeface="Arial" panose="020B0604020202020204" pitchFamily="34" charset="0"/>
                <a:ea typeface="ヒラギノ角ゴ Pro W3" charset="-128"/>
              </a:rPr>
              <a:t>User interface and reporting interfaces with the human element, providing alerts when appropriate and giving the user a means to interact with and operate the IDS.</a:t>
            </a:r>
          </a:p>
        </p:txBody>
      </p:sp>
      <p:sp>
        <p:nvSpPr>
          <p:cNvPr id="7065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15E9DDA8-1A3B-4C2A-AB8E-AC77609C5903}" type="slidenum">
              <a:rPr lang="en-US" altLang="en-US" sz="1200"/>
              <a:pPr eaLnBrk="1" hangingPunct="1"/>
              <a:t>12</a:t>
            </a:fld>
            <a:endParaRPr lang="en-US" altLang="en-US" sz="1200"/>
          </a:p>
        </p:txBody>
      </p:sp>
    </p:spTree>
    <p:extLst>
      <p:ext uri="{BB962C8B-B14F-4D97-AF65-F5344CB8AC3E}">
        <p14:creationId xmlns:p14="http://schemas.microsoft.com/office/powerpoint/2010/main" val="11757225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lnSpc>
                <a:spcPct val="80000"/>
              </a:lnSpc>
              <a:spcBef>
                <a:spcPct val="0"/>
              </a:spcBef>
            </a:pPr>
            <a:r>
              <a:rPr lang="en-US" altLang="en-US" sz="1000" smtClean="0">
                <a:latin typeface="Arial" pitchFamily="34" charset="0"/>
                <a:ea typeface="ヒラギノ角ゴ Pro W3"/>
                <a:cs typeface="ヒラギノ角ゴ Pro W3"/>
              </a:rPr>
              <a:t>Know the differences between host-based and network-based IDSs. A host-based IDS runs on a specific system (server or workstation) and looks at all the activity on that host. A network-based IDS sniffs traffic from the network and sees only activity that occurs on the network. </a:t>
            </a:r>
          </a:p>
        </p:txBody>
      </p:sp>
      <p:sp>
        <p:nvSpPr>
          <p:cNvPr id="6451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defTabSz="912813">
              <a:defRPr>
                <a:solidFill>
                  <a:schemeClr val="tx1"/>
                </a:solidFill>
                <a:latin typeface="Calibri" pitchFamily="34" charset="0"/>
              </a:defRPr>
            </a:lvl1pPr>
            <a:lvl2pPr marL="719138" indent="-276225" defTabSz="912813">
              <a:defRPr>
                <a:solidFill>
                  <a:schemeClr val="tx1"/>
                </a:solidFill>
                <a:latin typeface="Calibri" pitchFamily="34" charset="0"/>
              </a:defRPr>
            </a:lvl2pPr>
            <a:lvl3pPr marL="1106488" indent="-220663" defTabSz="912813">
              <a:defRPr>
                <a:solidFill>
                  <a:schemeClr val="tx1"/>
                </a:solidFill>
                <a:latin typeface="Calibri" pitchFamily="34" charset="0"/>
              </a:defRPr>
            </a:lvl3pPr>
            <a:lvl4pPr marL="1549400" indent="-220663" defTabSz="912813">
              <a:defRPr>
                <a:solidFill>
                  <a:schemeClr val="tx1"/>
                </a:solidFill>
                <a:latin typeface="Calibri" pitchFamily="34" charset="0"/>
              </a:defRPr>
            </a:lvl4pPr>
            <a:lvl5pPr marL="1993900" indent="-220663" defTabSz="912813">
              <a:defRPr>
                <a:solidFill>
                  <a:schemeClr val="tx1"/>
                </a:solidFill>
                <a:latin typeface="Calibri" pitchFamily="34" charset="0"/>
              </a:defRPr>
            </a:lvl5pPr>
            <a:lvl6pPr marL="2451100" indent="-220663" defTabSz="912813" fontAlgn="base">
              <a:spcBef>
                <a:spcPct val="0"/>
              </a:spcBef>
              <a:spcAft>
                <a:spcPct val="0"/>
              </a:spcAft>
              <a:defRPr>
                <a:solidFill>
                  <a:schemeClr val="tx1"/>
                </a:solidFill>
                <a:latin typeface="Calibri" pitchFamily="34" charset="0"/>
              </a:defRPr>
            </a:lvl6pPr>
            <a:lvl7pPr marL="2908300" indent="-220663" defTabSz="912813" fontAlgn="base">
              <a:spcBef>
                <a:spcPct val="0"/>
              </a:spcBef>
              <a:spcAft>
                <a:spcPct val="0"/>
              </a:spcAft>
              <a:defRPr>
                <a:solidFill>
                  <a:schemeClr val="tx1"/>
                </a:solidFill>
                <a:latin typeface="Calibri" pitchFamily="34" charset="0"/>
              </a:defRPr>
            </a:lvl7pPr>
            <a:lvl8pPr marL="3365500" indent="-220663" defTabSz="912813" fontAlgn="base">
              <a:spcBef>
                <a:spcPct val="0"/>
              </a:spcBef>
              <a:spcAft>
                <a:spcPct val="0"/>
              </a:spcAft>
              <a:defRPr>
                <a:solidFill>
                  <a:schemeClr val="tx1"/>
                </a:solidFill>
                <a:latin typeface="Calibri" pitchFamily="34" charset="0"/>
              </a:defRPr>
            </a:lvl8pPr>
            <a:lvl9pPr marL="3822700" indent="-220663" defTabSz="912813"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763BB195-6E5C-4B6C-8A10-BAAC6501C317}" type="slidenum">
              <a:rPr lang="en-US" altLang="en-US">
                <a:latin typeface="Arial" pitchFamily="34" charset="0"/>
                <a:ea typeface="ヒラギノ角ゴ Pro W3"/>
                <a:cs typeface="ヒラギノ角ゴ Pro W3"/>
              </a:rPr>
              <a:pPr fontAlgn="base">
                <a:spcBef>
                  <a:spcPct val="0"/>
                </a:spcBef>
                <a:spcAft>
                  <a:spcPct val="0"/>
                </a:spcAft>
              </a:pPr>
              <a:t>13</a:t>
            </a:fld>
            <a:endParaRPr lang="en-US" altLang="en-US">
              <a:latin typeface="Arial" pitchFamily="34" charset="0"/>
              <a:ea typeface="ヒラギノ角ゴ Pro W3"/>
              <a:cs typeface="ヒラギノ角ゴ Pro W3"/>
            </a:endParaRPr>
          </a:p>
        </p:txBody>
      </p:sp>
    </p:spTree>
    <p:extLst>
      <p:ext uri="{BB962C8B-B14F-4D97-AF65-F5344CB8AC3E}">
        <p14:creationId xmlns:p14="http://schemas.microsoft.com/office/powerpoint/2010/main" val="316522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Slide Image Placeholder 1"/>
          <p:cNvSpPr>
            <a:spLocks noGrp="1" noRot="1" noChangeAspect="1" noTextEdit="1"/>
          </p:cNvSpPr>
          <p:nvPr>
            <p:ph type="sldImg"/>
          </p:nvPr>
        </p:nvSpPr>
        <p:spPr>
          <a:ln/>
        </p:spPr>
      </p:sp>
      <p:sp>
        <p:nvSpPr>
          <p:cNvPr id="7270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a typeface="ヒラギノ角ゴ Pro W3" charset="-128"/>
            </a:endParaRPr>
          </a:p>
        </p:txBody>
      </p:sp>
      <p:sp>
        <p:nvSpPr>
          <p:cNvPr id="7270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6F0E1D25-5127-4399-8B26-B243E7201412}" type="slidenum">
              <a:rPr lang="en-US" altLang="en-US" sz="1200"/>
              <a:pPr eaLnBrk="1" hangingPunct="1"/>
              <a:t>14</a:t>
            </a:fld>
            <a:endParaRPr lang="en-US" altLang="en-US" sz="1200"/>
          </a:p>
        </p:txBody>
      </p:sp>
    </p:spTree>
    <p:extLst>
      <p:ext uri="{BB962C8B-B14F-4D97-AF65-F5344CB8AC3E}">
        <p14:creationId xmlns:p14="http://schemas.microsoft.com/office/powerpoint/2010/main" val="326969554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noTextEdit="1"/>
          </p:cNvSpPr>
          <p:nvPr>
            <p:ph type="sldImg"/>
          </p:nvPr>
        </p:nvSpPr>
        <p:spPr>
          <a:ln/>
        </p:spPr>
      </p:sp>
      <p:sp>
        <p:nvSpPr>
          <p:cNvPr id="7680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smtClean="0">
              <a:latin typeface="Arial" panose="020B0604020202020204" pitchFamily="34" charset="0"/>
              <a:ea typeface="ヒラギノ角ゴ Pro W3" charset="-128"/>
            </a:endParaRPr>
          </a:p>
        </p:txBody>
      </p:sp>
      <p:sp>
        <p:nvSpPr>
          <p:cNvPr id="7680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5B4C53D9-4E1A-42F9-B296-48B7669BA4DA}" type="slidenum">
              <a:rPr lang="en-US" altLang="en-US" sz="1200"/>
              <a:pPr eaLnBrk="1" hangingPunct="1"/>
              <a:t>17</a:t>
            </a:fld>
            <a:endParaRPr lang="en-US" altLang="en-US" sz="1200"/>
          </a:p>
        </p:txBody>
      </p:sp>
    </p:spTree>
    <p:extLst>
      <p:ext uri="{BB962C8B-B14F-4D97-AF65-F5344CB8AC3E}">
        <p14:creationId xmlns:p14="http://schemas.microsoft.com/office/powerpoint/2010/main" val="25301124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dirty="0" smtClean="0"/>
              <a:t>Security+ objective 2.3a NIDS</a:t>
            </a:r>
          </a:p>
          <a:p>
            <a:pPr>
              <a:defRPr/>
            </a:pPr>
            <a:r>
              <a:rPr lang="en-US" dirty="0" smtClean="0"/>
              <a:t>Security+ objective 2.4a NIDS</a:t>
            </a:r>
          </a:p>
          <a:p>
            <a:pPr>
              <a:defRPr/>
            </a:pPr>
            <a:endParaRPr lang="en-US" dirty="0"/>
          </a:p>
        </p:txBody>
      </p:sp>
      <p:sp>
        <p:nvSpPr>
          <p:cNvPr id="7885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72D64A12-2D5F-4BA6-ACA7-D43020FC14DD}" type="slidenum">
              <a:rPr lang="en-US" altLang="en-US" sz="1200"/>
              <a:pPr eaLnBrk="1" hangingPunct="1"/>
              <a:t>18</a:t>
            </a:fld>
            <a:endParaRPr lang="en-US" altLang="en-US" sz="1200"/>
          </a:p>
        </p:txBody>
      </p:sp>
    </p:spTree>
    <p:extLst>
      <p:ext uri="{BB962C8B-B14F-4D97-AF65-F5344CB8AC3E}">
        <p14:creationId xmlns:p14="http://schemas.microsoft.com/office/powerpoint/2010/main" val="14000571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r>
              <a:rPr lang="en-US" b="1" dirty="0" smtClean="0"/>
              <a:t>(1)Host-Based IDSs</a:t>
            </a:r>
          </a:p>
          <a:p>
            <a:pPr>
              <a:defRPr/>
            </a:pPr>
            <a:r>
              <a:rPr lang="en-US" dirty="0" smtClean="0"/>
              <a:t>Security+ objective 1.5a HIDS</a:t>
            </a:r>
          </a:p>
          <a:p>
            <a:pPr>
              <a:defRPr/>
            </a:pPr>
            <a:endParaRPr lang="en-US" dirty="0" smtClean="0"/>
          </a:p>
          <a:p>
            <a:pPr>
              <a:defRPr/>
            </a:pPr>
            <a:endParaRPr lang="en-US" b="1" dirty="0" smtClean="0"/>
          </a:p>
        </p:txBody>
      </p:sp>
      <p:sp>
        <p:nvSpPr>
          <p:cNvPr id="8089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39993E42-0A1B-4C81-94AE-C5B34B357C11}" type="slidenum">
              <a:rPr lang="en-US" altLang="en-US" sz="1200"/>
              <a:pPr eaLnBrk="1" hangingPunct="1"/>
              <a:t>19</a:t>
            </a:fld>
            <a:endParaRPr lang="en-US" altLang="en-US" sz="1200"/>
          </a:p>
        </p:txBody>
      </p:sp>
    </p:spTree>
    <p:extLst>
      <p:ext uri="{BB962C8B-B14F-4D97-AF65-F5344CB8AC3E}">
        <p14:creationId xmlns:p14="http://schemas.microsoft.com/office/powerpoint/2010/main" val="55011399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5" name="Slide Image Placeholder 1"/>
          <p:cNvSpPr>
            <a:spLocks noGrp="1" noRot="1" noChangeAspect="1" noTextEdit="1"/>
          </p:cNvSpPr>
          <p:nvPr>
            <p:ph type="sldImg"/>
          </p:nvPr>
        </p:nvSpPr>
        <p:spPr>
          <a:ln/>
        </p:spPr>
      </p:sp>
      <p:sp>
        <p:nvSpPr>
          <p:cNvPr id="3" name="Notes Placeholder 2"/>
          <p:cNvSpPr>
            <a:spLocks noGrp="1"/>
          </p:cNvSpPr>
          <p:nvPr>
            <p:ph type="body" idx="1"/>
          </p:nvPr>
        </p:nvSpPr>
        <p:spPr/>
        <p:txBody>
          <a:bodyPr>
            <a:normAutofit/>
          </a:bodyPr>
          <a:lstStyle/>
          <a:p>
            <a:pPr>
              <a:defRPr/>
            </a:pPr>
            <a:endParaRPr lang="en-US" dirty="0" smtClean="0"/>
          </a:p>
        </p:txBody>
      </p:sp>
      <p:sp>
        <p:nvSpPr>
          <p:cNvPr id="8294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042B6841-B14A-4D26-888B-178C38F9E338}" type="slidenum">
              <a:rPr lang="en-US" altLang="en-US" sz="1200"/>
              <a:pPr eaLnBrk="1" hangingPunct="1"/>
              <a:t>20</a:t>
            </a:fld>
            <a:endParaRPr lang="en-US" altLang="en-US" sz="1200"/>
          </a:p>
        </p:txBody>
      </p:sp>
    </p:spTree>
    <p:extLst>
      <p:ext uri="{BB962C8B-B14F-4D97-AF65-F5344CB8AC3E}">
        <p14:creationId xmlns:p14="http://schemas.microsoft.com/office/powerpoint/2010/main" val="37762324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Slide Image Placeholder 1"/>
          <p:cNvSpPr>
            <a:spLocks noGrp="1" noRot="1" noChangeAspect="1" noTextEdit="1"/>
          </p:cNvSpPr>
          <p:nvPr>
            <p:ph type="sldImg"/>
          </p:nvPr>
        </p:nvSpPr>
        <p:spPr>
          <a:ln/>
        </p:spPr>
      </p:sp>
      <p:sp>
        <p:nvSpPr>
          <p:cNvPr id="8499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sz="1000" b="1" smtClean="0">
                <a:latin typeface="Arial" panose="020B0604020202020204" pitchFamily="34" charset="0"/>
                <a:ea typeface="ヒラギノ角ゴ Pro W3" charset="-128"/>
              </a:rPr>
              <a:t> (2)Advantages of HIDSs</a:t>
            </a:r>
          </a:p>
          <a:p>
            <a:pPr>
              <a:lnSpc>
                <a:spcPct val="90000"/>
              </a:lnSpc>
            </a:pPr>
            <a:r>
              <a:rPr lang="en-US" altLang="en-US" sz="1000" smtClean="0">
                <a:latin typeface="Arial" panose="020B0604020202020204" pitchFamily="34" charset="0"/>
                <a:ea typeface="ヒラギノ角ゴ Pro W3" charset="-128"/>
              </a:rPr>
              <a:t>HIDSs have certain advantages that make them a good choice for certain situations:</a:t>
            </a:r>
          </a:p>
          <a:p>
            <a:pPr>
              <a:lnSpc>
                <a:spcPct val="90000"/>
              </a:lnSpc>
            </a:pPr>
            <a:r>
              <a:rPr lang="en-US" altLang="en-US" sz="1000" smtClean="0">
                <a:latin typeface="Arial" panose="020B0604020202020204" pitchFamily="34" charset="0"/>
                <a:ea typeface="ヒラギノ角ゴ Pro W3" charset="-128"/>
              </a:rPr>
              <a:t>They can be very operating system–specific and have more detailed signatures. </a:t>
            </a:r>
          </a:p>
          <a:p>
            <a:pPr>
              <a:lnSpc>
                <a:spcPct val="90000"/>
              </a:lnSpc>
            </a:pPr>
            <a:r>
              <a:rPr lang="en-US" altLang="en-US" sz="1000" smtClean="0">
                <a:latin typeface="Arial" panose="020B0604020202020204" pitchFamily="34" charset="0"/>
                <a:ea typeface="ヒラギノ角ゴ Pro W3" charset="-128"/>
              </a:rPr>
              <a:t>A HIDS can be very specifically designed to run on a certain operating system or to protect certain applications. </a:t>
            </a:r>
          </a:p>
          <a:p>
            <a:pPr>
              <a:lnSpc>
                <a:spcPct val="90000"/>
              </a:lnSpc>
            </a:pPr>
            <a:r>
              <a:rPr lang="en-US" altLang="en-US" sz="1000" smtClean="0">
                <a:latin typeface="Arial" panose="020B0604020202020204" pitchFamily="34" charset="0"/>
                <a:ea typeface="ヒラギノ角ゴ Pro W3" charset="-128"/>
              </a:rPr>
              <a:t>This narrow focus lets developers concentrate on the specific things that affect the specific environment they are trying to protect. </a:t>
            </a:r>
          </a:p>
          <a:p>
            <a:pPr>
              <a:lnSpc>
                <a:spcPct val="90000"/>
              </a:lnSpc>
            </a:pPr>
            <a:r>
              <a:rPr lang="en-US" altLang="en-US" sz="1000" smtClean="0">
                <a:latin typeface="Arial" panose="020B0604020202020204" pitchFamily="34" charset="0"/>
                <a:ea typeface="ヒラギノ角ゴ Pro W3" charset="-128"/>
              </a:rPr>
              <a:t>With this type of focus, the developers can avoid generic alarms and develop much more specific, detailed signatures to identify malicious traffic more accurately.</a:t>
            </a:r>
          </a:p>
          <a:p>
            <a:pPr>
              <a:lnSpc>
                <a:spcPct val="90000"/>
              </a:lnSpc>
            </a:pPr>
            <a:r>
              <a:rPr lang="en-US" altLang="en-US" sz="1000" smtClean="0">
                <a:latin typeface="Arial" panose="020B0604020202020204" pitchFamily="34" charset="0"/>
                <a:ea typeface="ヒラギノ角ゴ Pro W3" charset="-128"/>
              </a:rPr>
              <a:t>They can reduce false-positive rates. When running on a specific system, the HIDS process is much more likely to be able to determine whether or not the activity being examined is malicious. By more accurately identifying which activity is </a:t>
            </a:r>
            <a:r>
              <a:rPr lang="ja-JP" altLang="en-US" sz="1000" smtClean="0">
                <a:latin typeface="Arial" panose="020B0604020202020204" pitchFamily="34" charset="0"/>
                <a:ea typeface="ヒラギノ角ゴ Pro W3" charset="-128"/>
              </a:rPr>
              <a:t>“</a:t>
            </a:r>
            <a:r>
              <a:rPr lang="en-US" altLang="ja-JP" sz="1000" smtClean="0">
                <a:latin typeface="Arial" panose="020B0604020202020204" pitchFamily="34" charset="0"/>
                <a:ea typeface="ヒラギノ角ゴ Pro W3" charset="-128"/>
              </a:rPr>
              <a:t>bad,</a:t>
            </a:r>
            <a:r>
              <a:rPr lang="ja-JP" altLang="en-US" sz="1000" smtClean="0">
                <a:latin typeface="Arial" panose="020B0604020202020204" pitchFamily="34" charset="0"/>
                <a:ea typeface="ヒラギノ角ゴ Pro W3" charset="-128"/>
              </a:rPr>
              <a:t>”</a:t>
            </a:r>
            <a:r>
              <a:rPr lang="en-US" altLang="ja-JP" sz="1000" smtClean="0">
                <a:latin typeface="Arial" panose="020B0604020202020204" pitchFamily="34" charset="0"/>
                <a:ea typeface="ヒラギノ角ゴ Pro W3" charset="-128"/>
              </a:rPr>
              <a:t> the HIDS will generate fewer false positives (alarms generated when the traffic matches a pattern but is not actually malicious).</a:t>
            </a:r>
          </a:p>
          <a:p>
            <a:pPr>
              <a:lnSpc>
                <a:spcPct val="90000"/>
              </a:lnSpc>
            </a:pPr>
            <a:r>
              <a:rPr lang="en-US" altLang="en-US" sz="1000" smtClean="0">
                <a:latin typeface="Arial" panose="020B0604020202020204" pitchFamily="34" charset="0"/>
                <a:ea typeface="ヒラギノ角ゴ Pro W3" charset="-128"/>
              </a:rPr>
              <a:t>They can examine data after it has been decrypted. With security concerns constantly on the rise, many developers are starting to encrypt their network communications. When designed and implemented in the right manner, a HIDS will be able to examine traffic that is unreadable to a network-based IDS. </a:t>
            </a:r>
          </a:p>
          <a:p>
            <a:pPr>
              <a:lnSpc>
                <a:spcPct val="90000"/>
              </a:lnSpc>
            </a:pPr>
            <a:r>
              <a:rPr lang="en-US" altLang="en-US" sz="1000" smtClean="0">
                <a:latin typeface="Arial" panose="020B0604020202020204" pitchFamily="34" charset="0"/>
                <a:ea typeface="ヒラギノ角ゴ Pro W3" charset="-128"/>
              </a:rPr>
              <a:t>This particular ability is becoming more important each day as more and more web sites start to encrypt all of their traffic.</a:t>
            </a:r>
          </a:p>
          <a:p>
            <a:pPr>
              <a:lnSpc>
                <a:spcPct val="90000"/>
              </a:lnSpc>
            </a:pPr>
            <a:r>
              <a:rPr lang="en-US" altLang="en-US" sz="1000" smtClean="0">
                <a:latin typeface="Arial" panose="020B0604020202020204" pitchFamily="34" charset="0"/>
                <a:ea typeface="ヒラギノ角ゴ Pro W3" charset="-128"/>
              </a:rPr>
              <a:t>They can be very application specific. </a:t>
            </a:r>
          </a:p>
          <a:p>
            <a:pPr>
              <a:lnSpc>
                <a:spcPct val="90000"/>
              </a:lnSpc>
            </a:pPr>
            <a:r>
              <a:rPr lang="en-US" altLang="en-US" sz="1000" smtClean="0">
                <a:latin typeface="Arial" panose="020B0604020202020204" pitchFamily="34" charset="0"/>
                <a:ea typeface="ヒラギノ角ゴ Pro W3" charset="-128"/>
              </a:rPr>
              <a:t>On a host level, the IDS can be designed, modified, or tuned to work very well on specific applications without having to analyze or even hold signatures for other applications that are not running on that particular system. </a:t>
            </a:r>
          </a:p>
          <a:p>
            <a:pPr>
              <a:lnSpc>
                <a:spcPct val="90000"/>
              </a:lnSpc>
            </a:pPr>
            <a:r>
              <a:rPr lang="en-US" altLang="en-US" sz="1000" smtClean="0">
                <a:latin typeface="Arial" panose="020B0604020202020204" pitchFamily="34" charset="0"/>
                <a:ea typeface="ヒラギノ角ゴ Pro W3" charset="-128"/>
              </a:rPr>
              <a:t>Signatures can be built for specific versions of web server software, FTP servers, mail servers, or any other application housed on that host.</a:t>
            </a:r>
          </a:p>
          <a:p>
            <a:pPr>
              <a:lnSpc>
                <a:spcPct val="90000"/>
              </a:lnSpc>
            </a:pPr>
            <a:r>
              <a:rPr lang="en-US" altLang="en-US" sz="1000" smtClean="0">
                <a:latin typeface="Arial" panose="020B0604020202020204" pitchFamily="34" charset="0"/>
                <a:ea typeface="ヒラギノ角ゴ Pro W3" charset="-128"/>
              </a:rPr>
              <a:t>They can determine whether or not an alarm may impact that specific system. </a:t>
            </a:r>
          </a:p>
          <a:p>
            <a:pPr>
              <a:lnSpc>
                <a:spcPct val="90000"/>
              </a:lnSpc>
            </a:pPr>
            <a:r>
              <a:rPr lang="en-US" altLang="en-US" sz="1000" smtClean="0">
                <a:latin typeface="Arial" panose="020B0604020202020204" pitchFamily="34" charset="0"/>
                <a:ea typeface="ヒラギノ角ゴ Pro W3" charset="-128"/>
              </a:rPr>
              <a:t>The ability to determine whether or not a particular activity or pattern will really affect the system being protected assists greatly in reducing the number of generated alarms. </a:t>
            </a:r>
          </a:p>
          <a:p>
            <a:pPr>
              <a:lnSpc>
                <a:spcPct val="90000"/>
              </a:lnSpc>
            </a:pPr>
            <a:r>
              <a:rPr lang="en-US" altLang="en-US" sz="1000" smtClean="0">
                <a:latin typeface="Arial" panose="020B0604020202020204" pitchFamily="34" charset="0"/>
                <a:ea typeface="ヒラギノ角ゴ Pro W3" charset="-128"/>
              </a:rPr>
              <a:t>Because the HIDS resides on the system, it can verify things such as patch levels, presence of certain files, and system state when it analyzes traffic. </a:t>
            </a:r>
          </a:p>
          <a:p>
            <a:pPr>
              <a:lnSpc>
                <a:spcPct val="90000"/>
              </a:lnSpc>
            </a:pPr>
            <a:r>
              <a:rPr lang="en-US" altLang="en-US" sz="1000" smtClean="0">
                <a:latin typeface="Arial" panose="020B0604020202020204" pitchFamily="34" charset="0"/>
                <a:ea typeface="ヒラギノ角ゴ Pro W3" charset="-128"/>
              </a:rPr>
              <a:t>By knowing what state the system is in, the HIDS can more accurately determine whether an activity is potentially harmful to the system.</a:t>
            </a:r>
          </a:p>
          <a:p>
            <a:pPr>
              <a:lnSpc>
                <a:spcPct val="90000"/>
              </a:lnSpc>
            </a:pPr>
            <a:endParaRPr lang="en-US" altLang="en-US" sz="1000" b="1" smtClean="0">
              <a:latin typeface="Arial" panose="020B0604020202020204" pitchFamily="34" charset="0"/>
              <a:ea typeface="ヒラギノ角ゴ Pro W3" charset="-128"/>
            </a:endParaRPr>
          </a:p>
        </p:txBody>
      </p:sp>
      <p:sp>
        <p:nvSpPr>
          <p:cNvPr id="8499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BCE77BDA-3A8C-4DD6-9CFD-770725D4ACC3}" type="slidenum">
              <a:rPr lang="en-US" altLang="en-US" sz="1200"/>
              <a:pPr eaLnBrk="1" hangingPunct="1"/>
              <a:t>21</a:t>
            </a:fld>
            <a:endParaRPr lang="en-US" altLang="en-US" sz="1200"/>
          </a:p>
        </p:txBody>
      </p:sp>
    </p:spTree>
    <p:extLst>
      <p:ext uri="{BB962C8B-B14F-4D97-AF65-F5344CB8AC3E}">
        <p14:creationId xmlns:p14="http://schemas.microsoft.com/office/powerpoint/2010/main" val="2705035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Slide Image Placeholder 1"/>
          <p:cNvSpPr>
            <a:spLocks noGrp="1" noRot="1" noChangeAspect="1" noTextEdit="1"/>
          </p:cNvSpPr>
          <p:nvPr>
            <p:ph type="sldImg"/>
          </p:nvPr>
        </p:nvSpPr>
        <p:spPr>
          <a:ln/>
        </p:spPr>
      </p:sp>
      <p:sp>
        <p:nvSpPr>
          <p:cNvPr id="8704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nSpc>
                <a:spcPct val="90000"/>
              </a:lnSpc>
            </a:pPr>
            <a:r>
              <a:rPr lang="en-US" altLang="en-US" sz="1000" b="1" smtClean="0">
                <a:latin typeface="Arial" panose="020B0604020202020204" pitchFamily="34" charset="0"/>
                <a:ea typeface="ヒラギノ角ゴ Pro W3" charset="-128"/>
              </a:rPr>
              <a:t>(2)Disadvantages of HIDSs</a:t>
            </a:r>
          </a:p>
          <a:p>
            <a:pPr>
              <a:lnSpc>
                <a:spcPct val="90000"/>
              </a:lnSpc>
            </a:pPr>
            <a:r>
              <a:rPr lang="en-US" altLang="en-US" sz="1000" smtClean="0">
                <a:latin typeface="Arial" panose="020B0604020202020204" pitchFamily="34" charset="0"/>
                <a:ea typeface="ヒラギノ角ゴ Pro W3" charset="-128"/>
              </a:rPr>
              <a:t>HIDSs also have certain disadvantages that must be weighed in making the decision of whether to deploy this type of technology:</a:t>
            </a:r>
          </a:p>
          <a:p>
            <a:pPr>
              <a:lnSpc>
                <a:spcPct val="90000"/>
              </a:lnSpc>
            </a:pPr>
            <a:r>
              <a:rPr lang="en-US" altLang="en-US" sz="1000" smtClean="0">
                <a:latin typeface="Arial" panose="020B0604020202020204" pitchFamily="34" charset="0"/>
                <a:ea typeface="ヒラギノ角ゴ Pro W3" charset="-128"/>
              </a:rPr>
              <a:t>The IDS must have a process on every system you want to watch. You must have a HIDS process or application installed on every host you want to watch. </a:t>
            </a:r>
          </a:p>
          <a:p>
            <a:pPr>
              <a:lnSpc>
                <a:spcPct val="90000"/>
              </a:lnSpc>
            </a:pPr>
            <a:r>
              <a:rPr lang="en-US" altLang="en-US" sz="1000" smtClean="0">
                <a:latin typeface="Arial" panose="020B0604020202020204" pitchFamily="34" charset="0"/>
                <a:ea typeface="ヒラギノ角ゴ Pro W3" charset="-128"/>
              </a:rPr>
              <a:t>To watch 100 systems, then, you would need to deploy 100 HIDSs.</a:t>
            </a:r>
          </a:p>
          <a:p>
            <a:pPr>
              <a:lnSpc>
                <a:spcPct val="90000"/>
              </a:lnSpc>
            </a:pPr>
            <a:r>
              <a:rPr lang="en-US" altLang="en-US" sz="1000" smtClean="0">
                <a:latin typeface="Arial" panose="020B0604020202020204" pitchFamily="34" charset="0"/>
                <a:ea typeface="ヒラギノ角ゴ Pro W3" charset="-128"/>
              </a:rPr>
              <a:t>The IDS can have a high cost of ownership and maintenance. </a:t>
            </a:r>
          </a:p>
          <a:p>
            <a:pPr>
              <a:lnSpc>
                <a:spcPct val="90000"/>
              </a:lnSpc>
            </a:pPr>
            <a:r>
              <a:rPr lang="en-US" altLang="en-US" sz="1000" smtClean="0">
                <a:latin typeface="Arial" panose="020B0604020202020204" pitchFamily="34" charset="0"/>
                <a:ea typeface="ヒラギノ角ゴ Pro W3" charset="-128"/>
              </a:rPr>
              <a:t>Depending on the specific vendor and application, a HIDS can be fairly costly in terms of time and manpower to maintain. </a:t>
            </a:r>
          </a:p>
          <a:p>
            <a:pPr>
              <a:lnSpc>
                <a:spcPct val="90000"/>
              </a:lnSpc>
            </a:pPr>
            <a:r>
              <a:rPr lang="en-US" altLang="en-US" sz="1000" smtClean="0">
                <a:latin typeface="Arial" panose="020B0604020202020204" pitchFamily="34" charset="0"/>
                <a:ea typeface="ヒラギノ角ゴ Pro W3" charset="-128"/>
              </a:rPr>
              <a:t>Unless some type of central console is used that allows you to maintain remote processes, administrators must maintain each HIDS process individually. </a:t>
            </a:r>
          </a:p>
          <a:p>
            <a:pPr>
              <a:lnSpc>
                <a:spcPct val="90000"/>
              </a:lnSpc>
            </a:pPr>
            <a:r>
              <a:rPr lang="en-US" altLang="en-US" sz="1000" smtClean="0">
                <a:latin typeface="Arial" panose="020B0604020202020204" pitchFamily="34" charset="0"/>
                <a:ea typeface="ヒラギノ角ゴ Pro W3" charset="-128"/>
              </a:rPr>
              <a:t>Even with a central console, with a HIDS, there will be a high number of processes to maintain, software to update, and parameters to tune.</a:t>
            </a:r>
          </a:p>
          <a:p>
            <a:pPr>
              <a:lnSpc>
                <a:spcPct val="90000"/>
              </a:lnSpc>
            </a:pPr>
            <a:r>
              <a:rPr lang="en-US" altLang="en-US" sz="1000" smtClean="0">
                <a:latin typeface="Arial" panose="020B0604020202020204" pitchFamily="34" charset="0"/>
                <a:ea typeface="ヒラギノ角ゴ Pro W3" charset="-128"/>
              </a:rPr>
              <a:t>The IDS uses local system resources. </a:t>
            </a:r>
          </a:p>
          <a:p>
            <a:pPr>
              <a:lnSpc>
                <a:spcPct val="90000"/>
              </a:lnSpc>
            </a:pPr>
            <a:r>
              <a:rPr lang="en-US" altLang="en-US" sz="1000" smtClean="0">
                <a:latin typeface="Arial" panose="020B0604020202020204" pitchFamily="34" charset="0"/>
                <a:ea typeface="ヒラギノ角ゴ Pro W3" charset="-128"/>
              </a:rPr>
              <a:t>To function, the HIDS must use CPU cycles and memory from the system it is trying to protect. </a:t>
            </a:r>
          </a:p>
          <a:p>
            <a:pPr>
              <a:lnSpc>
                <a:spcPct val="90000"/>
              </a:lnSpc>
            </a:pPr>
            <a:r>
              <a:rPr lang="en-US" altLang="en-US" sz="1000" smtClean="0">
                <a:latin typeface="Arial" panose="020B0604020202020204" pitchFamily="34" charset="0"/>
                <a:ea typeface="ヒラギノ角ゴ Pro W3" charset="-128"/>
              </a:rPr>
              <a:t>Whatever resources the IDS uses are no longer available for the system to perform its other functions. </a:t>
            </a:r>
          </a:p>
          <a:p>
            <a:pPr>
              <a:lnSpc>
                <a:spcPct val="90000"/>
              </a:lnSpc>
            </a:pPr>
            <a:r>
              <a:rPr lang="en-US" altLang="en-US" sz="1000" smtClean="0">
                <a:latin typeface="Arial" panose="020B0604020202020204" pitchFamily="34" charset="0"/>
                <a:ea typeface="ヒラギノ角ゴ Pro W3" charset="-128"/>
              </a:rPr>
              <a:t>This becomes extremely important on applications such as high-volume web servers, where fewer resources usually means fewer visitors served and the need for more systems to handle expected traffic.</a:t>
            </a:r>
          </a:p>
          <a:p>
            <a:pPr>
              <a:lnSpc>
                <a:spcPct val="90000"/>
              </a:lnSpc>
            </a:pPr>
            <a:r>
              <a:rPr lang="en-US" altLang="en-US" sz="1000" smtClean="0">
                <a:latin typeface="Arial" panose="020B0604020202020204" pitchFamily="34" charset="0"/>
                <a:ea typeface="ヒラギノ角ゴ Pro W3" charset="-128"/>
              </a:rPr>
              <a:t>The IDS has a very focused view and cannot relate to activity around it. The HIDS has a limited view of the world, as it can see activity only on the host it is protecting. </a:t>
            </a:r>
          </a:p>
          <a:p>
            <a:pPr>
              <a:lnSpc>
                <a:spcPct val="90000"/>
              </a:lnSpc>
            </a:pPr>
            <a:r>
              <a:rPr lang="en-US" altLang="en-US" sz="1000" smtClean="0">
                <a:latin typeface="Arial" panose="020B0604020202020204" pitchFamily="34" charset="0"/>
                <a:ea typeface="ヒラギノ角ゴ Pro W3" charset="-128"/>
              </a:rPr>
              <a:t>It has little to no visibility into traffic around it on the network or events taking place on other hosts. Consequently, a HIDS can tell you only if the system it is running on is under attack.</a:t>
            </a:r>
          </a:p>
          <a:p>
            <a:pPr>
              <a:lnSpc>
                <a:spcPct val="90000"/>
              </a:lnSpc>
            </a:pPr>
            <a:r>
              <a:rPr lang="en-US" altLang="en-US" sz="1000" smtClean="0">
                <a:latin typeface="Arial" panose="020B0604020202020204" pitchFamily="34" charset="0"/>
                <a:ea typeface="ヒラギノ角ゴ Pro W3" charset="-128"/>
              </a:rPr>
              <a:t>The IDS, if logged locally, could be compromised or disabled. When an HIDS generates alarms, it typically stores the alarm information in a file or database of some sort. If the HIDS stores its generated alarm traffic on the local system, an attacker that is successful in breaking into the system may be able to modify or delete those alarms. This makes it difficult for security personnel to discover the intruder and conduct any type of post-incident investigation. A capable intruder may even be able to turn off the HIDS process completely.</a:t>
            </a:r>
          </a:p>
        </p:txBody>
      </p:sp>
      <p:sp>
        <p:nvSpPr>
          <p:cNvPr id="8704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CC8641DF-390E-4561-A655-402864E29E45}" type="slidenum">
              <a:rPr lang="en-US" altLang="en-US" sz="1200"/>
              <a:pPr eaLnBrk="1" hangingPunct="1"/>
              <a:t>22</a:t>
            </a:fld>
            <a:endParaRPr lang="en-US" altLang="en-US" sz="1200"/>
          </a:p>
        </p:txBody>
      </p:sp>
    </p:spTree>
    <p:extLst>
      <p:ext uri="{BB962C8B-B14F-4D97-AF65-F5344CB8AC3E}">
        <p14:creationId xmlns:p14="http://schemas.microsoft.com/office/powerpoint/2010/main" val="67052499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Shape 170"/>
          <p:cNvSpPr>
            <a:spLocks noGrp="1" noRot="1" noChangeAspect="1"/>
          </p:cNvSpPr>
          <p:nvPr>
            <p:ph type="sldImg" idx="2"/>
          </p:nvPr>
        </p:nvSpPr>
        <p:spPr>
          <a:xfrm>
            <a:off x="393700" y="692150"/>
            <a:ext cx="6070600"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71" name="Shape 171"/>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lnSpc>
                <a:spcPct val="90000"/>
              </a:lnSpc>
              <a:spcBef>
                <a:spcPts val="295"/>
              </a:spcBef>
              <a:buClr>
                <a:schemeClr val="dk1"/>
              </a:buClr>
              <a:buSzPct val="25000"/>
            </a:pPr>
            <a:r>
              <a:rPr lang="en-US">
                <a:solidFill>
                  <a:schemeClr val="dk1"/>
                </a:solidFill>
              </a:rPr>
              <a:t>2. Misuse or Signature detection:  Uses a set of known malicious data patterns (signatures) or attack rules that are compared with current behavior to decide if is that of an intruder. It is also known as misuse detection. This approach can only identify known attacks for which it has patterns or rules.</a:t>
            </a:r>
          </a:p>
          <a:p>
            <a:endParaRPr/>
          </a:p>
        </p:txBody>
      </p:sp>
      <p:sp>
        <p:nvSpPr>
          <p:cNvPr id="172" name="Shape 172"/>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24</a:t>
            </a:fld>
            <a:endParaRPr lang="en-US"/>
          </a:p>
        </p:txBody>
      </p:sp>
    </p:spTree>
    <p:extLst>
      <p:ext uri="{BB962C8B-B14F-4D97-AF65-F5344CB8AC3E}">
        <p14:creationId xmlns:p14="http://schemas.microsoft.com/office/powerpoint/2010/main" val="890874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Shape 329"/>
          <p:cNvSpPr>
            <a:spLocks noGrp="1" noRot="1" noChangeAspect="1"/>
          </p:cNvSpPr>
          <p:nvPr>
            <p:ph type="sldImg" idx="2"/>
          </p:nvPr>
        </p:nvSpPr>
        <p:spPr>
          <a:xfrm>
            <a:off x="393700" y="692150"/>
            <a:ext cx="6070600"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30" name="Shape 330"/>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buClr>
                <a:srgbClr val="000000"/>
              </a:buClr>
              <a:buSzPct val="25000"/>
            </a:pPr>
            <a:r>
              <a:rPr lang="en-US"/>
              <a:t>Signature or heuristic techniques detect intrusion by observing events in the system and applying either a set of signature patterns to the data, to decide whether the observed data indicates intrusive or normal behavior.</a:t>
            </a:r>
          </a:p>
          <a:p>
            <a:endParaRPr/>
          </a:p>
        </p:txBody>
      </p:sp>
      <p:sp>
        <p:nvSpPr>
          <p:cNvPr id="331" name="Shape 331"/>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pPr>
              <a:buClr>
                <a:srgbClr val="000000"/>
              </a:buClr>
              <a:buSzPct val="25000"/>
            </a:pPr>
            <a:fld id="{00000000-1234-1234-1234-123412341234}" type="slidenum">
              <a:rPr lang="en-US"/>
              <a:pPr>
                <a:buClr>
                  <a:srgbClr val="000000"/>
                </a:buClr>
                <a:buSzPct val="25000"/>
              </a:pPr>
              <a:t>25</a:t>
            </a:fld>
            <a:endParaRPr lang="en-US"/>
          </a:p>
        </p:txBody>
      </p:sp>
    </p:spTree>
    <p:extLst>
      <p:ext uri="{BB962C8B-B14F-4D97-AF65-F5344CB8AC3E}">
        <p14:creationId xmlns:p14="http://schemas.microsoft.com/office/powerpoint/2010/main" val="33702458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Shape 337"/>
          <p:cNvSpPr>
            <a:spLocks noGrp="1" noRot="1" noChangeAspect="1"/>
          </p:cNvSpPr>
          <p:nvPr>
            <p:ph type="sldImg" idx="2"/>
          </p:nvPr>
        </p:nvSpPr>
        <p:spPr>
          <a:xfrm>
            <a:off x="393700" y="692150"/>
            <a:ext cx="6070600"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38" name="Shape 338"/>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r>
              <a:rPr lang="en-US">
                <a:solidFill>
                  <a:schemeClr val="dk1"/>
                </a:solidFill>
              </a:rPr>
              <a:t>Signature approaches  match a large collection of known patterns of malicious data against data stored on a system or in transit over a network. The signatures need to be large enough to minimize the false alarm rate, while still detecting a sufficiently large fraction of malicious data. This approach is widely used in antivirus products, in network traffic scanning proxies, and in NIDS. </a:t>
            </a:r>
          </a:p>
        </p:txBody>
      </p:sp>
      <p:sp>
        <p:nvSpPr>
          <p:cNvPr id="339" name="Shape 339"/>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26</a:t>
            </a:fld>
            <a:endParaRPr lang="en-US"/>
          </a:p>
        </p:txBody>
      </p:sp>
    </p:spTree>
    <p:extLst>
      <p:ext uri="{BB962C8B-B14F-4D97-AF65-F5344CB8AC3E}">
        <p14:creationId xmlns:p14="http://schemas.microsoft.com/office/powerpoint/2010/main" val="293584787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Shape 376"/>
          <p:cNvSpPr>
            <a:spLocks noGrp="1" noRot="1" noChangeAspect="1"/>
          </p:cNvSpPr>
          <p:nvPr>
            <p:ph type="sldImg" idx="2"/>
          </p:nvPr>
        </p:nvSpPr>
        <p:spPr>
          <a:xfrm>
            <a:off x="1150938" y="692150"/>
            <a:ext cx="4556125"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77" name="Shape 377"/>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buClr>
                <a:schemeClr val="dk1"/>
              </a:buClr>
              <a:buSzPct val="25000"/>
            </a:pPr>
            <a:r>
              <a:rPr lang="en-US">
                <a:solidFill>
                  <a:schemeClr val="dk1"/>
                </a:solidFill>
              </a:rPr>
              <a:t>Here is an example of a misuse detection approach. The IDS matches the observed activities using a set of attack signatures. If there is match, the IDS outputs an alert.</a:t>
            </a:r>
          </a:p>
          <a:p>
            <a:endParaRPr/>
          </a:p>
        </p:txBody>
      </p:sp>
      <p:sp>
        <p:nvSpPr>
          <p:cNvPr id="378" name="Shape 378"/>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27</a:t>
            </a:fld>
            <a:endParaRPr lang="en-US"/>
          </a:p>
        </p:txBody>
      </p:sp>
    </p:spTree>
    <p:extLst>
      <p:ext uri="{BB962C8B-B14F-4D97-AF65-F5344CB8AC3E}">
        <p14:creationId xmlns:p14="http://schemas.microsoft.com/office/powerpoint/2010/main" val="22308611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Shape 347"/>
          <p:cNvSpPr>
            <a:spLocks noGrp="1" noRot="1" noChangeAspect="1"/>
          </p:cNvSpPr>
          <p:nvPr>
            <p:ph type="sldImg" idx="2"/>
          </p:nvPr>
        </p:nvSpPr>
        <p:spPr>
          <a:xfrm>
            <a:off x="1150938" y="692150"/>
            <a:ext cx="4556125"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8" name="Shape 348"/>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spcBef>
                <a:spcPts val="354"/>
              </a:spcBef>
              <a:buClr>
                <a:schemeClr val="dk1"/>
              </a:buClr>
              <a:buSzPct val="25000"/>
            </a:pPr>
            <a:r>
              <a:rPr lang="en-US">
                <a:solidFill>
                  <a:schemeClr val="dk1"/>
                </a:solidFill>
              </a:rPr>
              <a:t>The advantages of this approach include the relatively low cost in time and resource use, and its wide acceptance.</a:t>
            </a:r>
          </a:p>
          <a:p>
            <a:pPr>
              <a:spcBef>
                <a:spcPts val="354"/>
              </a:spcBef>
              <a:buClr>
                <a:schemeClr val="dk1"/>
              </a:buClr>
            </a:pPr>
            <a:endParaRPr>
              <a:solidFill>
                <a:schemeClr val="dk1"/>
              </a:solidFill>
            </a:endParaRPr>
          </a:p>
          <a:p>
            <a:pPr>
              <a:spcBef>
                <a:spcPts val="354"/>
              </a:spcBef>
              <a:buClr>
                <a:schemeClr val="dk1"/>
              </a:buClr>
              <a:buSzPct val="25000"/>
            </a:pPr>
            <a:r>
              <a:rPr lang="en-US">
                <a:solidFill>
                  <a:schemeClr val="dk1"/>
                </a:solidFill>
              </a:rPr>
              <a:t>Disadvantages include the significant effort required to constantly identify and review new malware to create signatures able to identify it, and the inability to detect zero-day attacks for which no signatures exist.</a:t>
            </a:r>
          </a:p>
        </p:txBody>
      </p:sp>
      <p:sp>
        <p:nvSpPr>
          <p:cNvPr id="349" name="Shape 349"/>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28</a:t>
            </a:fld>
            <a:endParaRPr lang="en-US"/>
          </a:p>
        </p:txBody>
      </p:sp>
    </p:spTree>
    <p:extLst>
      <p:ext uri="{BB962C8B-B14F-4D97-AF65-F5344CB8AC3E}">
        <p14:creationId xmlns:p14="http://schemas.microsoft.com/office/powerpoint/2010/main" val="38468944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Shape 162"/>
          <p:cNvSpPr>
            <a:spLocks noGrp="1" noRot="1" noChangeAspect="1"/>
          </p:cNvSpPr>
          <p:nvPr>
            <p:ph type="sldImg" idx="2"/>
          </p:nvPr>
        </p:nvSpPr>
        <p:spPr>
          <a:xfrm>
            <a:off x="1150938" y="692150"/>
            <a:ext cx="4556125"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163" name="Shape 163"/>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lnSpc>
                <a:spcPct val="90000"/>
              </a:lnSpc>
              <a:spcBef>
                <a:spcPts val="295"/>
              </a:spcBef>
              <a:buClr>
                <a:schemeClr val="dk1"/>
              </a:buClr>
              <a:buSzPct val="25000"/>
            </a:pPr>
            <a:r>
              <a:rPr lang="en-US" dirty="0">
                <a:solidFill>
                  <a:schemeClr val="dk1"/>
                </a:solidFill>
              </a:rPr>
              <a:t>Anomaly detection:  Involves the collection of data relating to the behavior of legitimate users over a period of time. Then current observed behavior is analyzed to determine with a high level of confidence whether this behavior is that of a legitimate user or that of an intruder.</a:t>
            </a:r>
          </a:p>
          <a:p>
            <a:pPr>
              <a:lnSpc>
                <a:spcPct val="90000"/>
              </a:lnSpc>
              <a:spcBef>
                <a:spcPts val="295"/>
              </a:spcBef>
              <a:buClr>
                <a:schemeClr val="dk1"/>
              </a:buClr>
            </a:pPr>
            <a:endParaRPr dirty="0">
              <a:solidFill>
                <a:schemeClr val="dk1"/>
              </a:solidFill>
            </a:endParaRPr>
          </a:p>
          <a:p>
            <a:pPr>
              <a:lnSpc>
                <a:spcPct val="90000"/>
              </a:lnSpc>
              <a:spcBef>
                <a:spcPts val="295"/>
              </a:spcBef>
            </a:pPr>
            <a:r>
              <a:rPr lang="en-US" dirty="0">
                <a:solidFill>
                  <a:schemeClr val="dk1"/>
                </a:solidFill>
              </a:rPr>
              <a:t>In essence, anomaly approaches aim to define or characterize normal, or expected, behaviors, in order to identify malicious or unauthorized behavior. </a:t>
            </a:r>
          </a:p>
          <a:p>
            <a:pPr>
              <a:lnSpc>
                <a:spcPct val="90000"/>
              </a:lnSpc>
              <a:spcBef>
                <a:spcPts val="295"/>
              </a:spcBef>
            </a:pPr>
            <a:endParaRPr dirty="0">
              <a:solidFill>
                <a:schemeClr val="dk1"/>
              </a:solidFill>
            </a:endParaRPr>
          </a:p>
          <a:p>
            <a:pPr>
              <a:lnSpc>
                <a:spcPct val="90000"/>
              </a:lnSpc>
              <a:spcBef>
                <a:spcPts val="295"/>
              </a:spcBef>
            </a:pPr>
            <a:r>
              <a:rPr lang="en-US" dirty="0">
                <a:solidFill>
                  <a:schemeClr val="dk1"/>
                </a:solidFill>
              </a:rPr>
              <a:t>Signature or heuristic-based approaches directly define malicious or unauthorized behavior. They can quickly and efficiently identify known attacks. However only anomaly detection is able to detect unknown, zero-day attacks, because it starts with known good behavior and identifies anomalies to it. </a:t>
            </a:r>
          </a:p>
          <a:p>
            <a:pPr>
              <a:lnSpc>
                <a:spcPct val="90000"/>
              </a:lnSpc>
              <a:spcBef>
                <a:spcPts val="295"/>
              </a:spcBef>
              <a:buClr>
                <a:schemeClr val="dk1"/>
              </a:buClr>
              <a:buSzPct val="25000"/>
            </a:pPr>
            <a:r>
              <a:rPr lang="en-US" dirty="0">
                <a:solidFill>
                  <a:schemeClr val="dk1"/>
                </a:solidFill>
              </a:rPr>
              <a:t>Given this advantage, clearly anomaly detection would be the preferred approach, were it not for the difficulty in collecting and analyzing the data required, and the high level of false alarms, as we will discuss in the following sections.</a:t>
            </a:r>
          </a:p>
        </p:txBody>
      </p:sp>
      <p:sp>
        <p:nvSpPr>
          <p:cNvPr id="164" name="Shape 164"/>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29</a:t>
            </a:fld>
            <a:endParaRPr lang="en-US"/>
          </a:p>
        </p:txBody>
      </p:sp>
    </p:spTree>
    <p:extLst>
      <p:ext uri="{BB962C8B-B14F-4D97-AF65-F5344CB8AC3E}">
        <p14:creationId xmlns:p14="http://schemas.microsoft.com/office/powerpoint/2010/main" val="317430381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Shape 312"/>
          <p:cNvSpPr>
            <a:spLocks noGrp="1" noRot="1" noChangeAspect="1"/>
          </p:cNvSpPr>
          <p:nvPr>
            <p:ph type="sldImg" idx="2"/>
          </p:nvPr>
        </p:nvSpPr>
        <p:spPr>
          <a:xfrm>
            <a:off x="1150938" y="692150"/>
            <a:ext cx="4556125"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13" name="Shape 313"/>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a:buClr>
                <a:schemeClr val="dk1"/>
              </a:buClr>
              <a:buSzPct val="25000"/>
            </a:pPr>
            <a:r>
              <a:rPr lang="en-US" dirty="0">
                <a:solidFill>
                  <a:schemeClr val="dk1"/>
                </a:solidFill>
              </a:rPr>
              <a:t>Here is an example of a very simple anomaly detection approach.</a:t>
            </a:r>
          </a:p>
          <a:p>
            <a:pPr>
              <a:spcBef>
                <a:spcPts val="354"/>
              </a:spcBef>
              <a:buClr>
                <a:schemeClr val="dk1"/>
              </a:buClr>
            </a:pPr>
            <a:endParaRPr dirty="0">
              <a:solidFill>
                <a:schemeClr val="dk1"/>
              </a:solidFill>
            </a:endParaRPr>
          </a:p>
          <a:p>
            <a:pPr>
              <a:spcBef>
                <a:spcPts val="354"/>
              </a:spcBef>
              <a:buClr>
                <a:schemeClr val="dk1"/>
              </a:buClr>
              <a:buSzPct val="25000"/>
            </a:pPr>
            <a:r>
              <a:rPr lang="en-US" dirty="0">
                <a:solidFill>
                  <a:schemeClr val="dk1"/>
                </a:solidFill>
              </a:rPr>
              <a:t>First, establish the normal run-time profile of a program, for example, in terms of CPU utilization, memory size, etc. This can be accomplished by running a program many times, and each time, record the values of these measurements, and then compute the means and variances.</a:t>
            </a:r>
          </a:p>
          <a:p>
            <a:pPr>
              <a:spcBef>
                <a:spcPts val="354"/>
              </a:spcBef>
              <a:buClr>
                <a:schemeClr val="dk1"/>
              </a:buClr>
            </a:pPr>
            <a:endParaRPr dirty="0">
              <a:solidFill>
                <a:schemeClr val="dk1"/>
              </a:solidFill>
            </a:endParaRPr>
          </a:p>
          <a:p>
            <a:pPr>
              <a:spcBef>
                <a:spcPts val="354"/>
              </a:spcBef>
              <a:buClr>
                <a:schemeClr val="dk1"/>
              </a:buClr>
              <a:buSzPct val="25000"/>
            </a:pPr>
            <a:r>
              <a:rPr lang="en-US" dirty="0">
                <a:solidFill>
                  <a:schemeClr val="dk1"/>
                </a:solidFill>
              </a:rPr>
              <a:t>Once the profile is built,  when the IDS observes that when the program is run, its measures deviate from the means beyond the allowed thresholds, or, the variances, meaning the values are outside of the normal ranges, the IDS outputs an alert.</a:t>
            </a:r>
          </a:p>
        </p:txBody>
      </p:sp>
      <p:sp>
        <p:nvSpPr>
          <p:cNvPr id="314" name="Shape 314"/>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30</a:t>
            </a:fld>
            <a:endParaRPr lang="en-US"/>
          </a:p>
        </p:txBody>
      </p:sp>
    </p:spTree>
    <p:extLst>
      <p:ext uri="{BB962C8B-B14F-4D97-AF65-F5344CB8AC3E}">
        <p14:creationId xmlns:p14="http://schemas.microsoft.com/office/powerpoint/2010/main" val="161188023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Shape 347"/>
          <p:cNvSpPr>
            <a:spLocks noGrp="1" noRot="1" noChangeAspect="1"/>
          </p:cNvSpPr>
          <p:nvPr>
            <p:ph type="sldImg" idx="2"/>
          </p:nvPr>
        </p:nvSpPr>
        <p:spPr>
          <a:xfrm>
            <a:off x="1150938" y="692150"/>
            <a:ext cx="4556125" cy="34163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348" name="Shape 348"/>
          <p:cNvSpPr txBox="1">
            <a:spLocks noGrp="1"/>
          </p:cNvSpPr>
          <p:nvPr>
            <p:ph type="body" idx="1"/>
          </p:nvPr>
        </p:nvSpPr>
        <p:spPr>
          <a:xfrm>
            <a:off x="914919" y="4342892"/>
            <a:ext cx="5028185" cy="4114453"/>
          </a:xfrm>
          <a:prstGeom prst="rect">
            <a:avLst/>
          </a:prstGeom>
        </p:spPr>
        <p:txBody>
          <a:bodyPr lIns="89935" tIns="89935" rIns="89935" bIns="89935" anchor="ctr" anchorCtr="0">
            <a:noAutofit/>
          </a:bodyPr>
          <a:lstStyle/>
          <a:p>
            <a:pPr marL="0" marR="0" indent="0" algn="l" defTabSz="914400" rtl="0" eaLnBrk="1" fontAlgn="auto" latinLnBrk="0" hangingPunct="1">
              <a:lnSpc>
                <a:spcPct val="100000"/>
              </a:lnSpc>
              <a:spcBef>
                <a:spcPts val="354"/>
              </a:spcBef>
              <a:spcAft>
                <a:spcPts val="0"/>
              </a:spcAft>
              <a:buClr>
                <a:schemeClr val="dk1"/>
              </a:buClr>
              <a:buSzPct val="25000"/>
              <a:buFontTx/>
              <a:buNone/>
              <a:tabLst/>
              <a:defRPr/>
            </a:pPr>
            <a:r>
              <a:rPr lang="en-US" dirty="0" smtClean="0">
                <a:solidFill>
                  <a:schemeClr val="dk1"/>
                </a:solidFill>
              </a:rPr>
              <a:t>A key limitation of anomaly detection approaches used by IDSs, particularly the machine-learning approaches, is that they are generally only trained with legitimate data, unlike many of the other applications where both legitimate and anomalous training data is used. The lack of anomalous training data, which occurs given the desire to detect currently unknown future attacks, limits the effectiveness of some of the techniques we have discussed. </a:t>
            </a:r>
          </a:p>
          <a:p>
            <a:pPr>
              <a:spcBef>
                <a:spcPts val="354"/>
              </a:spcBef>
              <a:buClr>
                <a:schemeClr val="dk1"/>
              </a:buClr>
              <a:buSzPct val="25000"/>
            </a:pPr>
            <a:endParaRPr lang="en-US" dirty="0">
              <a:solidFill>
                <a:schemeClr val="dk1"/>
              </a:solidFill>
            </a:endParaRPr>
          </a:p>
        </p:txBody>
      </p:sp>
      <p:sp>
        <p:nvSpPr>
          <p:cNvPr id="349" name="Shape 349"/>
          <p:cNvSpPr txBox="1">
            <a:spLocks noGrp="1"/>
          </p:cNvSpPr>
          <p:nvPr>
            <p:ph type="sldNum" idx="12"/>
          </p:nvPr>
        </p:nvSpPr>
        <p:spPr>
          <a:xfrm>
            <a:off x="3885680" y="8687346"/>
            <a:ext cx="2973731" cy="456602"/>
          </a:xfrm>
          <a:prstGeom prst="rect">
            <a:avLst/>
          </a:prstGeom>
        </p:spPr>
        <p:txBody>
          <a:bodyPr lIns="19035" tIns="0" rIns="19035" bIns="0" anchor="b" anchorCtr="0">
            <a:noAutofit/>
          </a:bodyPr>
          <a:lstStyle/>
          <a:p>
            <a:fld id="{00000000-1234-1234-1234-123412341234}" type="slidenum">
              <a:rPr lang="en-US"/>
              <a:pPr/>
              <a:t>31</a:t>
            </a:fld>
            <a:endParaRPr lang="en-US"/>
          </a:p>
        </p:txBody>
      </p:sp>
    </p:spTree>
    <p:extLst>
      <p:ext uri="{BB962C8B-B14F-4D97-AF65-F5344CB8AC3E}">
        <p14:creationId xmlns:p14="http://schemas.microsoft.com/office/powerpoint/2010/main" val="2746329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fontAlgn="base">
              <a:spcBef>
                <a:spcPct val="0"/>
              </a:spcBef>
              <a:spcAft>
                <a:spcPct val="0"/>
              </a:spcAft>
            </a:pPr>
            <a:fld id="{E225AC4F-FE8D-4E9B-AED5-BD78385C5550}" type="slidenum">
              <a:rPr lang="en-AU" altLang="en-US">
                <a:latin typeface="Arial" pitchFamily="34" charset="0"/>
                <a:ea typeface="ＭＳ Ｐゴシック" pitchFamily="34" charset="-128"/>
              </a:rPr>
              <a:pPr fontAlgn="base">
                <a:spcBef>
                  <a:spcPct val="0"/>
                </a:spcBef>
                <a:spcAft>
                  <a:spcPct val="0"/>
                </a:spcAft>
              </a:pPr>
              <a:t>32</a:t>
            </a:fld>
            <a:endParaRPr lang="en-AU" altLang="en-US">
              <a:latin typeface="Arial" pitchFamily="34" charset="0"/>
              <a:ea typeface="ＭＳ Ｐゴシック" pitchFamily="34" charset="-128"/>
            </a:endParaRPr>
          </a:p>
        </p:txBody>
      </p:sp>
      <p:sp>
        <p:nvSpPr>
          <p:cNvPr id="62467"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8"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r>
              <a:rPr lang="en-US" altLang="en-US" dirty="0" smtClean="0">
                <a:latin typeface="Times New Roman" pitchFamily="18" charset="0"/>
                <a:ea typeface="ＭＳ Ｐゴシック" pitchFamily="34" charset="-128"/>
              </a:rPr>
              <a:t>Intrusion detection is based on the assumption that the behavior of the intruder differs from that of a legitimate user in ways that can be quantified. Of course, we cannot expect that there will be a crisp, exact distinction between an attack by an intruder and the normal use of resources by an authorized user. Rather, we must expect that there will be some overlap, as shown by Figure. Patterns of legitimate user behavior can be established by observing past history, and significant deviation from such patterns can possibly be detected. Although the typical behavior of an intruder differs from the typical behavior of an authorized user, there is an overlap in these behaviors. Thus, a loose interpretation of intruder behavior, which will catch more intruders, will also lead to a number of </a:t>
            </a:r>
            <a:r>
              <a:rPr lang="en-US" altLang="en-US" b="1" dirty="0" smtClean="0">
                <a:latin typeface="Times New Roman" pitchFamily="18" charset="0"/>
                <a:ea typeface="ＭＳ Ｐゴシック" pitchFamily="34" charset="-128"/>
              </a:rPr>
              <a:t>false positives</a:t>
            </a:r>
            <a:r>
              <a:rPr lang="en-US" altLang="en-US" dirty="0" smtClean="0">
                <a:latin typeface="Times New Roman" pitchFamily="18" charset="0"/>
                <a:ea typeface="ＭＳ Ｐゴシック" pitchFamily="34" charset="-128"/>
              </a:rPr>
              <a:t>, or authorized users identified as intruders. On the other hand, an attempt to limit false positives by a tight interpretation of intruder behavior will lead to an increase in </a:t>
            </a:r>
            <a:r>
              <a:rPr lang="en-US" altLang="en-US" b="1" dirty="0" smtClean="0">
                <a:latin typeface="Times New Roman" pitchFamily="18" charset="0"/>
                <a:ea typeface="ＭＳ Ｐゴシック" pitchFamily="34" charset="-128"/>
              </a:rPr>
              <a:t>false negatives</a:t>
            </a:r>
            <a:r>
              <a:rPr lang="en-US" altLang="en-US" dirty="0" smtClean="0">
                <a:latin typeface="Times New Roman" pitchFamily="18" charset="0"/>
                <a:ea typeface="ＭＳ Ｐゴシック" pitchFamily="34" charset="-128"/>
              </a:rPr>
              <a:t>, or intruders not identified as intruders. Thus, there is an element of compromise and art in the practice of intrusion detection. </a:t>
            </a:r>
          </a:p>
        </p:txBody>
      </p:sp>
    </p:spTree>
    <p:extLst>
      <p:ext uri="{BB962C8B-B14F-4D97-AF65-F5344CB8AC3E}">
        <p14:creationId xmlns:p14="http://schemas.microsoft.com/office/powerpoint/2010/main" val="37219301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p:cNvSpPr/>
          <p:nvPr/>
        </p:nvSpPr>
        <p:spPr>
          <a:xfrm>
            <a:off x="4250268" y="268289"/>
            <a:ext cx="7558617" cy="390048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5" name="Rectangle 4"/>
          <p:cNvSpPr/>
          <p:nvPr/>
        </p:nvSpPr>
        <p:spPr>
          <a:xfrm>
            <a:off x="357718" y="268288"/>
            <a:ext cx="245533" cy="388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ctrTitle"/>
          </p:nvPr>
        </p:nvSpPr>
        <p:spPr>
          <a:xfrm>
            <a:off x="4267200" y="4208929"/>
            <a:ext cx="7278624" cy="1048684"/>
          </a:xfrm>
        </p:spPr>
        <p:txBody>
          <a:bodyPr rtlCol="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smtClean="0"/>
              <a:t>Click to edit Master title style</a:t>
            </a:r>
            <a:endParaRPr/>
          </a:p>
        </p:txBody>
      </p:sp>
      <p:sp>
        <p:nvSpPr>
          <p:cNvPr id="3" name="Subtitle 2"/>
          <p:cNvSpPr>
            <a:spLocks noGrp="1"/>
          </p:cNvSpPr>
          <p:nvPr>
            <p:ph type="subTitle" idx="1"/>
          </p:nvPr>
        </p:nvSpPr>
        <p:spPr>
          <a:xfrm>
            <a:off x="4267200" y="5257800"/>
            <a:ext cx="7278624" cy="621792"/>
          </a:xfrm>
        </p:spPr>
        <p:txBody>
          <a:bodyPr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6" name="Date Placeholder 3"/>
          <p:cNvSpPr>
            <a:spLocks noGrp="1"/>
          </p:cNvSpPr>
          <p:nvPr>
            <p:ph type="dt" sz="half" idx="10"/>
          </p:nvPr>
        </p:nvSpPr>
        <p:spPr>
          <a:xfrm>
            <a:off x="4368800" y="390526"/>
            <a:ext cx="7340600" cy="365125"/>
          </a:xfrm>
        </p:spPr>
        <p:txBody>
          <a:bodyPr/>
          <a:lstStyle>
            <a:lvl1pPr marL="0" algn="r" defTabSz="914400" rtl="0" eaLnBrk="1" latinLnBrk="0" hangingPunct="1">
              <a:defRPr sz="2200" b="0" kern="1200" baseline="0">
                <a:solidFill>
                  <a:schemeClr val="bg1"/>
                </a:solidFill>
                <a:latin typeface="+mn-lt"/>
                <a:ea typeface="+mn-ea"/>
                <a:cs typeface="+mn-cs"/>
              </a:defRPr>
            </a:lvl1pPr>
          </a:lstStyle>
          <a:p>
            <a:pPr>
              <a:defRPr/>
            </a:pPr>
            <a:endParaRPr lang="en-US"/>
          </a:p>
        </p:txBody>
      </p:sp>
      <p:sp>
        <p:nvSpPr>
          <p:cNvPr id="7" name="Footer Placeholder 4"/>
          <p:cNvSpPr>
            <a:spLocks noGrp="1"/>
          </p:cNvSpPr>
          <p:nvPr>
            <p:ph type="ftr" sz="quarter" idx="11"/>
          </p:nvPr>
        </p:nvSpPr>
        <p:spPr>
          <a:xfrm>
            <a:off x="4292601" y="6356351"/>
            <a:ext cx="6314017" cy="365125"/>
          </a:xfrm>
        </p:spPr>
        <p:txBody>
          <a:bodyP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pPr>
              <a:defRPr/>
            </a:pPr>
            <a:endParaRPr lang="en-US"/>
          </a:p>
        </p:txBody>
      </p:sp>
      <p:sp>
        <p:nvSpPr>
          <p:cNvPr id="8" name="Slide Number Placeholder 5"/>
          <p:cNvSpPr>
            <a:spLocks noGrp="1"/>
          </p:cNvSpPr>
          <p:nvPr>
            <p:ph type="sldNum" sz="quarter" idx="12"/>
          </p:nvPr>
        </p:nvSpPr>
        <p:spPr>
          <a:xfrm>
            <a:off x="11008784" y="6356351"/>
            <a:ext cx="914400" cy="365125"/>
          </a:xfrm>
        </p:spPr>
        <p:txBody>
          <a:bodyPr/>
          <a:lstStyle>
            <a:lvl1pPr>
              <a:defRPr sz="1100">
                <a:solidFill>
                  <a:srgbClr val="858585"/>
                </a:solidFill>
                <a:latin typeface="Century Gothic" panose="020B0502020202020204" pitchFamily="34" charset="0"/>
              </a:defRPr>
            </a:lvl1pPr>
          </a:lstStyle>
          <a:p>
            <a:fld id="{DAD9BD65-3A52-4785-9CEA-23DDB0A7F001}" type="slidenum">
              <a:rPr lang="en-US" altLang="en-US"/>
              <a:pPr/>
              <a:t>‹#›</a:t>
            </a:fld>
            <a:endParaRPr lang="en-US" altLang="en-US"/>
          </a:p>
        </p:txBody>
      </p:sp>
    </p:spTree>
    <p:extLst>
      <p:ext uri="{BB962C8B-B14F-4D97-AF65-F5344CB8AC3E}">
        <p14:creationId xmlns:p14="http://schemas.microsoft.com/office/powerpoint/2010/main" val="17082447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4" name="Rectangle 3"/>
          <p:cNvSpPr/>
          <p:nvPr/>
        </p:nvSpPr>
        <p:spPr>
          <a:xfrm>
            <a:off x="10416118" y="44451"/>
            <a:ext cx="1631949" cy="122396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518848" cy="1143000"/>
          </a:xfrm>
        </p:spPr>
        <p:txBody>
          <a:bodyPr/>
          <a:lstStyle>
            <a:lvl1pPr>
              <a:defRPr sz="4000" b="1"/>
            </a:lvl1pPr>
          </a:lstStyle>
          <a:p>
            <a:r>
              <a:rPr lang="en-US" dirty="0" smtClean="0"/>
              <a:t>Click to edit Master title style</a:t>
            </a:r>
            <a:endParaRPr dirty="0"/>
          </a:p>
        </p:txBody>
      </p:sp>
      <p:sp>
        <p:nvSpPr>
          <p:cNvPr id="3" name="Content Placeholder 2"/>
          <p:cNvSpPr>
            <a:spLocks noGrp="1"/>
          </p:cNvSpPr>
          <p:nvPr>
            <p:ph idx="1"/>
          </p:nvPr>
        </p:nvSpPr>
        <p:spPr>
          <a:xfrm>
            <a:off x="623392" y="2204865"/>
            <a:ext cx="11041227" cy="3916363"/>
          </a:xfrm>
        </p:spPr>
        <p:txBody>
          <a:bodyPr/>
          <a:lstStyle>
            <a:lvl1pPr>
              <a:defRPr sz="2400">
                <a:solidFill>
                  <a:schemeClr val="tx1"/>
                </a:solidFill>
                <a:latin typeface="Adobe Caslon Pro" pitchFamily="18" charset="0"/>
              </a:defRPr>
            </a:lvl1pPr>
            <a:lvl5pPr>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dirty="0"/>
          </a:p>
        </p:txBody>
      </p:sp>
      <p:sp>
        <p:nvSpPr>
          <p:cNvPr id="5" name="Date Placeholder 3"/>
          <p:cNvSpPr>
            <a:spLocks noGrp="1"/>
          </p:cNvSpPr>
          <p:nvPr>
            <p:ph type="dt" sz="half" idx="10"/>
          </p:nvPr>
        </p:nvSpPr>
        <p:spPr>
          <a:xfrm>
            <a:off x="9616017" y="6356351"/>
            <a:ext cx="2336800" cy="365125"/>
          </a:xfrm>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7EE40F6F-493F-4869-BCA7-FB23B7D2463E}" type="slidenum">
              <a:rPr lang="en-US" altLang="en-US"/>
              <a:pPr/>
              <a:t>‹#›</a:t>
            </a:fld>
            <a:endParaRPr lang="en-US" altLang="en-US"/>
          </a:p>
        </p:txBody>
      </p:sp>
    </p:spTree>
    <p:extLst>
      <p:ext uri="{BB962C8B-B14F-4D97-AF65-F5344CB8AC3E}">
        <p14:creationId xmlns:p14="http://schemas.microsoft.com/office/powerpoint/2010/main" val="52848403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5" name="Rectangle 4"/>
          <p:cNvSpPr/>
          <p:nvPr/>
        </p:nvSpPr>
        <p:spPr>
          <a:xfrm>
            <a:off x="4250268" y="268289"/>
            <a:ext cx="7558617" cy="25606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6" name="Rectangle 5"/>
          <p:cNvSpPr/>
          <p:nvPr/>
        </p:nvSpPr>
        <p:spPr>
          <a:xfrm>
            <a:off x="357718" y="268288"/>
            <a:ext cx="245533" cy="38862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smtClean="0"/>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dirty="0"/>
          </a:p>
        </p:txBody>
      </p:sp>
      <p:sp>
        <p:nvSpPr>
          <p:cNvPr id="9" name="Picture Placeholder 8"/>
          <p:cNvSpPr>
            <a:spLocks noGrp="1"/>
          </p:cNvSpPr>
          <p:nvPr>
            <p:ph type="pic" sz="quarter" idx="13"/>
          </p:nvPr>
        </p:nvSpPr>
        <p:spPr>
          <a:xfrm>
            <a:off x="4267201" y="2877671"/>
            <a:ext cx="7529156" cy="1280160"/>
          </a:xfrm>
        </p:spPr>
        <p:txBody>
          <a:bodyPr rtlCol="0">
            <a:normAutofit/>
          </a:bodyPr>
          <a:lstStyle>
            <a:lvl1pPr>
              <a:buNone/>
              <a:defRPr/>
            </a:lvl1pPr>
          </a:lstStyle>
          <a:p>
            <a:pPr lvl="0"/>
            <a:r>
              <a:rPr lang="en-US" noProof="0" smtClean="0"/>
              <a:t>Drag picture to placeholder or click icon to add</a:t>
            </a:r>
            <a:endParaRPr noProof="0"/>
          </a:p>
        </p:txBody>
      </p:sp>
      <p:sp>
        <p:nvSpPr>
          <p:cNvPr id="7" name="Date Placeholder 3"/>
          <p:cNvSpPr>
            <a:spLocks noGrp="1"/>
          </p:cNvSpPr>
          <p:nvPr>
            <p:ph type="dt" sz="half" idx="14"/>
          </p:nvPr>
        </p:nvSpPr>
        <p:spPr>
          <a:xfrm>
            <a:off x="4368800" y="390526"/>
            <a:ext cx="7332133" cy="365125"/>
          </a:xfrm>
        </p:spPr>
        <p:txBody>
          <a:bodyPr/>
          <a:lstStyle>
            <a:lvl1pPr>
              <a:defRPr sz="2200" b="0" baseline="0">
                <a:solidFill>
                  <a:schemeClr val="bg1"/>
                </a:solidFill>
              </a:defRPr>
            </a:lvl1pPr>
          </a:lstStyle>
          <a:p>
            <a:pPr>
              <a:defRPr/>
            </a:pPr>
            <a:endParaRPr lang="en-US"/>
          </a:p>
        </p:txBody>
      </p:sp>
      <p:sp>
        <p:nvSpPr>
          <p:cNvPr id="8" name="Footer Placeholder 4"/>
          <p:cNvSpPr>
            <a:spLocks noGrp="1"/>
          </p:cNvSpPr>
          <p:nvPr>
            <p:ph type="ftr" sz="quarter" idx="15"/>
          </p:nvPr>
        </p:nvSpPr>
        <p:spPr>
          <a:xfrm>
            <a:off x="4284134" y="6356351"/>
            <a:ext cx="6314017" cy="365125"/>
          </a:xfrm>
        </p:spPr>
        <p:txBody>
          <a:bodyPr/>
          <a:lstStyle>
            <a:lvl1pPr>
              <a:defRPr/>
            </a:lvl1pPr>
          </a:lstStyle>
          <a:p>
            <a:pPr>
              <a:defRPr/>
            </a:pPr>
            <a:endParaRPr lang="en-US"/>
          </a:p>
        </p:txBody>
      </p:sp>
      <p:sp>
        <p:nvSpPr>
          <p:cNvPr id="10" name="Slide Number Placeholder 5"/>
          <p:cNvSpPr>
            <a:spLocks noGrp="1"/>
          </p:cNvSpPr>
          <p:nvPr>
            <p:ph type="sldNum" sz="quarter" idx="16"/>
          </p:nvPr>
        </p:nvSpPr>
        <p:spPr>
          <a:xfrm>
            <a:off x="11021484" y="6356351"/>
            <a:ext cx="914400" cy="365125"/>
          </a:xfrm>
        </p:spPr>
        <p:txBody>
          <a:bodyPr/>
          <a:lstStyle>
            <a:lvl1pPr>
              <a:defRPr sz="1100">
                <a:solidFill>
                  <a:srgbClr val="858585"/>
                </a:solidFill>
                <a:latin typeface="Century Gothic" panose="020B0502020202020204" pitchFamily="34" charset="0"/>
              </a:defRPr>
            </a:lvl1pPr>
          </a:lstStyle>
          <a:p>
            <a:fld id="{33651444-B057-4FDC-9799-80261E5777F8}" type="slidenum">
              <a:rPr lang="en-US" altLang="en-US"/>
              <a:pPr/>
              <a:t>‹#›</a:t>
            </a:fld>
            <a:endParaRPr lang="en-US" altLang="en-US"/>
          </a:p>
        </p:txBody>
      </p:sp>
    </p:spTree>
    <p:extLst>
      <p:ext uri="{BB962C8B-B14F-4D97-AF65-F5344CB8AC3E}">
        <p14:creationId xmlns:p14="http://schemas.microsoft.com/office/powerpoint/2010/main" val="17686747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5" name="Rectangle 4"/>
          <p:cNvSpPr/>
          <p:nvPr/>
        </p:nvSpPr>
        <p:spPr>
          <a:xfrm>
            <a:off x="359833" y="268289"/>
            <a:ext cx="2194984"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2904565" y="914400"/>
            <a:ext cx="8677836" cy="1143000"/>
          </a:xfrm>
        </p:spPr>
        <p:txBody>
          <a:bodyPr/>
          <a:lstStyle/>
          <a:p>
            <a:r>
              <a:rPr lang="en-US" smtClean="0"/>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Picture Placeholder 8"/>
          <p:cNvSpPr>
            <a:spLocks noGrp="1"/>
          </p:cNvSpPr>
          <p:nvPr>
            <p:ph type="pic" sz="quarter" idx="13"/>
          </p:nvPr>
        </p:nvSpPr>
        <p:spPr>
          <a:xfrm>
            <a:off x="359833" y="1976718"/>
            <a:ext cx="2194560" cy="4625788"/>
          </a:xfrm>
        </p:spPr>
        <p:txBody>
          <a:bodyPr rtlCol="0">
            <a:normAutofit/>
          </a:bodyPr>
          <a:lstStyle>
            <a:lvl1pPr>
              <a:buNone/>
              <a:defRPr/>
            </a:lvl1pPr>
          </a:lstStyle>
          <a:p>
            <a:pPr lvl="0"/>
            <a:r>
              <a:rPr lang="en-US" noProof="0" smtClean="0"/>
              <a:t>Drag picture to placeholder or click icon to add</a:t>
            </a:r>
            <a:endParaRPr noProof="0"/>
          </a:p>
        </p:txBody>
      </p:sp>
      <p:sp>
        <p:nvSpPr>
          <p:cNvPr id="6" name="Date Placeholder 3"/>
          <p:cNvSpPr>
            <a:spLocks noGrp="1"/>
          </p:cNvSpPr>
          <p:nvPr>
            <p:ph type="dt" sz="half" idx="14"/>
          </p:nvPr>
        </p:nvSpPr>
        <p:spPr>
          <a:xfrm>
            <a:off x="9616017" y="6356351"/>
            <a:ext cx="2336800" cy="365125"/>
          </a:xfrm>
        </p:spPr>
        <p:txBody>
          <a:bodyPr/>
          <a:lstStyle>
            <a:lvl1pPr>
              <a:defRPr/>
            </a:lvl1pPr>
          </a:lstStyle>
          <a:p>
            <a:pPr>
              <a:defRPr/>
            </a:pPr>
            <a:endParaRPr lang="en-US"/>
          </a:p>
        </p:txBody>
      </p:sp>
      <p:sp>
        <p:nvSpPr>
          <p:cNvPr id="7" name="Footer Placeholder 4"/>
          <p:cNvSpPr>
            <a:spLocks noGrp="1"/>
          </p:cNvSpPr>
          <p:nvPr>
            <p:ph type="ftr" sz="quarter" idx="15"/>
          </p:nvPr>
        </p:nvSpPr>
        <p:spPr>
          <a:xfrm>
            <a:off x="2904067" y="6356351"/>
            <a:ext cx="6570133" cy="365125"/>
          </a:xfrm>
        </p:spPr>
        <p:txBody>
          <a:bodyPr/>
          <a:lstStyle>
            <a:lvl1pPr>
              <a:defRPr/>
            </a:lvl1pPr>
          </a:lstStyle>
          <a:p>
            <a:pPr>
              <a:defRPr/>
            </a:pPr>
            <a:endParaRPr lang="en-US"/>
          </a:p>
        </p:txBody>
      </p:sp>
      <p:sp>
        <p:nvSpPr>
          <p:cNvPr id="8" name="Slide Number Placeholder 5"/>
          <p:cNvSpPr>
            <a:spLocks noGrp="1"/>
          </p:cNvSpPr>
          <p:nvPr>
            <p:ph type="sldNum" sz="quarter" idx="16"/>
          </p:nvPr>
        </p:nvSpPr>
        <p:spPr>
          <a:xfrm>
            <a:off x="442384" y="360364"/>
            <a:ext cx="675216" cy="365125"/>
          </a:xfrm>
        </p:spPr>
        <p:txBody>
          <a:bodyPr/>
          <a:lstStyle>
            <a:lvl1pPr>
              <a:defRPr/>
            </a:lvl1pPr>
          </a:lstStyle>
          <a:p>
            <a:fld id="{18FE587C-8142-439F-9E27-98EFC3123717}" type="slidenum">
              <a:rPr lang="en-US" altLang="en-US"/>
              <a:pPr/>
              <a:t>‹#›</a:t>
            </a:fld>
            <a:endParaRPr lang="en-US" altLang="en-US"/>
          </a:p>
        </p:txBody>
      </p:sp>
    </p:spTree>
    <p:extLst>
      <p:ext uri="{BB962C8B-B14F-4D97-AF65-F5344CB8AC3E}">
        <p14:creationId xmlns:p14="http://schemas.microsoft.com/office/powerpoint/2010/main" val="23928865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4" name="Rectangle 3"/>
          <p:cNvSpPr/>
          <p:nvPr/>
        </p:nvSpPr>
        <p:spPr>
          <a:xfrm>
            <a:off x="10346267" y="268288"/>
            <a:ext cx="1464733"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2946401" y="3429000"/>
            <a:ext cx="6621928" cy="1398494"/>
          </a:xfrm>
        </p:spPr>
        <p:txBody>
          <a:bodyPr/>
          <a:lstStyle>
            <a:lvl1pPr algn="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2946401" y="4824414"/>
            <a:ext cx="6621928" cy="1320800"/>
          </a:xfrm>
        </p:spPr>
        <p:txBody>
          <a:bodyPr>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5" name="Date Placeholder 3"/>
          <p:cNvSpPr>
            <a:spLocks noGrp="1"/>
          </p:cNvSpPr>
          <p:nvPr>
            <p:ph type="dt" sz="half" idx="10"/>
          </p:nvPr>
        </p:nvSpPr>
        <p:spPr>
          <a:xfrm>
            <a:off x="7416801" y="6356351"/>
            <a:ext cx="2163233" cy="365125"/>
          </a:xfrm>
        </p:spPr>
        <p:txBody>
          <a:bodyPr/>
          <a:lstStyle>
            <a:lvl1pPr>
              <a:defRPr/>
            </a:lvl1pPr>
          </a:lstStyle>
          <a:p>
            <a:pPr>
              <a:defRPr/>
            </a:pPr>
            <a:endParaRPr lang="en-US"/>
          </a:p>
        </p:txBody>
      </p:sp>
      <p:sp>
        <p:nvSpPr>
          <p:cNvPr id="6" name="Footer Placeholder 4"/>
          <p:cNvSpPr>
            <a:spLocks noGrp="1"/>
          </p:cNvSpPr>
          <p:nvPr>
            <p:ph type="ftr" sz="quarter" idx="11"/>
          </p:nvPr>
        </p:nvSpPr>
        <p:spPr>
          <a:xfrm>
            <a:off x="232834" y="6356351"/>
            <a:ext cx="7082367" cy="365125"/>
          </a:xfr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6E55DA0A-0CDB-4598-9980-667B8FA34EEE}" type="slidenum">
              <a:rPr lang="en-US" altLang="en-US"/>
              <a:pPr/>
              <a:t>‹#›</a:t>
            </a:fld>
            <a:endParaRPr lang="en-US" altLang="en-US"/>
          </a:p>
        </p:txBody>
      </p:sp>
    </p:spTree>
    <p:extLst>
      <p:ext uri="{BB962C8B-B14F-4D97-AF65-F5344CB8AC3E}">
        <p14:creationId xmlns:p14="http://schemas.microsoft.com/office/powerpoint/2010/main" val="14893082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5" name="Rectangle 4"/>
          <p:cNvSpPr/>
          <p:nvPr/>
        </p:nvSpPr>
        <p:spPr>
          <a:xfrm>
            <a:off x="359833" y="4773614"/>
            <a:ext cx="3962400" cy="184467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4960472" y="3429001"/>
            <a:ext cx="6621928" cy="1398494"/>
          </a:xfrm>
        </p:spPr>
        <p:txBody>
          <a:bodyPr/>
          <a:lstStyle>
            <a:lvl1pPr algn="r">
              <a:defRPr sz="4600" b="0" cap="none" baseline="0"/>
            </a:lvl1pPr>
          </a:lstStyle>
          <a:p>
            <a:r>
              <a:rPr lang="en-US" smtClean="0"/>
              <a:t>Click to edit Master title style</a:t>
            </a:r>
            <a:endParaRPr/>
          </a:p>
        </p:txBody>
      </p:sp>
      <p:sp>
        <p:nvSpPr>
          <p:cNvPr id="3" name="Text Placeholder 2"/>
          <p:cNvSpPr>
            <a:spLocks noGrp="1"/>
          </p:cNvSpPr>
          <p:nvPr>
            <p:ph type="body" idx="1"/>
          </p:nvPr>
        </p:nvSpPr>
        <p:spPr>
          <a:xfrm>
            <a:off x="4960472" y="4824414"/>
            <a:ext cx="6621928" cy="1320800"/>
          </a:xfrm>
        </p:spPr>
        <p:txBody>
          <a:bodyPr>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Picture Placeholder 8"/>
          <p:cNvSpPr>
            <a:spLocks noGrp="1"/>
          </p:cNvSpPr>
          <p:nvPr>
            <p:ph type="pic" sz="quarter" idx="13"/>
          </p:nvPr>
        </p:nvSpPr>
        <p:spPr>
          <a:xfrm>
            <a:off x="359832" y="268288"/>
            <a:ext cx="3962400" cy="4438650"/>
          </a:xfrm>
        </p:spPr>
        <p:txBody>
          <a:bodyPr rtlCol="0">
            <a:normAutofit/>
          </a:bodyPr>
          <a:lstStyle>
            <a:lvl1pPr>
              <a:buNone/>
              <a:defRPr/>
            </a:lvl1pPr>
          </a:lstStyle>
          <a:p>
            <a:pPr lvl="0"/>
            <a:r>
              <a:rPr lang="en-US" noProof="0" smtClean="0"/>
              <a:t>Drag picture to placeholder or click icon to add</a:t>
            </a:r>
            <a:endParaRPr noProof="0"/>
          </a:p>
        </p:txBody>
      </p:sp>
      <p:sp>
        <p:nvSpPr>
          <p:cNvPr id="6" name="Slide Number Placeholder 5"/>
          <p:cNvSpPr>
            <a:spLocks noGrp="1"/>
          </p:cNvSpPr>
          <p:nvPr>
            <p:ph type="sldNum" sz="quarter" idx="14"/>
          </p:nvPr>
        </p:nvSpPr>
        <p:spPr>
          <a:xfrm>
            <a:off x="467784" y="6105526"/>
            <a:ext cx="675216" cy="365125"/>
          </a:xfrm>
        </p:spPr>
        <p:txBody>
          <a:bodyPr/>
          <a:lstStyle>
            <a:lvl1pPr>
              <a:defRPr/>
            </a:lvl1pPr>
          </a:lstStyle>
          <a:p>
            <a:fld id="{DF262CBB-E632-4E78-B71D-4635367A75CF}" type="slidenum">
              <a:rPr lang="en-US" altLang="en-US"/>
              <a:pPr/>
              <a:t>‹#›</a:t>
            </a:fld>
            <a:endParaRPr lang="en-US" altLang="en-US"/>
          </a:p>
        </p:txBody>
      </p:sp>
    </p:spTree>
    <p:extLst>
      <p:ext uri="{BB962C8B-B14F-4D97-AF65-F5344CB8AC3E}">
        <p14:creationId xmlns:p14="http://schemas.microsoft.com/office/powerpoint/2010/main" val="2322229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5" name="Rectangle 4"/>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505DF458-1D7C-45A5-B4B0-231718192E20}" type="slidenum">
              <a:rPr lang="en-US" altLang="en-US"/>
              <a:pPr/>
              <a:t>‹#›</a:t>
            </a:fld>
            <a:endParaRPr lang="en-US" altLang="en-US"/>
          </a:p>
        </p:txBody>
      </p:sp>
    </p:spTree>
    <p:extLst>
      <p:ext uri="{BB962C8B-B14F-4D97-AF65-F5344CB8AC3E}">
        <p14:creationId xmlns:p14="http://schemas.microsoft.com/office/powerpoint/2010/main" val="41510582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7" name="Rectangle 6"/>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smtClean="0"/>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8" name="Date Placeholder 6"/>
          <p:cNvSpPr>
            <a:spLocks noGrp="1"/>
          </p:cNvSpPr>
          <p:nvPr>
            <p:ph type="dt" sz="half" idx="10"/>
          </p:nvPr>
        </p:nvSpPr>
        <p:spPr/>
        <p:txBody>
          <a:bodyPr/>
          <a:lstStyle>
            <a:lvl1pPr>
              <a:defRPr/>
            </a:lvl1pPr>
          </a:lstStyle>
          <a:p>
            <a:pPr>
              <a:defRPr/>
            </a:pPr>
            <a:endParaRPr lang="en-US"/>
          </a:p>
        </p:txBody>
      </p:sp>
      <p:sp>
        <p:nvSpPr>
          <p:cNvPr id="9" name="Footer Placeholder 7"/>
          <p:cNvSpPr>
            <a:spLocks noGrp="1"/>
          </p:cNvSpPr>
          <p:nvPr>
            <p:ph type="ftr" sz="quarter" idx="11"/>
          </p:nvPr>
        </p:nvSpPr>
        <p:spPr/>
        <p:txBody>
          <a:bodyPr/>
          <a:lstStyle>
            <a:lvl1pPr>
              <a:defRPr/>
            </a:lvl1pPr>
          </a:lstStyle>
          <a:p>
            <a:pPr>
              <a:defRPr/>
            </a:pPr>
            <a:endParaRPr lang="en-US"/>
          </a:p>
        </p:txBody>
      </p:sp>
      <p:sp>
        <p:nvSpPr>
          <p:cNvPr id="10" name="Slide Number Placeholder 8"/>
          <p:cNvSpPr>
            <a:spLocks noGrp="1"/>
          </p:cNvSpPr>
          <p:nvPr>
            <p:ph type="sldNum" sz="quarter" idx="12"/>
          </p:nvPr>
        </p:nvSpPr>
        <p:spPr/>
        <p:txBody>
          <a:bodyPr/>
          <a:lstStyle>
            <a:lvl1pPr>
              <a:defRPr/>
            </a:lvl1pPr>
          </a:lstStyle>
          <a:p>
            <a:fld id="{249498C2-58CB-4CAE-97F1-C34D2D32B0C8}" type="slidenum">
              <a:rPr lang="en-US" altLang="en-US"/>
              <a:pPr/>
              <a:t>‹#›</a:t>
            </a:fld>
            <a:endParaRPr lang="en-US" altLang="en-US"/>
          </a:p>
        </p:txBody>
      </p:sp>
    </p:spTree>
    <p:extLst>
      <p:ext uri="{BB962C8B-B14F-4D97-AF65-F5344CB8AC3E}">
        <p14:creationId xmlns:p14="http://schemas.microsoft.com/office/powerpoint/2010/main" val="1515092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5" name="Rectangle 4"/>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6" name="Date Placeholder 4"/>
          <p:cNvSpPr>
            <a:spLocks noGrp="1"/>
          </p:cNvSpPr>
          <p:nvPr>
            <p:ph type="dt" sz="half" idx="14"/>
          </p:nvPr>
        </p:nvSpPr>
        <p:spPr/>
        <p:txBody>
          <a:bodyPr/>
          <a:lstStyle>
            <a:lvl1pPr>
              <a:defRPr/>
            </a:lvl1pPr>
          </a:lstStyle>
          <a:p>
            <a:pPr>
              <a:defRPr/>
            </a:pPr>
            <a:endParaRPr lang="en-US"/>
          </a:p>
        </p:txBody>
      </p:sp>
      <p:sp>
        <p:nvSpPr>
          <p:cNvPr id="7" name="Footer Placeholder 5"/>
          <p:cNvSpPr>
            <a:spLocks noGrp="1"/>
          </p:cNvSpPr>
          <p:nvPr>
            <p:ph type="ftr" sz="quarter" idx="15"/>
          </p:nvPr>
        </p:nvSpPr>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F54EFC5B-9B8D-4A82-BB4B-7871F6A1FBBD}" type="slidenum">
              <a:rPr lang="en-US" altLang="en-US"/>
              <a:pPr/>
              <a:t>‹#›</a:t>
            </a:fld>
            <a:endParaRPr lang="en-US" altLang="en-US"/>
          </a:p>
        </p:txBody>
      </p:sp>
    </p:spTree>
    <p:extLst>
      <p:ext uri="{BB962C8B-B14F-4D97-AF65-F5344CB8AC3E}">
        <p14:creationId xmlns:p14="http://schemas.microsoft.com/office/powerpoint/2010/main" val="26836789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6" name="Rectangle 5"/>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7" name="Date Placeholder 4"/>
          <p:cNvSpPr>
            <a:spLocks noGrp="1"/>
          </p:cNvSpPr>
          <p:nvPr>
            <p:ph type="dt" sz="half" idx="15"/>
          </p:nvPr>
        </p:nvSpPr>
        <p:spPr/>
        <p:txBody>
          <a:bodyPr/>
          <a:lstStyle>
            <a:lvl1pPr>
              <a:defRPr/>
            </a:lvl1pPr>
          </a:lstStyle>
          <a:p>
            <a:pPr>
              <a:defRPr/>
            </a:pPr>
            <a:endParaRPr lang="en-US"/>
          </a:p>
        </p:txBody>
      </p:sp>
      <p:sp>
        <p:nvSpPr>
          <p:cNvPr id="8" name="Footer Placeholder 5"/>
          <p:cNvSpPr>
            <a:spLocks noGrp="1"/>
          </p:cNvSpPr>
          <p:nvPr>
            <p:ph type="ftr" sz="quarter" idx="16"/>
          </p:nvPr>
        </p:nvSpPr>
        <p:spPr/>
        <p:txBody>
          <a:bodyPr/>
          <a:lstStyle>
            <a:lvl1pPr>
              <a:defRPr/>
            </a:lvl1pPr>
          </a:lstStyle>
          <a:p>
            <a:pPr>
              <a:defRPr/>
            </a:pPr>
            <a:endParaRPr lang="en-US"/>
          </a:p>
        </p:txBody>
      </p:sp>
      <p:sp>
        <p:nvSpPr>
          <p:cNvPr id="11" name="Slide Number Placeholder 6"/>
          <p:cNvSpPr>
            <a:spLocks noGrp="1"/>
          </p:cNvSpPr>
          <p:nvPr>
            <p:ph type="sldNum" sz="quarter" idx="17"/>
          </p:nvPr>
        </p:nvSpPr>
        <p:spPr/>
        <p:txBody>
          <a:bodyPr/>
          <a:lstStyle>
            <a:lvl1pPr>
              <a:defRPr/>
            </a:lvl1pPr>
          </a:lstStyle>
          <a:p>
            <a:fld id="{1B6DF739-B98B-43E8-A34D-42D6C7073B4E}" type="slidenum">
              <a:rPr lang="en-US" altLang="en-US"/>
              <a:pPr/>
              <a:t>‹#›</a:t>
            </a:fld>
            <a:endParaRPr lang="en-US" altLang="en-US"/>
          </a:p>
        </p:txBody>
      </p:sp>
    </p:spTree>
    <p:extLst>
      <p:ext uri="{BB962C8B-B14F-4D97-AF65-F5344CB8AC3E}">
        <p14:creationId xmlns:p14="http://schemas.microsoft.com/office/powerpoint/2010/main" val="1864059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7" name="Rectangle 6"/>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600" y="914400"/>
            <a:ext cx="9855201" cy="1143000"/>
          </a:xfrm>
        </p:spPr>
        <p:txBody>
          <a:bodyPr/>
          <a:lstStyle/>
          <a:p>
            <a:r>
              <a:rPr lang="en-US" smtClean="0"/>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8" name="Date Placeholder 4"/>
          <p:cNvSpPr>
            <a:spLocks noGrp="1"/>
          </p:cNvSpPr>
          <p:nvPr>
            <p:ph type="dt" sz="half" idx="16"/>
          </p:nvPr>
        </p:nvSpPr>
        <p:spPr/>
        <p:txBody>
          <a:bodyPr/>
          <a:lstStyle>
            <a:lvl1pPr>
              <a:defRPr/>
            </a:lvl1pPr>
          </a:lstStyle>
          <a:p>
            <a:pPr>
              <a:defRPr/>
            </a:pPr>
            <a:endParaRPr lang="en-US"/>
          </a:p>
        </p:txBody>
      </p:sp>
      <p:sp>
        <p:nvSpPr>
          <p:cNvPr id="10" name="Footer Placeholder 5"/>
          <p:cNvSpPr>
            <a:spLocks noGrp="1"/>
          </p:cNvSpPr>
          <p:nvPr>
            <p:ph type="ftr" sz="quarter" idx="17"/>
          </p:nvPr>
        </p:nvSpPr>
        <p:spPr/>
        <p:txBody>
          <a:bodyPr/>
          <a:lstStyle>
            <a:lvl1pPr>
              <a:defRPr/>
            </a:lvl1pPr>
          </a:lstStyle>
          <a:p>
            <a:pPr>
              <a:defRPr/>
            </a:pPr>
            <a:endParaRPr lang="en-US"/>
          </a:p>
        </p:txBody>
      </p:sp>
      <p:sp>
        <p:nvSpPr>
          <p:cNvPr id="13" name="Slide Number Placeholder 6"/>
          <p:cNvSpPr>
            <a:spLocks noGrp="1"/>
          </p:cNvSpPr>
          <p:nvPr>
            <p:ph type="sldNum" sz="quarter" idx="18"/>
          </p:nvPr>
        </p:nvSpPr>
        <p:spPr/>
        <p:txBody>
          <a:bodyPr/>
          <a:lstStyle>
            <a:lvl1pPr>
              <a:defRPr/>
            </a:lvl1pPr>
          </a:lstStyle>
          <a:p>
            <a:fld id="{616D1C0E-BBED-4DC2-8B50-A750E43D2C23}" type="slidenum">
              <a:rPr lang="en-US" altLang="en-US"/>
              <a:pPr/>
              <a:t>‹#›</a:t>
            </a:fld>
            <a:endParaRPr lang="en-US" altLang="en-US"/>
          </a:p>
        </p:txBody>
      </p:sp>
    </p:spTree>
    <p:extLst>
      <p:ext uri="{BB962C8B-B14F-4D97-AF65-F5344CB8AC3E}">
        <p14:creationId xmlns:p14="http://schemas.microsoft.com/office/powerpoint/2010/main" val="25726152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 name="Rectangle 2"/>
          <p:cNvSpPr/>
          <p:nvPr/>
        </p:nvSpPr>
        <p:spPr>
          <a:xfrm>
            <a:off x="10864852" y="268289"/>
            <a:ext cx="958849"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p:txBody>
          <a:bodyPr/>
          <a:lstStyle/>
          <a:p>
            <a:r>
              <a:rPr lang="en-US" smtClean="0"/>
              <a:t>Click to edit Master title style</a:t>
            </a:r>
            <a:endParaRPr/>
          </a:p>
        </p:txBody>
      </p:sp>
      <p:sp>
        <p:nvSpPr>
          <p:cNvPr id="4" name="Date Placeholder 2"/>
          <p:cNvSpPr>
            <a:spLocks noGrp="1"/>
          </p:cNvSpPr>
          <p:nvPr>
            <p:ph type="dt" sz="half" idx="10"/>
          </p:nvPr>
        </p:nvSpPr>
        <p:spPr/>
        <p:txBody>
          <a:bodyPr/>
          <a:lstStyle>
            <a:lvl1pPr>
              <a:defRPr/>
            </a:lvl1pPr>
          </a:lstStyle>
          <a:p>
            <a:pPr>
              <a:defRPr/>
            </a:pPr>
            <a:endParaRPr lang="en-US"/>
          </a:p>
        </p:txBody>
      </p:sp>
      <p:sp>
        <p:nvSpPr>
          <p:cNvPr id="5" name="Footer Placeholder 3"/>
          <p:cNvSpPr>
            <a:spLocks noGrp="1"/>
          </p:cNvSpPr>
          <p:nvPr>
            <p:ph type="ftr" sz="quarter" idx="11"/>
          </p:nvPr>
        </p:nvSpPr>
        <p:spPr/>
        <p:txBody>
          <a:bodyPr/>
          <a:lstStyle>
            <a:lvl1pPr>
              <a:defRPr/>
            </a:lvl1pPr>
          </a:lstStyle>
          <a:p>
            <a:pPr>
              <a:defRPr/>
            </a:pPr>
            <a:endParaRPr lang="en-US"/>
          </a:p>
        </p:txBody>
      </p:sp>
      <p:sp>
        <p:nvSpPr>
          <p:cNvPr id="6" name="Slide Number Placeholder 4"/>
          <p:cNvSpPr>
            <a:spLocks noGrp="1"/>
          </p:cNvSpPr>
          <p:nvPr>
            <p:ph type="sldNum" sz="quarter" idx="12"/>
          </p:nvPr>
        </p:nvSpPr>
        <p:spPr/>
        <p:txBody>
          <a:bodyPr/>
          <a:lstStyle>
            <a:lvl1pPr>
              <a:defRPr/>
            </a:lvl1pPr>
          </a:lstStyle>
          <a:p>
            <a:fld id="{33DFBD5F-8CE8-4B55-BCDF-EE89E3BFFD28}" type="slidenum">
              <a:rPr lang="en-US" altLang="en-US"/>
              <a:pPr/>
              <a:t>‹#›</a:t>
            </a:fld>
            <a:endParaRPr lang="en-US" altLang="en-US"/>
          </a:p>
        </p:txBody>
      </p:sp>
    </p:spTree>
    <p:extLst>
      <p:ext uri="{BB962C8B-B14F-4D97-AF65-F5344CB8AC3E}">
        <p14:creationId xmlns:p14="http://schemas.microsoft.com/office/powerpoint/2010/main" val="118619051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3" name="Date Placeholder 1"/>
          <p:cNvSpPr>
            <a:spLocks noGrp="1"/>
          </p:cNvSpPr>
          <p:nvPr>
            <p:ph type="dt" sz="half" idx="10"/>
          </p:nvPr>
        </p:nvSpPr>
        <p:spPr/>
        <p:txBody>
          <a:bodyPr/>
          <a:lstStyle>
            <a:lvl1pPr>
              <a:defRPr/>
            </a:lvl1pPr>
          </a:lstStyle>
          <a:p>
            <a:pPr>
              <a:defRPr/>
            </a:pPr>
            <a:endParaRPr lang="en-US"/>
          </a:p>
        </p:txBody>
      </p:sp>
      <p:sp>
        <p:nvSpPr>
          <p:cNvPr id="4" name="Footer Placeholder 2"/>
          <p:cNvSpPr>
            <a:spLocks noGrp="1"/>
          </p:cNvSpPr>
          <p:nvPr>
            <p:ph type="ftr" sz="quarter" idx="11"/>
          </p:nvPr>
        </p:nvSpPr>
        <p:spPr/>
        <p:txBody>
          <a:bodyPr/>
          <a:lstStyle>
            <a:lvl1pPr>
              <a:defRPr/>
            </a:lvl1pPr>
          </a:lstStyle>
          <a:p>
            <a:pPr>
              <a:defRPr/>
            </a:pPr>
            <a:endParaRPr lang="en-US"/>
          </a:p>
        </p:txBody>
      </p:sp>
      <p:sp>
        <p:nvSpPr>
          <p:cNvPr id="5" name="Slide Number Placeholder 3"/>
          <p:cNvSpPr>
            <a:spLocks noGrp="1"/>
          </p:cNvSpPr>
          <p:nvPr>
            <p:ph type="sldNum" sz="quarter" idx="12"/>
          </p:nvPr>
        </p:nvSpPr>
        <p:spPr/>
        <p:txBody>
          <a:bodyPr/>
          <a:lstStyle>
            <a:lvl1pPr>
              <a:defRPr/>
            </a:lvl1pPr>
          </a:lstStyle>
          <a:p>
            <a:fld id="{63833FF5-9C7F-49F7-97E4-E654F9B057B8}" type="slidenum">
              <a:rPr lang="en-US" altLang="en-US"/>
              <a:pPr/>
              <a:t>‹#›</a:t>
            </a:fld>
            <a:endParaRPr lang="en-US" altLang="en-US"/>
          </a:p>
        </p:txBody>
      </p:sp>
    </p:spTree>
    <p:extLst>
      <p:ext uri="{BB962C8B-B14F-4D97-AF65-F5344CB8AC3E}">
        <p14:creationId xmlns:p14="http://schemas.microsoft.com/office/powerpoint/2010/main" val="3840942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5" name="Rectangle 4"/>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95082"/>
            <a:ext cx="4754880" cy="1035424"/>
          </a:xfrm>
        </p:spPr>
        <p:txBody>
          <a:bodyPr/>
          <a:lstStyle>
            <a:lvl1pPr algn="l">
              <a:defRPr sz="2800" b="0"/>
            </a:lvl1pPr>
          </a:lstStyle>
          <a:p>
            <a:r>
              <a:rPr lang="en-US" smtClean="0"/>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CF26A2DE-5B2C-4A87-8C8B-43BAFCBE83AF}" type="slidenum">
              <a:rPr lang="en-US" altLang="en-US"/>
              <a:pPr/>
              <a:t>‹#›</a:t>
            </a:fld>
            <a:endParaRPr lang="en-US" altLang="en-US"/>
          </a:p>
        </p:txBody>
      </p:sp>
    </p:spTree>
    <p:extLst>
      <p:ext uri="{BB962C8B-B14F-4D97-AF65-F5344CB8AC3E}">
        <p14:creationId xmlns:p14="http://schemas.microsoft.com/office/powerpoint/2010/main" val="4299348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5" name="Rectangle 4"/>
          <p:cNvSpPr/>
          <p:nvPr/>
        </p:nvSpPr>
        <p:spPr>
          <a:xfrm>
            <a:off x="6328833" y="268289"/>
            <a:ext cx="5486400"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09599" y="995082"/>
            <a:ext cx="4754880" cy="1035424"/>
          </a:xfrm>
        </p:spPr>
        <p:txBody>
          <a:bodyPr/>
          <a:lstStyle>
            <a:lvl1pPr algn="l">
              <a:defRPr sz="2800" b="0"/>
            </a:lvl1pPr>
          </a:lstStyle>
          <a:p>
            <a:r>
              <a:rPr lang="en-US" smtClean="0"/>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Picture Placeholder 9"/>
          <p:cNvSpPr>
            <a:spLocks noGrp="1"/>
          </p:cNvSpPr>
          <p:nvPr>
            <p:ph type="pic" sz="quarter" idx="13"/>
          </p:nvPr>
        </p:nvSpPr>
        <p:spPr>
          <a:xfrm>
            <a:off x="6347011" y="990600"/>
            <a:ext cx="5462016" cy="5611813"/>
          </a:xfrm>
        </p:spPr>
        <p:txBody>
          <a:bodyPr rtlCol="0">
            <a:normAutofit/>
          </a:bodyPr>
          <a:lstStyle>
            <a:lvl1pPr>
              <a:buNone/>
              <a:defRPr/>
            </a:lvl1pPr>
          </a:lstStyle>
          <a:p>
            <a:pPr lvl="0"/>
            <a:r>
              <a:rPr lang="en-US" noProof="0" smtClean="0"/>
              <a:t>Drag picture to placeholder or click icon to add</a:t>
            </a:r>
            <a:endParaRPr noProof="0"/>
          </a:p>
        </p:txBody>
      </p:sp>
      <p:sp>
        <p:nvSpPr>
          <p:cNvPr id="6" name="Date Placeholder 4"/>
          <p:cNvSpPr>
            <a:spLocks noGrp="1"/>
          </p:cNvSpPr>
          <p:nvPr>
            <p:ph type="dt" sz="half" idx="14"/>
          </p:nvPr>
        </p:nvSpPr>
        <p:spPr>
          <a:xfrm>
            <a:off x="215900" y="6124576"/>
            <a:ext cx="2336800" cy="365125"/>
          </a:xfrm>
        </p:spPr>
        <p:txBody>
          <a:bodyPr/>
          <a:lstStyle>
            <a:lvl1pPr algn="l">
              <a:defRPr/>
            </a:lvl1pPr>
          </a:lstStyle>
          <a:p>
            <a:pPr>
              <a:defRPr/>
            </a:pPr>
            <a:endParaRPr lang="en-US"/>
          </a:p>
        </p:txBody>
      </p:sp>
      <p:sp>
        <p:nvSpPr>
          <p:cNvPr id="7" name="Footer Placeholder 5"/>
          <p:cNvSpPr>
            <a:spLocks noGrp="1"/>
          </p:cNvSpPr>
          <p:nvPr>
            <p:ph type="ftr" sz="quarter" idx="15"/>
          </p:nvPr>
        </p:nvSpPr>
        <p:spPr>
          <a:xfrm>
            <a:off x="232834" y="6356351"/>
            <a:ext cx="5151967" cy="365125"/>
          </a:xfrm>
        </p:spPr>
        <p:txBody>
          <a:bodyPr/>
          <a:lstStyle>
            <a:lvl1pPr>
              <a:defRPr/>
            </a:lvl1pPr>
          </a:lstStyle>
          <a:p>
            <a:pPr>
              <a:defRPr/>
            </a:pPr>
            <a:endParaRPr lang="en-US"/>
          </a:p>
        </p:txBody>
      </p:sp>
      <p:sp>
        <p:nvSpPr>
          <p:cNvPr id="8" name="Slide Number Placeholder 6"/>
          <p:cNvSpPr>
            <a:spLocks noGrp="1"/>
          </p:cNvSpPr>
          <p:nvPr>
            <p:ph type="sldNum" sz="quarter" idx="16"/>
          </p:nvPr>
        </p:nvSpPr>
        <p:spPr/>
        <p:txBody>
          <a:bodyPr/>
          <a:lstStyle>
            <a:lvl1pPr>
              <a:defRPr/>
            </a:lvl1pPr>
          </a:lstStyle>
          <a:p>
            <a:fld id="{DF1236F9-EF88-4FBA-A8CD-A1E995AEFFAD}" type="slidenum">
              <a:rPr lang="en-US" altLang="en-US"/>
              <a:pPr/>
              <a:t>‹#›</a:t>
            </a:fld>
            <a:endParaRPr lang="en-US" altLang="en-US"/>
          </a:p>
        </p:txBody>
      </p:sp>
    </p:spTree>
    <p:extLst>
      <p:ext uri="{BB962C8B-B14F-4D97-AF65-F5344CB8AC3E}">
        <p14:creationId xmlns:p14="http://schemas.microsoft.com/office/powerpoint/2010/main" val="16996972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5" name="Rectangle 4"/>
          <p:cNvSpPr/>
          <p:nvPr/>
        </p:nvSpPr>
        <p:spPr>
          <a:xfrm>
            <a:off x="9622367" y="268288"/>
            <a:ext cx="2186517" cy="3638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11717" y="4267200"/>
            <a:ext cx="8636000" cy="566738"/>
          </a:xfrm>
        </p:spPr>
        <p:txBody>
          <a:bodyPr/>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359832" y="268288"/>
            <a:ext cx="9144000"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6" name="Date Placeholder 4"/>
          <p:cNvSpPr>
            <a:spLocks noGrp="1"/>
          </p:cNvSpPr>
          <p:nvPr>
            <p:ph type="dt" sz="half" idx="10"/>
          </p:nvPr>
        </p:nvSpPr>
        <p:spPr/>
        <p:txBody>
          <a:bodyPr/>
          <a:lstStyle>
            <a:lvl1pPr>
              <a:defRPr/>
            </a:lvl1pPr>
          </a:lstStyle>
          <a:p>
            <a:pPr>
              <a:defRPr/>
            </a:pPr>
            <a:endParaRPr lang="en-US"/>
          </a:p>
        </p:txBody>
      </p:sp>
      <p:sp>
        <p:nvSpPr>
          <p:cNvPr id="7" name="Footer Placeholder 5"/>
          <p:cNvSpPr>
            <a:spLocks noGrp="1"/>
          </p:cNvSpPr>
          <p:nvPr>
            <p:ph type="ftr" sz="quarter" idx="11"/>
          </p:nvPr>
        </p:nvSpPr>
        <p:spPr/>
        <p:txBody>
          <a:bodyPr/>
          <a:lstStyle>
            <a:lvl1pPr>
              <a:defRPr/>
            </a:lvl1pPr>
          </a:lstStyle>
          <a:p>
            <a:pPr>
              <a:defRPr/>
            </a:pPr>
            <a:endParaRPr lang="en-US"/>
          </a:p>
        </p:txBody>
      </p:sp>
      <p:sp>
        <p:nvSpPr>
          <p:cNvPr id="8" name="Slide Number Placeholder 6"/>
          <p:cNvSpPr>
            <a:spLocks noGrp="1"/>
          </p:cNvSpPr>
          <p:nvPr>
            <p:ph type="sldNum" sz="quarter" idx="12"/>
          </p:nvPr>
        </p:nvSpPr>
        <p:spPr/>
        <p:txBody>
          <a:bodyPr/>
          <a:lstStyle>
            <a:lvl1pPr>
              <a:defRPr/>
            </a:lvl1pPr>
          </a:lstStyle>
          <a:p>
            <a:fld id="{43064F61-269F-4F32-839E-51150C5A7125}" type="slidenum">
              <a:rPr lang="en-US" altLang="en-US"/>
              <a:pPr/>
              <a:t>‹#›</a:t>
            </a:fld>
            <a:endParaRPr lang="en-US" altLang="en-US"/>
          </a:p>
        </p:txBody>
      </p:sp>
    </p:spTree>
    <p:extLst>
      <p:ext uri="{BB962C8B-B14F-4D97-AF65-F5344CB8AC3E}">
        <p14:creationId xmlns:p14="http://schemas.microsoft.com/office/powerpoint/2010/main" val="10812255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918" y="268288"/>
            <a:ext cx="960967" cy="36385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a:xfrm>
            <a:off x="611717" y="4267200"/>
            <a:ext cx="8636000" cy="566738"/>
          </a:xfrm>
        </p:spPr>
        <p:txBody>
          <a:bodyPr/>
          <a:lstStyle>
            <a:lvl1pPr algn="l">
              <a:defRPr sz="2800" b="0"/>
            </a:lvl1pPr>
          </a:lstStyle>
          <a:p>
            <a:r>
              <a:rPr lang="en-US" smtClean="0"/>
              <a:t>Click to edit Master title style</a:t>
            </a:r>
            <a:endParaRPr/>
          </a:p>
        </p:txBody>
      </p:sp>
      <p:sp>
        <p:nvSpPr>
          <p:cNvPr id="3" name="Picture Placeholder 2"/>
          <p:cNvSpPr>
            <a:spLocks noGrp="1"/>
          </p:cNvSpPr>
          <p:nvPr>
            <p:ph type="pic" idx="1"/>
          </p:nvPr>
        </p:nvSpPr>
        <p:spPr>
          <a:xfrm>
            <a:off x="359832" y="268288"/>
            <a:ext cx="4008968" cy="3639312"/>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0" name="Picture Placeholder 2"/>
          <p:cNvSpPr>
            <a:spLocks noGrp="1"/>
          </p:cNvSpPr>
          <p:nvPr>
            <p:ph type="pic" idx="13"/>
          </p:nvPr>
        </p:nvSpPr>
        <p:spPr>
          <a:xfrm>
            <a:off x="4470400" y="268289"/>
            <a:ext cx="6269317"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11" name="Picture Placeholder 2"/>
          <p:cNvSpPr>
            <a:spLocks noGrp="1"/>
          </p:cNvSpPr>
          <p:nvPr>
            <p:ph type="pic" idx="14"/>
          </p:nvPr>
        </p:nvSpPr>
        <p:spPr>
          <a:xfrm>
            <a:off x="4470400" y="2131936"/>
            <a:ext cx="3072384"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12" name="Picture Placeholder 2"/>
          <p:cNvSpPr>
            <a:spLocks noGrp="1"/>
          </p:cNvSpPr>
          <p:nvPr>
            <p:ph type="pic" idx="15"/>
          </p:nvPr>
        </p:nvSpPr>
        <p:spPr>
          <a:xfrm>
            <a:off x="7667333" y="2131936"/>
            <a:ext cx="3072384" cy="177566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Drag picture to placeholder or click icon to add</a:t>
            </a:r>
            <a:endParaRPr noProof="0"/>
          </a:p>
        </p:txBody>
      </p:sp>
      <p:sp>
        <p:nvSpPr>
          <p:cNvPr id="9" name="Date Placeholder 4"/>
          <p:cNvSpPr>
            <a:spLocks noGrp="1"/>
          </p:cNvSpPr>
          <p:nvPr>
            <p:ph type="dt" sz="half" idx="16"/>
          </p:nvPr>
        </p:nvSpPr>
        <p:spPr/>
        <p:txBody>
          <a:bodyPr/>
          <a:lstStyle>
            <a:lvl1pPr>
              <a:defRPr/>
            </a:lvl1pPr>
          </a:lstStyle>
          <a:p>
            <a:pPr>
              <a:defRPr/>
            </a:pPr>
            <a:endParaRPr lang="en-US"/>
          </a:p>
        </p:txBody>
      </p:sp>
      <p:sp>
        <p:nvSpPr>
          <p:cNvPr id="13" name="Footer Placeholder 5"/>
          <p:cNvSpPr>
            <a:spLocks noGrp="1"/>
          </p:cNvSpPr>
          <p:nvPr>
            <p:ph type="ftr" sz="quarter" idx="17"/>
          </p:nvPr>
        </p:nvSpPr>
        <p:spPr/>
        <p:txBody>
          <a:bodyPr/>
          <a:lstStyle>
            <a:lvl1pPr>
              <a:defRPr/>
            </a:lvl1pPr>
          </a:lstStyle>
          <a:p>
            <a:pPr>
              <a:defRPr/>
            </a:pPr>
            <a:endParaRPr lang="en-US"/>
          </a:p>
        </p:txBody>
      </p:sp>
      <p:sp>
        <p:nvSpPr>
          <p:cNvPr id="14" name="Slide Number Placeholder 6"/>
          <p:cNvSpPr>
            <a:spLocks noGrp="1"/>
          </p:cNvSpPr>
          <p:nvPr>
            <p:ph type="sldNum" sz="quarter" idx="18"/>
          </p:nvPr>
        </p:nvSpPr>
        <p:spPr/>
        <p:txBody>
          <a:bodyPr/>
          <a:lstStyle>
            <a:lvl1pPr>
              <a:defRPr/>
            </a:lvl1pPr>
          </a:lstStyle>
          <a:p>
            <a:fld id="{BF65D844-5C48-405A-8BD9-30EA87F2D5A2}" type="slidenum">
              <a:rPr lang="en-US" altLang="en-US"/>
              <a:pPr/>
              <a:t>‹#›</a:t>
            </a:fld>
            <a:endParaRPr lang="en-US" altLang="en-US"/>
          </a:p>
        </p:txBody>
      </p:sp>
    </p:spTree>
    <p:extLst>
      <p:ext uri="{BB962C8B-B14F-4D97-AF65-F5344CB8AC3E}">
        <p14:creationId xmlns:p14="http://schemas.microsoft.com/office/powerpoint/2010/main" val="296811382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4" name="Rectangle 3"/>
          <p:cNvSpPr/>
          <p:nvPr/>
        </p:nvSpPr>
        <p:spPr>
          <a:xfrm>
            <a:off x="9616018" y="268289"/>
            <a:ext cx="2194983" cy="16462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D1B5A904-E50E-4AC2-A420-A62B75759187}" type="slidenum">
              <a:rPr lang="en-US" altLang="en-US"/>
              <a:pPr/>
              <a:t>‹#›</a:t>
            </a:fld>
            <a:endParaRPr lang="en-US" altLang="en-US"/>
          </a:p>
        </p:txBody>
      </p:sp>
    </p:spTree>
    <p:extLst>
      <p:ext uri="{BB962C8B-B14F-4D97-AF65-F5344CB8AC3E}">
        <p14:creationId xmlns:p14="http://schemas.microsoft.com/office/powerpoint/2010/main" val="107662921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10864852" y="268289"/>
            <a:ext cx="958849" cy="566737"/>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sz="1800"/>
          </a:p>
        </p:txBody>
      </p:sp>
      <p:sp>
        <p:nvSpPr>
          <p:cNvPr id="2" name="Vertical Title 1"/>
          <p:cNvSpPr>
            <a:spLocks noGrp="1"/>
          </p:cNvSpPr>
          <p:nvPr>
            <p:ph type="title" orient="vert"/>
          </p:nvPr>
        </p:nvSpPr>
        <p:spPr>
          <a:xfrm>
            <a:off x="10058399" y="1035425"/>
            <a:ext cx="1763060" cy="5090739"/>
          </a:xfrm>
        </p:spPr>
        <p:txBody>
          <a:bodyPr vert="eaVert" anchor="t"/>
          <a:lstStyle/>
          <a:p>
            <a:r>
              <a:rPr lang="en-US" smtClean="0"/>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1C80EAC6-0EAC-48EB-A228-CB4428538B09}" type="slidenum">
              <a:rPr lang="en-US" altLang="en-US"/>
              <a:pPr/>
              <a:t>‹#›</a:t>
            </a:fld>
            <a:endParaRPr lang="en-US" altLang="en-US"/>
          </a:p>
        </p:txBody>
      </p:sp>
    </p:spTree>
    <p:extLst>
      <p:ext uri="{BB962C8B-B14F-4D97-AF65-F5344CB8AC3E}">
        <p14:creationId xmlns:p14="http://schemas.microsoft.com/office/powerpoint/2010/main" val="33334586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losing">
    <p:spTree>
      <p:nvGrpSpPr>
        <p:cNvPr id="1" name=""/>
        <p:cNvGrpSpPr/>
        <p:nvPr/>
      </p:nvGrpSpPr>
      <p:grpSpPr>
        <a:xfrm>
          <a:off x="0" y="0"/>
          <a:ext cx="0" cy="0"/>
          <a:chOff x="0" y="0"/>
          <a:chExt cx="0" cy="0"/>
        </a:xfrm>
      </p:grpSpPr>
      <p:sp>
        <p:nvSpPr>
          <p:cNvPr id="2" name="Date Placeholder 2"/>
          <p:cNvSpPr>
            <a:spLocks noGrp="1"/>
          </p:cNvSpPr>
          <p:nvPr>
            <p:ph type="dt" sz="half" idx="10"/>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3" name="Footer Placeholder 3"/>
          <p:cNvSpPr>
            <a:spLocks noGrp="1"/>
          </p:cNvSpPr>
          <p:nvPr>
            <p:ph type="ftr" sz="quarter" idx="11"/>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defRPr>
                <a:solidFill>
                  <a:schemeClr val="tx1"/>
                </a:solidFill>
                <a:effectLst>
                  <a:outerShdw blurRad="38100" dist="12700" dir="2700000" algn="tl" rotWithShape="0">
                    <a:prstClr val="black">
                      <a:alpha val="60000"/>
                    </a:prstClr>
                  </a:outerShdw>
                </a:effectLst>
              </a:defRPr>
            </a:lvl1pPr>
          </a:lstStyle>
          <a:p>
            <a:pPr>
              <a:defRPr/>
            </a:pPr>
            <a:endParaRPr lang="en-US"/>
          </a:p>
        </p:txBody>
      </p:sp>
      <p:sp>
        <p:nvSpPr>
          <p:cNvPr id="4" name="Slide Number Placeholder 4"/>
          <p:cNvSpPr>
            <a:spLocks noGrp="1"/>
          </p:cNvSpPr>
          <p:nvPr>
            <p:ph type="sldNum" sz="quarter" idx="12"/>
          </p:nvPr>
        </p:nvSpPr>
        <p:spPr bwMode="auto">
          <a:effectLst>
            <a:outerShdw blurRad="50800" dist="38100" dir="2700000" algn="tl" rotWithShape="0">
              <a:srgbClr val="808080">
                <a:alpha val="39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effectLst>
                  <a:outerShdw blurRad="38100" dist="38100" dir="2700000" algn="tl">
                    <a:srgbClr val="C0C0C0"/>
                  </a:outerShdw>
                </a:effectLst>
              </a:defRPr>
            </a:lvl1pPr>
          </a:lstStyle>
          <a:p>
            <a:fld id="{5973CD34-8FE9-4BBE-90F6-16D98032EFFC}" type="slidenum">
              <a:rPr lang="en-US" altLang="en-US"/>
              <a:pPr/>
              <a:t>‹#›</a:t>
            </a:fld>
            <a:endParaRPr lang="en-US" altLang="en-US"/>
          </a:p>
        </p:txBody>
      </p:sp>
    </p:spTree>
    <p:extLst>
      <p:ext uri="{BB962C8B-B14F-4D97-AF65-F5344CB8AC3E}">
        <p14:creationId xmlns:p14="http://schemas.microsoft.com/office/powerpoint/2010/main" val="16866810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asic Slide">
    <p:spTree>
      <p:nvGrpSpPr>
        <p:cNvPr id="1" name="Shape 11"/>
        <p:cNvGrpSpPr/>
        <p:nvPr/>
      </p:nvGrpSpPr>
      <p:grpSpPr>
        <a:xfrm>
          <a:off x="0" y="0"/>
          <a:ext cx="0" cy="0"/>
          <a:chOff x="0" y="0"/>
          <a:chExt cx="0" cy="0"/>
        </a:xfrm>
      </p:grpSpPr>
      <p:sp>
        <p:nvSpPr>
          <p:cNvPr id="12" name="Shape 12"/>
          <p:cNvSpPr txBox="1">
            <a:spLocks noGrp="1"/>
          </p:cNvSpPr>
          <p:nvPr>
            <p:ph type="title"/>
          </p:nvPr>
        </p:nvSpPr>
        <p:spPr>
          <a:xfrm>
            <a:off x="812241" y="228600"/>
            <a:ext cx="10363200" cy="1143000"/>
          </a:xfrm>
          <a:prstGeom prst="rect">
            <a:avLst/>
          </a:prstGeom>
          <a:noFill/>
          <a:ln>
            <a:noFill/>
          </a:ln>
        </p:spPr>
        <p:txBody>
          <a:bodyPr lIns="117825" tIns="117825" rIns="117825" bIns="117825" anchor="ctr" anchorCtr="0"/>
          <a:lstStyle>
            <a:lvl1pPr marL="0" marR="0" indent="0" algn="ctr" rtl="0">
              <a:lnSpc>
                <a:spcPct val="150000"/>
              </a:lnSpc>
              <a:spcBef>
                <a:spcPts val="0"/>
              </a:spcBef>
              <a:spcAft>
                <a:spcPts val="0"/>
              </a:spcAft>
              <a:buClr>
                <a:srgbClr val="9B37AA"/>
              </a:buClr>
              <a:buSzPct val="100000"/>
              <a:buFont typeface="Gloria Hallelujah"/>
              <a:buChar char="●"/>
              <a:defRPr sz="4000" b="1">
                <a:solidFill>
                  <a:srgbClr val="9B37AA"/>
                </a:solidFill>
                <a:latin typeface="Gloria Hallelujah"/>
                <a:ea typeface="Gloria Hallelujah"/>
                <a:cs typeface="Gloria Hallelujah"/>
                <a:sym typeface="Gloria Hallelujah"/>
              </a:defRPr>
            </a:lvl1pPr>
            <a:lvl2pPr marL="0" marR="0" indent="0" algn="l" rtl="0">
              <a:lnSpc>
                <a:spcPct val="150000"/>
              </a:lnSpc>
              <a:spcBef>
                <a:spcPts val="0"/>
              </a:spcBef>
              <a:spcAft>
                <a:spcPts val="0"/>
              </a:spcAft>
              <a:buSzPct val="100000"/>
              <a:buChar char="○"/>
              <a:defRPr sz="4000"/>
            </a:lvl2pPr>
            <a:lvl3pPr marL="0" marR="0" indent="0" algn="l" rtl="0">
              <a:lnSpc>
                <a:spcPct val="150000"/>
              </a:lnSpc>
              <a:spcBef>
                <a:spcPts val="0"/>
              </a:spcBef>
              <a:spcAft>
                <a:spcPts val="0"/>
              </a:spcAft>
              <a:buSzPct val="100000"/>
              <a:buChar char="■"/>
              <a:defRPr sz="4000"/>
            </a:lvl3pPr>
            <a:lvl4pPr marL="0" marR="0" indent="0" algn="l" rtl="0">
              <a:lnSpc>
                <a:spcPct val="150000"/>
              </a:lnSpc>
              <a:spcBef>
                <a:spcPts val="0"/>
              </a:spcBef>
              <a:spcAft>
                <a:spcPts val="0"/>
              </a:spcAft>
              <a:buSzPct val="100000"/>
              <a:buChar char="●"/>
              <a:defRPr sz="4000"/>
            </a:lvl4pPr>
            <a:lvl5pPr marL="0" marR="0" indent="0" algn="l" rtl="0">
              <a:lnSpc>
                <a:spcPct val="150000"/>
              </a:lnSpc>
              <a:spcBef>
                <a:spcPts val="0"/>
              </a:spcBef>
              <a:spcAft>
                <a:spcPts val="0"/>
              </a:spcAft>
              <a:buSzPct val="100000"/>
              <a:buChar char="○"/>
              <a:defRPr sz="4000"/>
            </a:lvl5pPr>
            <a:lvl6pPr marL="596900" marR="0" indent="0" algn="l" rtl="0">
              <a:lnSpc>
                <a:spcPct val="150000"/>
              </a:lnSpc>
              <a:spcBef>
                <a:spcPts val="0"/>
              </a:spcBef>
              <a:spcAft>
                <a:spcPts val="0"/>
              </a:spcAft>
              <a:buSzPct val="100000"/>
              <a:buChar char="■"/>
              <a:defRPr sz="4000"/>
            </a:lvl6pPr>
            <a:lvl7pPr marL="1181100" marR="0" indent="0" algn="l" rtl="0">
              <a:lnSpc>
                <a:spcPct val="150000"/>
              </a:lnSpc>
              <a:spcBef>
                <a:spcPts val="0"/>
              </a:spcBef>
              <a:spcAft>
                <a:spcPts val="0"/>
              </a:spcAft>
              <a:buSzPct val="100000"/>
              <a:buChar char="●"/>
              <a:defRPr sz="4000"/>
            </a:lvl7pPr>
            <a:lvl8pPr marL="1765300" marR="0" indent="0" algn="l" rtl="0">
              <a:lnSpc>
                <a:spcPct val="150000"/>
              </a:lnSpc>
              <a:spcBef>
                <a:spcPts val="0"/>
              </a:spcBef>
              <a:spcAft>
                <a:spcPts val="0"/>
              </a:spcAft>
              <a:buSzPct val="100000"/>
              <a:buChar char="○"/>
              <a:defRPr sz="4000"/>
            </a:lvl8pPr>
            <a:lvl9pPr marL="2349500" marR="0" indent="0" algn="l" rtl="0">
              <a:lnSpc>
                <a:spcPct val="150000"/>
              </a:lnSpc>
              <a:spcBef>
                <a:spcPts val="0"/>
              </a:spcBef>
              <a:spcAft>
                <a:spcPts val="0"/>
              </a:spcAft>
              <a:buSzPct val="100000"/>
              <a:buChar char="■"/>
              <a:defRPr sz="4000"/>
            </a:lvl9pPr>
          </a:lstStyle>
          <a:p>
            <a:endParaRPr/>
          </a:p>
        </p:txBody>
      </p:sp>
      <p:sp>
        <p:nvSpPr>
          <p:cNvPr id="13" name="Shape 13"/>
          <p:cNvSpPr txBox="1">
            <a:spLocks noGrp="1"/>
          </p:cNvSpPr>
          <p:nvPr>
            <p:ph type="body" idx="1"/>
          </p:nvPr>
        </p:nvSpPr>
        <p:spPr>
          <a:xfrm>
            <a:off x="812241" y="1371602"/>
            <a:ext cx="10363200" cy="4904699"/>
          </a:xfrm>
          <a:prstGeom prst="rect">
            <a:avLst/>
          </a:prstGeom>
          <a:noFill/>
          <a:ln>
            <a:noFill/>
          </a:ln>
        </p:spPr>
        <p:txBody>
          <a:bodyPr lIns="117825" tIns="117825" rIns="117825" bIns="117825" anchor="t" anchorCtr="0"/>
          <a:lstStyle>
            <a:lvl1pPr marL="444500" marR="0" indent="-254000" algn="l" rtl="0">
              <a:lnSpc>
                <a:spcPct val="150000"/>
              </a:lnSpc>
              <a:spcBef>
                <a:spcPts val="800"/>
              </a:spcBef>
              <a:spcAft>
                <a:spcPts val="0"/>
              </a:spcAft>
              <a:buSzPct val="100000"/>
              <a:buFont typeface="Gloria Hallelujah"/>
              <a:buChar char="●"/>
              <a:defRPr sz="2700">
                <a:latin typeface="Gloria Hallelujah"/>
                <a:ea typeface="Gloria Hallelujah"/>
                <a:cs typeface="Gloria Hallelujah"/>
                <a:sym typeface="Gloria Hallelujah"/>
              </a:defRPr>
            </a:lvl1pPr>
            <a:lvl2pPr marL="952500" marR="0" indent="-190500" algn="l" rtl="0">
              <a:lnSpc>
                <a:spcPct val="150000"/>
              </a:lnSpc>
              <a:spcBef>
                <a:spcPts val="700"/>
              </a:spcBef>
              <a:spcAft>
                <a:spcPts val="0"/>
              </a:spcAft>
              <a:buSzPct val="100000"/>
              <a:buFont typeface="Gloria Hallelujah"/>
              <a:buChar char="●"/>
              <a:defRPr sz="2700">
                <a:latin typeface="Gloria Hallelujah"/>
                <a:ea typeface="Gloria Hallelujah"/>
                <a:cs typeface="Gloria Hallelujah"/>
                <a:sym typeface="Gloria Hallelujah"/>
              </a:defRPr>
            </a:lvl2pPr>
            <a:lvl3pPr marL="1473200" marR="0" indent="-165100" algn="l" rtl="0">
              <a:lnSpc>
                <a:spcPct val="150000"/>
              </a:lnSpc>
              <a:spcBef>
                <a:spcPts val="600"/>
              </a:spcBef>
              <a:spcAft>
                <a:spcPts val="0"/>
              </a:spcAft>
              <a:buSzPct val="100000"/>
              <a:buFont typeface="Gloria Hallelujah"/>
              <a:buChar char="●"/>
              <a:defRPr sz="2700">
                <a:latin typeface="Gloria Hallelujah"/>
                <a:ea typeface="Gloria Hallelujah"/>
                <a:cs typeface="Gloria Hallelujah"/>
                <a:sym typeface="Gloria Hallelujah"/>
              </a:defRPr>
            </a:lvl3pPr>
            <a:lvl4pPr marL="2070100" marR="0" indent="-1397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4pPr>
            <a:lvl5pPr marL="26543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5pPr>
            <a:lvl6pPr marL="32385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6pPr>
            <a:lvl7pPr marL="38227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7pPr>
            <a:lvl8pPr marL="4419600" marR="0" indent="-1270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8pPr>
            <a:lvl9pPr marL="5016500" marR="0" indent="-139700" algn="l" rtl="0">
              <a:lnSpc>
                <a:spcPct val="150000"/>
              </a:lnSpc>
              <a:spcBef>
                <a:spcPts val="500"/>
              </a:spcBef>
              <a:spcAft>
                <a:spcPts val="0"/>
              </a:spcAft>
              <a:buSzPct val="100000"/>
              <a:buFont typeface="Gloria Hallelujah"/>
              <a:buChar char="–"/>
              <a:defRPr sz="2700">
                <a:latin typeface="Gloria Hallelujah"/>
                <a:ea typeface="Gloria Hallelujah"/>
                <a:cs typeface="Gloria Hallelujah"/>
                <a:sym typeface="Gloria Hallelujah"/>
              </a:defRPr>
            </a:lvl9pPr>
          </a:lstStyle>
          <a:p>
            <a:endParaRPr/>
          </a:p>
        </p:txBody>
      </p:sp>
    </p:spTree>
    <p:extLst>
      <p:ext uri="{BB962C8B-B14F-4D97-AF65-F5344CB8AC3E}">
        <p14:creationId xmlns:p14="http://schemas.microsoft.com/office/powerpoint/2010/main" val="1730931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14400"/>
            <a:ext cx="867833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ltLang="en-US" smtClean="0"/>
              <a:t>Click to edit Master title style</a:t>
            </a:r>
          </a:p>
        </p:txBody>
      </p:sp>
      <p:sp>
        <p:nvSpPr>
          <p:cNvPr id="1027" name="Text Placeholder 2"/>
          <p:cNvSpPr>
            <a:spLocks noGrp="1"/>
          </p:cNvSpPr>
          <p:nvPr>
            <p:ph type="body" idx="1"/>
          </p:nvPr>
        </p:nvSpPr>
        <p:spPr bwMode="auto">
          <a:xfrm>
            <a:off x="609600" y="2209801"/>
            <a:ext cx="8678333" cy="3916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9599084"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latin typeface="Arial" charset="0"/>
                <a:ea typeface="ＭＳ Ｐゴシック" charset="0"/>
                <a:cs typeface="ＭＳ Ｐゴシック" charset="0"/>
              </a:defRPr>
            </a:lvl1pPr>
          </a:lstStyle>
          <a:p>
            <a:pPr>
              <a:defRPr/>
            </a:pPr>
            <a:endParaRPr lang="en-US"/>
          </a:p>
        </p:txBody>
      </p:sp>
      <p:sp>
        <p:nvSpPr>
          <p:cNvPr id="5" name="Footer Placeholder 4"/>
          <p:cNvSpPr>
            <a:spLocks noGrp="1"/>
          </p:cNvSpPr>
          <p:nvPr>
            <p:ph type="ftr" sz="quarter" idx="3"/>
          </p:nvPr>
        </p:nvSpPr>
        <p:spPr>
          <a:xfrm>
            <a:off x="23283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p:cNvSpPr>
            <a:spLocks noGrp="1"/>
          </p:cNvSpPr>
          <p:nvPr>
            <p:ph type="sldNum" sz="quarter" idx="4"/>
          </p:nvPr>
        </p:nvSpPr>
        <p:spPr>
          <a:xfrm>
            <a:off x="11008784" y="360364"/>
            <a:ext cx="675216" cy="365125"/>
          </a:xfrm>
          <a:prstGeom prst="rect">
            <a:avLst/>
          </a:prstGeom>
        </p:spPr>
        <p:txBody>
          <a:bodyPr vert="horz" wrap="square" lIns="91440" tIns="45720" rIns="91440" bIns="45720" numCol="1" anchor="ctr" anchorCtr="0" compatLnSpc="1">
            <a:prstTxWarp prst="textNoShape">
              <a:avLst/>
            </a:prstTxWarp>
          </a:bodyPr>
          <a:lstStyle>
            <a:lvl1pPr algn="r">
              <a:defRPr sz="2200" b="1">
                <a:solidFill>
                  <a:schemeClr val="bg1"/>
                </a:solidFill>
              </a:defRPr>
            </a:lvl1pPr>
          </a:lstStyle>
          <a:p>
            <a:fld id="{EEFF2D9C-B317-4185-973B-0D0EEF2C41B8}" type="slidenum">
              <a:rPr lang="en-US" altLang="en-US"/>
              <a:pPr/>
              <a:t>‹#›</a:t>
            </a:fld>
            <a:endParaRPr lang="en-US" altLang="en-US"/>
          </a:p>
        </p:txBody>
      </p:sp>
    </p:spTree>
    <p:extLst>
      <p:ext uri="{BB962C8B-B14F-4D97-AF65-F5344CB8AC3E}">
        <p14:creationId xmlns:p14="http://schemas.microsoft.com/office/powerpoint/2010/main" val="270155760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Lst>
  <p:txStyles>
    <p:titleStyle>
      <a:lvl1pPr algn="l" rtl="0" eaLnBrk="0" fontAlgn="base" hangingPunct="0">
        <a:spcBef>
          <a:spcPct val="0"/>
        </a:spcBef>
        <a:spcAft>
          <a:spcPct val="0"/>
        </a:spcAft>
        <a:defRPr sz="3600" kern="1200">
          <a:solidFill>
            <a:schemeClr val="accent1"/>
          </a:solidFill>
          <a:latin typeface="+mj-lt"/>
          <a:ea typeface="MS PGothic" panose="020B0600070205080204" pitchFamily="34" charset="-128"/>
          <a:cs typeface="ＭＳ Ｐゴシック" charset="0"/>
        </a:defRPr>
      </a:lvl1pPr>
      <a:lvl2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2pPr>
      <a:lvl3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3pPr>
      <a:lvl4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4pPr>
      <a:lvl5pPr algn="l" rtl="0" eaLnBrk="0" fontAlgn="base" hangingPunct="0">
        <a:spcBef>
          <a:spcPct val="0"/>
        </a:spcBef>
        <a:spcAft>
          <a:spcPct val="0"/>
        </a:spcAft>
        <a:defRPr sz="3600">
          <a:solidFill>
            <a:schemeClr val="accent1"/>
          </a:solidFill>
          <a:latin typeface="Century Gothic" charset="0"/>
          <a:ea typeface="MS PGothic" panose="020B0600070205080204" pitchFamily="34" charset="-128"/>
          <a:cs typeface="ＭＳ Ｐゴシック" charset="0"/>
        </a:defRPr>
      </a:lvl5pPr>
      <a:lvl6pPr marL="4572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6pPr>
      <a:lvl7pPr marL="9144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7pPr>
      <a:lvl8pPr marL="13716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8pPr>
      <a:lvl9pPr marL="1828800" algn="l" rtl="0" fontAlgn="base">
        <a:spcBef>
          <a:spcPct val="0"/>
        </a:spcBef>
        <a:spcAft>
          <a:spcPct val="0"/>
        </a:spcAft>
        <a:defRPr sz="3600">
          <a:solidFill>
            <a:schemeClr val="accent1"/>
          </a:solidFill>
          <a:latin typeface="Century Gothic" charset="0"/>
          <a:ea typeface="ＭＳ Ｐゴシック" charset="0"/>
          <a:cs typeface="ＭＳ Ｐゴシック" charset="0"/>
        </a:defRPr>
      </a:lvl9pPr>
    </p:titleStyle>
    <p:bodyStyle>
      <a:lvl1pPr marL="228600" indent="-228600" algn="l" rtl="0" eaLnBrk="0" fontAlgn="base" hangingPunct="0">
        <a:spcBef>
          <a:spcPts val="1800"/>
        </a:spcBef>
        <a:spcAft>
          <a:spcPct val="0"/>
        </a:spcAft>
        <a:buClr>
          <a:schemeClr val="accent1"/>
        </a:buClr>
        <a:buSzPct val="100000"/>
        <a:buFont typeface="Wingdings 2" panose="05020102010507070707" pitchFamily="18" charset="2"/>
        <a:buChar char="¡"/>
        <a:defRPr sz="2000" kern="1200">
          <a:solidFill>
            <a:schemeClr val="tx2"/>
          </a:solidFill>
          <a:latin typeface="+mn-lt"/>
          <a:ea typeface="MS PGothic" panose="020B0600070205080204" pitchFamily="34" charset="-128"/>
          <a:cs typeface="ＭＳ Ｐゴシック" charset="0"/>
        </a:defRPr>
      </a:lvl1pPr>
      <a:lvl2pPr marL="457200" indent="-228600" algn="l" rtl="0" eaLnBrk="0" fontAlgn="base" hangingPunct="0">
        <a:spcBef>
          <a:spcPts val="600"/>
        </a:spcBef>
        <a:spcAft>
          <a:spcPct val="0"/>
        </a:spcAft>
        <a:buClr>
          <a:srgbClr val="4D0000"/>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2pPr>
      <a:lvl3pPr marL="6858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3pPr>
      <a:lvl4pPr marL="914400" indent="-228600" algn="l" rtl="0" eaLnBrk="0" fontAlgn="base" hangingPunct="0">
        <a:spcBef>
          <a:spcPts val="600"/>
        </a:spcBef>
        <a:spcAft>
          <a:spcPct val="0"/>
        </a:spcAft>
        <a:buClr>
          <a:srgbClr val="4D0000"/>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4pPr>
      <a:lvl5pPr marL="1143000" indent="-228600" algn="l" rtl="0" eaLnBrk="0" fontAlgn="base" hangingPunct="0">
        <a:spcBef>
          <a:spcPts val="600"/>
        </a:spcBef>
        <a:spcAft>
          <a:spcPct val="0"/>
        </a:spcAft>
        <a:buClr>
          <a:schemeClr val="accent1"/>
        </a:buClr>
        <a:buSzPct val="100000"/>
        <a:buFont typeface="Wingdings 2" panose="05020102010507070707" pitchFamily="18" charset="2"/>
        <a:buChar char="¡"/>
        <a:defRPr kern="1200">
          <a:solidFill>
            <a:schemeClr val="tx2"/>
          </a:solidFill>
          <a:latin typeface="+mn-lt"/>
          <a:ea typeface="MS PGothic" panose="020B0600070205080204" pitchFamily="34" charset="-128"/>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w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d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2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21.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0.xml"/><Relationship Id="rId1" Type="http://schemas.openxmlformats.org/officeDocument/2006/relationships/slideLayout" Target="../slideLayouts/slideLayout21.xml"/></Relationships>
</file>

<file path=ppt/slides/_rels/slide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1.xml"/><Relationship Id="rId1" Type="http://schemas.openxmlformats.org/officeDocument/2006/relationships/slideLayout" Target="../slideLayouts/slideLayout21.xml"/></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21.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3.xml"/><Relationship Id="rId1" Type="http://schemas.openxmlformats.org/officeDocument/2006/relationships/slideLayout" Target="../slideLayouts/slideLayout21.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21.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21.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ctrTitle"/>
          </p:nvPr>
        </p:nvSpPr>
        <p:spPr>
          <a:xfrm>
            <a:off x="4727576" y="4508500"/>
            <a:ext cx="5459413" cy="1049338"/>
          </a:xfrm>
        </p:spPr>
        <p:txBody>
          <a:bodyPr>
            <a:noAutofit/>
          </a:bodyPr>
          <a:lstStyle/>
          <a:p>
            <a:pPr fontAlgn="auto">
              <a:spcBef>
                <a:spcPts val="0"/>
              </a:spcBef>
              <a:spcAft>
                <a:spcPts val="0"/>
              </a:spcAft>
              <a:defRPr/>
            </a:pPr>
            <a:r>
              <a:rPr lang="en-US" sz="4400" b="1" dirty="0" smtClean="0">
                <a:solidFill>
                  <a:srgbClr val="002060"/>
                </a:solidFill>
                <a:ea typeface="+mn-ea"/>
                <a:cs typeface="+mn-cs"/>
              </a:rPr>
              <a:t>Intrusion Detection Systems</a:t>
            </a:r>
            <a:endParaRPr lang="en-US" sz="4400" b="1" dirty="0">
              <a:solidFill>
                <a:srgbClr val="002060"/>
              </a:solidFill>
              <a:ea typeface="+mn-ea"/>
              <a:cs typeface="+mn-cs"/>
            </a:endParaRPr>
          </a:p>
        </p:txBody>
      </p:sp>
    </p:spTree>
    <p:extLst>
      <p:ext uri="{BB962C8B-B14F-4D97-AF65-F5344CB8AC3E}">
        <p14:creationId xmlns:p14="http://schemas.microsoft.com/office/powerpoint/2010/main" val="50460746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a:xfrm>
            <a:off x="499872" y="360364"/>
            <a:ext cx="9518848" cy="1143000"/>
          </a:xfrm>
        </p:spPr>
        <p:txBody>
          <a:bodyPr/>
          <a:lstStyle/>
          <a:p>
            <a:pPr eaLnBrk="1" hangingPunct="1">
              <a:defRPr/>
            </a:pPr>
            <a:r>
              <a:rPr lang="en-US" altLang="en-US" dirty="0"/>
              <a:t>First Line of Defense: The Firewall</a:t>
            </a:r>
          </a:p>
        </p:txBody>
      </p:sp>
      <p:sp>
        <p:nvSpPr>
          <p:cNvPr id="16388" name="Rectangle 3"/>
          <p:cNvSpPr>
            <a:spLocks noGrp="1" noChangeArrowheads="1"/>
          </p:cNvSpPr>
          <p:nvPr>
            <p:ph idx="1"/>
          </p:nvPr>
        </p:nvSpPr>
        <p:spPr/>
        <p:txBody>
          <a:bodyPr>
            <a:normAutofit fontScale="92500"/>
          </a:bodyPr>
          <a:lstStyle/>
          <a:p>
            <a:pPr algn="just" eaLnBrk="1" hangingPunct="1"/>
            <a:r>
              <a:rPr lang="en-US" altLang="en-US" dirty="0" smtClean="0">
                <a:ea typeface="ＭＳ Ｐゴシック" pitchFamily="34" charset="-128"/>
              </a:rPr>
              <a:t>Primary means of securing a private network against penetration from a public network</a:t>
            </a:r>
          </a:p>
          <a:p>
            <a:pPr algn="just" eaLnBrk="1" hangingPunct="1"/>
            <a:r>
              <a:rPr lang="en-US" altLang="en-US" dirty="0" smtClean="0">
                <a:ea typeface="ＭＳ Ｐゴシック" pitchFamily="34" charset="-128"/>
              </a:rPr>
              <a:t>An access control device, performing perimeter security by deciding which packets are allowed or denied, and which must be modified before passing</a:t>
            </a:r>
          </a:p>
          <a:p>
            <a:pPr algn="just" eaLnBrk="1" hangingPunct="1"/>
            <a:r>
              <a:rPr lang="en-US" altLang="en-US" dirty="0" smtClean="0">
                <a:ea typeface="ＭＳ Ｐゴシック" pitchFamily="34" charset="-128"/>
              </a:rPr>
              <a:t>Core of enterprise’s comprehensive security policy</a:t>
            </a:r>
          </a:p>
          <a:p>
            <a:pPr algn="just" eaLnBrk="1" hangingPunct="1"/>
            <a:r>
              <a:rPr lang="en-US" altLang="en-US" dirty="0" smtClean="0">
                <a:ea typeface="ＭＳ Ｐゴシック" pitchFamily="34" charset="-128"/>
              </a:rPr>
              <a:t>Can monitor all traffic entering and leaving the private network, and alert the IT staff to any attempts to circumvent security or patterns of inappropriate use</a:t>
            </a:r>
          </a:p>
          <a:p>
            <a:pPr algn="just" eaLnBrk="1" hangingPunct="1"/>
            <a:r>
              <a:rPr lang="en-US" altLang="en-US" dirty="0" smtClean="0">
                <a:ea typeface="ＭＳ Ｐゴシック" pitchFamily="34" charset="-128"/>
              </a:rPr>
              <a:t>Cryptographic measures along with Firewalls (Intrusion Prevention Systems) provide the first line of defense</a:t>
            </a:r>
          </a:p>
          <a:p>
            <a:pPr eaLnBrk="1" hangingPunct="1"/>
            <a:endParaRPr lang="en-US" altLang="en-US" dirty="0" smtClean="0">
              <a:ea typeface="ＭＳ Ｐゴシック" pitchFamily="34" charset="-128"/>
            </a:endParaRPr>
          </a:p>
          <a:p>
            <a:pPr eaLnBrk="1" hangingPunct="1"/>
            <a:endParaRPr lang="en-US" altLang="en-US" dirty="0" smtClean="0">
              <a:ea typeface="ＭＳ Ｐゴシック" pitchFamily="34" charset="-128"/>
            </a:endParaRPr>
          </a:p>
          <a:p>
            <a:pPr eaLnBrk="1" hangingPunct="1"/>
            <a:endParaRPr lang="en-US" altLang="en-US" dirty="0" smtClean="0">
              <a:ea typeface="ＭＳ Ｐゴシック" pitchFamily="34" charset="-128"/>
            </a:endParaRPr>
          </a:p>
          <a:p>
            <a:pPr eaLnBrk="1" hangingPunct="1"/>
            <a:endParaRPr lang="en-US" altLang="en-US" dirty="0" smtClean="0">
              <a:ea typeface="ＭＳ Ｐゴシック" pitchFamily="34" charset="-128"/>
            </a:endParaRPr>
          </a:p>
        </p:txBody>
      </p:sp>
      <p:sp>
        <p:nvSpPr>
          <p:cNvPr id="16386" name="Slide Number Placeholder 5"/>
          <p:cNvSpPr>
            <a:spLocks noGrp="1"/>
          </p:cNvSpPr>
          <p:nvPr>
            <p:ph type="sldNum" sz="quarter" idx="12"/>
          </p:nvPr>
        </p:nvSpPr>
        <p:spPr bwMode="auto">
          <a:prstGeom prst="rect">
            <a:avLst/>
          </a:pr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hangingPunct="0">
              <a:spcBef>
                <a:spcPct val="20000"/>
              </a:spcBef>
              <a:buClr>
                <a:schemeClr val="accent1"/>
              </a:buClr>
              <a:buFont typeface="Arial" pitchFamily="34" charset="0"/>
              <a:buChar char="•"/>
              <a:defRPr sz="2200">
                <a:solidFill>
                  <a:schemeClr val="tx1"/>
                </a:solidFill>
                <a:latin typeface="Calibri" pitchFamily="34" charset="0"/>
                <a:ea typeface="ＭＳ Ｐゴシック" pitchFamily="34" charset="-128"/>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ea typeface="ＭＳ Ｐゴシック" pitchFamily="34" charset="-128"/>
              </a:defRPr>
            </a:lvl2pPr>
            <a:lvl3pPr marL="1143000" indent="-228600" eaLnBrk="0" hangingPunct="0">
              <a:spcBef>
                <a:spcPct val="20000"/>
              </a:spcBef>
              <a:buClr>
                <a:srgbClr val="9BBB59"/>
              </a:buClr>
              <a:buFont typeface="Arial" pitchFamily="34" charset="0"/>
              <a:buChar char="•"/>
              <a:defRPr>
                <a:solidFill>
                  <a:schemeClr val="tx1"/>
                </a:solidFill>
                <a:latin typeface="Calibri" pitchFamily="34" charset="0"/>
                <a:ea typeface="ＭＳ Ｐゴシック" pitchFamily="34" charset="-128"/>
              </a:defRPr>
            </a:lvl3pPr>
            <a:lvl4pPr marL="1600200" indent="-228600" eaLnBrk="0" hangingPunct="0">
              <a:spcBef>
                <a:spcPct val="20000"/>
              </a:spcBef>
              <a:buClr>
                <a:srgbClr val="8064A2"/>
              </a:buClr>
              <a:buFont typeface="Arial" pitchFamily="34" charset="0"/>
              <a:buChar char="•"/>
              <a:defRPr sz="1600">
                <a:solidFill>
                  <a:schemeClr val="tx1"/>
                </a:solidFill>
                <a:latin typeface="Calibri" pitchFamily="34" charset="0"/>
                <a:ea typeface="ＭＳ Ｐゴシック" pitchFamily="34" charset="-128"/>
              </a:defRPr>
            </a:lvl4pPr>
            <a:lvl5pPr marL="2057400" indent="-228600" eaLnBrk="0" hangingPunct="0">
              <a:spcBef>
                <a:spcPct val="20000"/>
              </a:spcBef>
              <a:buClr>
                <a:srgbClr val="4BACC6"/>
              </a:buClr>
              <a:buFont typeface="Arial" pitchFamily="34" charset="0"/>
              <a:buChar char="•"/>
              <a:defRPr sz="14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9pPr>
          </a:lstStyle>
          <a:p>
            <a:pPr algn="l" eaLnBrk="1" fontAlgn="base" hangingPunct="1">
              <a:spcBef>
                <a:spcPct val="0"/>
              </a:spcBef>
              <a:spcAft>
                <a:spcPct val="0"/>
              </a:spcAft>
              <a:buClrTx/>
              <a:buFontTx/>
              <a:buNone/>
            </a:pPr>
            <a:fld id="{96151977-AD06-432E-B76D-B363B58D05E0}" type="slidenum">
              <a:rPr lang="en-US" altLang="en-US" sz="1400">
                <a:solidFill>
                  <a:schemeClr val="folHlink"/>
                </a:solidFill>
                <a:latin typeface="Times New Roman" pitchFamily="18" charset="0"/>
              </a:rPr>
              <a:pPr algn="l" eaLnBrk="1" fontAlgn="base" hangingPunct="1">
                <a:spcBef>
                  <a:spcPct val="0"/>
                </a:spcBef>
                <a:spcAft>
                  <a:spcPct val="0"/>
                </a:spcAft>
                <a:buClrTx/>
                <a:buFontTx/>
                <a:buNone/>
              </a:pPr>
              <a:t>2</a:t>
            </a:fld>
            <a:endParaRPr lang="en-US" altLang="en-US" sz="1400">
              <a:solidFill>
                <a:schemeClr val="folHlink"/>
              </a:solidFill>
              <a:latin typeface="Times New Roman" pitchFamily="18" charset="0"/>
            </a:endParaRPr>
          </a:p>
        </p:txBody>
      </p:sp>
    </p:spTree>
    <p:extLst>
      <p:ext uri="{BB962C8B-B14F-4D97-AF65-F5344CB8AC3E}">
        <p14:creationId xmlns:p14="http://schemas.microsoft.com/office/powerpoint/2010/main" val="1489842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a:xfrm>
            <a:off x="545592" y="264233"/>
            <a:ext cx="9518848" cy="1143000"/>
          </a:xfrm>
        </p:spPr>
        <p:txBody>
          <a:bodyPr/>
          <a:lstStyle/>
          <a:p>
            <a:pPr eaLnBrk="1" hangingPunct="1">
              <a:defRPr/>
            </a:pPr>
            <a:r>
              <a:rPr lang="en-US" altLang="en-US" dirty="0"/>
              <a:t>Limitations of </a:t>
            </a:r>
            <a:r>
              <a:rPr lang="en-US" altLang="en-US" dirty="0" smtClean="0"/>
              <a:t>Intrusion Prevention Systems</a:t>
            </a:r>
            <a:endParaRPr lang="en-US" altLang="en-US" dirty="0"/>
          </a:p>
        </p:txBody>
      </p:sp>
      <p:sp>
        <p:nvSpPr>
          <p:cNvPr id="17412" name="Rectangle 3"/>
          <p:cNvSpPr>
            <a:spLocks noGrp="1" noChangeArrowheads="1"/>
          </p:cNvSpPr>
          <p:nvPr>
            <p:ph idx="1"/>
          </p:nvPr>
        </p:nvSpPr>
        <p:spPr/>
        <p:txBody>
          <a:bodyPr/>
          <a:lstStyle/>
          <a:p>
            <a:pPr algn="just" eaLnBrk="1" hangingPunct="1"/>
            <a:r>
              <a:rPr lang="en-US" altLang="en-US" dirty="0" smtClean="0">
                <a:ea typeface="ＭＳ Ｐゴシック" pitchFamily="34" charset="-128"/>
              </a:rPr>
              <a:t>Firewall </a:t>
            </a:r>
            <a:r>
              <a:rPr lang="en-US" altLang="en-US" dirty="0" smtClean="0">
                <a:ea typeface="ＭＳ Ｐゴシック" pitchFamily="34" charset="-128"/>
                <a:cs typeface="Times New Roman" pitchFamily="18" charset="0"/>
              </a:rPr>
              <a:t>cannot detect security breaches associated with traffic</a:t>
            </a:r>
            <a:r>
              <a:rPr lang="en-US" altLang="en-US" dirty="0" smtClean="0">
                <a:ea typeface="ＭＳ Ｐゴシック" pitchFamily="34" charset="-128"/>
              </a:rPr>
              <a:t> that does not pass through it.</a:t>
            </a:r>
          </a:p>
          <a:p>
            <a:pPr algn="just" eaLnBrk="1" hangingPunct="1"/>
            <a:r>
              <a:rPr lang="en-US" altLang="en-US" dirty="0" smtClean="0">
                <a:ea typeface="ＭＳ Ｐゴシック" pitchFamily="34" charset="-128"/>
                <a:cs typeface="Times New Roman" pitchFamily="18" charset="0"/>
              </a:rPr>
              <a:t>Not all access to the Internet occurs through the firewall.</a:t>
            </a:r>
          </a:p>
          <a:p>
            <a:pPr algn="just" eaLnBrk="1" hangingPunct="1"/>
            <a:r>
              <a:rPr lang="en-US" altLang="en-US" dirty="0" smtClean="0">
                <a:ea typeface="ＭＳ Ｐゴシック" pitchFamily="34" charset="-128"/>
                <a:cs typeface="Times New Roman" pitchFamily="18" charset="0"/>
              </a:rPr>
              <a:t>Firewall does not inspect the content of the permitted traffic</a:t>
            </a:r>
            <a:r>
              <a:rPr lang="en-US" altLang="en-US" dirty="0" smtClean="0">
                <a:ea typeface="ＭＳ Ｐゴシック" pitchFamily="34" charset="-128"/>
              </a:rPr>
              <a:t> </a:t>
            </a:r>
          </a:p>
          <a:p>
            <a:pPr algn="just" eaLnBrk="1" hangingPunct="1"/>
            <a:r>
              <a:rPr lang="en-US" altLang="en-US" dirty="0" smtClean="0">
                <a:ea typeface="ＭＳ Ｐゴシック" pitchFamily="34" charset="-128"/>
              </a:rPr>
              <a:t>Cryptographic </a:t>
            </a:r>
            <a:r>
              <a:rPr lang="en-US" altLang="en-US" dirty="0" smtClean="0">
                <a:ea typeface="ＭＳ Ｐゴシック" pitchFamily="34" charset="-128"/>
              </a:rPr>
              <a:t>measures cannot protect against insider attacks</a:t>
            </a:r>
          </a:p>
        </p:txBody>
      </p:sp>
      <p:sp>
        <p:nvSpPr>
          <p:cNvPr id="17410" name="Slide Number Placeholder 5"/>
          <p:cNvSpPr>
            <a:spLocks noGrp="1"/>
          </p:cNvSpPr>
          <p:nvPr>
            <p:ph type="sldNum" sz="quarter" idx="4294967295"/>
          </p:nvPr>
        </p:nvSpPr>
        <p:spPr bwMode="auto">
          <a:xfrm rot="16200000">
            <a:off x="9753600" y="1646238"/>
            <a:ext cx="2438400" cy="365125"/>
          </a:xfrm>
          <a:prstGeom prst="rect">
            <a:avLst/>
          </a:prstGeom>
          <a:noFill/>
          <a:ln w="9525">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lIns="91440" tIns="45720" rIns="91440" bIns="45720" rtlCol="0" anchor="ctr"/>
          <a:lstStyle>
            <a:lvl1pPr eaLnBrk="0" hangingPunct="0">
              <a:spcBef>
                <a:spcPct val="20000"/>
              </a:spcBef>
              <a:buClr>
                <a:schemeClr val="accent1"/>
              </a:buClr>
              <a:buFont typeface="Arial" pitchFamily="34" charset="0"/>
              <a:buChar char="•"/>
              <a:defRPr sz="2200">
                <a:solidFill>
                  <a:schemeClr val="tx1"/>
                </a:solidFill>
                <a:latin typeface="Calibri" pitchFamily="34" charset="0"/>
                <a:ea typeface="ＭＳ Ｐゴシック" pitchFamily="34" charset="-128"/>
              </a:defRPr>
            </a:lvl1pPr>
            <a:lvl2pPr marL="742950" indent="-285750" eaLnBrk="0" hangingPunct="0">
              <a:spcBef>
                <a:spcPct val="20000"/>
              </a:spcBef>
              <a:buClr>
                <a:schemeClr val="accent2"/>
              </a:buClr>
              <a:buFont typeface="Arial" pitchFamily="34" charset="0"/>
              <a:buChar char="•"/>
              <a:defRPr sz="2000">
                <a:solidFill>
                  <a:schemeClr val="tx1"/>
                </a:solidFill>
                <a:latin typeface="Calibri" pitchFamily="34" charset="0"/>
                <a:ea typeface="ＭＳ Ｐゴシック" pitchFamily="34" charset="-128"/>
              </a:defRPr>
            </a:lvl2pPr>
            <a:lvl3pPr marL="1143000" indent="-228600" eaLnBrk="0" hangingPunct="0">
              <a:spcBef>
                <a:spcPct val="20000"/>
              </a:spcBef>
              <a:buClr>
                <a:srgbClr val="9BBB59"/>
              </a:buClr>
              <a:buFont typeface="Arial" pitchFamily="34" charset="0"/>
              <a:buChar char="•"/>
              <a:defRPr>
                <a:solidFill>
                  <a:schemeClr val="tx1"/>
                </a:solidFill>
                <a:latin typeface="Calibri" pitchFamily="34" charset="0"/>
                <a:ea typeface="ＭＳ Ｐゴシック" pitchFamily="34" charset="-128"/>
              </a:defRPr>
            </a:lvl3pPr>
            <a:lvl4pPr marL="1600200" indent="-228600" eaLnBrk="0" hangingPunct="0">
              <a:spcBef>
                <a:spcPct val="20000"/>
              </a:spcBef>
              <a:buClr>
                <a:srgbClr val="8064A2"/>
              </a:buClr>
              <a:buFont typeface="Arial" pitchFamily="34" charset="0"/>
              <a:buChar char="•"/>
              <a:defRPr sz="1600">
                <a:solidFill>
                  <a:schemeClr val="tx1"/>
                </a:solidFill>
                <a:latin typeface="Calibri" pitchFamily="34" charset="0"/>
                <a:ea typeface="ＭＳ Ｐゴシック" pitchFamily="34" charset="-128"/>
              </a:defRPr>
            </a:lvl4pPr>
            <a:lvl5pPr marL="2057400" indent="-228600" eaLnBrk="0" hangingPunct="0">
              <a:spcBef>
                <a:spcPct val="20000"/>
              </a:spcBef>
              <a:buClr>
                <a:srgbClr val="4BACC6"/>
              </a:buClr>
              <a:buFont typeface="Arial" pitchFamily="34" charset="0"/>
              <a:buChar char="•"/>
              <a:defRPr sz="1400">
                <a:solidFill>
                  <a:schemeClr val="tx1"/>
                </a:solidFill>
                <a:latin typeface="Calibri" pitchFamily="34" charset="0"/>
                <a:ea typeface="ＭＳ Ｐゴシック" pitchFamily="34" charset="-128"/>
              </a:defRPr>
            </a:lvl5pPr>
            <a:lvl6pPr marL="25146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6pPr>
            <a:lvl7pPr marL="29718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7pPr>
            <a:lvl8pPr marL="34290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8pPr>
            <a:lvl9pPr marL="3886200" indent="-228600" eaLnBrk="0" fontAlgn="base" hangingPunct="0">
              <a:spcBef>
                <a:spcPct val="20000"/>
              </a:spcBef>
              <a:spcAft>
                <a:spcPct val="0"/>
              </a:spcAft>
              <a:buClr>
                <a:srgbClr val="4BACC6"/>
              </a:buClr>
              <a:buFont typeface="Arial" pitchFamily="34" charset="0"/>
              <a:buChar char="•"/>
              <a:defRPr sz="1400">
                <a:solidFill>
                  <a:schemeClr val="tx1"/>
                </a:solidFill>
                <a:latin typeface="Calibri" pitchFamily="34" charset="0"/>
                <a:ea typeface="ＭＳ Ｐゴシック" pitchFamily="34" charset="-128"/>
              </a:defRPr>
            </a:lvl9pPr>
          </a:lstStyle>
          <a:p>
            <a:pPr algn="l" eaLnBrk="1" fontAlgn="base" hangingPunct="1">
              <a:spcBef>
                <a:spcPct val="0"/>
              </a:spcBef>
              <a:spcAft>
                <a:spcPct val="0"/>
              </a:spcAft>
              <a:buClrTx/>
              <a:buFontTx/>
              <a:buNone/>
            </a:pPr>
            <a:fld id="{38F6CB4D-63BC-42E1-A58A-68513303823B}" type="slidenum">
              <a:rPr lang="en-US" altLang="en-US" sz="1400">
                <a:solidFill>
                  <a:schemeClr val="folHlink"/>
                </a:solidFill>
                <a:latin typeface="Times New Roman" pitchFamily="18" charset="0"/>
              </a:rPr>
              <a:pPr algn="l" eaLnBrk="1" fontAlgn="base" hangingPunct="1">
                <a:spcBef>
                  <a:spcPct val="0"/>
                </a:spcBef>
                <a:spcAft>
                  <a:spcPct val="0"/>
                </a:spcAft>
                <a:buClrTx/>
                <a:buFontTx/>
                <a:buNone/>
              </a:pPr>
              <a:t>3</a:t>
            </a:fld>
            <a:endParaRPr lang="en-US" altLang="en-US" sz="1400">
              <a:solidFill>
                <a:schemeClr val="folHlink"/>
              </a:solidFill>
              <a:latin typeface="Times New Roman" pitchFamily="18" charset="0"/>
            </a:endParaRPr>
          </a:p>
        </p:txBody>
      </p:sp>
    </p:spTree>
    <p:extLst>
      <p:ext uri="{BB962C8B-B14F-4D97-AF65-F5344CB8AC3E}">
        <p14:creationId xmlns:p14="http://schemas.microsoft.com/office/powerpoint/2010/main" val="49500982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90" name="Rectangle 2"/>
          <p:cNvSpPr>
            <a:spLocks noGrp="1" noChangeArrowheads="1"/>
          </p:cNvSpPr>
          <p:nvPr>
            <p:ph type="title"/>
          </p:nvPr>
        </p:nvSpPr>
        <p:spPr>
          <a:xfrm>
            <a:off x="623392" y="346350"/>
            <a:ext cx="9518848" cy="1143000"/>
          </a:xfrm>
        </p:spPr>
        <p:txBody>
          <a:bodyPr/>
          <a:lstStyle/>
          <a:p>
            <a:r>
              <a:rPr lang="en-US" dirty="0" smtClean="0"/>
              <a:t>Insider Attacks</a:t>
            </a:r>
            <a:endParaRPr lang="en-US" dirty="0"/>
          </a:p>
        </p:txBody>
      </p:sp>
      <p:sp>
        <p:nvSpPr>
          <p:cNvPr id="217091" name="Rectangle 3"/>
          <p:cNvSpPr>
            <a:spLocks noGrp="1" noChangeArrowheads="1"/>
          </p:cNvSpPr>
          <p:nvPr>
            <p:ph idx="1"/>
          </p:nvPr>
        </p:nvSpPr>
        <p:spPr/>
        <p:txBody>
          <a:bodyPr>
            <a:normAutofit/>
          </a:bodyPr>
          <a:lstStyle/>
          <a:p>
            <a:r>
              <a:rPr lang="en-US" dirty="0" smtClean="0">
                <a:solidFill>
                  <a:schemeClr val="tx2">
                    <a:lumMod val="10000"/>
                  </a:schemeClr>
                </a:solidFill>
              </a:rPr>
              <a:t>Among the most difficult to detect and prevent</a:t>
            </a:r>
          </a:p>
          <a:p>
            <a:r>
              <a:rPr lang="en-US" dirty="0" smtClean="0">
                <a:solidFill>
                  <a:schemeClr val="tx2">
                    <a:lumMod val="10000"/>
                  </a:schemeClr>
                </a:solidFill>
              </a:rPr>
              <a:t>Can be motivated by revenge or simply a feeling of entitlement</a:t>
            </a:r>
          </a:p>
          <a:p>
            <a:r>
              <a:rPr lang="en-US" dirty="0" smtClean="0">
                <a:solidFill>
                  <a:schemeClr val="tx2">
                    <a:lumMod val="10000"/>
                  </a:schemeClr>
                </a:solidFill>
              </a:rPr>
              <a:t>Example: Kenneth Patterson</a:t>
            </a:r>
          </a:p>
          <a:p>
            <a:pPr lvl="1"/>
            <a:r>
              <a:rPr lang="en-US" dirty="0" smtClean="0">
                <a:solidFill>
                  <a:schemeClr val="tx2">
                    <a:lumMod val="10000"/>
                  </a:schemeClr>
                </a:solidFill>
              </a:rPr>
              <a:t>Disabled </a:t>
            </a:r>
            <a:r>
              <a:rPr lang="en-US" dirty="0">
                <a:solidFill>
                  <a:schemeClr val="tx2">
                    <a:lumMod val="10000"/>
                  </a:schemeClr>
                </a:solidFill>
              </a:rPr>
              <a:t>the company’s ability to process credit card purchases </a:t>
            </a:r>
            <a:r>
              <a:rPr lang="en-US" dirty="0" smtClean="0">
                <a:solidFill>
                  <a:schemeClr val="tx2">
                    <a:lumMod val="10000"/>
                  </a:schemeClr>
                </a:solidFill>
              </a:rPr>
              <a:t>during five </a:t>
            </a:r>
            <a:r>
              <a:rPr lang="en-US" dirty="0">
                <a:solidFill>
                  <a:schemeClr val="tx2">
                    <a:lumMod val="10000"/>
                  </a:schemeClr>
                </a:solidFill>
              </a:rPr>
              <a:t>days of the holiday season of 2002</a:t>
            </a:r>
            <a:endParaRPr lang="en-US" dirty="0" smtClean="0">
              <a:solidFill>
                <a:schemeClr val="tx2">
                  <a:lumMod val="10000"/>
                </a:schemeClr>
              </a:solidFill>
            </a:endParaRPr>
          </a:p>
        </p:txBody>
      </p:sp>
      <p:pic>
        <p:nvPicPr>
          <p:cNvPr id="5" name="Picture 4"/>
          <p:cNvPicPr>
            <a:picLocks noChangeAspect="1"/>
          </p:cNvPicPr>
          <p:nvPr/>
        </p:nvPicPr>
        <p:blipFill>
          <a:blip r:embed="rId3"/>
          <a:stretch>
            <a:fillRect/>
          </a:stretch>
        </p:blipFill>
        <p:spPr>
          <a:xfrm>
            <a:off x="8839200" y="2492896"/>
            <a:ext cx="1524000" cy="939800"/>
          </a:xfrm>
          <a:prstGeom prst="rect">
            <a:avLst/>
          </a:prstGeom>
        </p:spPr>
      </p:pic>
    </p:spTree>
    <p:extLst>
      <p:ext uri="{BB962C8B-B14F-4D97-AF65-F5344CB8AC3E}">
        <p14:creationId xmlns:p14="http://schemas.microsoft.com/office/powerpoint/2010/main" val="249877301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8" name="Rectangle 2"/>
          <p:cNvSpPr>
            <a:spLocks noGrp="1" noChangeArrowheads="1"/>
          </p:cNvSpPr>
          <p:nvPr>
            <p:ph type="title"/>
          </p:nvPr>
        </p:nvSpPr>
        <p:spPr>
          <a:xfrm>
            <a:off x="623392" y="91440"/>
            <a:ext cx="9518848" cy="1143000"/>
          </a:xfrm>
        </p:spPr>
        <p:txBody>
          <a:bodyPr/>
          <a:lstStyle/>
          <a:p>
            <a:r>
              <a:rPr lang="en-US" dirty="0">
                <a:solidFill>
                  <a:srgbClr val="C00000"/>
                </a:solidFill>
              </a:rPr>
              <a:t>Examples of Intrusion</a:t>
            </a:r>
          </a:p>
        </p:txBody>
      </p:sp>
      <p:sp>
        <p:nvSpPr>
          <p:cNvPr id="208899" name="Rectangle 3"/>
          <p:cNvSpPr>
            <a:spLocks noGrp="1" noChangeArrowheads="1"/>
          </p:cNvSpPr>
          <p:nvPr>
            <p:ph idx="1"/>
          </p:nvPr>
        </p:nvSpPr>
        <p:spPr>
          <a:xfrm>
            <a:off x="623392" y="1546497"/>
            <a:ext cx="11041227" cy="3916363"/>
          </a:xfrm>
        </p:spPr>
        <p:txBody>
          <a:bodyPr>
            <a:noAutofit/>
          </a:bodyPr>
          <a:lstStyle/>
          <a:p>
            <a:pPr>
              <a:lnSpc>
                <a:spcPct val="90000"/>
              </a:lnSpc>
              <a:buClr>
                <a:schemeClr val="accent6">
                  <a:lumMod val="60000"/>
                  <a:lumOff val="40000"/>
                </a:schemeClr>
              </a:buClr>
              <a:buSzPct val="140000"/>
            </a:pPr>
            <a:r>
              <a:rPr lang="en-US" dirty="0"/>
              <a:t>R</a:t>
            </a:r>
            <a:r>
              <a:rPr lang="en-US" dirty="0"/>
              <a:t>emote </a:t>
            </a:r>
            <a:r>
              <a:rPr lang="en-US" dirty="0"/>
              <a:t>root compromise</a:t>
            </a:r>
          </a:p>
          <a:p>
            <a:pPr>
              <a:lnSpc>
                <a:spcPct val="90000"/>
              </a:lnSpc>
              <a:buClr>
                <a:schemeClr val="accent6">
                  <a:lumMod val="60000"/>
                  <a:lumOff val="40000"/>
                </a:schemeClr>
              </a:buClr>
              <a:buSzPct val="140000"/>
            </a:pPr>
            <a:r>
              <a:rPr lang="en-US" dirty="0"/>
              <a:t>W</a:t>
            </a:r>
            <a:r>
              <a:rPr lang="en-US" dirty="0"/>
              <a:t>eb </a:t>
            </a:r>
            <a:r>
              <a:rPr lang="en-US" dirty="0"/>
              <a:t>server defacement</a:t>
            </a:r>
          </a:p>
          <a:p>
            <a:pPr>
              <a:lnSpc>
                <a:spcPct val="90000"/>
              </a:lnSpc>
              <a:buClr>
                <a:schemeClr val="accent6">
                  <a:lumMod val="60000"/>
                  <a:lumOff val="40000"/>
                </a:schemeClr>
              </a:buClr>
              <a:buSzPct val="140000"/>
            </a:pPr>
            <a:r>
              <a:rPr lang="en-US" dirty="0"/>
              <a:t>Guessing/cracking </a:t>
            </a:r>
            <a:r>
              <a:rPr lang="en-US" dirty="0"/>
              <a:t>passwords</a:t>
            </a:r>
            <a:endParaRPr lang="en-US" dirty="0"/>
          </a:p>
          <a:p>
            <a:pPr>
              <a:lnSpc>
                <a:spcPct val="90000"/>
              </a:lnSpc>
              <a:buClr>
                <a:schemeClr val="accent6">
                  <a:lumMod val="60000"/>
                  <a:lumOff val="40000"/>
                </a:schemeClr>
              </a:buClr>
              <a:buSzPct val="140000"/>
            </a:pPr>
            <a:r>
              <a:rPr lang="en-US" dirty="0"/>
              <a:t>C</a:t>
            </a:r>
            <a:r>
              <a:rPr lang="en-US" dirty="0"/>
              <a:t>opying databases containing </a:t>
            </a:r>
            <a:r>
              <a:rPr lang="en-US" dirty="0" smtClean="0"/>
              <a:t>credit card </a:t>
            </a:r>
            <a:r>
              <a:rPr lang="en-US" dirty="0"/>
              <a:t>numbers</a:t>
            </a:r>
          </a:p>
          <a:p>
            <a:pPr>
              <a:lnSpc>
                <a:spcPct val="90000"/>
              </a:lnSpc>
              <a:buClr>
                <a:schemeClr val="accent6">
                  <a:lumMod val="60000"/>
                  <a:lumOff val="40000"/>
                </a:schemeClr>
              </a:buClr>
              <a:buSzPct val="140000"/>
            </a:pPr>
            <a:r>
              <a:rPr lang="en-US" dirty="0"/>
              <a:t>V</a:t>
            </a:r>
            <a:r>
              <a:rPr lang="en-US" dirty="0"/>
              <a:t>iewing sensitive data without authorization</a:t>
            </a:r>
          </a:p>
          <a:p>
            <a:pPr>
              <a:lnSpc>
                <a:spcPct val="90000"/>
              </a:lnSpc>
              <a:buClr>
                <a:schemeClr val="accent6">
                  <a:lumMod val="60000"/>
                  <a:lumOff val="40000"/>
                </a:schemeClr>
              </a:buClr>
              <a:buSzPct val="140000"/>
            </a:pPr>
            <a:r>
              <a:rPr lang="en-US" dirty="0"/>
              <a:t>R</a:t>
            </a:r>
            <a:r>
              <a:rPr lang="en-US" dirty="0"/>
              <a:t>unning </a:t>
            </a:r>
            <a:r>
              <a:rPr lang="en-US" dirty="0"/>
              <a:t>a packet sniffer</a:t>
            </a:r>
          </a:p>
          <a:p>
            <a:pPr>
              <a:lnSpc>
                <a:spcPct val="90000"/>
              </a:lnSpc>
              <a:buClr>
                <a:schemeClr val="accent6">
                  <a:lumMod val="60000"/>
                  <a:lumOff val="40000"/>
                </a:schemeClr>
              </a:buClr>
              <a:buSzPct val="140000"/>
            </a:pPr>
            <a:r>
              <a:rPr lang="en-US" dirty="0"/>
              <a:t>D</a:t>
            </a:r>
            <a:r>
              <a:rPr lang="en-US" dirty="0"/>
              <a:t>istributing </a:t>
            </a:r>
            <a:r>
              <a:rPr lang="en-US" dirty="0"/>
              <a:t>pirated software</a:t>
            </a:r>
          </a:p>
          <a:p>
            <a:pPr>
              <a:lnSpc>
                <a:spcPct val="90000"/>
              </a:lnSpc>
              <a:buClr>
                <a:schemeClr val="accent6">
                  <a:lumMod val="60000"/>
                  <a:lumOff val="40000"/>
                </a:schemeClr>
              </a:buClr>
              <a:buSzPct val="140000"/>
            </a:pPr>
            <a:r>
              <a:rPr lang="en-US" dirty="0"/>
              <a:t>U</a:t>
            </a:r>
            <a:r>
              <a:rPr lang="en-US" dirty="0"/>
              <a:t>sing </a:t>
            </a:r>
            <a:r>
              <a:rPr lang="en-US" dirty="0"/>
              <a:t>an unsecured modem to </a:t>
            </a:r>
            <a:r>
              <a:rPr lang="en-US" dirty="0"/>
              <a:t>access internal network</a:t>
            </a:r>
          </a:p>
          <a:p>
            <a:pPr>
              <a:lnSpc>
                <a:spcPct val="90000"/>
              </a:lnSpc>
              <a:buClr>
                <a:schemeClr val="accent6">
                  <a:lumMod val="60000"/>
                  <a:lumOff val="40000"/>
                </a:schemeClr>
              </a:buClr>
              <a:buSzPct val="140000"/>
            </a:pPr>
            <a:r>
              <a:rPr lang="en-US" dirty="0"/>
              <a:t>I</a:t>
            </a:r>
            <a:r>
              <a:rPr lang="en-US" dirty="0"/>
              <a:t>mpersonating an executive to get information</a:t>
            </a:r>
          </a:p>
          <a:p>
            <a:pPr>
              <a:lnSpc>
                <a:spcPct val="90000"/>
              </a:lnSpc>
              <a:buClr>
                <a:schemeClr val="accent6">
                  <a:lumMod val="60000"/>
                  <a:lumOff val="40000"/>
                </a:schemeClr>
              </a:buClr>
              <a:buSzPct val="140000"/>
            </a:pPr>
            <a:r>
              <a:rPr lang="en-US" dirty="0"/>
              <a:t>U</a:t>
            </a:r>
            <a:r>
              <a:rPr lang="en-US" dirty="0"/>
              <a:t>sing </a:t>
            </a:r>
            <a:r>
              <a:rPr lang="en-US" dirty="0"/>
              <a:t>an unattended workstation</a:t>
            </a:r>
          </a:p>
        </p:txBody>
      </p:sp>
    </p:spTree>
    <p:extLst>
      <p:ext uri="{BB962C8B-B14F-4D97-AF65-F5344CB8AC3E}">
        <p14:creationId xmlns:p14="http://schemas.microsoft.com/office/powerpoint/2010/main" val="1094892502"/>
      </p:ext>
    </p:extLst>
  </p:cSld>
  <p:clrMapOvr>
    <a:masterClrMapping/>
  </p:clrMapOvr>
  <p:transition spd="slow"/>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7888" y="329184"/>
            <a:ext cx="9518848" cy="1143000"/>
          </a:xfrm>
        </p:spPr>
        <p:txBody>
          <a:bodyPr/>
          <a:lstStyle/>
          <a:p>
            <a:r>
              <a:rPr lang="en-US" dirty="0">
                <a:solidFill>
                  <a:srgbClr val="C00000"/>
                </a:solidFill>
              </a:rPr>
              <a:t>Intruder Behavior</a:t>
            </a:r>
          </a:p>
        </p:txBody>
      </p:sp>
      <p:graphicFrame>
        <p:nvGraphicFramePr>
          <p:cNvPr id="5" name="Content Placeholder 4"/>
          <p:cNvGraphicFramePr>
            <a:graphicFrameLocks noGrp="1"/>
          </p:cNvGraphicFramePr>
          <p:nvPr>
            <p:ph idx="1"/>
            <p:extLst/>
          </p:nvPr>
        </p:nvGraphicFramePr>
        <p:xfrm>
          <a:off x="1775520" y="1844824"/>
          <a:ext cx="8640960" cy="4536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61798772"/>
      </p:ext>
    </p:extLst>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rotWithShape="1">
          <a:blip r:embed="rId3"/>
          <a:srcRect t="3029"/>
          <a:stretch/>
        </p:blipFill>
        <p:spPr>
          <a:xfrm>
            <a:off x="1234441" y="1"/>
            <a:ext cx="5468111" cy="6844886"/>
          </a:xfrm>
          <a:prstGeom prst="rect">
            <a:avLst/>
          </a:prstGeom>
          <a:solidFill>
            <a:schemeClr val="accent3">
              <a:lumMod val="60000"/>
              <a:lumOff val="40000"/>
            </a:schemeClr>
          </a:solidFill>
        </p:spPr>
      </p:pic>
      <p:sp>
        <p:nvSpPr>
          <p:cNvPr id="14" name="Rectangle 13"/>
          <p:cNvSpPr/>
          <p:nvPr/>
        </p:nvSpPr>
        <p:spPr>
          <a:xfrm>
            <a:off x="7714120" y="1273337"/>
            <a:ext cx="3672800" cy="1569660"/>
          </a:xfrm>
          <a:prstGeom prst="rect">
            <a:avLst/>
          </a:prstGeom>
        </p:spPr>
        <p:txBody>
          <a:bodyPr wrap="none">
            <a:spAutoFit/>
          </a:bodyPr>
          <a:lstStyle/>
          <a:p>
            <a:pPr algn="ctr"/>
            <a:endParaRPr lang="en-US" sz="3200" dirty="0">
              <a:solidFill>
                <a:schemeClr val="accent6">
                  <a:lumMod val="40000"/>
                  <a:lumOff val="60000"/>
                </a:schemeClr>
              </a:solidFill>
            </a:endParaRPr>
          </a:p>
          <a:p>
            <a:pPr algn="ctr"/>
            <a:r>
              <a:rPr lang="en-US" sz="3200" dirty="0">
                <a:solidFill>
                  <a:srgbClr val="C00000"/>
                </a:solidFill>
              </a:rPr>
              <a:t>Examples </a:t>
            </a:r>
            <a:r>
              <a:rPr lang="en-US" sz="3200" dirty="0">
                <a:solidFill>
                  <a:srgbClr val="C00000"/>
                </a:solidFill>
              </a:rPr>
              <a:t>of </a:t>
            </a:r>
            <a:endParaRPr lang="en-US" sz="3200" dirty="0">
              <a:solidFill>
                <a:srgbClr val="C00000"/>
              </a:solidFill>
            </a:endParaRPr>
          </a:p>
          <a:p>
            <a:pPr algn="ctr"/>
            <a:r>
              <a:rPr lang="en-US" sz="3200" dirty="0">
                <a:solidFill>
                  <a:srgbClr val="C00000"/>
                </a:solidFill>
              </a:rPr>
              <a:t>Intruder </a:t>
            </a:r>
            <a:r>
              <a:rPr lang="en-US" sz="3200" dirty="0">
                <a:solidFill>
                  <a:srgbClr val="C00000"/>
                </a:solidFill>
              </a:rPr>
              <a:t>Behavior </a:t>
            </a:r>
          </a:p>
        </p:txBody>
      </p:sp>
    </p:spTree>
    <p:extLst>
      <p:ext uri="{BB962C8B-B14F-4D97-AF65-F5344CB8AC3E}">
        <p14:creationId xmlns:p14="http://schemas.microsoft.com/office/powerpoint/2010/main" val="815074521"/>
      </p:ext>
    </p:extLst>
  </p:cSld>
  <p:clrMapOvr>
    <a:masterClrMapping/>
  </p:clrMapOvr>
  <p:transition spd="slow">
    <p:wipe dir="d"/>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618067" y="585216"/>
            <a:ext cx="8678333" cy="1143000"/>
          </a:xfrm>
          <a:prstGeom prst="rect">
            <a:avLst/>
          </a:prstGeom>
        </p:spPr>
        <p:txBody>
          <a:bodyPr vert="horz" wrap="square" lIns="117825" tIns="117825" rIns="117825" bIns="117825" numCol="1" anchor="ctr" anchorCtr="0" compatLnSpc="1">
            <a:prstTxWarp prst="textNoShape">
              <a:avLst/>
            </a:prstTxWarp>
            <a:noAutofit/>
          </a:bodyPr>
          <a:lstStyle/>
          <a:p>
            <a:pPr>
              <a:buNone/>
            </a:pPr>
            <a:r>
              <a:rPr lang="en-US" sz="4000" b="1" dirty="0">
                <a:solidFill>
                  <a:srgbClr val="9B37AA"/>
                </a:solidFill>
              </a:rPr>
              <a:t>Defense-in-Depth</a:t>
            </a:r>
          </a:p>
        </p:txBody>
      </p:sp>
      <p:pic>
        <p:nvPicPr>
          <p:cNvPr id="26" name="Shape 26"/>
          <p:cNvPicPr preferRelativeResize="0"/>
          <p:nvPr/>
        </p:nvPicPr>
        <p:blipFill>
          <a:blip r:embed="rId3">
            <a:alphaModFix/>
          </a:blip>
          <a:stretch>
            <a:fillRect/>
          </a:stretch>
        </p:blipFill>
        <p:spPr>
          <a:xfrm>
            <a:off x="2971800" y="1828800"/>
            <a:ext cx="6324600" cy="4191000"/>
          </a:xfrm>
          <a:prstGeom prst="rect">
            <a:avLst/>
          </a:prstGeom>
          <a:noFill/>
          <a:ln>
            <a:noFill/>
          </a:ln>
        </p:spPr>
      </p:pic>
    </p:spTree>
    <p:extLst>
      <p:ext uri="{BB962C8B-B14F-4D97-AF65-F5344CB8AC3E}">
        <p14:creationId xmlns:p14="http://schemas.microsoft.com/office/powerpoint/2010/main" val="2029387002"/>
      </p:ext>
    </p:extLst>
  </p:cSld>
  <p:clrMapOvr>
    <a:masterClrMapping/>
  </p:clrMapOvr>
  <p:transition spd="slow">
    <p:cut/>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164592"/>
            <a:ext cx="9518848" cy="1143000"/>
          </a:xfrm>
        </p:spPr>
        <p:txBody>
          <a:bodyPr/>
          <a:lstStyle/>
          <a:p>
            <a:pPr>
              <a:defRPr/>
            </a:pPr>
            <a:r>
              <a:rPr lang="en-US" dirty="0" smtClean="0"/>
              <a:t>Intrusion Detection </a:t>
            </a:r>
            <a:endParaRPr lang="en-US" dirty="0"/>
          </a:p>
        </p:txBody>
      </p:sp>
      <p:sp>
        <p:nvSpPr>
          <p:cNvPr id="18435" name="Content Placeholder 2"/>
          <p:cNvSpPr>
            <a:spLocks noGrp="1"/>
          </p:cNvSpPr>
          <p:nvPr>
            <p:ph idx="1"/>
          </p:nvPr>
        </p:nvSpPr>
        <p:spPr>
          <a:xfrm>
            <a:off x="623393" y="1938529"/>
            <a:ext cx="10193960" cy="4809744"/>
          </a:xfrm>
        </p:spPr>
        <p:txBody>
          <a:bodyPr/>
          <a:lstStyle/>
          <a:p>
            <a:pPr>
              <a:lnSpc>
                <a:spcPct val="114000"/>
              </a:lnSpc>
              <a:spcBef>
                <a:spcPts val="600"/>
              </a:spcBef>
              <a:spcAft>
                <a:spcPts val="600"/>
              </a:spcAft>
            </a:pPr>
            <a:r>
              <a:rPr lang="en-US" altLang="en-US" dirty="0">
                <a:solidFill>
                  <a:schemeClr val="tx1"/>
                </a:solidFill>
                <a:ea typeface="ＭＳ Ｐゴシック" pitchFamily="34" charset="-128"/>
              </a:rPr>
              <a:t>IDS – Intrusion Detection </a:t>
            </a:r>
            <a:r>
              <a:rPr lang="en-US" altLang="en-US" dirty="0" smtClean="0">
                <a:solidFill>
                  <a:schemeClr val="tx1"/>
                </a:solidFill>
                <a:ea typeface="ＭＳ Ｐゴシック" pitchFamily="34" charset="-128"/>
              </a:rPr>
              <a:t>Systems</a:t>
            </a:r>
          </a:p>
          <a:p>
            <a:pPr lvl="1">
              <a:lnSpc>
                <a:spcPct val="114000"/>
              </a:lnSpc>
              <a:spcAft>
                <a:spcPts val="600"/>
              </a:spcAft>
            </a:pPr>
            <a:r>
              <a:rPr lang="en-AU" sz="2000" dirty="0" smtClean="0">
                <a:solidFill>
                  <a:schemeClr val="tx2">
                    <a:lumMod val="10000"/>
                  </a:schemeClr>
                </a:solidFill>
              </a:rPr>
              <a:t>A </a:t>
            </a:r>
            <a:r>
              <a:rPr lang="en-AU" sz="2000" dirty="0">
                <a:solidFill>
                  <a:schemeClr val="tx2">
                    <a:lumMod val="10000"/>
                  </a:schemeClr>
                </a:solidFill>
              </a:rPr>
              <a:t>system’s second line of </a:t>
            </a:r>
            <a:r>
              <a:rPr lang="en-AU" sz="2000" dirty="0" err="1">
                <a:solidFill>
                  <a:schemeClr val="tx2">
                    <a:lumMod val="10000"/>
                  </a:schemeClr>
                </a:solidFill>
              </a:rPr>
              <a:t>defense</a:t>
            </a:r>
            <a:endParaRPr lang="en-AU" sz="2000" dirty="0">
              <a:solidFill>
                <a:schemeClr val="tx2">
                  <a:lumMod val="10000"/>
                </a:schemeClr>
              </a:solidFill>
            </a:endParaRPr>
          </a:p>
          <a:p>
            <a:pPr>
              <a:lnSpc>
                <a:spcPct val="114000"/>
              </a:lnSpc>
              <a:spcBef>
                <a:spcPts val="600"/>
              </a:spcBef>
              <a:spcAft>
                <a:spcPts val="600"/>
              </a:spcAft>
            </a:pPr>
            <a:r>
              <a:rPr lang="en-US" altLang="en-US" dirty="0" smtClean="0">
                <a:ea typeface="ＭＳ Ｐゴシック" pitchFamily="34" charset="-128"/>
              </a:rPr>
              <a:t>National Institute of Standards and Technology classifies intrusion detection  as “</a:t>
            </a:r>
            <a:r>
              <a:rPr lang="en-US" altLang="en-US" i="1" dirty="0" smtClean="0">
                <a:solidFill>
                  <a:srgbClr val="C00000"/>
                </a:solidFill>
                <a:ea typeface="ＭＳ Ｐゴシック" pitchFamily="34" charset="-128"/>
              </a:rPr>
              <a:t>the process of monitoring the events occurring in a computer system or network and analyzing them for signs of intrusions, defined as attempts to compromise the confidentiality, integrity, availability, or to bypass the security mechanisms of a computer or network</a:t>
            </a:r>
            <a:r>
              <a:rPr lang="en-US" altLang="en-US" dirty="0" smtClean="0">
                <a:solidFill>
                  <a:srgbClr val="C00000"/>
                </a:solidFill>
                <a:ea typeface="ＭＳ Ｐゴシック" pitchFamily="34" charset="-128"/>
              </a:rPr>
              <a:t>".</a:t>
            </a:r>
          </a:p>
          <a:p>
            <a:endParaRPr lang="en-US" altLang="en-US" dirty="0" smtClean="0">
              <a:ea typeface="ＭＳ Ｐゴシック" pitchFamily="34" charset="-128"/>
            </a:endParaRPr>
          </a:p>
          <a:p>
            <a:endParaRPr lang="en-US" altLang="en-US" dirty="0" smtClean="0">
              <a:ea typeface="ＭＳ Ｐゴシック" pitchFamily="34" charset="-128"/>
            </a:endParaRPr>
          </a:p>
        </p:txBody>
      </p:sp>
    </p:spTree>
    <p:extLst>
      <p:ext uri="{BB962C8B-B14F-4D97-AF65-F5344CB8AC3E}">
        <p14:creationId xmlns:p14="http://schemas.microsoft.com/office/powerpoint/2010/main" val="385515108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623392" y="264233"/>
            <a:ext cx="9518848" cy="1143000"/>
          </a:xfrm>
        </p:spPr>
        <p:txBody>
          <a:bodyPr/>
          <a:lstStyle/>
          <a:p>
            <a:r>
              <a:rPr lang="en-US" dirty="0" smtClean="0"/>
              <a:t>Intrusion Detection</a:t>
            </a:r>
            <a:endParaRPr lang="en-AU" dirty="0"/>
          </a:p>
        </p:txBody>
      </p:sp>
      <p:sp>
        <p:nvSpPr>
          <p:cNvPr id="54275" name="Rectangle 3"/>
          <p:cNvSpPr>
            <a:spLocks noGrp="1" noChangeArrowheads="1"/>
          </p:cNvSpPr>
          <p:nvPr>
            <p:ph idx="1"/>
          </p:nvPr>
        </p:nvSpPr>
        <p:spPr>
          <a:xfrm>
            <a:off x="623392" y="1948833"/>
            <a:ext cx="10788320" cy="3916363"/>
          </a:xfrm>
        </p:spPr>
        <p:txBody>
          <a:bodyPr>
            <a:noAutofit/>
          </a:bodyPr>
          <a:lstStyle/>
          <a:p>
            <a:pPr>
              <a:lnSpc>
                <a:spcPct val="114000"/>
              </a:lnSpc>
              <a:spcBef>
                <a:spcPts val="600"/>
              </a:spcBef>
              <a:spcAft>
                <a:spcPts val="600"/>
              </a:spcAft>
            </a:pPr>
            <a:r>
              <a:rPr lang="en-AU" dirty="0" smtClean="0">
                <a:solidFill>
                  <a:schemeClr val="tx2">
                    <a:lumMod val="10000"/>
                  </a:schemeClr>
                </a:solidFill>
              </a:rPr>
              <a:t>Is based on the assumption that the behavior of the </a:t>
            </a:r>
            <a:r>
              <a:rPr lang="en-AU" dirty="0" smtClean="0">
                <a:solidFill>
                  <a:schemeClr val="tx2">
                    <a:lumMod val="10000"/>
                  </a:schemeClr>
                </a:solidFill>
              </a:rPr>
              <a:t>intruder </a:t>
            </a:r>
            <a:r>
              <a:rPr lang="en-AU" dirty="0" smtClean="0">
                <a:solidFill>
                  <a:schemeClr val="tx2">
                    <a:lumMod val="10000"/>
                  </a:schemeClr>
                </a:solidFill>
              </a:rPr>
              <a:t>differs from that of a legitimate user in ways </a:t>
            </a:r>
            <a:r>
              <a:rPr lang="en-AU" dirty="0" smtClean="0">
                <a:solidFill>
                  <a:schemeClr val="tx2">
                    <a:lumMod val="10000"/>
                  </a:schemeClr>
                </a:solidFill>
              </a:rPr>
              <a:t>that </a:t>
            </a:r>
            <a:r>
              <a:rPr lang="en-AU" dirty="0" smtClean="0">
                <a:solidFill>
                  <a:schemeClr val="tx2">
                    <a:lumMod val="10000"/>
                  </a:schemeClr>
                </a:solidFill>
              </a:rPr>
              <a:t>can be quantified</a:t>
            </a:r>
          </a:p>
          <a:p>
            <a:pPr>
              <a:lnSpc>
                <a:spcPct val="114000"/>
              </a:lnSpc>
              <a:spcBef>
                <a:spcPts val="600"/>
              </a:spcBef>
              <a:spcAft>
                <a:spcPts val="600"/>
              </a:spcAft>
            </a:pPr>
            <a:r>
              <a:rPr lang="en-AU" dirty="0" smtClean="0">
                <a:solidFill>
                  <a:schemeClr val="tx2">
                    <a:lumMod val="10000"/>
                  </a:schemeClr>
                </a:solidFill>
              </a:rPr>
              <a:t>Considerations:</a:t>
            </a:r>
          </a:p>
          <a:p>
            <a:pPr lvl="1">
              <a:lnSpc>
                <a:spcPct val="114000"/>
              </a:lnSpc>
              <a:spcAft>
                <a:spcPts val="600"/>
              </a:spcAft>
              <a:buClr>
                <a:schemeClr val="accent1"/>
              </a:buClr>
            </a:pPr>
            <a:r>
              <a:rPr lang="en-AU" sz="2400" dirty="0" smtClean="0">
                <a:solidFill>
                  <a:schemeClr val="tx2">
                    <a:lumMod val="10000"/>
                  </a:schemeClr>
                </a:solidFill>
                <a:latin typeface="Adobe Caslon Pro" panose="0205050205050A020403" pitchFamily="18" charset="0"/>
              </a:rPr>
              <a:t>If an intrusion is detected quickly enough, the intruder can be identified and ejected from the system before any damage is done or any data are compromised</a:t>
            </a:r>
          </a:p>
          <a:p>
            <a:pPr lvl="1">
              <a:lnSpc>
                <a:spcPct val="114000"/>
              </a:lnSpc>
              <a:spcAft>
                <a:spcPts val="600"/>
              </a:spcAft>
              <a:buClr>
                <a:schemeClr val="accent1"/>
              </a:buClr>
            </a:pPr>
            <a:r>
              <a:rPr lang="en-AU" sz="2400" dirty="0" smtClean="0">
                <a:solidFill>
                  <a:schemeClr val="tx2">
                    <a:lumMod val="10000"/>
                  </a:schemeClr>
                </a:solidFill>
                <a:latin typeface="Adobe Caslon Pro" panose="0205050205050A020403" pitchFamily="18" charset="0"/>
              </a:rPr>
              <a:t>An effective intrusion detection system can serve as a deterrent, so acting to prevent intrusions</a:t>
            </a:r>
          </a:p>
          <a:p>
            <a:pPr lvl="1">
              <a:lnSpc>
                <a:spcPct val="114000"/>
              </a:lnSpc>
              <a:spcAft>
                <a:spcPts val="600"/>
              </a:spcAft>
              <a:buClr>
                <a:schemeClr val="accent1"/>
              </a:buClr>
            </a:pPr>
            <a:r>
              <a:rPr lang="en-AU" sz="2400" dirty="0" smtClean="0">
                <a:solidFill>
                  <a:schemeClr val="tx2">
                    <a:lumMod val="10000"/>
                  </a:schemeClr>
                </a:solidFill>
                <a:latin typeface="Adobe Caslon Pro" panose="0205050205050A020403" pitchFamily="18" charset="0"/>
              </a:rPr>
              <a:t>Intrusion detection enables the collection of information about intrusion techniques that can be used to strengthen the intrusion prevention facility</a:t>
            </a:r>
          </a:p>
        </p:txBody>
      </p:sp>
      <p:pic>
        <p:nvPicPr>
          <p:cNvPr id="4" name="Picture 3"/>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8750808" y="282049"/>
            <a:ext cx="1460500" cy="1524000"/>
          </a:xfrm>
          <a:prstGeom prst="rect">
            <a:avLst/>
          </a:prstGeom>
          <a:scene3d>
            <a:camera prst="orthographicFront">
              <a:rot lat="0" lon="11099999" rev="0"/>
            </a:camera>
            <a:lightRig rig="threePt" dir="t"/>
          </a:scene3d>
        </p:spPr>
      </p:pic>
    </p:spTree>
    <p:extLst>
      <p:ext uri="{BB962C8B-B14F-4D97-AF65-F5344CB8AC3E}">
        <p14:creationId xmlns:p14="http://schemas.microsoft.com/office/powerpoint/2010/main" val="264945361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609600" y="914400"/>
            <a:ext cx="9518848" cy="228600"/>
          </a:xfrm>
        </p:spPr>
        <p:txBody>
          <a:bodyPr/>
          <a:lstStyle/>
          <a:p>
            <a:pPr eaLnBrk="1" fontAlgn="auto" hangingPunct="1">
              <a:spcAft>
                <a:spcPts val="0"/>
              </a:spcAft>
              <a:defRPr/>
            </a:pPr>
            <a:r>
              <a:rPr lang="en-US" altLang="en-US" dirty="0">
                <a:ea typeface="+mj-ea"/>
              </a:rPr>
              <a:t>Types of Intrusion detection systems</a:t>
            </a:r>
          </a:p>
        </p:txBody>
      </p:sp>
      <p:sp>
        <p:nvSpPr>
          <p:cNvPr id="21507" name="Rectangle 3"/>
          <p:cNvSpPr>
            <a:spLocks noGrp="1" noChangeArrowheads="1"/>
          </p:cNvSpPr>
          <p:nvPr>
            <p:ph idx="1"/>
          </p:nvPr>
        </p:nvSpPr>
        <p:spPr>
          <a:xfrm>
            <a:off x="688849" y="1810512"/>
            <a:ext cx="10411967" cy="4419600"/>
          </a:xfrm>
        </p:spPr>
        <p:txBody>
          <a:bodyPr>
            <a:normAutofit/>
          </a:bodyPr>
          <a:lstStyle/>
          <a:p>
            <a:pPr eaLnBrk="1" hangingPunct="1">
              <a:lnSpc>
                <a:spcPct val="114000"/>
              </a:lnSpc>
              <a:spcBef>
                <a:spcPts val="600"/>
              </a:spcBef>
              <a:spcAft>
                <a:spcPts val="600"/>
              </a:spcAft>
            </a:pPr>
            <a:r>
              <a:rPr lang="en-US" altLang="en-US" b="1" dirty="0" smtClean="0">
                <a:ea typeface="ＭＳ Ｐゴシック" pitchFamily="34" charset="-128"/>
              </a:rPr>
              <a:t>Host-based </a:t>
            </a:r>
            <a:r>
              <a:rPr lang="en-US" altLang="en-US" b="1" dirty="0" smtClean="0">
                <a:ea typeface="ＭＳ Ｐゴシック" pitchFamily="34" charset="-128"/>
              </a:rPr>
              <a:t>IDS (HIDS)</a:t>
            </a:r>
            <a:r>
              <a:rPr lang="en-US" altLang="en-US" dirty="0" smtClean="0">
                <a:ea typeface="ＭＳ Ｐゴシック" pitchFamily="34" charset="-128"/>
              </a:rPr>
              <a:t>: </a:t>
            </a:r>
            <a:r>
              <a:rPr lang="en-US" altLang="en-US" dirty="0" smtClean="0">
                <a:ea typeface="ＭＳ Ｐゴシック" pitchFamily="34" charset="-128"/>
              </a:rPr>
              <a:t>monitor single host activity</a:t>
            </a:r>
          </a:p>
          <a:p>
            <a:pPr eaLnBrk="1" hangingPunct="1">
              <a:lnSpc>
                <a:spcPct val="114000"/>
              </a:lnSpc>
              <a:spcBef>
                <a:spcPts val="600"/>
              </a:spcBef>
              <a:spcAft>
                <a:spcPts val="600"/>
              </a:spcAft>
            </a:pPr>
            <a:r>
              <a:rPr lang="en-US" altLang="en-US" b="1" dirty="0" smtClean="0">
                <a:ea typeface="ＭＳ Ｐゴシック" pitchFamily="34" charset="-128"/>
              </a:rPr>
              <a:t>Network-based </a:t>
            </a:r>
            <a:r>
              <a:rPr lang="en-US" altLang="en-US" b="1" dirty="0" smtClean="0">
                <a:ea typeface="ＭＳ Ｐゴシック" pitchFamily="34" charset="-128"/>
              </a:rPr>
              <a:t>IDS (NIDS)</a:t>
            </a:r>
            <a:r>
              <a:rPr lang="en-US" altLang="en-US" dirty="0" smtClean="0">
                <a:ea typeface="ＭＳ Ｐゴシック" pitchFamily="34" charset="-128"/>
              </a:rPr>
              <a:t>: </a:t>
            </a:r>
            <a:r>
              <a:rPr lang="en-US" altLang="en-US" dirty="0" smtClean="0">
                <a:ea typeface="ＭＳ Ｐゴシック" pitchFamily="34" charset="-128"/>
              </a:rPr>
              <a:t>monitor network </a:t>
            </a:r>
            <a:r>
              <a:rPr lang="en-US" altLang="en-US" dirty="0" smtClean="0">
                <a:ea typeface="ＭＳ Ｐゴシック" pitchFamily="34" charset="-128"/>
              </a:rPr>
              <a:t>traffic</a:t>
            </a:r>
          </a:p>
          <a:p>
            <a:pPr eaLnBrk="1" hangingPunct="1">
              <a:lnSpc>
                <a:spcPct val="114000"/>
              </a:lnSpc>
              <a:spcBef>
                <a:spcPts val="600"/>
              </a:spcBef>
              <a:spcAft>
                <a:spcPts val="600"/>
              </a:spcAft>
            </a:pPr>
            <a:r>
              <a:rPr lang="en-US" altLang="en-US" sz="2400" b="1" dirty="0" smtClean="0">
                <a:latin typeface="Adobe Caslon Pro" panose="0205050205050A020403" pitchFamily="18" charset="0"/>
                <a:ea typeface="ＭＳ Ｐゴシック" pitchFamily="34" charset="-128"/>
              </a:rPr>
              <a:t>Distributed </a:t>
            </a:r>
            <a:r>
              <a:rPr lang="en-US" altLang="en-US" sz="2400" b="1" dirty="0">
                <a:latin typeface="Adobe Caslon Pro" panose="0205050205050A020403" pitchFamily="18" charset="0"/>
                <a:ea typeface="ＭＳ Ｐゴシック" pitchFamily="34" charset="-128"/>
              </a:rPr>
              <a:t>or hybrid</a:t>
            </a:r>
            <a:r>
              <a:rPr lang="en-US" altLang="en-US" sz="2400" dirty="0">
                <a:latin typeface="Adobe Caslon Pro" panose="0205050205050A020403" pitchFamily="18" charset="0"/>
                <a:ea typeface="ＭＳ Ｐゴシック" pitchFamily="34" charset="-128"/>
              </a:rPr>
              <a:t>: Combines information from a number of sensors, often both host and network based, in a central analyzer that is able to better identify and respond to intrusion activity</a:t>
            </a:r>
          </a:p>
          <a:p>
            <a:pPr eaLnBrk="1" hangingPunct="1">
              <a:lnSpc>
                <a:spcPct val="114000"/>
              </a:lnSpc>
              <a:spcBef>
                <a:spcPts val="600"/>
              </a:spcBef>
              <a:spcAft>
                <a:spcPts val="600"/>
              </a:spcAft>
            </a:pPr>
            <a:endParaRPr lang="en-US" altLang="en-US" dirty="0" smtClean="0">
              <a:ea typeface="ＭＳ Ｐゴシック" pitchFamily="34" charset="-128"/>
            </a:endParaRPr>
          </a:p>
        </p:txBody>
      </p:sp>
    </p:spTree>
    <p:extLst>
      <p:ext uri="{BB962C8B-B14F-4D97-AF65-F5344CB8AC3E}">
        <p14:creationId xmlns:p14="http://schemas.microsoft.com/office/powerpoint/2010/main" val="164608957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C00000"/>
                </a:solidFill>
                <a:effectLst>
                  <a:outerShdw blurRad="38100" dist="38100" dir="2700000" algn="tl">
                    <a:srgbClr val="C0C0C0"/>
                  </a:outerShdw>
                </a:effectLst>
              </a:rPr>
              <a:t>IDS Components</a:t>
            </a:r>
            <a:r>
              <a:rPr lang="en-US" altLang="en-US" dirty="0">
                <a:solidFill>
                  <a:schemeClr val="tx2"/>
                </a:solidFill>
                <a:effectLst>
                  <a:outerShdw blurRad="38100" dist="38100" dir="2700000" algn="tl">
                    <a:srgbClr val="C0C0C0"/>
                  </a:outerShdw>
                </a:effectLst>
              </a:rPr>
              <a:t/>
            </a:r>
            <a:br>
              <a:rPr lang="en-US" altLang="en-US" dirty="0">
                <a:solidFill>
                  <a:schemeClr val="tx2"/>
                </a:solidFill>
                <a:effectLst>
                  <a:outerShdw blurRad="38100" dist="38100" dir="2700000" algn="tl">
                    <a:srgbClr val="C0C0C0"/>
                  </a:outerShdw>
                </a:effectLst>
              </a:rPr>
            </a:br>
            <a:endParaRPr lang="en-US" dirty="0"/>
          </a:p>
        </p:txBody>
      </p:sp>
      <p:sp>
        <p:nvSpPr>
          <p:cNvPr id="69633" name="Content Placeholder 2"/>
          <p:cNvSpPr>
            <a:spLocks noGrp="1"/>
          </p:cNvSpPr>
          <p:nvPr>
            <p:ph idx="1"/>
          </p:nvPr>
        </p:nvSpPr>
        <p:spPr/>
        <p:txBody>
          <a:bodyPr/>
          <a:lstStyle/>
          <a:p>
            <a:pPr eaLnBrk="1" hangingPunct="1"/>
            <a:r>
              <a:rPr lang="en-US" altLang="en-US" dirty="0" smtClean="0">
                <a:ea typeface="ヒラギノ角ゴ Pro W3" charset="-128"/>
              </a:rPr>
              <a:t>Traffic collector / sensor</a:t>
            </a:r>
          </a:p>
          <a:p>
            <a:pPr eaLnBrk="1" hangingPunct="1"/>
            <a:r>
              <a:rPr lang="en-US" altLang="en-US" dirty="0" smtClean="0">
                <a:ea typeface="ヒラギノ角ゴ Pro W3" charset="-128"/>
              </a:rPr>
              <a:t>Analysis engine</a:t>
            </a:r>
          </a:p>
          <a:p>
            <a:pPr eaLnBrk="1" hangingPunct="1"/>
            <a:r>
              <a:rPr lang="en-US" altLang="en-US" dirty="0" smtClean="0">
                <a:ea typeface="ヒラギノ角ゴ Pro W3" charset="-128"/>
              </a:rPr>
              <a:t>Signature database</a:t>
            </a:r>
          </a:p>
          <a:p>
            <a:pPr eaLnBrk="1" hangingPunct="1"/>
            <a:r>
              <a:rPr lang="en-US" altLang="en-US" dirty="0" smtClean="0">
                <a:ea typeface="ヒラギノ角ゴ Pro W3" charset="-128"/>
              </a:rPr>
              <a:t>User interface and reporting </a:t>
            </a:r>
          </a:p>
          <a:p>
            <a:pPr eaLnBrk="1" hangingPunct="1"/>
            <a:endParaRPr lang="en-US" altLang="en-US" dirty="0" smtClean="0">
              <a:ea typeface="ヒラギノ角ゴ Pro W3" charset="-128"/>
            </a:endParaRPr>
          </a:p>
        </p:txBody>
      </p:sp>
      <p:pic>
        <p:nvPicPr>
          <p:cNvPr id="5"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699248" y="1653350"/>
            <a:ext cx="32766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28111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Content Placeholder 2"/>
          <p:cNvSpPr>
            <a:spLocks noGrp="1"/>
          </p:cNvSpPr>
          <p:nvPr>
            <p:ph idx="1"/>
          </p:nvPr>
        </p:nvSpPr>
        <p:spPr>
          <a:xfrm>
            <a:off x="1170432" y="1752601"/>
            <a:ext cx="8606981" cy="3992563"/>
          </a:xfrm>
        </p:spPr>
        <p:txBody>
          <a:bodyPr>
            <a:normAutofit/>
          </a:bodyPr>
          <a:lstStyle/>
          <a:p>
            <a:pPr eaLnBrk="1" hangingPunct="1">
              <a:defRPr/>
            </a:pPr>
            <a:r>
              <a:rPr lang="en-US" altLang="en-US" b="1" dirty="0" smtClean="0">
                <a:solidFill>
                  <a:srgbClr val="C00000"/>
                </a:solidFill>
                <a:ea typeface="ヒラギノ角ゴ Pro W3" charset="-128"/>
              </a:rPr>
              <a:t>Traffic collector / sensor</a:t>
            </a:r>
          </a:p>
          <a:p>
            <a:pPr eaLnBrk="1" hangingPunct="1">
              <a:buFont typeface="Wingdings" panose="05000000000000000000" pitchFamily="2" charset="2"/>
              <a:buChar char="Ø"/>
              <a:defRPr/>
            </a:pPr>
            <a:r>
              <a:rPr lang="en-US" altLang="en-US" dirty="0" smtClean="0">
                <a:ea typeface="ヒラギノ角ゴ Pro W3" charset="-128"/>
              </a:rPr>
              <a:t>This </a:t>
            </a:r>
            <a:r>
              <a:rPr lang="en-US" altLang="en-US" dirty="0" smtClean="0">
                <a:ea typeface="ヒラギノ角ゴ Pro W3" charset="-128"/>
              </a:rPr>
              <a:t>component is often referred to as a sensor.</a:t>
            </a:r>
          </a:p>
          <a:p>
            <a:pPr eaLnBrk="1" hangingPunct="1">
              <a:buFont typeface="Wingdings" panose="05000000000000000000" pitchFamily="2" charset="2"/>
              <a:buChar char="Ø"/>
              <a:defRPr/>
            </a:pPr>
            <a:r>
              <a:rPr lang="en-US" altLang="en-US" dirty="0" smtClean="0">
                <a:ea typeface="ヒラギノ角ゴ Pro W3" charset="-128"/>
              </a:rPr>
              <a:t>The traffic collector (or sensor) collects activity/events for the IDS to examine. </a:t>
            </a:r>
          </a:p>
          <a:p>
            <a:pPr eaLnBrk="1" hangingPunct="1">
              <a:buFont typeface="Wingdings" panose="05000000000000000000" pitchFamily="2" charset="2"/>
              <a:buChar char="Ø"/>
              <a:defRPr/>
            </a:pPr>
            <a:r>
              <a:rPr lang="en-US" altLang="en-US" dirty="0" smtClean="0">
                <a:ea typeface="ヒラギノ角ゴ Pro W3" charset="-128"/>
              </a:rPr>
              <a:t>On a HIDS, this could be log files, audit logs, or traffic coming to or leaving a specific system. </a:t>
            </a:r>
          </a:p>
          <a:p>
            <a:pPr eaLnBrk="1" hangingPunct="1">
              <a:buFont typeface="Wingdings" panose="05000000000000000000" pitchFamily="2" charset="2"/>
              <a:buChar char="Ø"/>
              <a:defRPr/>
            </a:pPr>
            <a:r>
              <a:rPr lang="en-US" altLang="en-US" dirty="0" smtClean="0">
                <a:ea typeface="ヒラギノ角ゴ Pro W3" charset="-128"/>
              </a:rPr>
              <a:t>On a NIDS, this is typically a mechanism for copying traffic off the network link—basically functioning as a sniffer. </a:t>
            </a:r>
          </a:p>
          <a:p>
            <a:pPr marL="69850" indent="0" eaLnBrk="1" hangingPunct="1">
              <a:buNone/>
              <a:defRPr/>
            </a:pPr>
            <a:endParaRPr lang="en-US" altLang="en-US" dirty="0" smtClean="0">
              <a:ea typeface="ヒラギノ角ゴ Pro W3" charset="-128"/>
            </a:endParaRPr>
          </a:p>
        </p:txBody>
      </p:sp>
      <p:sp>
        <p:nvSpPr>
          <p:cNvPr id="4" name="Rectangle 2"/>
          <p:cNvSpPr txBox="1">
            <a:spLocks noChangeArrowheads="1"/>
          </p:cNvSpPr>
          <p:nvPr/>
        </p:nvSpPr>
        <p:spPr bwMode="auto">
          <a:xfrm>
            <a:off x="1547813" y="152400"/>
            <a:ext cx="8458200" cy="1219200"/>
          </a:xfrm>
          <a:prstGeom prst="rect">
            <a:avLst/>
          </a:prstGeom>
          <a:noFill/>
          <a:ln w="9525">
            <a:noFill/>
            <a:miter lim="800000"/>
            <a:headEnd/>
            <a:tailEnd/>
          </a:ln>
        </p:spPr>
        <p:txBody>
          <a:bodyPr anchor="ctr"/>
          <a:lstStyle>
            <a:lvl1pPr eaLnBrk="0" hangingPunct="0">
              <a:defRPr sz="2400">
                <a:solidFill>
                  <a:schemeClr val="tx1"/>
                </a:solidFill>
                <a:latin typeface="Arial" pitchFamily="34" charset="0"/>
                <a:ea typeface="ヒラギノ角ゴ Pro W3" charset="-128"/>
              </a:defRPr>
            </a:lvl1pPr>
            <a:lvl2pPr marL="742950" indent="-285750" eaLnBrk="0" hangingPunct="0">
              <a:defRPr sz="2400">
                <a:solidFill>
                  <a:schemeClr val="tx1"/>
                </a:solidFill>
                <a:latin typeface="Arial" pitchFamily="34" charset="0"/>
                <a:ea typeface="ヒラギノ角ゴ Pro W3" charset="-128"/>
              </a:defRPr>
            </a:lvl2pPr>
            <a:lvl3pPr marL="1143000" indent="-228600" eaLnBrk="0" hangingPunct="0">
              <a:defRPr sz="2400">
                <a:solidFill>
                  <a:schemeClr val="tx1"/>
                </a:solidFill>
                <a:latin typeface="Arial" pitchFamily="34" charset="0"/>
                <a:ea typeface="ヒラギノ角ゴ Pro W3" charset="-128"/>
              </a:defRPr>
            </a:lvl3pPr>
            <a:lvl4pPr marL="1600200" indent="-228600" eaLnBrk="0" hangingPunct="0">
              <a:defRPr sz="2400">
                <a:solidFill>
                  <a:schemeClr val="tx1"/>
                </a:solidFill>
                <a:latin typeface="Arial" pitchFamily="34" charset="0"/>
                <a:ea typeface="ヒラギノ角ゴ Pro W3" charset="-128"/>
              </a:defRPr>
            </a:lvl4pPr>
            <a:lvl5pPr marL="2057400" indent="-228600" eaLnBrk="0" hangingPunct="0">
              <a:defRPr sz="2400">
                <a:solidFill>
                  <a:schemeClr val="tx1"/>
                </a:solidFill>
                <a:latin typeface="Arial" pitchFamily="34" charset="0"/>
                <a:ea typeface="ヒラギノ角ゴ Pro W3" charset="-128"/>
              </a:defRPr>
            </a:lvl5pPr>
            <a:lvl6pPr marL="2514600" indent="-228600" eaLnBrk="0" fontAlgn="base" hangingPunct="0">
              <a:spcBef>
                <a:spcPct val="0"/>
              </a:spcBef>
              <a:spcAft>
                <a:spcPct val="0"/>
              </a:spcAft>
              <a:defRPr sz="2400">
                <a:solidFill>
                  <a:schemeClr val="tx1"/>
                </a:solidFill>
                <a:latin typeface="Arial" pitchFamily="34" charset="0"/>
                <a:ea typeface="ヒラギノ角ゴ Pro W3" charset="-128"/>
              </a:defRPr>
            </a:lvl6pPr>
            <a:lvl7pPr marL="2971800" indent="-228600" eaLnBrk="0" fontAlgn="base" hangingPunct="0">
              <a:spcBef>
                <a:spcPct val="0"/>
              </a:spcBef>
              <a:spcAft>
                <a:spcPct val="0"/>
              </a:spcAft>
              <a:defRPr sz="2400">
                <a:solidFill>
                  <a:schemeClr val="tx1"/>
                </a:solidFill>
                <a:latin typeface="Arial" pitchFamily="34" charset="0"/>
                <a:ea typeface="ヒラギノ角ゴ Pro W3" charset="-128"/>
              </a:defRPr>
            </a:lvl7pPr>
            <a:lvl8pPr marL="3429000" indent="-228600" eaLnBrk="0" fontAlgn="base" hangingPunct="0">
              <a:spcBef>
                <a:spcPct val="0"/>
              </a:spcBef>
              <a:spcAft>
                <a:spcPct val="0"/>
              </a:spcAft>
              <a:defRPr sz="2400">
                <a:solidFill>
                  <a:schemeClr val="tx1"/>
                </a:solidFill>
                <a:latin typeface="Arial" pitchFamily="34" charset="0"/>
                <a:ea typeface="ヒラギノ角ゴ Pro W3" charset="-128"/>
              </a:defRPr>
            </a:lvl8pPr>
            <a:lvl9pPr marL="3886200" indent="-228600" eaLnBrk="0" fontAlgn="base" hangingPunct="0">
              <a:spcBef>
                <a:spcPct val="0"/>
              </a:spcBef>
              <a:spcAft>
                <a:spcPct val="0"/>
              </a:spcAft>
              <a:defRPr sz="2400">
                <a:solidFill>
                  <a:schemeClr val="tx1"/>
                </a:solidFill>
                <a:latin typeface="Arial" pitchFamily="34" charset="0"/>
                <a:ea typeface="ヒラギノ角ゴ Pro W3" charset="-128"/>
              </a:defRPr>
            </a:lvl9pPr>
          </a:lstStyle>
          <a:p>
            <a:pPr algn="ctr" eaLnBrk="1" hangingPunct="1">
              <a:defRPr/>
            </a:pPr>
            <a:r>
              <a:rPr lang="en-US" altLang="en-US" sz="4400" b="1" dirty="0">
                <a:solidFill>
                  <a:schemeClr val="tx2"/>
                </a:solidFill>
                <a:effectLst>
                  <a:outerShdw blurRad="38100" dist="38100" dir="2700000" algn="tl">
                    <a:srgbClr val="C0C0C0"/>
                  </a:outerShdw>
                </a:effectLst>
              </a:rPr>
              <a:t>IDS Components</a:t>
            </a:r>
          </a:p>
        </p:txBody>
      </p:sp>
    </p:spTree>
    <p:extLst>
      <p:ext uri="{BB962C8B-B14F-4D97-AF65-F5344CB8AC3E}">
        <p14:creationId xmlns:p14="http://schemas.microsoft.com/office/powerpoint/2010/main" val="101241995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3"/>
          <p:cNvSpPr>
            <a:spLocks noGrp="1"/>
          </p:cNvSpPr>
          <p:nvPr>
            <p:ph type="title"/>
          </p:nvPr>
        </p:nvSpPr>
        <p:spPr>
          <a:xfrm>
            <a:off x="774192" y="320041"/>
            <a:ext cx="7958328" cy="950660"/>
          </a:xfrm>
        </p:spPr>
        <p:txBody>
          <a:bodyPr/>
          <a:lstStyle/>
          <a:p>
            <a:pPr eaLnBrk="1" hangingPunct="1"/>
            <a:r>
              <a:rPr lang="en-US" altLang="en-US" dirty="0" smtClean="0">
                <a:ea typeface="ヒラギノ角ゴ Pro W3" charset="-128"/>
              </a:rPr>
              <a:t>IDS Components (</a:t>
            </a:r>
            <a:r>
              <a:rPr lang="en-US" altLang="en-US" i="1" dirty="0" smtClean="0">
                <a:ea typeface="ヒラギノ角ゴ Pro W3" charset="-128"/>
              </a:rPr>
              <a:t>continued</a:t>
            </a:r>
            <a:r>
              <a:rPr lang="en-US" altLang="en-US" dirty="0" smtClean="0">
                <a:ea typeface="ヒラギノ角ゴ Pro W3" charset="-128"/>
              </a:rPr>
              <a:t>)</a:t>
            </a:r>
          </a:p>
        </p:txBody>
      </p:sp>
      <p:pic>
        <p:nvPicPr>
          <p:cNvPr id="71682" name="Content Placeholder 3" descr="F13-02.jpg"/>
          <p:cNvPicPr>
            <a:picLocks noGrp="1" noChangeAspect="1"/>
          </p:cNvPicPr>
          <p:nvPr>
            <p:ph idx="1"/>
          </p:nvPr>
        </p:nvPicPr>
        <p:blipFill>
          <a:blip r:embed="rId3" cstate="print">
            <a:extLst>
              <a:ext uri="{28A0092B-C50C-407E-A947-70E740481C1C}">
                <a14:useLocalDpi xmlns:a14="http://schemas.microsoft.com/office/drawing/2010/main" val="0"/>
              </a:ext>
            </a:extLst>
          </a:blip>
          <a:srcRect l="-23140" r="-23140"/>
          <a:stretch>
            <a:fillRect/>
          </a:stretch>
        </p:blipFill>
        <p:spPr>
          <a:xfrm>
            <a:off x="1203960" y="1795590"/>
            <a:ext cx="8229600" cy="4525962"/>
          </a:xfrm>
        </p:spPr>
      </p:pic>
    </p:spTree>
    <p:extLst>
      <p:ext uri="{BB962C8B-B14F-4D97-AF65-F5344CB8AC3E}">
        <p14:creationId xmlns:p14="http://schemas.microsoft.com/office/powerpoint/2010/main" val="30244163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US" altLang="en-US" dirty="0">
                <a:effectLst>
                  <a:outerShdw blurRad="38100" dist="38100" dir="2700000" algn="tl">
                    <a:srgbClr val="C0C0C0"/>
                  </a:outerShdw>
                </a:effectLst>
              </a:rPr>
              <a:t>IDS Components</a:t>
            </a:r>
            <a:br>
              <a:rPr lang="en-US" altLang="en-US" dirty="0">
                <a:effectLst>
                  <a:outerShdw blurRad="38100" dist="38100" dir="2700000" algn="tl">
                    <a:srgbClr val="C0C0C0"/>
                  </a:outerShdw>
                </a:effectLst>
              </a:rPr>
            </a:br>
            <a:endParaRPr lang="en-US" dirty="0"/>
          </a:p>
        </p:txBody>
      </p:sp>
      <p:sp>
        <p:nvSpPr>
          <p:cNvPr id="24579" name="Content Placeholder 2"/>
          <p:cNvSpPr>
            <a:spLocks noGrp="1"/>
          </p:cNvSpPr>
          <p:nvPr>
            <p:ph idx="1"/>
          </p:nvPr>
        </p:nvSpPr>
        <p:spPr>
          <a:xfrm>
            <a:off x="623392" y="1728216"/>
            <a:ext cx="11041227" cy="5056632"/>
          </a:xfrm>
        </p:spPr>
        <p:txBody>
          <a:bodyPr>
            <a:noAutofit/>
          </a:bodyPr>
          <a:lstStyle/>
          <a:p>
            <a:pPr eaLnBrk="1" hangingPunct="1">
              <a:spcBef>
                <a:spcPts val="600"/>
              </a:spcBef>
              <a:spcAft>
                <a:spcPts val="600"/>
              </a:spcAft>
            </a:pPr>
            <a:r>
              <a:rPr lang="en-US" altLang="en-US" b="1" dirty="0" smtClean="0">
                <a:solidFill>
                  <a:srgbClr val="C00000"/>
                </a:solidFill>
                <a:ea typeface="ヒラギノ角ゴ Pro W3"/>
                <a:cs typeface="ヒラギノ角ゴ Pro W3"/>
              </a:rPr>
              <a:t>Analysis engine</a:t>
            </a:r>
          </a:p>
          <a:p>
            <a:pPr eaLnBrk="1" hangingPunct="1">
              <a:spcBef>
                <a:spcPts val="600"/>
              </a:spcBef>
              <a:spcAft>
                <a:spcPts val="600"/>
              </a:spcAft>
              <a:buFont typeface="Wingdings" pitchFamily="2" charset="2"/>
              <a:buChar char="Ø"/>
            </a:pPr>
            <a:r>
              <a:rPr lang="en-US" altLang="en-US" dirty="0" smtClean="0">
                <a:ea typeface="ヒラギノ角ゴ Pro W3"/>
                <a:cs typeface="ヒラギノ角ゴ Pro W3"/>
              </a:rPr>
              <a:t>The analysis engine examines the collected network traffic, and compares it to known patterns of suspicious or malicious activity stored in the signature database. </a:t>
            </a:r>
          </a:p>
          <a:p>
            <a:pPr eaLnBrk="1" hangingPunct="1">
              <a:spcBef>
                <a:spcPts val="600"/>
              </a:spcBef>
              <a:spcAft>
                <a:spcPts val="600"/>
              </a:spcAft>
              <a:buFont typeface="Wingdings" pitchFamily="2" charset="2"/>
              <a:buChar char="Ø"/>
            </a:pPr>
            <a:r>
              <a:rPr lang="en-US" altLang="en-US" dirty="0" smtClean="0">
                <a:ea typeface="ヒラギノ角ゴ Pro W3"/>
                <a:cs typeface="ヒラギノ角ゴ Pro W3"/>
              </a:rPr>
              <a:t>The analysis engine is the </a:t>
            </a:r>
            <a:r>
              <a:rPr lang="ja-JP" altLang="en-US" dirty="0" smtClean="0">
                <a:ea typeface="ヒラギノ角ゴ Pro W3"/>
                <a:cs typeface="ヒラギノ角ゴ Pro W3"/>
              </a:rPr>
              <a:t>“</a:t>
            </a:r>
            <a:r>
              <a:rPr lang="en-US" altLang="ja-JP" dirty="0" smtClean="0">
                <a:ea typeface="ヒラギノ角ゴ Pro W3"/>
                <a:cs typeface="ヒラギノ角ゴ Pro W3"/>
              </a:rPr>
              <a:t>brains</a:t>
            </a:r>
            <a:r>
              <a:rPr lang="ja-JP" altLang="en-US" dirty="0" smtClean="0">
                <a:ea typeface="ヒラギノ角ゴ Pro W3"/>
                <a:cs typeface="ヒラギノ角ゴ Pro W3"/>
              </a:rPr>
              <a:t>”</a:t>
            </a:r>
            <a:r>
              <a:rPr lang="en-US" altLang="ja-JP" dirty="0" smtClean="0">
                <a:ea typeface="ヒラギノ角ゴ Pro W3"/>
                <a:cs typeface="ヒラギノ角ゴ Pro W3"/>
              </a:rPr>
              <a:t> of the IDS.</a:t>
            </a:r>
          </a:p>
          <a:p>
            <a:pPr eaLnBrk="1" hangingPunct="1">
              <a:spcBef>
                <a:spcPts val="600"/>
              </a:spcBef>
              <a:spcAft>
                <a:spcPts val="600"/>
              </a:spcAft>
            </a:pPr>
            <a:r>
              <a:rPr lang="en-US" altLang="en-US" b="1" dirty="0" smtClean="0">
                <a:solidFill>
                  <a:srgbClr val="C00000"/>
                </a:solidFill>
                <a:ea typeface="ヒラギノ角ゴ Pro W3"/>
                <a:cs typeface="ヒラギノ角ゴ Pro W3"/>
              </a:rPr>
              <a:t>Signature database</a:t>
            </a:r>
          </a:p>
          <a:p>
            <a:pPr eaLnBrk="1" hangingPunct="1">
              <a:spcBef>
                <a:spcPts val="600"/>
              </a:spcBef>
              <a:spcAft>
                <a:spcPts val="600"/>
              </a:spcAft>
              <a:buFont typeface="Wingdings" pitchFamily="2" charset="2"/>
              <a:buChar char="Ø"/>
            </a:pPr>
            <a:r>
              <a:rPr lang="en-US" altLang="en-US" dirty="0" smtClean="0">
                <a:ea typeface="ヒラギノ角ゴ Pro W3"/>
                <a:cs typeface="ヒラギノ角ゴ Pro W3"/>
              </a:rPr>
              <a:t>The signature database is a collection of patterns and definitions of known suspicious or malicious activity.</a:t>
            </a:r>
          </a:p>
          <a:p>
            <a:pPr eaLnBrk="1" hangingPunct="1">
              <a:spcBef>
                <a:spcPts val="600"/>
              </a:spcBef>
              <a:spcAft>
                <a:spcPts val="600"/>
              </a:spcAft>
            </a:pPr>
            <a:r>
              <a:rPr lang="en-US" altLang="en-US" b="1" dirty="0" smtClean="0">
                <a:solidFill>
                  <a:srgbClr val="C00000"/>
                </a:solidFill>
                <a:ea typeface="ヒラギノ角ゴ Pro W3"/>
                <a:cs typeface="ヒラギノ角ゴ Pro W3"/>
              </a:rPr>
              <a:t>User interface and reporting </a:t>
            </a:r>
          </a:p>
          <a:p>
            <a:pPr eaLnBrk="1" hangingPunct="1">
              <a:spcBef>
                <a:spcPts val="600"/>
              </a:spcBef>
              <a:spcAft>
                <a:spcPts val="600"/>
              </a:spcAft>
              <a:buFont typeface="Wingdings" pitchFamily="2" charset="2"/>
              <a:buChar char="Ø"/>
            </a:pPr>
            <a:r>
              <a:rPr lang="en-US" altLang="en-US" dirty="0" smtClean="0">
                <a:ea typeface="ヒラギノ角ゴ Pro W3"/>
                <a:cs typeface="ヒラギノ角ゴ Pro W3"/>
              </a:rPr>
              <a:t>User interface and reporting interfaces with the human element, providing alerts when appropriate and giving the user a means to interact with and operate the IDS.</a:t>
            </a:r>
          </a:p>
          <a:p>
            <a:pPr eaLnBrk="1" hangingPunct="1">
              <a:spcBef>
                <a:spcPts val="600"/>
              </a:spcBef>
              <a:spcAft>
                <a:spcPts val="600"/>
              </a:spcAft>
            </a:pPr>
            <a:endParaRPr lang="en-US" altLang="en-US" dirty="0" smtClean="0">
              <a:ea typeface="ヒラギノ角ゴ Pro W3"/>
              <a:cs typeface="ヒラギノ角ゴ Pro W3"/>
            </a:endParaRPr>
          </a:p>
          <a:p>
            <a:pPr eaLnBrk="1" hangingPunct="1">
              <a:spcBef>
                <a:spcPts val="600"/>
              </a:spcBef>
              <a:spcAft>
                <a:spcPts val="600"/>
              </a:spcAft>
            </a:pPr>
            <a:endParaRPr lang="en-US" altLang="en-US" dirty="0" smtClean="0">
              <a:ea typeface="ヒラギノ角ゴ Pro W3"/>
              <a:cs typeface="ヒラギノ角ゴ Pro W3"/>
            </a:endParaRPr>
          </a:p>
          <a:p>
            <a:pPr>
              <a:spcBef>
                <a:spcPts val="600"/>
              </a:spcBef>
              <a:spcAft>
                <a:spcPts val="600"/>
              </a:spcAft>
            </a:pPr>
            <a:endParaRPr lang="en-US" altLang="en-US" dirty="0" smtClean="0">
              <a:ea typeface="ヒラギノ角ゴ Pro W3"/>
              <a:cs typeface="ヒラギノ角ゴ Pro W3"/>
            </a:endParaRPr>
          </a:p>
        </p:txBody>
      </p:sp>
    </p:spTree>
    <p:extLst>
      <p:ext uri="{BB962C8B-B14F-4D97-AF65-F5344CB8AC3E}">
        <p14:creationId xmlns:p14="http://schemas.microsoft.com/office/powerpoint/2010/main" val="110261841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365760"/>
            <a:ext cx="9518848" cy="1143000"/>
          </a:xfrm>
        </p:spPr>
        <p:txBody>
          <a:bodyPr/>
          <a:lstStyle/>
          <a:p>
            <a:r>
              <a:rPr lang="en-US" altLang="en-US" dirty="0">
                <a:ea typeface="ヒラギノ角ゴ Pro W3" charset="-128"/>
              </a:rPr>
              <a:t>Network based IDS  (NIDS)</a:t>
            </a:r>
            <a:endParaRPr lang="en-US" dirty="0"/>
          </a:p>
        </p:txBody>
      </p:sp>
      <p:sp>
        <p:nvSpPr>
          <p:cNvPr id="3" name="Content Placeholder 2"/>
          <p:cNvSpPr>
            <a:spLocks noGrp="1"/>
          </p:cNvSpPr>
          <p:nvPr>
            <p:ph idx="1"/>
          </p:nvPr>
        </p:nvSpPr>
        <p:spPr>
          <a:xfrm>
            <a:off x="623393" y="2204865"/>
            <a:ext cx="10715168" cy="3916363"/>
          </a:xfrm>
        </p:spPr>
        <p:txBody>
          <a:bodyPr/>
          <a:lstStyle/>
          <a:p>
            <a:r>
              <a:rPr lang="en-US" dirty="0"/>
              <a:t>Monitor traffic at selected points on a network (e.g., rlogins to disabled accounts)</a:t>
            </a:r>
          </a:p>
          <a:p>
            <a:r>
              <a:rPr lang="en-US" dirty="0"/>
              <a:t>In (near) real time to detect intrusion patterns</a:t>
            </a:r>
          </a:p>
          <a:p>
            <a:r>
              <a:rPr lang="en-US" dirty="0"/>
              <a:t>May examine network, transport and/or application level protocol activity directed toward systems</a:t>
            </a:r>
          </a:p>
          <a:p>
            <a:endParaRPr lang="en-US" dirty="0"/>
          </a:p>
        </p:txBody>
      </p:sp>
    </p:spTree>
    <p:extLst>
      <p:ext uri="{BB962C8B-B14F-4D97-AF65-F5344CB8AC3E}">
        <p14:creationId xmlns:p14="http://schemas.microsoft.com/office/powerpoint/2010/main" val="15436902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3"/>
          <p:cNvSpPr>
            <a:spLocks noGrp="1"/>
          </p:cNvSpPr>
          <p:nvPr>
            <p:ph type="title"/>
          </p:nvPr>
        </p:nvSpPr>
        <p:spPr>
          <a:xfrm>
            <a:off x="896112" y="771145"/>
            <a:ext cx="8138160" cy="563563"/>
          </a:xfrm>
        </p:spPr>
        <p:txBody>
          <a:bodyPr/>
          <a:lstStyle/>
          <a:p>
            <a:pPr eaLnBrk="1" hangingPunct="1"/>
            <a:r>
              <a:rPr lang="en-US" altLang="en-US" dirty="0" smtClean="0">
                <a:ea typeface="ヒラギノ角ゴ Pro W3" charset="-128"/>
              </a:rPr>
              <a:t>Network based IDS  (NIDS) Components</a:t>
            </a:r>
          </a:p>
        </p:txBody>
      </p:sp>
      <p:pic>
        <p:nvPicPr>
          <p:cNvPr id="75778" name="Content Placeholder 3" descr="F13-05.jpg"/>
          <p:cNvPicPr>
            <a:picLocks noGrp="1" noChangeAspect="1"/>
          </p:cNvPicPr>
          <p:nvPr>
            <p:ph idx="1"/>
          </p:nvPr>
        </p:nvPicPr>
        <p:blipFill>
          <a:blip r:embed="rId3" cstate="print">
            <a:extLst>
              <a:ext uri="{28A0092B-C50C-407E-A947-70E740481C1C}">
                <a14:useLocalDpi xmlns:a14="http://schemas.microsoft.com/office/drawing/2010/main" val="0"/>
              </a:ext>
            </a:extLst>
          </a:blip>
          <a:srcRect l="-2097" r="-2097"/>
          <a:stretch>
            <a:fillRect/>
          </a:stretch>
        </p:blipFill>
        <p:spPr>
          <a:xfrm>
            <a:off x="1981200" y="2027238"/>
            <a:ext cx="8229600" cy="4525962"/>
          </a:xfrm>
        </p:spPr>
      </p:pic>
    </p:spTree>
    <p:extLst>
      <p:ext uri="{BB962C8B-B14F-4D97-AF65-F5344CB8AC3E}">
        <p14:creationId xmlns:p14="http://schemas.microsoft.com/office/powerpoint/2010/main" val="6650416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3392" y="91440"/>
            <a:ext cx="9518848" cy="1143000"/>
          </a:xfrm>
        </p:spPr>
        <p:txBody>
          <a:bodyPr/>
          <a:lstStyle/>
          <a:p>
            <a:r>
              <a:rPr lang="en-US" altLang="en-US" dirty="0">
                <a:ea typeface="ヒラギノ角ゴ Pro W3" charset="-128"/>
              </a:rPr>
              <a:t>Network based IDS</a:t>
            </a:r>
            <a:endParaRPr lang="en-US" dirty="0"/>
          </a:p>
        </p:txBody>
      </p:sp>
      <p:sp>
        <p:nvSpPr>
          <p:cNvPr id="77825" name="Content Placeholder 4"/>
          <p:cNvSpPr>
            <a:spLocks noGrp="1"/>
          </p:cNvSpPr>
          <p:nvPr>
            <p:ph idx="1"/>
          </p:nvPr>
        </p:nvSpPr>
        <p:spPr>
          <a:xfrm>
            <a:off x="623392" y="1883664"/>
            <a:ext cx="11041227" cy="4237565"/>
          </a:xfrm>
        </p:spPr>
        <p:txBody>
          <a:bodyPr/>
          <a:lstStyle/>
          <a:p>
            <a:pPr eaLnBrk="1" hangingPunct="1">
              <a:spcBef>
                <a:spcPts val="600"/>
              </a:spcBef>
              <a:spcAft>
                <a:spcPts val="600"/>
              </a:spcAft>
            </a:pPr>
            <a:r>
              <a:rPr lang="en-US" altLang="en-US" dirty="0" smtClean="0">
                <a:ea typeface="ヒラギノ角ゴ Pro W3" charset="-128"/>
              </a:rPr>
              <a:t>Advantages of NIDS</a:t>
            </a:r>
          </a:p>
          <a:p>
            <a:pPr lvl="1" eaLnBrk="1" hangingPunct="1">
              <a:spcAft>
                <a:spcPts val="600"/>
              </a:spcAft>
            </a:pPr>
            <a:r>
              <a:rPr lang="en-US" altLang="en-US" sz="2400" dirty="0" smtClean="0">
                <a:latin typeface="Adobe Caslon Pro" panose="0205050205050A020403" pitchFamily="18" charset="0"/>
                <a:ea typeface="ヒラギノ角ゴ Pro W3" charset="-128"/>
              </a:rPr>
              <a:t>Providing IDS coverage requires fewer systems.</a:t>
            </a:r>
          </a:p>
          <a:p>
            <a:pPr lvl="1" eaLnBrk="1" hangingPunct="1">
              <a:spcAft>
                <a:spcPts val="600"/>
              </a:spcAft>
            </a:pPr>
            <a:r>
              <a:rPr lang="en-US" altLang="en-US" sz="2400" dirty="0" smtClean="0">
                <a:latin typeface="Adobe Caslon Pro" panose="0205050205050A020403" pitchFamily="18" charset="0"/>
                <a:ea typeface="ヒラギノ角ゴ Pro W3" charset="-128"/>
              </a:rPr>
              <a:t>Deployment, maintenance, and upgrade costs are usually lower.</a:t>
            </a:r>
          </a:p>
          <a:p>
            <a:pPr lvl="1" eaLnBrk="1" hangingPunct="1">
              <a:spcAft>
                <a:spcPts val="600"/>
              </a:spcAft>
            </a:pPr>
            <a:r>
              <a:rPr lang="en-US" altLang="en-US" sz="2400" dirty="0" smtClean="0">
                <a:latin typeface="Adobe Caslon Pro" panose="0205050205050A020403" pitchFamily="18" charset="0"/>
                <a:ea typeface="ヒラギノ角ゴ Pro W3" charset="-128"/>
              </a:rPr>
              <a:t>A NIDS has visibility into all network traffic and can correlate attacks among multiple systems.</a:t>
            </a:r>
          </a:p>
          <a:p>
            <a:pPr eaLnBrk="1" hangingPunct="1">
              <a:spcBef>
                <a:spcPts val="600"/>
              </a:spcBef>
              <a:spcAft>
                <a:spcPts val="600"/>
              </a:spcAft>
            </a:pPr>
            <a:r>
              <a:rPr lang="en-US" altLang="en-US" dirty="0" smtClean="0">
                <a:ea typeface="ヒラギノ角ゴ Pro W3" charset="-128"/>
              </a:rPr>
              <a:t>Disadvantages of NIDS</a:t>
            </a:r>
          </a:p>
          <a:p>
            <a:pPr lvl="1" eaLnBrk="1" hangingPunct="1">
              <a:spcAft>
                <a:spcPts val="600"/>
              </a:spcAft>
            </a:pPr>
            <a:r>
              <a:rPr lang="en-US" altLang="en-US" sz="2400" dirty="0" smtClean="0">
                <a:latin typeface="Adobe Caslon Pro" panose="0205050205050A020403" pitchFamily="18" charset="0"/>
                <a:ea typeface="ヒラギノ角ゴ Pro W3" charset="-128"/>
              </a:rPr>
              <a:t>It is ineffective when traffic is encrypted.</a:t>
            </a:r>
          </a:p>
          <a:p>
            <a:pPr lvl="1" eaLnBrk="1" hangingPunct="1">
              <a:spcAft>
                <a:spcPts val="600"/>
              </a:spcAft>
            </a:pPr>
            <a:r>
              <a:rPr lang="en-US" altLang="en-US" sz="2400" dirty="0" smtClean="0">
                <a:latin typeface="Adobe Caslon Pro" panose="0205050205050A020403" pitchFamily="18" charset="0"/>
                <a:ea typeface="ヒラギノ角ゴ Pro W3" charset="-128"/>
              </a:rPr>
              <a:t>It </a:t>
            </a:r>
            <a:r>
              <a:rPr lang="en-US" altLang="en-US" sz="2400" dirty="0" smtClean="0">
                <a:latin typeface="Adobe Caslon Pro" panose="0205050205050A020403" pitchFamily="18" charset="0"/>
                <a:ea typeface="ヒラギノ角ゴ Pro W3" charset="-128"/>
              </a:rPr>
              <a:t>can’ </a:t>
            </a:r>
            <a:r>
              <a:rPr lang="en-US" altLang="ja-JP" sz="2400" dirty="0" smtClean="0">
                <a:latin typeface="Adobe Caslon Pro" panose="0205050205050A020403" pitchFamily="18" charset="0"/>
                <a:ea typeface="ヒラギノ角ゴ Pro W3" charset="-128"/>
              </a:rPr>
              <a:t>t </a:t>
            </a:r>
            <a:r>
              <a:rPr lang="en-US" altLang="ja-JP" sz="2400" dirty="0" smtClean="0">
                <a:latin typeface="Adobe Caslon Pro" panose="0205050205050A020403" pitchFamily="18" charset="0"/>
                <a:ea typeface="ヒラギノ角ゴ Pro W3" charset="-128"/>
              </a:rPr>
              <a:t>see traffic that does not cross it.</a:t>
            </a:r>
          </a:p>
          <a:p>
            <a:pPr lvl="1" eaLnBrk="1" hangingPunct="1">
              <a:spcAft>
                <a:spcPts val="600"/>
              </a:spcAft>
            </a:pPr>
            <a:r>
              <a:rPr lang="en-US" altLang="en-US" sz="2400" dirty="0" smtClean="0">
                <a:latin typeface="Adobe Caslon Pro" panose="0205050205050A020403" pitchFamily="18" charset="0"/>
                <a:ea typeface="ヒラギノ角ゴ Pro W3" charset="-128"/>
              </a:rPr>
              <a:t>It must be able to handle high volumes of traffic.</a:t>
            </a:r>
          </a:p>
          <a:p>
            <a:pPr lvl="1" eaLnBrk="1" hangingPunct="1">
              <a:spcAft>
                <a:spcPts val="600"/>
              </a:spcAft>
            </a:pPr>
            <a:r>
              <a:rPr lang="en-US" altLang="en-US" sz="2400" dirty="0" smtClean="0">
                <a:latin typeface="Adobe Caslon Pro" panose="0205050205050A020403" pitchFamily="18" charset="0"/>
                <a:ea typeface="ヒラギノ角ゴ Pro W3" charset="-128"/>
              </a:rPr>
              <a:t>It doesn'</a:t>
            </a:r>
            <a:r>
              <a:rPr lang="en-US" altLang="ja-JP" sz="2400" dirty="0" smtClean="0">
                <a:latin typeface="Adobe Caslon Pro" panose="0205050205050A020403" pitchFamily="18" charset="0"/>
                <a:ea typeface="ヒラギノ角ゴ Pro W3" charset="-128"/>
              </a:rPr>
              <a:t>t know about activity on the hosts themselves.</a:t>
            </a:r>
          </a:p>
          <a:p>
            <a:pPr lvl="1" eaLnBrk="1" hangingPunct="1">
              <a:spcAft>
                <a:spcPts val="600"/>
              </a:spcAft>
            </a:pPr>
            <a:endParaRPr lang="en-US" altLang="en-US" sz="2400" dirty="0" smtClean="0">
              <a:latin typeface="Adobe Caslon Pro" panose="0205050205050A020403" pitchFamily="18" charset="0"/>
              <a:ea typeface="ヒラギノ角ゴ Pro W3" charset="-128"/>
            </a:endParaRPr>
          </a:p>
          <a:p>
            <a:pPr eaLnBrk="1" hangingPunct="1">
              <a:spcBef>
                <a:spcPts val="600"/>
              </a:spcBef>
              <a:spcAft>
                <a:spcPts val="600"/>
              </a:spcAft>
            </a:pPr>
            <a:endParaRPr lang="en-US" altLang="en-US" dirty="0" smtClean="0">
              <a:ea typeface="ヒラギノ角ゴ Pro W3" charset="-128"/>
            </a:endParaRPr>
          </a:p>
        </p:txBody>
      </p:sp>
    </p:spTree>
    <p:extLst>
      <p:ext uri="{BB962C8B-B14F-4D97-AF65-F5344CB8AC3E}">
        <p14:creationId xmlns:p14="http://schemas.microsoft.com/office/powerpoint/2010/main" val="27521340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Host-Based IDS (HIDS)</a:t>
            </a:r>
            <a:br>
              <a:rPr lang="en-US" altLang="en-US" dirty="0"/>
            </a:br>
            <a:endParaRPr lang="en-US" dirty="0"/>
          </a:p>
        </p:txBody>
      </p:sp>
      <p:sp>
        <p:nvSpPr>
          <p:cNvPr id="5" name="Content Placeholder 4"/>
          <p:cNvSpPr>
            <a:spLocks noGrp="1"/>
          </p:cNvSpPr>
          <p:nvPr>
            <p:ph idx="1"/>
          </p:nvPr>
        </p:nvSpPr>
        <p:spPr>
          <a:xfrm>
            <a:off x="623392" y="1920241"/>
            <a:ext cx="11041227" cy="4200988"/>
          </a:xfrm>
        </p:spPr>
        <p:txBody>
          <a:bodyPr/>
          <a:lstStyle/>
          <a:p>
            <a:pPr eaLnBrk="1" hangingPunct="1">
              <a:lnSpc>
                <a:spcPct val="114000"/>
              </a:lnSpc>
              <a:spcBef>
                <a:spcPts val="600"/>
              </a:spcBef>
              <a:spcAft>
                <a:spcPts val="600"/>
              </a:spcAft>
              <a:defRPr/>
            </a:pPr>
            <a:r>
              <a:rPr lang="en-US" dirty="0"/>
              <a:t>Examines activity only on a specific host</a:t>
            </a:r>
          </a:p>
          <a:p>
            <a:pPr lvl="1" eaLnBrk="1" hangingPunct="1">
              <a:lnSpc>
                <a:spcPct val="114000"/>
              </a:lnSpc>
              <a:spcAft>
                <a:spcPts val="600"/>
              </a:spcAft>
              <a:defRPr/>
            </a:pPr>
            <a:r>
              <a:rPr lang="en-US" sz="2400" kern="1200" dirty="0" smtClean="0">
                <a:latin typeface="Adobe Caslon Pro" panose="0205050205050A020403" pitchFamily="18" charset="0"/>
              </a:rPr>
              <a:t>Examines logs, audit trails, and network traffic coming into or leaving the host</a:t>
            </a:r>
          </a:p>
          <a:p>
            <a:pPr lvl="1" eaLnBrk="1" hangingPunct="1">
              <a:lnSpc>
                <a:spcPct val="114000"/>
              </a:lnSpc>
              <a:spcAft>
                <a:spcPts val="600"/>
              </a:spcAft>
              <a:defRPr/>
            </a:pPr>
            <a:r>
              <a:rPr lang="en-US" sz="2400" kern="1200" dirty="0" smtClean="0">
                <a:latin typeface="Adobe Caslon Pro" panose="0205050205050A020403" pitchFamily="18" charset="0"/>
              </a:rPr>
              <a:t>Examination is done in real time or periodically</a:t>
            </a:r>
          </a:p>
          <a:p>
            <a:pPr eaLnBrk="1" hangingPunct="1">
              <a:lnSpc>
                <a:spcPct val="114000"/>
              </a:lnSpc>
              <a:spcBef>
                <a:spcPts val="600"/>
              </a:spcBef>
              <a:spcAft>
                <a:spcPts val="600"/>
              </a:spcAft>
              <a:defRPr/>
            </a:pPr>
            <a:r>
              <a:rPr lang="en-US" kern="1200" dirty="0" smtClean="0"/>
              <a:t>Flags that may raise the alarm in a HIDS</a:t>
            </a:r>
          </a:p>
          <a:p>
            <a:pPr lvl="1" eaLnBrk="1" hangingPunct="1">
              <a:lnSpc>
                <a:spcPct val="114000"/>
              </a:lnSpc>
              <a:spcAft>
                <a:spcPts val="600"/>
              </a:spcAft>
              <a:defRPr/>
            </a:pPr>
            <a:r>
              <a:rPr lang="en-US" sz="2400" kern="1200" dirty="0" smtClean="0">
                <a:latin typeface="Adobe Caslon Pro" panose="0205050205050A020403" pitchFamily="18" charset="0"/>
              </a:rPr>
              <a:t>Login failures</a:t>
            </a:r>
          </a:p>
          <a:p>
            <a:pPr lvl="1" eaLnBrk="1" hangingPunct="1">
              <a:lnSpc>
                <a:spcPct val="114000"/>
              </a:lnSpc>
              <a:spcAft>
                <a:spcPts val="600"/>
              </a:spcAft>
              <a:defRPr/>
            </a:pPr>
            <a:r>
              <a:rPr lang="en-US" sz="2400" kern="1200" dirty="0" smtClean="0">
                <a:latin typeface="Adobe Caslon Pro" panose="0205050205050A020403" pitchFamily="18" charset="0"/>
              </a:rPr>
              <a:t>Logins at irregular hours</a:t>
            </a:r>
          </a:p>
          <a:p>
            <a:pPr lvl="1" eaLnBrk="1" hangingPunct="1">
              <a:lnSpc>
                <a:spcPct val="114000"/>
              </a:lnSpc>
              <a:spcAft>
                <a:spcPts val="600"/>
              </a:spcAft>
              <a:defRPr/>
            </a:pPr>
            <a:r>
              <a:rPr lang="en-US" sz="2400" kern="1200" dirty="0" smtClean="0">
                <a:latin typeface="Adobe Caslon Pro" panose="0205050205050A020403" pitchFamily="18" charset="0"/>
              </a:rPr>
              <a:t>Privilege escalation</a:t>
            </a:r>
          </a:p>
          <a:p>
            <a:pPr lvl="1" eaLnBrk="1" hangingPunct="1">
              <a:lnSpc>
                <a:spcPct val="114000"/>
              </a:lnSpc>
              <a:spcAft>
                <a:spcPts val="600"/>
              </a:spcAft>
              <a:defRPr/>
            </a:pPr>
            <a:r>
              <a:rPr lang="en-US" sz="2400" kern="1200" dirty="0" smtClean="0">
                <a:latin typeface="Adobe Caslon Pro" panose="0205050205050A020403" pitchFamily="18" charset="0"/>
              </a:rPr>
              <a:t>Additions of new user accounts</a:t>
            </a:r>
          </a:p>
          <a:p>
            <a:pPr lvl="1" eaLnBrk="1" hangingPunct="1">
              <a:defRPr/>
            </a:pPr>
            <a:endParaRPr lang="en-US" kern="1200" dirty="0" smtClean="0"/>
          </a:p>
        </p:txBody>
      </p:sp>
    </p:spTree>
    <p:extLst>
      <p:ext uri="{BB962C8B-B14F-4D97-AF65-F5344CB8AC3E}">
        <p14:creationId xmlns:p14="http://schemas.microsoft.com/office/powerpoint/2010/main" val="1452518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How HIDS Work</a:t>
            </a:r>
            <a:br>
              <a:rPr lang="en-US" altLang="en-US" dirty="0"/>
            </a:br>
            <a:endParaRPr lang="en-US" dirty="0"/>
          </a:p>
        </p:txBody>
      </p:sp>
      <p:sp>
        <p:nvSpPr>
          <p:cNvPr id="5" name="Content Placeholder 4"/>
          <p:cNvSpPr>
            <a:spLocks noGrp="1"/>
          </p:cNvSpPr>
          <p:nvPr>
            <p:ph idx="1"/>
          </p:nvPr>
        </p:nvSpPr>
        <p:spPr/>
        <p:txBody>
          <a:bodyPr/>
          <a:lstStyle/>
          <a:p>
            <a:pPr eaLnBrk="1" hangingPunct="1">
              <a:lnSpc>
                <a:spcPct val="114000"/>
              </a:lnSpc>
              <a:spcBef>
                <a:spcPts val="600"/>
              </a:spcBef>
              <a:spcAft>
                <a:spcPts val="600"/>
              </a:spcAft>
              <a:defRPr/>
            </a:pPr>
            <a:r>
              <a:rPr lang="en-US" kern="1200" dirty="0" smtClean="0"/>
              <a:t>The traffic collector aggregates information.</a:t>
            </a:r>
          </a:p>
          <a:p>
            <a:pPr eaLnBrk="1" hangingPunct="1">
              <a:lnSpc>
                <a:spcPct val="114000"/>
              </a:lnSpc>
              <a:spcBef>
                <a:spcPts val="600"/>
              </a:spcBef>
              <a:spcAft>
                <a:spcPts val="600"/>
              </a:spcAft>
              <a:defRPr/>
            </a:pPr>
            <a:r>
              <a:rPr lang="en-US" kern="1200" dirty="0" smtClean="0"/>
              <a:t>The analysis engine reviews the data.</a:t>
            </a:r>
          </a:p>
          <a:p>
            <a:pPr lvl="1" eaLnBrk="1" hangingPunct="1">
              <a:lnSpc>
                <a:spcPct val="114000"/>
              </a:lnSpc>
              <a:spcAft>
                <a:spcPts val="600"/>
              </a:spcAft>
              <a:defRPr/>
            </a:pPr>
            <a:r>
              <a:rPr lang="en-US" sz="2400" kern="1200" dirty="0" smtClean="0">
                <a:latin typeface="Adobe Caslon Pro" panose="0205050205050A020403" pitchFamily="18" charset="0"/>
              </a:rPr>
              <a:t>May implement a decision tree to classify activities and make decisions</a:t>
            </a:r>
          </a:p>
          <a:p>
            <a:pPr lvl="1" eaLnBrk="1" hangingPunct="1">
              <a:lnSpc>
                <a:spcPct val="114000"/>
              </a:lnSpc>
              <a:spcAft>
                <a:spcPts val="600"/>
              </a:spcAft>
              <a:defRPr/>
            </a:pPr>
            <a:r>
              <a:rPr lang="en-US" sz="2400" kern="1200" dirty="0" smtClean="0">
                <a:latin typeface="Adobe Caslon Pro" panose="0205050205050A020403" pitchFamily="18" charset="0"/>
              </a:rPr>
              <a:t>Signature database may be used to match activities to predefined activity or patterns</a:t>
            </a:r>
          </a:p>
          <a:p>
            <a:pPr eaLnBrk="1" hangingPunct="1">
              <a:lnSpc>
                <a:spcPct val="114000"/>
              </a:lnSpc>
              <a:spcBef>
                <a:spcPts val="600"/>
              </a:spcBef>
              <a:spcAft>
                <a:spcPts val="600"/>
              </a:spcAft>
              <a:defRPr/>
            </a:pPr>
            <a:r>
              <a:rPr lang="en-US" kern="1200" dirty="0" smtClean="0"/>
              <a:t>Users work with HIDS through the user interface which include the visible components of the HIDS.</a:t>
            </a:r>
          </a:p>
          <a:p>
            <a:pPr lvl="1" eaLnBrk="1" hangingPunct="1">
              <a:defRPr/>
            </a:pPr>
            <a:endParaRPr lang="en-US" kern="1200" dirty="0" smtClean="0"/>
          </a:p>
          <a:p>
            <a:pPr eaLnBrk="1" hangingPunct="1">
              <a:defRPr/>
            </a:pPr>
            <a:endParaRPr lang="en-US" kern="1200" dirty="0" smtClean="0"/>
          </a:p>
          <a:p>
            <a:pPr eaLnBrk="1" hangingPunct="1">
              <a:defRPr/>
            </a:pPr>
            <a:endParaRPr lang="en-US" kern="1200" dirty="0" smtClean="0"/>
          </a:p>
          <a:p>
            <a:pPr eaLnBrk="1" hangingPunct="1">
              <a:defRPr/>
            </a:pPr>
            <a:endParaRPr lang="en-US" kern="1200" dirty="0" smtClean="0"/>
          </a:p>
          <a:p>
            <a:pPr lvl="1" eaLnBrk="1" hangingPunct="1">
              <a:defRPr/>
            </a:pPr>
            <a:endParaRPr lang="en-US" kern="1200" dirty="0" smtClean="0"/>
          </a:p>
        </p:txBody>
      </p:sp>
    </p:spTree>
    <p:extLst>
      <p:ext uri="{BB962C8B-B14F-4D97-AF65-F5344CB8AC3E}">
        <p14:creationId xmlns:p14="http://schemas.microsoft.com/office/powerpoint/2010/main" val="3304506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Advantages of HIDS</a:t>
            </a:r>
            <a:br>
              <a:rPr lang="en-US" altLang="en-US" dirty="0"/>
            </a:br>
            <a:endParaRPr lang="en-US" dirty="0"/>
          </a:p>
        </p:txBody>
      </p:sp>
      <p:sp>
        <p:nvSpPr>
          <p:cNvPr id="83969" name="Content Placeholder 4"/>
          <p:cNvSpPr>
            <a:spLocks noGrp="1"/>
          </p:cNvSpPr>
          <p:nvPr>
            <p:ph idx="1"/>
          </p:nvPr>
        </p:nvSpPr>
        <p:spPr/>
        <p:txBody>
          <a:bodyPr/>
          <a:lstStyle/>
          <a:p>
            <a:pPr eaLnBrk="1" hangingPunct="1"/>
            <a:r>
              <a:rPr lang="en-US" altLang="en-US" smtClean="0">
                <a:ea typeface="ヒラギノ角ゴ Pro W3" charset="-128"/>
              </a:rPr>
              <a:t>Can be very operating system-specific</a:t>
            </a:r>
          </a:p>
          <a:p>
            <a:pPr eaLnBrk="1" hangingPunct="1"/>
            <a:r>
              <a:rPr lang="en-US" altLang="en-US" smtClean="0">
                <a:ea typeface="ヒラギノ角ゴ Pro W3" charset="-128"/>
              </a:rPr>
              <a:t>Can reduce false-positive rates</a:t>
            </a:r>
          </a:p>
          <a:p>
            <a:pPr eaLnBrk="1" hangingPunct="1"/>
            <a:r>
              <a:rPr lang="en-US" altLang="en-US" smtClean="0">
                <a:ea typeface="ヒラギノ角ゴ Pro W3" charset="-128"/>
              </a:rPr>
              <a:t>Can examine data after it has been decrypted</a:t>
            </a:r>
          </a:p>
          <a:p>
            <a:pPr eaLnBrk="1" hangingPunct="1"/>
            <a:r>
              <a:rPr lang="en-US" altLang="en-US" smtClean="0">
                <a:ea typeface="ヒラギノ角ゴ Pro W3" charset="-128"/>
              </a:rPr>
              <a:t>Can be very application specific</a:t>
            </a:r>
          </a:p>
          <a:p>
            <a:pPr eaLnBrk="1" hangingPunct="1"/>
            <a:r>
              <a:rPr lang="en-US" altLang="en-US" smtClean="0">
                <a:ea typeface="ヒラギノ角ゴ Pro W3" charset="-128"/>
              </a:rPr>
              <a:t>Can determine how an alarm will impact a system</a:t>
            </a:r>
          </a:p>
          <a:p>
            <a:pPr eaLnBrk="1" hangingPunct="1"/>
            <a:endParaRPr lang="en-US" altLang="en-US" smtClean="0">
              <a:ea typeface="ヒラギノ角ゴ Pro W3" charset="-128"/>
            </a:endParaRPr>
          </a:p>
          <a:p>
            <a:pPr eaLnBrk="1" hangingPunct="1"/>
            <a:endParaRPr lang="en-US" altLang="en-US" smtClean="0">
              <a:ea typeface="ヒラギノ角ゴ Pro W3" charset="-128"/>
            </a:endParaRPr>
          </a:p>
          <a:p>
            <a:pPr eaLnBrk="1" hangingPunct="1"/>
            <a:endParaRPr lang="en-US" altLang="en-US" smtClean="0">
              <a:ea typeface="ヒラギノ角ゴ Pro W3" charset="-128"/>
            </a:endParaRPr>
          </a:p>
          <a:p>
            <a:pPr lvl="1" eaLnBrk="1" hangingPunct="1"/>
            <a:endParaRPr lang="en-US" altLang="en-US" smtClean="0">
              <a:ea typeface="ヒラギノ角ゴ Pro W3" charset="-128"/>
            </a:endParaRPr>
          </a:p>
        </p:txBody>
      </p:sp>
    </p:spTree>
    <p:extLst>
      <p:ext uri="{BB962C8B-B14F-4D97-AF65-F5344CB8AC3E}">
        <p14:creationId xmlns:p14="http://schemas.microsoft.com/office/powerpoint/2010/main" val="16437507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t>Disadvantages of HIDS</a:t>
            </a:r>
            <a:br>
              <a:rPr lang="en-US" altLang="en-US" dirty="0"/>
            </a:br>
            <a:endParaRPr lang="en-US" dirty="0"/>
          </a:p>
        </p:txBody>
      </p:sp>
      <p:sp>
        <p:nvSpPr>
          <p:cNvPr id="86017" name="Content Placeholder 4"/>
          <p:cNvSpPr>
            <a:spLocks noGrp="1"/>
          </p:cNvSpPr>
          <p:nvPr>
            <p:ph idx="1"/>
          </p:nvPr>
        </p:nvSpPr>
        <p:spPr/>
        <p:txBody>
          <a:bodyPr/>
          <a:lstStyle/>
          <a:p>
            <a:pPr eaLnBrk="1" hangingPunct="1"/>
            <a:r>
              <a:rPr lang="en-US" altLang="en-US" smtClean="0">
                <a:ea typeface="ヒラギノ角ゴ Pro W3" charset="-128"/>
              </a:rPr>
              <a:t>Must process information on every system you want to watch</a:t>
            </a:r>
          </a:p>
          <a:p>
            <a:pPr eaLnBrk="1" hangingPunct="1"/>
            <a:r>
              <a:rPr lang="en-US" altLang="en-US" smtClean="0">
                <a:ea typeface="ヒラギノ角ゴ Pro W3" charset="-128"/>
              </a:rPr>
              <a:t>May have a high cost of ownership and maintenance</a:t>
            </a:r>
          </a:p>
          <a:p>
            <a:pPr eaLnBrk="1" hangingPunct="1"/>
            <a:r>
              <a:rPr lang="en-US" altLang="en-US" smtClean="0">
                <a:ea typeface="ヒラギノ角ゴ Pro W3" charset="-128"/>
              </a:rPr>
              <a:t>Uses local system resources</a:t>
            </a:r>
          </a:p>
          <a:p>
            <a:pPr eaLnBrk="1" hangingPunct="1"/>
            <a:r>
              <a:rPr lang="en-US" altLang="en-US" smtClean="0">
                <a:ea typeface="ヒラギノ角ゴ Pro W3" charset="-128"/>
              </a:rPr>
              <a:t>A focused view and cannot relate to activity around it</a:t>
            </a:r>
          </a:p>
          <a:p>
            <a:pPr eaLnBrk="1" hangingPunct="1"/>
            <a:r>
              <a:rPr lang="en-US" altLang="en-US" smtClean="0">
                <a:ea typeface="ヒラギノ角ゴ Pro W3" charset="-128"/>
              </a:rPr>
              <a:t>If logged locally, could be compromised or disabled</a:t>
            </a:r>
          </a:p>
        </p:txBody>
      </p:sp>
    </p:spTree>
    <p:extLst>
      <p:ext uri="{BB962C8B-B14F-4D97-AF65-F5344CB8AC3E}">
        <p14:creationId xmlns:p14="http://schemas.microsoft.com/office/powerpoint/2010/main" val="42164372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3"/>
          <p:cNvSpPr>
            <a:spLocks noGrp="1"/>
          </p:cNvSpPr>
          <p:nvPr>
            <p:ph type="title"/>
          </p:nvPr>
        </p:nvSpPr>
        <p:spPr>
          <a:xfrm>
            <a:off x="623392" y="246888"/>
            <a:ext cx="9518848" cy="1143000"/>
          </a:xfrm>
        </p:spPr>
        <p:txBody>
          <a:bodyPr/>
          <a:lstStyle/>
          <a:p>
            <a:r>
              <a:rPr lang="en-US" altLang="en-US" dirty="0">
                <a:ea typeface="ヒラギノ角ゴ Pro W3" charset="-128"/>
              </a:rPr>
              <a:t>Types of IDS </a:t>
            </a:r>
          </a:p>
        </p:txBody>
      </p:sp>
      <p:sp>
        <p:nvSpPr>
          <p:cNvPr id="88066" name="Content Placeholder 2"/>
          <p:cNvSpPr>
            <a:spLocks noGrp="1"/>
          </p:cNvSpPr>
          <p:nvPr>
            <p:ph idx="1"/>
          </p:nvPr>
        </p:nvSpPr>
        <p:spPr/>
        <p:txBody>
          <a:bodyPr/>
          <a:lstStyle/>
          <a:p>
            <a:pPr eaLnBrk="1" hangingPunct="1">
              <a:buFontTx/>
              <a:buNone/>
            </a:pPr>
            <a:endParaRPr lang="en-US" altLang="en-US" dirty="0" smtClean="0">
              <a:ea typeface="ヒラギノ角ゴ Pro W3" charset="-128"/>
            </a:endParaRPr>
          </a:p>
          <a:p>
            <a:pPr eaLnBrk="1" hangingPunct="1">
              <a:lnSpc>
                <a:spcPct val="114000"/>
              </a:lnSpc>
              <a:spcBef>
                <a:spcPts val="600"/>
              </a:spcBef>
              <a:spcAft>
                <a:spcPts val="600"/>
              </a:spcAft>
            </a:pPr>
            <a:r>
              <a:rPr lang="en-US" altLang="en-US" dirty="0" smtClean="0">
                <a:ea typeface="ヒラギノ角ゴ Pro W3" charset="-128"/>
              </a:rPr>
              <a:t>Distinguished by detection method:</a:t>
            </a:r>
          </a:p>
          <a:p>
            <a:pPr lvl="1" eaLnBrk="1" hangingPunct="1">
              <a:lnSpc>
                <a:spcPct val="114000"/>
              </a:lnSpc>
              <a:spcAft>
                <a:spcPts val="600"/>
              </a:spcAft>
            </a:pPr>
            <a:r>
              <a:rPr lang="en-US" altLang="en-US" sz="2400" dirty="0" smtClean="0">
                <a:latin typeface="Adobe Caslon Pro" panose="0205050205050A020403" pitchFamily="18" charset="0"/>
                <a:ea typeface="ヒラギノ角ゴ Pro W3" charset="-128"/>
              </a:rPr>
              <a:t>Signature-based IDS - </a:t>
            </a:r>
            <a:r>
              <a:rPr lang="en-US" altLang="en-US" sz="2400" b="0" dirty="0" smtClean="0">
                <a:latin typeface="Adobe Caslon Pro" panose="0205050205050A020403" pitchFamily="18" charset="0"/>
                <a:ea typeface="ヒラギノ角ゴ Pro W3" charset="-128"/>
              </a:rPr>
              <a:t>Relies heavily on a predefined set of attack and traffic patterns called signatures.</a:t>
            </a:r>
          </a:p>
          <a:p>
            <a:pPr lvl="1" eaLnBrk="1" hangingPunct="1">
              <a:lnSpc>
                <a:spcPct val="114000"/>
              </a:lnSpc>
              <a:spcAft>
                <a:spcPts val="600"/>
              </a:spcAft>
            </a:pPr>
            <a:r>
              <a:rPr lang="en-US" altLang="en-US" sz="2400" dirty="0" smtClean="0">
                <a:latin typeface="Adobe Caslon Pro" panose="0205050205050A020403" pitchFamily="18" charset="0"/>
                <a:ea typeface="ヒラギノ角ゴ Pro W3" charset="-128"/>
              </a:rPr>
              <a:t>Anomaly-based (heuristic) IDS - </a:t>
            </a:r>
            <a:r>
              <a:rPr lang="en-US" altLang="en-US" sz="2400" b="0" dirty="0" smtClean="0">
                <a:latin typeface="Adobe Caslon Pro" panose="0205050205050A020403" pitchFamily="18" charset="0"/>
                <a:ea typeface="ヒラギノ角ゴ Pro W3" charset="-128"/>
              </a:rPr>
              <a:t>Monitors activity and attempts to classify it as either </a:t>
            </a:r>
            <a:r>
              <a:rPr lang="ja-JP" altLang="en-US" sz="2400" b="0" dirty="0" smtClean="0">
                <a:latin typeface="Adobe Caslon Pro" panose="0205050205050A020403" pitchFamily="18" charset="0"/>
                <a:ea typeface="ヒラギノ角ゴ Pro W3" charset="-128"/>
              </a:rPr>
              <a:t>“</a:t>
            </a:r>
            <a:r>
              <a:rPr lang="en-US" altLang="ja-JP" sz="2400" b="0" dirty="0" smtClean="0">
                <a:latin typeface="Adobe Caslon Pro" panose="0205050205050A020403" pitchFamily="18" charset="0"/>
                <a:ea typeface="ヒラギノ角ゴ Pro W3" charset="-128"/>
              </a:rPr>
              <a:t>normal</a:t>
            </a:r>
            <a:r>
              <a:rPr lang="ja-JP" altLang="en-US" sz="2400" b="0" dirty="0" smtClean="0">
                <a:latin typeface="Adobe Caslon Pro" panose="0205050205050A020403" pitchFamily="18" charset="0"/>
                <a:ea typeface="ヒラギノ角ゴ Pro W3" charset="-128"/>
              </a:rPr>
              <a:t>”</a:t>
            </a:r>
            <a:r>
              <a:rPr lang="en-US" altLang="ja-JP" sz="2400" b="0" dirty="0" smtClean="0">
                <a:latin typeface="Adobe Caslon Pro" panose="0205050205050A020403" pitchFamily="18" charset="0"/>
                <a:ea typeface="ヒラギノ角ゴ Pro W3" charset="-128"/>
              </a:rPr>
              <a:t> or </a:t>
            </a:r>
            <a:r>
              <a:rPr lang="ja-JP" altLang="en-US" sz="2400" b="0" dirty="0" smtClean="0">
                <a:latin typeface="Adobe Caslon Pro" panose="0205050205050A020403" pitchFamily="18" charset="0"/>
                <a:ea typeface="ヒラギノ角ゴ Pro W3" charset="-128"/>
              </a:rPr>
              <a:t>“</a:t>
            </a:r>
            <a:r>
              <a:rPr lang="en-US" altLang="ja-JP" sz="2400" b="0" dirty="0" smtClean="0">
                <a:latin typeface="Adobe Caslon Pro" panose="0205050205050A020403" pitchFamily="18" charset="0"/>
                <a:ea typeface="ヒラギノ角ゴ Pro W3" charset="-128"/>
              </a:rPr>
              <a:t>anomalous.</a:t>
            </a:r>
            <a:r>
              <a:rPr lang="ja-JP" altLang="en-US" sz="2400" b="0" dirty="0" smtClean="0">
                <a:latin typeface="Adobe Caslon Pro" panose="0205050205050A020403" pitchFamily="18" charset="0"/>
                <a:ea typeface="ヒラギノ角ゴ Pro W3" charset="-128"/>
              </a:rPr>
              <a:t>”</a:t>
            </a:r>
            <a:endParaRPr lang="en-US" altLang="ja-JP" sz="2400" b="0" dirty="0" smtClean="0">
              <a:latin typeface="Adobe Caslon Pro" panose="0205050205050A020403" pitchFamily="18" charset="0"/>
              <a:ea typeface="ヒラギノ角ゴ Pro W3" charset="-128"/>
            </a:endParaRPr>
          </a:p>
          <a:p>
            <a:endParaRPr lang="en-US" altLang="en-US" dirty="0" smtClean="0">
              <a:ea typeface="ヒラギノ角ゴ Pro W3" charset="-128"/>
            </a:endParaRPr>
          </a:p>
        </p:txBody>
      </p:sp>
    </p:spTree>
    <p:extLst>
      <p:ext uri="{BB962C8B-B14F-4D97-AF65-F5344CB8AC3E}">
        <p14:creationId xmlns:p14="http://schemas.microsoft.com/office/powerpoint/2010/main" val="280617781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pic>
        <p:nvPicPr>
          <p:cNvPr id="166" name="Shape 166"/>
          <p:cNvPicPr preferRelativeResize="0"/>
          <p:nvPr/>
        </p:nvPicPr>
        <p:blipFill rotWithShape="1">
          <a:blip r:embed="rId3">
            <a:alphaModFix/>
          </a:blip>
          <a:srcRect l="52825"/>
          <a:stretch/>
        </p:blipFill>
        <p:spPr>
          <a:xfrm>
            <a:off x="505867" y="1600201"/>
            <a:ext cx="3765410" cy="4621099"/>
          </a:xfrm>
          <a:prstGeom prst="rect">
            <a:avLst/>
          </a:prstGeom>
          <a:noFill/>
          <a:ln>
            <a:noFill/>
          </a:ln>
        </p:spPr>
      </p:pic>
      <p:sp>
        <p:nvSpPr>
          <p:cNvPr id="167" name="Shape 167"/>
          <p:cNvSpPr txBox="1">
            <a:spLocks noGrp="1"/>
          </p:cNvSpPr>
          <p:nvPr>
            <p:ph type="body" idx="1"/>
          </p:nvPr>
        </p:nvSpPr>
        <p:spPr>
          <a:xfrm>
            <a:off x="5181600" y="1600201"/>
            <a:ext cx="6422136" cy="4904699"/>
          </a:xfrm>
          <a:prstGeom prst="rect">
            <a:avLst/>
          </a:prstGeom>
        </p:spPr>
        <p:txBody>
          <a:bodyPr vert="horz" wrap="square" lIns="117825" tIns="117825" rIns="117825" bIns="117825" numCol="1" anchor="t" anchorCtr="0" compatLnSpc="1">
            <a:prstTxWarp prst="textNoShape">
              <a:avLst/>
            </a:prstTxWarp>
            <a:noAutofit/>
          </a:bodyPr>
          <a:lstStyle/>
          <a:p>
            <a:pPr marL="0" indent="0">
              <a:lnSpc>
                <a:spcPct val="100000"/>
              </a:lnSpc>
              <a:spcBef>
                <a:spcPts val="0"/>
              </a:spcBef>
              <a:buNone/>
            </a:pPr>
            <a:r>
              <a:rPr lang="en-US" sz="2800" b="1" dirty="0">
                <a:solidFill>
                  <a:srgbClr val="6699FF"/>
                </a:solidFill>
              </a:rPr>
              <a:t>Misuse/ Signature Detection</a:t>
            </a:r>
          </a:p>
          <a:p>
            <a:pPr marL="342900" indent="-147320">
              <a:lnSpc>
                <a:spcPct val="100000"/>
              </a:lnSpc>
              <a:spcBef>
                <a:spcPts val="0"/>
              </a:spcBef>
              <a:buClr>
                <a:schemeClr val="dk1"/>
              </a:buClr>
            </a:pPr>
            <a:r>
              <a:rPr lang="en-US" sz="2800" dirty="0">
                <a:solidFill>
                  <a:schemeClr val="dk1"/>
                </a:solidFill>
              </a:rPr>
              <a:t>Uses a set of </a:t>
            </a:r>
            <a:r>
              <a:rPr lang="en-US" sz="2800" b="1" dirty="0">
                <a:solidFill>
                  <a:srgbClr val="6B9462"/>
                </a:solidFill>
              </a:rPr>
              <a:t>known malicious data</a:t>
            </a:r>
            <a:r>
              <a:rPr lang="en-US" sz="2800" dirty="0">
                <a:solidFill>
                  <a:schemeClr val="dk1"/>
                </a:solidFill>
              </a:rPr>
              <a:t> patterns or attack rules that are </a:t>
            </a:r>
            <a:r>
              <a:rPr lang="en-US" sz="2800" b="1" dirty="0">
                <a:solidFill>
                  <a:srgbClr val="6B9462"/>
                </a:solidFill>
              </a:rPr>
              <a:t>compared with current behavior</a:t>
            </a:r>
          </a:p>
          <a:p>
            <a:pPr marL="342900" indent="-147320">
              <a:lnSpc>
                <a:spcPct val="100000"/>
              </a:lnSpc>
              <a:spcBef>
                <a:spcPts val="1240"/>
              </a:spcBef>
              <a:buClr>
                <a:schemeClr val="dk1"/>
              </a:buClr>
            </a:pPr>
            <a:r>
              <a:rPr lang="en-US" sz="2800" dirty="0">
                <a:solidFill>
                  <a:schemeClr val="dk1"/>
                </a:solidFill>
              </a:rPr>
              <a:t>Also known as </a:t>
            </a:r>
            <a:r>
              <a:rPr lang="en-US" sz="2800" b="1" dirty="0">
                <a:solidFill>
                  <a:srgbClr val="6B9462"/>
                </a:solidFill>
              </a:rPr>
              <a:t>misuse detection</a:t>
            </a:r>
          </a:p>
          <a:p>
            <a:pPr marL="342900" indent="-147320">
              <a:lnSpc>
                <a:spcPct val="100000"/>
              </a:lnSpc>
              <a:spcBef>
                <a:spcPts val="1240"/>
              </a:spcBef>
              <a:spcAft>
                <a:spcPts val="800"/>
              </a:spcAft>
              <a:buClr>
                <a:schemeClr val="dk1"/>
              </a:buClr>
            </a:pPr>
            <a:r>
              <a:rPr lang="en-US" sz="2800" b="1" dirty="0">
                <a:solidFill>
                  <a:srgbClr val="6B9462"/>
                </a:solidFill>
              </a:rPr>
              <a:t>Can only identify known attacks</a:t>
            </a:r>
            <a:r>
              <a:rPr lang="en-US" sz="2800" dirty="0">
                <a:solidFill>
                  <a:schemeClr val="dk1"/>
                </a:solidFill>
              </a:rPr>
              <a:t> for which it has patterns or rules</a:t>
            </a:r>
          </a:p>
        </p:txBody>
      </p:sp>
      <p:sp>
        <p:nvSpPr>
          <p:cNvPr id="168" name="Shape 168"/>
          <p:cNvSpPr txBox="1">
            <a:spLocks noGrp="1"/>
          </p:cNvSpPr>
          <p:nvPr>
            <p:ph type="title"/>
          </p:nvPr>
        </p:nvSpPr>
        <p:spPr>
          <a:xfrm>
            <a:off x="740664" y="280114"/>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buNone/>
            </a:pPr>
            <a:r>
              <a:rPr lang="en-US" dirty="0">
                <a:solidFill>
                  <a:srgbClr val="9B37AA"/>
                </a:solidFill>
              </a:rPr>
              <a:t>Analysis Approaches</a:t>
            </a:r>
          </a:p>
        </p:txBody>
      </p:sp>
    </p:spTree>
    <p:extLst>
      <p:ext uri="{BB962C8B-B14F-4D97-AF65-F5344CB8AC3E}">
        <p14:creationId xmlns:p14="http://schemas.microsoft.com/office/powerpoint/2010/main" val="2387736304"/>
      </p:ext>
    </p:extLst>
  </p:cSld>
  <p:clrMapOvr>
    <a:masterClrMapping/>
  </p:clrMapOvr>
  <p:transition spd="slow">
    <p:cut/>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pic>
        <p:nvPicPr>
          <p:cNvPr id="325" name="Shape 325"/>
          <p:cNvPicPr preferRelativeResize="0"/>
          <p:nvPr/>
        </p:nvPicPr>
        <p:blipFill rotWithShape="1">
          <a:blip r:embed="rId3">
            <a:alphaModFix/>
          </a:blip>
          <a:srcRect l="52825"/>
          <a:stretch/>
        </p:blipFill>
        <p:spPr>
          <a:xfrm>
            <a:off x="807301" y="1298450"/>
            <a:ext cx="3765410" cy="4621099"/>
          </a:xfrm>
          <a:prstGeom prst="rect">
            <a:avLst/>
          </a:prstGeom>
          <a:noFill/>
          <a:ln>
            <a:noFill/>
          </a:ln>
        </p:spPr>
      </p:pic>
      <p:sp>
        <p:nvSpPr>
          <p:cNvPr id="326" name="Shape 326"/>
          <p:cNvSpPr txBox="1">
            <a:spLocks noGrp="1"/>
          </p:cNvSpPr>
          <p:nvPr>
            <p:ph type="title"/>
          </p:nvPr>
        </p:nvSpPr>
        <p:spPr>
          <a:xfrm>
            <a:off x="807301" y="228602"/>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buNone/>
            </a:pPr>
            <a:r>
              <a:rPr lang="en-US" dirty="0">
                <a:solidFill>
                  <a:srgbClr val="9B37AA"/>
                </a:solidFill>
              </a:rPr>
              <a:t>Misuse or Signature Detection</a:t>
            </a:r>
          </a:p>
        </p:txBody>
      </p:sp>
      <p:sp>
        <p:nvSpPr>
          <p:cNvPr id="327" name="Shape 327"/>
          <p:cNvSpPr txBox="1">
            <a:spLocks noGrp="1"/>
          </p:cNvSpPr>
          <p:nvPr>
            <p:ph type="body" idx="1"/>
          </p:nvPr>
        </p:nvSpPr>
        <p:spPr>
          <a:xfrm>
            <a:off x="5354372" y="1675742"/>
            <a:ext cx="5975044" cy="4904699"/>
          </a:xfrm>
          <a:prstGeom prst="rect">
            <a:avLst/>
          </a:prstGeom>
        </p:spPr>
        <p:txBody>
          <a:bodyPr vert="horz" wrap="square" lIns="117825" tIns="117825" rIns="117825" bIns="117825" numCol="1" anchor="t" anchorCtr="0" compatLnSpc="1">
            <a:prstTxWarp prst="textNoShape">
              <a:avLst/>
            </a:prstTxWarp>
            <a:noAutofit/>
          </a:bodyPr>
          <a:lstStyle/>
          <a:p>
            <a:pPr marL="0" indent="0">
              <a:lnSpc>
                <a:spcPct val="100000"/>
              </a:lnSpc>
              <a:spcBef>
                <a:spcPts val="0"/>
              </a:spcBef>
              <a:buClr>
                <a:schemeClr val="dk1"/>
              </a:buClr>
              <a:buSzPct val="36666"/>
              <a:buNone/>
            </a:pPr>
            <a:r>
              <a:rPr lang="en-US" sz="2800" b="1" dirty="0">
                <a:solidFill>
                  <a:srgbClr val="6B9462"/>
                </a:solidFill>
              </a:rPr>
              <a:t>Detect intrusion by:</a:t>
            </a:r>
          </a:p>
          <a:p>
            <a:pPr marL="914400" indent="-228600">
              <a:lnSpc>
                <a:spcPct val="100000"/>
              </a:lnSpc>
              <a:spcBef>
                <a:spcPts val="0"/>
              </a:spcBef>
              <a:buClr>
                <a:schemeClr val="dk1"/>
              </a:buClr>
            </a:pPr>
            <a:r>
              <a:rPr lang="en-US" sz="2800" dirty="0">
                <a:solidFill>
                  <a:schemeClr val="dk1"/>
                </a:solidFill>
              </a:rPr>
              <a:t>observing events in the system</a:t>
            </a:r>
          </a:p>
          <a:p>
            <a:pPr marL="914400" indent="-228600">
              <a:lnSpc>
                <a:spcPct val="100000"/>
              </a:lnSpc>
              <a:spcBef>
                <a:spcPts val="0"/>
              </a:spcBef>
              <a:buClr>
                <a:schemeClr val="dk1"/>
              </a:buClr>
            </a:pPr>
            <a:r>
              <a:rPr lang="en-US" sz="2800" dirty="0">
                <a:solidFill>
                  <a:schemeClr val="dk1"/>
                </a:solidFill>
              </a:rPr>
              <a:t>applying a set of patterns or rules to the data</a:t>
            </a:r>
          </a:p>
          <a:p>
            <a:pPr marL="914400" indent="-228600">
              <a:lnSpc>
                <a:spcPct val="100000"/>
              </a:lnSpc>
              <a:spcBef>
                <a:spcPts val="0"/>
              </a:spcBef>
              <a:buClr>
                <a:schemeClr val="dk1"/>
              </a:buClr>
            </a:pPr>
            <a:r>
              <a:rPr lang="en-US" sz="2800" dirty="0">
                <a:solidFill>
                  <a:schemeClr val="dk1"/>
                </a:solidFill>
              </a:rPr>
              <a:t>determining if the is intrusive or normal</a:t>
            </a:r>
          </a:p>
        </p:txBody>
      </p:sp>
    </p:spTree>
    <p:extLst>
      <p:ext uri="{BB962C8B-B14F-4D97-AF65-F5344CB8AC3E}">
        <p14:creationId xmlns:p14="http://schemas.microsoft.com/office/powerpoint/2010/main" val="1413298128"/>
      </p:ext>
    </p:extLst>
  </p:cSld>
  <p:clrMapOvr>
    <a:masterClrMapping/>
  </p:clrMapOvr>
  <p:transition spd="slow">
    <p:cut/>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sp>
        <p:nvSpPr>
          <p:cNvPr id="333" name="Shape 333"/>
          <p:cNvSpPr txBox="1">
            <a:spLocks noGrp="1"/>
          </p:cNvSpPr>
          <p:nvPr>
            <p:ph type="title"/>
          </p:nvPr>
        </p:nvSpPr>
        <p:spPr>
          <a:xfrm>
            <a:off x="719328" y="515036"/>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buNone/>
            </a:pPr>
            <a:r>
              <a:rPr lang="en-US" dirty="0">
                <a:solidFill>
                  <a:srgbClr val="9B37AA"/>
                </a:solidFill>
              </a:rPr>
              <a:t>Signature Approaches</a:t>
            </a:r>
          </a:p>
        </p:txBody>
      </p:sp>
      <p:sp>
        <p:nvSpPr>
          <p:cNvPr id="334" name="Shape 334"/>
          <p:cNvSpPr txBox="1">
            <a:spLocks noGrp="1"/>
          </p:cNvSpPr>
          <p:nvPr>
            <p:ph type="body" idx="1"/>
          </p:nvPr>
        </p:nvSpPr>
        <p:spPr>
          <a:xfrm>
            <a:off x="719328" y="2492798"/>
            <a:ext cx="9997440" cy="4904699"/>
          </a:xfrm>
          <a:prstGeom prst="rect">
            <a:avLst/>
          </a:prstGeom>
        </p:spPr>
        <p:txBody>
          <a:bodyPr vert="horz" wrap="square" lIns="117825" tIns="117825" rIns="117825" bIns="117825" numCol="1" anchor="t" anchorCtr="0" compatLnSpc="1">
            <a:prstTxWarp prst="textNoShape">
              <a:avLst/>
            </a:prstTxWarp>
            <a:noAutofit/>
          </a:bodyPr>
          <a:lstStyle/>
          <a:p>
            <a:pPr marL="457200" indent="-228600">
              <a:lnSpc>
                <a:spcPct val="100000"/>
              </a:lnSpc>
              <a:spcBef>
                <a:spcPts val="0"/>
              </a:spcBef>
              <a:buClr>
                <a:schemeClr val="dk1"/>
              </a:buClr>
            </a:pPr>
            <a:r>
              <a:rPr lang="en-US" sz="2800" b="1" dirty="0">
                <a:solidFill>
                  <a:srgbClr val="6B9462"/>
                </a:solidFill>
              </a:rPr>
              <a:t>Match a large collection of known patterns</a:t>
            </a:r>
            <a:r>
              <a:rPr lang="en-US" sz="2800" dirty="0">
                <a:solidFill>
                  <a:schemeClr val="dk1"/>
                </a:solidFill>
              </a:rPr>
              <a:t/>
            </a:r>
            <a:br>
              <a:rPr lang="en-US" sz="2800" dirty="0">
                <a:solidFill>
                  <a:schemeClr val="dk1"/>
                </a:solidFill>
              </a:rPr>
            </a:br>
            <a:r>
              <a:rPr lang="en-US" sz="2800" dirty="0">
                <a:solidFill>
                  <a:schemeClr val="dk1"/>
                </a:solidFill>
              </a:rPr>
              <a:t>of malicious data against data stored on a</a:t>
            </a:r>
            <a:br>
              <a:rPr lang="en-US" sz="2800" dirty="0">
                <a:solidFill>
                  <a:schemeClr val="dk1"/>
                </a:solidFill>
              </a:rPr>
            </a:br>
            <a:r>
              <a:rPr lang="en-US" sz="2800" dirty="0">
                <a:solidFill>
                  <a:schemeClr val="dk1"/>
                </a:solidFill>
              </a:rPr>
              <a:t>system or in transit over a network</a:t>
            </a:r>
          </a:p>
          <a:p>
            <a:pPr marL="0" indent="0">
              <a:lnSpc>
                <a:spcPct val="100000"/>
              </a:lnSpc>
              <a:spcBef>
                <a:spcPts val="0"/>
              </a:spcBef>
              <a:buNone/>
            </a:pPr>
            <a:endParaRPr sz="2800" dirty="0">
              <a:solidFill>
                <a:schemeClr val="dk1"/>
              </a:solidFill>
            </a:endParaRPr>
          </a:p>
          <a:p>
            <a:pPr marL="457200" indent="-228600">
              <a:lnSpc>
                <a:spcPct val="100000"/>
              </a:lnSpc>
              <a:spcBef>
                <a:spcPts val="0"/>
              </a:spcBef>
              <a:buClr>
                <a:schemeClr val="dk1"/>
              </a:buClr>
            </a:pPr>
            <a:r>
              <a:rPr lang="en-US" sz="2800" dirty="0">
                <a:solidFill>
                  <a:schemeClr val="dk1"/>
                </a:solidFill>
              </a:rPr>
              <a:t>The signatures need to be </a:t>
            </a:r>
            <a:r>
              <a:rPr lang="en-US" sz="2800" b="1" dirty="0">
                <a:solidFill>
                  <a:srgbClr val="6B9462"/>
                </a:solidFill>
              </a:rPr>
              <a:t>large enough to minimize the false alarm rate</a:t>
            </a:r>
            <a:r>
              <a:rPr lang="en-US" sz="2800" dirty="0">
                <a:solidFill>
                  <a:schemeClr val="dk1"/>
                </a:solidFill>
              </a:rPr>
              <a:t>, while still detecting a sufficiently large fraction of malicious data</a:t>
            </a:r>
          </a:p>
          <a:p>
            <a:pPr marL="0" indent="0">
              <a:lnSpc>
                <a:spcPct val="100000"/>
              </a:lnSpc>
              <a:spcBef>
                <a:spcPts val="0"/>
              </a:spcBef>
              <a:buNone/>
            </a:pPr>
            <a:endParaRPr sz="2800" dirty="0">
              <a:solidFill>
                <a:schemeClr val="dk1"/>
              </a:solidFill>
            </a:endParaRPr>
          </a:p>
        </p:txBody>
      </p:sp>
      <p:pic>
        <p:nvPicPr>
          <p:cNvPr id="335" name="Shape 335"/>
          <p:cNvPicPr preferRelativeResize="0"/>
          <p:nvPr/>
        </p:nvPicPr>
        <p:blipFill rotWithShape="1">
          <a:blip r:embed="rId3">
            <a:alphaModFix/>
          </a:blip>
          <a:srcRect l="52825"/>
          <a:stretch/>
        </p:blipFill>
        <p:spPr>
          <a:xfrm>
            <a:off x="9101793" y="228600"/>
            <a:ext cx="1415908" cy="1737674"/>
          </a:xfrm>
          <a:prstGeom prst="rect">
            <a:avLst/>
          </a:prstGeom>
          <a:noFill/>
          <a:ln>
            <a:noFill/>
          </a:ln>
        </p:spPr>
      </p:pic>
    </p:spTree>
    <p:extLst>
      <p:ext uri="{BB962C8B-B14F-4D97-AF65-F5344CB8AC3E}">
        <p14:creationId xmlns:p14="http://schemas.microsoft.com/office/powerpoint/2010/main" val="3040564044"/>
      </p:ext>
    </p:extLst>
  </p:cSld>
  <p:clrMapOvr>
    <a:masterClrMapping/>
  </p:clrMapOvr>
  <p:transition spd="slow">
    <p:cut/>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Shape 373"/>
          <p:cNvSpPr txBox="1">
            <a:spLocks noGrp="1"/>
          </p:cNvSpPr>
          <p:nvPr>
            <p:ph type="title"/>
          </p:nvPr>
        </p:nvSpPr>
        <p:spPr>
          <a:xfrm>
            <a:off x="2133181" y="-43524"/>
            <a:ext cx="8230019" cy="1143000"/>
          </a:xfrm>
          <a:prstGeom prst="rect">
            <a:avLst/>
          </a:prstGeom>
        </p:spPr>
        <p:txBody>
          <a:bodyPr vert="horz" wrap="square" lIns="117825" tIns="117825" rIns="117825" bIns="117825" numCol="1" anchor="ctr" anchorCtr="0" compatLnSpc="1">
            <a:prstTxWarp prst="textNoShape">
              <a:avLst/>
            </a:prstTxWarp>
            <a:noAutofit/>
          </a:bodyPr>
          <a:lstStyle/>
          <a:p>
            <a:pPr>
              <a:lnSpc>
                <a:spcPct val="100000"/>
              </a:lnSpc>
              <a:buNone/>
            </a:pPr>
            <a:r>
              <a:rPr lang="en-US" dirty="0">
                <a:solidFill>
                  <a:srgbClr val="9B37AA"/>
                </a:solidFill>
              </a:rPr>
              <a:t>Misuse Signature Intruder Detection</a:t>
            </a:r>
          </a:p>
        </p:txBody>
      </p:sp>
      <p:pic>
        <p:nvPicPr>
          <p:cNvPr id="374" name="Shape 374"/>
          <p:cNvPicPr preferRelativeResize="0"/>
          <p:nvPr/>
        </p:nvPicPr>
        <p:blipFill>
          <a:blip r:embed="rId3">
            <a:alphaModFix/>
          </a:blip>
          <a:stretch>
            <a:fillRect/>
          </a:stretch>
        </p:blipFill>
        <p:spPr>
          <a:xfrm>
            <a:off x="2514601" y="1676400"/>
            <a:ext cx="7129463" cy="4972050"/>
          </a:xfrm>
          <a:prstGeom prst="rect">
            <a:avLst/>
          </a:prstGeom>
          <a:noFill/>
          <a:ln>
            <a:noFill/>
          </a:ln>
        </p:spPr>
      </p:pic>
    </p:spTree>
    <p:extLst>
      <p:ext uri="{BB962C8B-B14F-4D97-AF65-F5344CB8AC3E}">
        <p14:creationId xmlns:p14="http://schemas.microsoft.com/office/powerpoint/2010/main" val="33091123"/>
      </p:ext>
    </p:extLst>
  </p:cSld>
  <p:clrMapOvr>
    <a:masterClrMapping/>
  </p:clrMapOvr>
  <p:transition spd="slow">
    <p:cut/>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Shape 341"/>
          <p:cNvSpPr txBox="1">
            <a:spLocks noGrp="1"/>
          </p:cNvSpPr>
          <p:nvPr>
            <p:ph type="title"/>
          </p:nvPr>
        </p:nvSpPr>
        <p:spPr>
          <a:xfrm>
            <a:off x="2012226" y="152400"/>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lnSpc>
                <a:spcPct val="115000"/>
              </a:lnSpc>
              <a:buNone/>
            </a:pPr>
            <a:r>
              <a:rPr lang="en-US" dirty="0">
                <a:solidFill>
                  <a:srgbClr val="9B37AA"/>
                </a:solidFill>
              </a:rPr>
              <a:t>Signature Approach</a:t>
            </a:r>
          </a:p>
          <a:p>
            <a:pPr>
              <a:lnSpc>
                <a:spcPct val="115000"/>
              </a:lnSpc>
              <a:buNone/>
            </a:pPr>
            <a:r>
              <a:rPr lang="en-US" dirty="0">
                <a:solidFill>
                  <a:srgbClr val="9B37AA"/>
                </a:solidFill>
              </a:rPr>
              <a:t>Advantages &amp; Disadvantages</a:t>
            </a:r>
          </a:p>
        </p:txBody>
      </p:sp>
      <p:sp>
        <p:nvSpPr>
          <p:cNvPr id="342" name="Shape 342"/>
          <p:cNvSpPr txBox="1">
            <a:spLocks noGrp="1"/>
          </p:cNvSpPr>
          <p:nvPr>
            <p:ph type="body" idx="1"/>
          </p:nvPr>
        </p:nvSpPr>
        <p:spPr>
          <a:xfrm>
            <a:off x="3057766" y="1828801"/>
            <a:ext cx="7772400" cy="4904699"/>
          </a:xfrm>
          <a:prstGeom prst="rect">
            <a:avLst/>
          </a:prstGeom>
        </p:spPr>
        <p:txBody>
          <a:bodyPr vert="horz" wrap="square" lIns="117825" tIns="117825" rIns="117825" bIns="117825" numCol="1" anchor="t" anchorCtr="0" compatLnSpc="1">
            <a:prstTxWarp prst="textNoShape">
              <a:avLst/>
            </a:prstTxWarp>
            <a:noAutofit/>
          </a:bodyPr>
          <a:lstStyle/>
          <a:p>
            <a:pPr marL="0" indent="0">
              <a:lnSpc>
                <a:spcPct val="114000"/>
              </a:lnSpc>
              <a:spcBef>
                <a:spcPts val="600"/>
              </a:spcBef>
              <a:spcAft>
                <a:spcPts val="600"/>
              </a:spcAft>
              <a:buClr>
                <a:schemeClr val="dk1"/>
              </a:buClr>
              <a:buSzPct val="36666"/>
              <a:buNone/>
            </a:pPr>
            <a:r>
              <a:rPr lang="en-US" sz="2800" b="1" dirty="0">
                <a:solidFill>
                  <a:srgbClr val="6B9462"/>
                </a:solidFill>
              </a:rPr>
              <a:t>Advantages:</a:t>
            </a:r>
          </a:p>
          <a:p>
            <a:pPr marL="457200" indent="-228600">
              <a:lnSpc>
                <a:spcPct val="114000"/>
              </a:lnSpc>
              <a:spcBef>
                <a:spcPts val="600"/>
              </a:spcBef>
              <a:spcAft>
                <a:spcPts val="600"/>
              </a:spcAft>
              <a:buClr>
                <a:schemeClr val="dk1"/>
              </a:buClr>
            </a:pPr>
            <a:r>
              <a:rPr lang="en-US" sz="2800" dirty="0">
                <a:solidFill>
                  <a:schemeClr val="dk1"/>
                </a:solidFill>
              </a:rPr>
              <a:t>Low cost in time and resource use</a:t>
            </a:r>
          </a:p>
          <a:p>
            <a:pPr marL="457200" indent="-228600">
              <a:lnSpc>
                <a:spcPct val="114000"/>
              </a:lnSpc>
              <a:spcBef>
                <a:spcPts val="600"/>
              </a:spcBef>
              <a:spcAft>
                <a:spcPts val="600"/>
              </a:spcAft>
              <a:buClr>
                <a:schemeClr val="dk1"/>
              </a:buClr>
            </a:pPr>
            <a:r>
              <a:rPr lang="en-US" sz="2800" dirty="0">
                <a:solidFill>
                  <a:schemeClr val="dk1"/>
                </a:solidFill>
              </a:rPr>
              <a:t>Wide Acceptance</a:t>
            </a:r>
          </a:p>
          <a:p>
            <a:pPr marL="0" indent="0">
              <a:lnSpc>
                <a:spcPct val="114000"/>
              </a:lnSpc>
              <a:spcBef>
                <a:spcPts val="600"/>
              </a:spcBef>
              <a:spcAft>
                <a:spcPts val="600"/>
              </a:spcAft>
              <a:buClr>
                <a:schemeClr val="dk1"/>
              </a:buClr>
              <a:buNone/>
            </a:pPr>
            <a:endParaRPr sz="2800" dirty="0">
              <a:solidFill>
                <a:schemeClr val="dk1"/>
              </a:solidFill>
            </a:endParaRPr>
          </a:p>
          <a:p>
            <a:pPr marL="0" indent="0">
              <a:lnSpc>
                <a:spcPct val="114000"/>
              </a:lnSpc>
              <a:spcBef>
                <a:spcPts val="600"/>
              </a:spcBef>
              <a:spcAft>
                <a:spcPts val="600"/>
              </a:spcAft>
              <a:buClr>
                <a:schemeClr val="dk1"/>
              </a:buClr>
              <a:buSzPct val="36666"/>
              <a:buNone/>
            </a:pPr>
            <a:r>
              <a:rPr lang="en-US" sz="2800" b="1" dirty="0">
                <a:solidFill>
                  <a:srgbClr val="A61C00"/>
                </a:solidFill>
              </a:rPr>
              <a:t>Disadvantages:</a:t>
            </a:r>
          </a:p>
          <a:p>
            <a:pPr marL="457200" indent="-228600">
              <a:lnSpc>
                <a:spcPct val="114000"/>
              </a:lnSpc>
              <a:spcBef>
                <a:spcPts val="600"/>
              </a:spcBef>
              <a:spcAft>
                <a:spcPts val="600"/>
              </a:spcAft>
              <a:buClr>
                <a:schemeClr val="dk1"/>
              </a:buClr>
            </a:pPr>
            <a:r>
              <a:rPr lang="en-US" sz="2800" dirty="0">
                <a:solidFill>
                  <a:schemeClr val="dk1"/>
                </a:solidFill>
              </a:rPr>
              <a:t>Significant effort to identify and review new malware to create signatures</a:t>
            </a:r>
          </a:p>
          <a:p>
            <a:pPr marL="457200" indent="-228600">
              <a:lnSpc>
                <a:spcPct val="114000"/>
              </a:lnSpc>
              <a:spcBef>
                <a:spcPts val="600"/>
              </a:spcBef>
              <a:spcAft>
                <a:spcPts val="600"/>
              </a:spcAft>
              <a:buClr>
                <a:schemeClr val="dk1"/>
              </a:buClr>
            </a:pPr>
            <a:r>
              <a:rPr lang="en-US" sz="2800" dirty="0">
                <a:solidFill>
                  <a:schemeClr val="dk1"/>
                </a:solidFill>
              </a:rPr>
              <a:t>inability to detect zero-day attacks</a:t>
            </a:r>
          </a:p>
          <a:p>
            <a:pPr>
              <a:lnSpc>
                <a:spcPct val="114000"/>
              </a:lnSpc>
              <a:spcBef>
                <a:spcPts val="600"/>
              </a:spcBef>
              <a:spcAft>
                <a:spcPts val="600"/>
              </a:spcAft>
              <a:buNone/>
            </a:pPr>
            <a:endParaRPr sz="2800" dirty="0"/>
          </a:p>
        </p:txBody>
      </p:sp>
      <p:pic>
        <p:nvPicPr>
          <p:cNvPr id="343" name="Shape 343"/>
          <p:cNvPicPr preferRelativeResize="0"/>
          <p:nvPr/>
        </p:nvPicPr>
        <p:blipFill rotWithShape="1">
          <a:blip r:embed="rId3">
            <a:alphaModFix/>
          </a:blip>
          <a:srcRect r="49466"/>
          <a:stretch/>
        </p:blipFill>
        <p:spPr>
          <a:xfrm>
            <a:off x="1905000" y="3886201"/>
            <a:ext cx="990600" cy="1143000"/>
          </a:xfrm>
          <a:prstGeom prst="rect">
            <a:avLst/>
          </a:prstGeom>
          <a:noFill/>
          <a:ln>
            <a:noFill/>
          </a:ln>
        </p:spPr>
      </p:pic>
      <p:pic>
        <p:nvPicPr>
          <p:cNvPr id="344" name="Shape 344"/>
          <p:cNvPicPr preferRelativeResize="0"/>
          <p:nvPr/>
        </p:nvPicPr>
        <p:blipFill rotWithShape="1">
          <a:blip r:embed="rId3">
            <a:alphaModFix/>
          </a:blip>
          <a:srcRect l="50595"/>
          <a:stretch/>
        </p:blipFill>
        <p:spPr>
          <a:xfrm>
            <a:off x="1828801" y="2133600"/>
            <a:ext cx="949593" cy="1290522"/>
          </a:xfrm>
          <a:prstGeom prst="rect">
            <a:avLst/>
          </a:prstGeom>
          <a:noFill/>
          <a:ln>
            <a:noFill/>
          </a:ln>
        </p:spPr>
      </p:pic>
      <p:pic>
        <p:nvPicPr>
          <p:cNvPr id="345" name="Shape 345"/>
          <p:cNvPicPr preferRelativeResize="0"/>
          <p:nvPr/>
        </p:nvPicPr>
        <p:blipFill rotWithShape="1">
          <a:blip r:embed="rId4">
            <a:alphaModFix/>
          </a:blip>
          <a:srcRect l="52825"/>
          <a:stretch/>
        </p:blipFill>
        <p:spPr>
          <a:xfrm>
            <a:off x="9101793" y="228600"/>
            <a:ext cx="1415908" cy="1737674"/>
          </a:xfrm>
          <a:prstGeom prst="rect">
            <a:avLst/>
          </a:prstGeom>
          <a:noFill/>
          <a:ln>
            <a:noFill/>
          </a:ln>
        </p:spPr>
      </p:pic>
    </p:spTree>
    <p:extLst>
      <p:ext uri="{BB962C8B-B14F-4D97-AF65-F5344CB8AC3E}">
        <p14:creationId xmlns:p14="http://schemas.microsoft.com/office/powerpoint/2010/main" val="254732174"/>
      </p:ext>
    </p:extLst>
  </p:cSld>
  <p:clrMapOvr>
    <a:masterClrMapping/>
  </p:clrMapOvr>
  <p:transition spd="slow">
    <p:cut/>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pic>
        <p:nvPicPr>
          <p:cNvPr id="158" name="Shape 158"/>
          <p:cNvPicPr preferRelativeResize="0"/>
          <p:nvPr/>
        </p:nvPicPr>
        <p:blipFill rotWithShape="1">
          <a:blip r:embed="rId3">
            <a:alphaModFix/>
          </a:blip>
          <a:srcRect r="61553"/>
          <a:stretch/>
        </p:blipFill>
        <p:spPr>
          <a:xfrm>
            <a:off x="1879575" y="1524000"/>
            <a:ext cx="3164079" cy="4764600"/>
          </a:xfrm>
          <a:prstGeom prst="rect">
            <a:avLst/>
          </a:prstGeom>
          <a:noFill/>
          <a:ln>
            <a:noFill/>
          </a:ln>
        </p:spPr>
      </p:pic>
      <p:sp>
        <p:nvSpPr>
          <p:cNvPr id="159" name="Shape 159"/>
          <p:cNvSpPr txBox="1">
            <a:spLocks noGrp="1"/>
          </p:cNvSpPr>
          <p:nvPr>
            <p:ph type="title"/>
          </p:nvPr>
        </p:nvSpPr>
        <p:spPr>
          <a:xfrm>
            <a:off x="2133181" y="228600"/>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buNone/>
            </a:pPr>
            <a:r>
              <a:rPr lang="en-US">
                <a:solidFill>
                  <a:srgbClr val="9B37AA"/>
                </a:solidFill>
              </a:rPr>
              <a:t>Analysis Approaches</a:t>
            </a:r>
          </a:p>
        </p:txBody>
      </p:sp>
      <p:sp>
        <p:nvSpPr>
          <p:cNvPr id="160" name="Shape 160"/>
          <p:cNvSpPr txBox="1">
            <a:spLocks noGrp="1"/>
          </p:cNvSpPr>
          <p:nvPr>
            <p:ph type="body" idx="1"/>
          </p:nvPr>
        </p:nvSpPr>
        <p:spPr>
          <a:xfrm>
            <a:off x="5058727" y="1676401"/>
            <a:ext cx="5368725" cy="4904699"/>
          </a:xfrm>
          <a:prstGeom prst="rect">
            <a:avLst/>
          </a:prstGeom>
        </p:spPr>
        <p:txBody>
          <a:bodyPr vert="horz" wrap="square" lIns="117825" tIns="117825" rIns="117825" bIns="117825" numCol="1" anchor="t" anchorCtr="0" compatLnSpc="1">
            <a:prstTxWarp prst="textNoShape">
              <a:avLst/>
            </a:prstTxWarp>
            <a:noAutofit/>
          </a:bodyPr>
          <a:lstStyle/>
          <a:p>
            <a:pPr marL="0" indent="0">
              <a:lnSpc>
                <a:spcPct val="114000"/>
              </a:lnSpc>
              <a:spcBef>
                <a:spcPts val="0"/>
              </a:spcBef>
              <a:buNone/>
            </a:pPr>
            <a:r>
              <a:rPr lang="en-US" sz="2800" b="1" dirty="0">
                <a:solidFill>
                  <a:srgbClr val="6699FF"/>
                </a:solidFill>
              </a:rPr>
              <a:t>Anomaly Detection:</a:t>
            </a:r>
          </a:p>
          <a:p>
            <a:pPr marL="342900" indent="-120650">
              <a:lnSpc>
                <a:spcPct val="114000"/>
              </a:lnSpc>
              <a:spcBef>
                <a:spcPts val="0"/>
              </a:spcBef>
              <a:buClr>
                <a:schemeClr val="dk1"/>
              </a:buClr>
            </a:pPr>
            <a:r>
              <a:rPr lang="en-US" sz="2800" dirty="0">
                <a:solidFill>
                  <a:schemeClr val="dk1"/>
                </a:solidFill>
              </a:rPr>
              <a:t>Involves the </a:t>
            </a:r>
            <a:r>
              <a:rPr lang="en-US" sz="2800" dirty="0">
                <a:solidFill>
                  <a:srgbClr val="6B9462"/>
                </a:solidFill>
              </a:rPr>
              <a:t>collection of data</a:t>
            </a:r>
            <a:r>
              <a:rPr lang="en-US" sz="2800" dirty="0">
                <a:solidFill>
                  <a:schemeClr val="dk1"/>
                </a:solidFill>
              </a:rPr>
              <a:t> relating to the </a:t>
            </a:r>
            <a:r>
              <a:rPr lang="en-US" sz="2800" dirty="0">
                <a:solidFill>
                  <a:srgbClr val="6B9462"/>
                </a:solidFill>
              </a:rPr>
              <a:t>behavior of legitimate users </a:t>
            </a:r>
            <a:r>
              <a:rPr lang="en-US" sz="2800" dirty="0">
                <a:solidFill>
                  <a:schemeClr val="dk1"/>
                </a:solidFill>
              </a:rPr>
              <a:t>over a period of time</a:t>
            </a:r>
          </a:p>
          <a:p>
            <a:pPr marL="342900" indent="-120650">
              <a:lnSpc>
                <a:spcPct val="114000"/>
              </a:lnSpc>
              <a:spcBef>
                <a:spcPts val="1300"/>
              </a:spcBef>
              <a:spcAft>
                <a:spcPts val="800"/>
              </a:spcAft>
              <a:buClr>
                <a:schemeClr val="dk1"/>
              </a:buClr>
            </a:pPr>
            <a:r>
              <a:rPr lang="en-US" sz="2800" dirty="0">
                <a:solidFill>
                  <a:schemeClr val="dk1"/>
                </a:solidFill>
              </a:rPr>
              <a:t>Current observed behavior is analyzed to </a:t>
            </a:r>
            <a:r>
              <a:rPr lang="en-US" sz="2800" dirty="0">
                <a:solidFill>
                  <a:srgbClr val="6B9462"/>
                </a:solidFill>
              </a:rPr>
              <a:t>determine whether this behavior is that of a legitimate user or that of an intruder</a:t>
            </a:r>
          </a:p>
          <a:p>
            <a:pPr marL="0" indent="0">
              <a:lnSpc>
                <a:spcPct val="114000"/>
              </a:lnSpc>
              <a:spcBef>
                <a:spcPts val="0"/>
              </a:spcBef>
              <a:buNone/>
            </a:pPr>
            <a:endParaRPr sz="2800" dirty="0">
              <a:solidFill>
                <a:schemeClr val="dk1"/>
              </a:solidFill>
            </a:endParaRPr>
          </a:p>
        </p:txBody>
      </p:sp>
    </p:spTree>
    <p:extLst>
      <p:ext uri="{BB962C8B-B14F-4D97-AF65-F5344CB8AC3E}">
        <p14:creationId xmlns:p14="http://schemas.microsoft.com/office/powerpoint/2010/main" val="3515841832"/>
      </p:ext>
    </p:extLst>
  </p:cSld>
  <p:clrMapOvr>
    <a:masterClrMapping/>
  </p:clrMapOvr>
  <p:transition spd="slow">
    <p:cut/>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Shape 309"/>
          <p:cNvSpPr txBox="1">
            <a:spLocks noGrp="1"/>
          </p:cNvSpPr>
          <p:nvPr>
            <p:ph type="title"/>
          </p:nvPr>
        </p:nvSpPr>
        <p:spPr>
          <a:xfrm>
            <a:off x="2133181" y="77420"/>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buNone/>
            </a:pPr>
            <a:r>
              <a:rPr lang="en-US" dirty="0">
                <a:solidFill>
                  <a:srgbClr val="9B37AA"/>
                </a:solidFill>
              </a:rPr>
              <a:t>Anomaly Detection Example</a:t>
            </a:r>
          </a:p>
        </p:txBody>
      </p:sp>
      <p:pic>
        <p:nvPicPr>
          <p:cNvPr id="310" name="Shape 310"/>
          <p:cNvPicPr preferRelativeResize="0"/>
          <p:nvPr/>
        </p:nvPicPr>
        <p:blipFill>
          <a:blip r:embed="rId3">
            <a:alphaModFix/>
          </a:blip>
          <a:stretch>
            <a:fillRect/>
          </a:stretch>
        </p:blipFill>
        <p:spPr>
          <a:xfrm>
            <a:off x="2043882" y="1126975"/>
            <a:ext cx="7950994" cy="5219700"/>
          </a:xfrm>
          <a:prstGeom prst="rect">
            <a:avLst/>
          </a:prstGeom>
          <a:noFill/>
          <a:ln>
            <a:noFill/>
          </a:ln>
        </p:spPr>
      </p:pic>
    </p:spTree>
    <p:extLst>
      <p:ext uri="{BB962C8B-B14F-4D97-AF65-F5344CB8AC3E}">
        <p14:creationId xmlns:p14="http://schemas.microsoft.com/office/powerpoint/2010/main" val="2626877647"/>
      </p:ext>
    </p:extLst>
  </p:cSld>
  <p:clrMapOvr>
    <a:masterClrMapping/>
  </p:clrMapOvr>
  <p:transition spd="slow">
    <p:cut/>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0"/>
        <p:cNvGrpSpPr/>
        <p:nvPr/>
      </p:nvGrpSpPr>
      <p:grpSpPr>
        <a:xfrm>
          <a:off x="0" y="0"/>
          <a:ext cx="0" cy="0"/>
          <a:chOff x="0" y="0"/>
          <a:chExt cx="0" cy="0"/>
        </a:xfrm>
      </p:grpSpPr>
      <p:sp>
        <p:nvSpPr>
          <p:cNvPr id="341" name="Shape 341"/>
          <p:cNvSpPr txBox="1">
            <a:spLocks noGrp="1"/>
          </p:cNvSpPr>
          <p:nvPr>
            <p:ph type="title"/>
          </p:nvPr>
        </p:nvSpPr>
        <p:spPr>
          <a:xfrm>
            <a:off x="2012226" y="152400"/>
            <a:ext cx="7772400" cy="1143000"/>
          </a:xfrm>
          <a:prstGeom prst="rect">
            <a:avLst/>
          </a:prstGeom>
        </p:spPr>
        <p:txBody>
          <a:bodyPr vert="horz" wrap="square" lIns="117825" tIns="117825" rIns="117825" bIns="117825" numCol="1" anchor="ctr" anchorCtr="0" compatLnSpc="1">
            <a:prstTxWarp prst="textNoShape">
              <a:avLst/>
            </a:prstTxWarp>
            <a:noAutofit/>
          </a:bodyPr>
          <a:lstStyle/>
          <a:p>
            <a:pPr>
              <a:lnSpc>
                <a:spcPct val="115000"/>
              </a:lnSpc>
              <a:buNone/>
            </a:pPr>
            <a:r>
              <a:rPr lang="en-US" dirty="0"/>
              <a:t>Anomaly Detection </a:t>
            </a:r>
            <a:r>
              <a:rPr lang="en-US" dirty="0" smtClean="0">
                <a:solidFill>
                  <a:srgbClr val="9B37AA"/>
                </a:solidFill>
              </a:rPr>
              <a:t>Advantages </a:t>
            </a:r>
            <a:r>
              <a:rPr lang="en-US" dirty="0">
                <a:solidFill>
                  <a:srgbClr val="9B37AA"/>
                </a:solidFill>
              </a:rPr>
              <a:t>&amp; Disadvantages</a:t>
            </a:r>
          </a:p>
        </p:txBody>
      </p:sp>
      <p:sp>
        <p:nvSpPr>
          <p:cNvPr id="342" name="Shape 342"/>
          <p:cNvSpPr txBox="1">
            <a:spLocks noGrp="1"/>
          </p:cNvSpPr>
          <p:nvPr>
            <p:ph type="body" idx="1"/>
          </p:nvPr>
        </p:nvSpPr>
        <p:spPr>
          <a:xfrm>
            <a:off x="3057766" y="1828801"/>
            <a:ext cx="7772400" cy="4904699"/>
          </a:xfrm>
          <a:prstGeom prst="rect">
            <a:avLst/>
          </a:prstGeom>
        </p:spPr>
        <p:txBody>
          <a:bodyPr vert="horz" wrap="square" lIns="117825" tIns="117825" rIns="117825" bIns="117825" numCol="1" anchor="t" anchorCtr="0" compatLnSpc="1">
            <a:prstTxWarp prst="textNoShape">
              <a:avLst/>
            </a:prstTxWarp>
            <a:noAutofit/>
          </a:bodyPr>
          <a:lstStyle/>
          <a:p>
            <a:pPr marL="0" indent="0">
              <a:lnSpc>
                <a:spcPct val="114000"/>
              </a:lnSpc>
              <a:spcBef>
                <a:spcPts val="600"/>
              </a:spcBef>
              <a:spcAft>
                <a:spcPts val="600"/>
              </a:spcAft>
              <a:buClr>
                <a:schemeClr val="dk1"/>
              </a:buClr>
              <a:buSzPct val="36666"/>
              <a:buNone/>
            </a:pPr>
            <a:r>
              <a:rPr lang="en-US" sz="2800" b="1" dirty="0">
                <a:solidFill>
                  <a:srgbClr val="6B9462"/>
                </a:solidFill>
              </a:rPr>
              <a:t>Advantages:</a:t>
            </a:r>
          </a:p>
          <a:p>
            <a:pPr marL="342900" indent="-120650">
              <a:lnSpc>
                <a:spcPct val="114000"/>
              </a:lnSpc>
              <a:spcBef>
                <a:spcPts val="0"/>
              </a:spcBef>
              <a:buClr>
                <a:schemeClr val="dk1"/>
              </a:buClr>
            </a:pPr>
            <a:r>
              <a:rPr lang="en-US" sz="2800" dirty="0">
                <a:solidFill>
                  <a:schemeClr val="dk1"/>
                </a:solidFill>
              </a:rPr>
              <a:t>Able to detect unknown, zero-day attacks</a:t>
            </a:r>
          </a:p>
          <a:p>
            <a:pPr marL="342900" indent="-120650">
              <a:lnSpc>
                <a:spcPct val="114000"/>
              </a:lnSpc>
              <a:spcBef>
                <a:spcPts val="0"/>
              </a:spcBef>
              <a:buClr>
                <a:schemeClr val="dk1"/>
              </a:buClr>
            </a:pPr>
            <a:endParaRPr lang="en-US" sz="2800" dirty="0">
              <a:solidFill>
                <a:schemeClr val="dk1"/>
              </a:solidFill>
            </a:endParaRPr>
          </a:p>
          <a:p>
            <a:pPr marL="0" indent="0">
              <a:lnSpc>
                <a:spcPct val="114000"/>
              </a:lnSpc>
              <a:spcBef>
                <a:spcPts val="600"/>
              </a:spcBef>
              <a:spcAft>
                <a:spcPts val="600"/>
              </a:spcAft>
              <a:buClr>
                <a:schemeClr val="dk1"/>
              </a:buClr>
              <a:buSzPct val="36666"/>
              <a:buNone/>
            </a:pPr>
            <a:r>
              <a:rPr lang="en-US" sz="2800" b="1" dirty="0">
                <a:solidFill>
                  <a:srgbClr val="A61C00"/>
                </a:solidFill>
              </a:rPr>
              <a:t>Disadvantages</a:t>
            </a:r>
            <a:r>
              <a:rPr lang="en-US" sz="2800" b="1" dirty="0">
                <a:solidFill>
                  <a:srgbClr val="A61C00"/>
                </a:solidFill>
              </a:rPr>
              <a:t>:</a:t>
            </a:r>
          </a:p>
          <a:p>
            <a:pPr marL="457200" indent="-228600">
              <a:lnSpc>
                <a:spcPct val="100000"/>
              </a:lnSpc>
              <a:spcBef>
                <a:spcPts val="0"/>
              </a:spcBef>
              <a:buClr>
                <a:schemeClr val="dk1"/>
              </a:buClr>
            </a:pPr>
            <a:r>
              <a:rPr lang="en-US" sz="2800" dirty="0">
                <a:solidFill>
                  <a:schemeClr val="dk1"/>
                </a:solidFill>
              </a:rPr>
              <a:t>High False positives rate</a:t>
            </a:r>
          </a:p>
          <a:p>
            <a:pPr marL="457200" indent="-228600">
              <a:lnSpc>
                <a:spcPct val="100000"/>
              </a:lnSpc>
              <a:spcBef>
                <a:spcPts val="0"/>
              </a:spcBef>
              <a:buClr>
                <a:schemeClr val="dk1"/>
              </a:buClr>
            </a:pPr>
            <a:r>
              <a:rPr lang="en-US" sz="2800" dirty="0">
                <a:solidFill>
                  <a:schemeClr val="dk1"/>
                </a:solidFill>
              </a:rPr>
              <a:t>They </a:t>
            </a:r>
            <a:r>
              <a:rPr lang="en-US" sz="2800" dirty="0">
                <a:solidFill>
                  <a:schemeClr val="dk1"/>
                </a:solidFill>
              </a:rPr>
              <a:t>are generally trained on </a:t>
            </a:r>
            <a:r>
              <a:rPr lang="en-US" sz="2800" b="1" dirty="0">
                <a:solidFill>
                  <a:srgbClr val="6B9462"/>
                </a:solidFill>
              </a:rPr>
              <a:t>legitimate data</a:t>
            </a:r>
          </a:p>
          <a:p>
            <a:pPr marL="965200" lvl="1" indent="-228600">
              <a:lnSpc>
                <a:spcPct val="100000"/>
              </a:lnSpc>
              <a:spcBef>
                <a:spcPts val="0"/>
              </a:spcBef>
              <a:buClr>
                <a:schemeClr val="dk1"/>
              </a:buClr>
            </a:pPr>
            <a:r>
              <a:rPr lang="en-US" sz="2800" dirty="0">
                <a:solidFill>
                  <a:schemeClr val="dk1"/>
                </a:solidFill>
              </a:rPr>
              <a:t>This </a:t>
            </a:r>
            <a:r>
              <a:rPr lang="en-US" sz="2800" b="1" dirty="0">
                <a:solidFill>
                  <a:srgbClr val="A61C00"/>
                </a:solidFill>
              </a:rPr>
              <a:t>limits the effectiveness </a:t>
            </a:r>
            <a:r>
              <a:rPr lang="en-US" sz="2800" dirty="0">
                <a:solidFill>
                  <a:schemeClr val="dk1"/>
                </a:solidFill>
              </a:rPr>
              <a:t>of some of the techniques discussed. </a:t>
            </a:r>
          </a:p>
          <a:p>
            <a:pPr>
              <a:lnSpc>
                <a:spcPct val="114000"/>
              </a:lnSpc>
              <a:spcBef>
                <a:spcPts val="600"/>
              </a:spcBef>
              <a:spcAft>
                <a:spcPts val="600"/>
              </a:spcAft>
              <a:buNone/>
            </a:pPr>
            <a:endParaRPr sz="2800" dirty="0"/>
          </a:p>
        </p:txBody>
      </p:sp>
      <p:pic>
        <p:nvPicPr>
          <p:cNvPr id="343" name="Shape 343"/>
          <p:cNvPicPr preferRelativeResize="0"/>
          <p:nvPr/>
        </p:nvPicPr>
        <p:blipFill rotWithShape="1">
          <a:blip r:embed="rId3">
            <a:alphaModFix/>
          </a:blip>
          <a:srcRect r="49466"/>
          <a:stretch/>
        </p:blipFill>
        <p:spPr>
          <a:xfrm>
            <a:off x="1905000" y="3886201"/>
            <a:ext cx="990600" cy="1143000"/>
          </a:xfrm>
          <a:prstGeom prst="rect">
            <a:avLst/>
          </a:prstGeom>
          <a:noFill/>
          <a:ln>
            <a:noFill/>
          </a:ln>
        </p:spPr>
      </p:pic>
      <p:pic>
        <p:nvPicPr>
          <p:cNvPr id="344" name="Shape 344"/>
          <p:cNvPicPr preferRelativeResize="0"/>
          <p:nvPr/>
        </p:nvPicPr>
        <p:blipFill rotWithShape="1">
          <a:blip r:embed="rId3">
            <a:alphaModFix/>
          </a:blip>
          <a:srcRect l="50595"/>
          <a:stretch/>
        </p:blipFill>
        <p:spPr>
          <a:xfrm>
            <a:off x="1828801" y="2133600"/>
            <a:ext cx="949593" cy="1290522"/>
          </a:xfrm>
          <a:prstGeom prst="rect">
            <a:avLst/>
          </a:prstGeom>
          <a:noFill/>
          <a:ln>
            <a:noFill/>
          </a:ln>
        </p:spPr>
      </p:pic>
    </p:spTree>
    <p:extLst>
      <p:ext uri="{BB962C8B-B14F-4D97-AF65-F5344CB8AC3E}">
        <p14:creationId xmlns:p14="http://schemas.microsoft.com/office/powerpoint/2010/main" val="3417905590"/>
      </p:ext>
    </p:extLst>
  </p:cSld>
  <p:clrMapOvr>
    <a:masterClrMapping/>
  </p:clrMapOvr>
  <p:transition spd="slow">
    <p:cut/>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4"/>
          <p:cNvPicPr>
            <a:picLocks noChangeAspect="1" noChangeArrowheads="1"/>
          </p:cNvPicPr>
          <p:nvPr/>
        </p:nvPicPr>
        <p:blipFill>
          <a:blip r:embed="rId3">
            <a:extLst>
              <a:ext uri="{28A0092B-C50C-407E-A947-70E740481C1C}">
                <a14:useLocalDpi xmlns:a14="http://schemas.microsoft.com/office/drawing/2010/main" val="0"/>
              </a:ext>
            </a:extLst>
          </a:blip>
          <a:srcRect l="7159" t="4625" r="7159" b="13875"/>
          <a:stretch>
            <a:fillRect/>
          </a:stretch>
        </p:blipFill>
        <p:spPr bwMode="auto">
          <a:xfrm>
            <a:off x="6344688" y="2842750"/>
            <a:ext cx="4310062" cy="317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1" name="Rectangle 2"/>
          <p:cNvSpPr>
            <a:spLocks noGrp="1" noChangeArrowheads="1"/>
          </p:cNvSpPr>
          <p:nvPr>
            <p:ph type="title"/>
          </p:nvPr>
        </p:nvSpPr>
        <p:spPr>
          <a:xfrm>
            <a:off x="623392" y="325770"/>
            <a:ext cx="9518848" cy="1143000"/>
          </a:xfrm>
        </p:spPr>
        <p:txBody>
          <a:bodyPr/>
          <a:lstStyle/>
          <a:p>
            <a:pPr eaLnBrk="1" fontAlgn="auto" hangingPunct="1">
              <a:spcAft>
                <a:spcPts val="0"/>
              </a:spcAft>
              <a:defRPr/>
            </a:pPr>
            <a:r>
              <a:rPr lang="en-US" altLang="en-US" dirty="0" smtClean="0">
                <a:ea typeface="+mj-ea"/>
              </a:rPr>
              <a:t>IDS principles</a:t>
            </a:r>
          </a:p>
        </p:txBody>
      </p:sp>
      <p:sp>
        <p:nvSpPr>
          <p:cNvPr id="15363" name="Rectangle 3"/>
          <p:cNvSpPr>
            <a:spLocks noGrp="1" noChangeArrowheads="1"/>
          </p:cNvSpPr>
          <p:nvPr>
            <p:ph idx="1"/>
          </p:nvPr>
        </p:nvSpPr>
        <p:spPr>
          <a:xfrm>
            <a:off x="531952" y="1747665"/>
            <a:ext cx="11041227" cy="4854303"/>
          </a:xfrm>
        </p:spPr>
        <p:txBody>
          <a:bodyPr rtlCol="0">
            <a:normAutofit/>
          </a:bodyPr>
          <a:lstStyle/>
          <a:p>
            <a:pPr eaLnBrk="1" fontAlgn="auto" hangingPunct="1">
              <a:spcAft>
                <a:spcPts val="0"/>
              </a:spcAft>
              <a:defRPr/>
            </a:pPr>
            <a:r>
              <a:rPr lang="en-US" dirty="0">
                <a:ea typeface="+mn-ea"/>
              </a:rPr>
              <a:t>A</a:t>
            </a:r>
            <a:r>
              <a:rPr lang="en-US" dirty="0" smtClean="0">
                <a:ea typeface="+mn-ea"/>
              </a:rPr>
              <a:t>ssumption: intruder behavior differs from legitimate users</a:t>
            </a:r>
          </a:p>
          <a:p>
            <a:pPr marL="640080" lvl="1" eaLnBrk="1" fontAlgn="auto" hangingPunct="1">
              <a:spcAft>
                <a:spcPts val="600"/>
              </a:spcAft>
              <a:defRPr/>
            </a:pPr>
            <a:r>
              <a:rPr lang="en-US" sz="2000" dirty="0">
                <a:latin typeface="Adobe Caslon Pro" panose="0205050205050A020403" pitchFamily="18" charset="0"/>
                <a:ea typeface="+mn-ea"/>
              </a:rPr>
              <a:t>E</a:t>
            </a:r>
            <a:r>
              <a:rPr lang="en-US" sz="2000" dirty="0" smtClean="0">
                <a:latin typeface="Adobe Caslon Pro" panose="0205050205050A020403" pitchFamily="18" charset="0"/>
                <a:ea typeface="+mn-ea"/>
              </a:rPr>
              <a:t>xpect overlap as shown</a:t>
            </a:r>
          </a:p>
          <a:p>
            <a:pPr marL="344805" lvl="1" indent="0" eaLnBrk="1" fontAlgn="auto" hangingPunct="1">
              <a:spcAft>
                <a:spcPts val="600"/>
              </a:spcAft>
              <a:buNone/>
              <a:defRPr/>
            </a:pPr>
            <a:r>
              <a:rPr lang="en-US" sz="2000" dirty="0">
                <a:latin typeface="Adobe Caslon Pro" panose="0205050205050A020403" pitchFamily="18" charset="0"/>
              </a:rPr>
              <a:t> </a:t>
            </a:r>
            <a:r>
              <a:rPr lang="en-US" sz="2000" dirty="0" smtClean="0">
                <a:latin typeface="Adobe Caslon Pro" panose="0205050205050A020403" pitchFamily="18" charset="0"/>
              </a:rPr>
              <a:t>   </a:t>
            </a:r>
            <a:r>
              <a:rPr lang="en-US" sz="2000" dirty="0" smtClean="0">
                <a:latin typeface="Adobe Caslon Pro" panose="0205050205050A020403" pitchFamily="18" charset="0"/>
                <a:ea typeface="+mn-ea"/>
              </a:rPr>
              <a:t>for legit users:</a:t>
            </a:r>
          </a:p>
          <a:p>
            <a:pPr lvl="1" indent="0" eaLnBrk="1" fontAlgn="auto" hangingPunct="1">
              <a:spcAft>
                <a:spcPts val="600"/>
              </a:spcAft>
              <a:buNone/>
              <a:defRPr/>
            </a:pPr>
            <a:r>
              <a:rPr lang="en-US" sz="2000" dirty="0" smtClean="0">
                <a:latin typeface="Adobe Caslon Pro" panose="0205050205050A020403" pitchFamily="18" charset="0"/>
                <a:ea typeface="+mn-ea"/>
              </a:rPr>
              <a:t>   Observe major deviations</a:t>
            </a:r>
          </a:p>
          <a:p>
            <a:pPr marL="640080" lvl="1" eaLnBrk="1" fontAlgn="auto" hangingPunct="1">
              <a:spcAft>
                <a:spcPts val="600"/>
              </a:spcAft>
              <a:buNone/>
              <a:defRPr/>
            </a:pPr>
            <a:r>
              <a:rPr lang="en-US" sz="2000" dirty="0" smtClean="0">
                <a:latin typeface="Adobe Caslon Pro" panose="0205050205050A020403" pitchFamily="18" charset="0"/>
                <a:ea typeface="+mn-ea"/>
              </a:rPr>
              <a:t>	from past history</a:t>
            </a:r>
          </a:p>
          <a:p>
            <a:pPr marL="640080" lvl="1" eaLnBrk="1" fontAlgn="auto" hangingPunct="1">
              <a:spcAft>
                <a:spcPts val="600"/>
              </a:spcAft>
              <a:defRPr/>
            </a:pPr>
            <a:r>
              <a:rPr lang="en-US" sz="2000" dirty="0">
                <a:latin typeface="Adobe Caslon Pro" panose="0205050205050A020403" pitchFamily="18" charset="0"/>
                <a:ea typeface="+mn-ea"/>
              </a:rPr>
              <a:t>P</a:t>
            </a:r>
            <a:r>
              <a:rPr lang="en-US" sz="2000" dirty="0" smtClean="0">
                <a:latin typeface="Adobe Caslon Pro" panose="0205050205050A020403" pitchFamily="18" charset="0"/>
                <a:ea typeface="+mn-ea"/>
              </a:rPr>
              <a:t>roblems of:</a:t>
            </a:r>
          </a:p>
          <a:p>
            <a:pPr marL="1005840" lvl="2" eaLnBrk="1" fontAlgn="auto" hangingPunct="1">
              <a:spcAft>
                <a:spcPts val="600"/>
              </a:spcAft>
              <a:buClr>
                <a:schemeClr val="accent3"/>
              </a:buClr>
              <a:defRPr/>
            </a:pPr>
            <a:r>
              <a:rPr lang="en-US" sz="2000" dirty="0" smtClean="0">
                <a:latin typeface="Adobe Caslon Pro" panose="0205050205050A020403" pitchFamily="18" charset="0"/>
                <a:ea typeface="+mn-ea"/>
              </a:rPr>
              <a:t>false positives</a:t>
            </a:r>
          </a:p>
          <a:p>
            <a:pPr marL="1005840" lvl="2" eaLnBrk="1" fontAlgn="auto" hangingPunct="1">
              <a:spcAft>
                <a:spcPts val="600"/>
              </a:spcAft>
              <a:buClr>
                <a:schemeClr val="accent3"/>
              </a:buClr>
              <a:defRPr/>
            </a:pPr>
            <a:r>
              <a:rPr lang="en-US" sz="2000" dirty="0" smtClean="0">
                <a:latin typeface="Adobe Caslon Pro" panose="0205050205050A020403" pitchFamily="18" charset="0"/>
                <a:ea typeface="+mn-ea"/>
              </a:rPr>
              <a:t>false negatives</a:t>
            </a:r>
          </a:p>
          <a:p>
            <a:pPr marL="1005840" lvl="2" eaLnBrk="1" fontAlgn="auto" hangingPunct="1">
              <a:spcAft>
                <a:spcPts val="600"/>
              </a:spcAft>
              <a:buClr>
                <a:schemeClr val="accent3"/>
              </a:buClr>
              <a:defRPr/>
            </a:pPr>
            <a:r>
              <a:rPr lang="en-US" sz="2000" dirty="0" smtClean="0">
                <a:latin typeface="Adobe Caslon Pro" panose="0205050205050A020403" pitchFamily="18" charset="0"/>
                <a:ea typeface="+mn-ea"/>
              </a:rPr>
              <a:t>must compromise</a:t>
            </a:r>
          </a:p>
        </p:txBody>
      </p:sp>
      <p:sp>
        <p:nvSpPr>
          <p:cNvPr id="19461" name="TextBox 1"/>
          <p:cNvSpPr txBox="1">
            <a:spLocks noChangeArrowheads="1"/>
          </p:cNvSpPr>
          <p:nvPr/>
        </p:nvSpPr>
        <p:spPr bwMode="auto">
          <a:xfrm>
            <a:off x="6311901" y="2209800"/>
            <a:ext cx="39719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Calibri" pitchFamily="34" charset="0"/>
              </a:defRPr>
            </a:lvl1pPr>
            <a:lvl2pPr marL="742950" indent="-285750">
              <a:defRPr>
                <a:solidFill>
                  <a:schemeClr val="tx1"/>
                </a:solidFill>
                <a:latin typeface="Calibri" pitchFamily="34" charset="0"/>
              </a:defRPr>
            </a:lvl2pPr>
            <a:lvl3pPr marL="1143000" indent="-228600">
              <a:defRPr>
                <a:solidFill>
                  <a:schemeClr val="tx1"/>
                </a:solidFill>
                <a:latin typeface="Calibri" pitchFamily="34" charset="0"/>
              </a:defRPr>
            </a:lvl3pPr>
            <a:lvl4pPr marL="1600200" indent="-228600">
              <a:defRPr>
                <a:solidFill>
                  <a:schemeClr val="tx1"/>
                </a:solidFill>
                <a:latin typeface="Calibri" pitchFamily="34" charset="0"/>
              </a:defRPr>
            </a:lvl4pPr>
            <a:lvl5pPr marL="2057400" indent="-228600">
              <a:defRPr>
                <a:solidFill>
                  <a:schemeClr val="tx1"/>
                </a:solidFill>
                <a:latin typeface="Calibri" pitchFamily="34" charset="0"/>
              </a:defRPr>
            </a:lvl5pPr>
            <a:lvl6pPr marL="2514600" indent="-228600" fontAlgn="base">
              <a:spcBef>
                <a:spcPct val="0"/>
              </a:spcBef>
              <a:spcAft>
                <a:spcPct val="0"/>
              </a:spcAft>
              <a:defRPr>
                <a:solidFill>
                  <a:schemeClr val="tx1"/>
                </a:solidFill>
                <a:latin typeface="Calibri" pitchFamily="34" charset="0"/>
              </a:defRPr>
            </a:lvl6pPr>
            <a:lvl7pPr marL="2971800" indent="-228600" fontAlgn="base">
              <a:spcBef>
                <a:spcPct val="0"/>
              </a:spcBef>
              <a:spcAft>
                <a:spcPct val="0"/>
              </a:spcAft>
              <a:defRPr>
                <a:solidFill>
                  <a:schemeClr val="tx1"/>
                </a:solidFill>
                <a:latin typeface="Calibri" pitchFamily="34" charset="0"/>
              </a:defRPr>
            </a:lvl7pPr>
            <a:lvl8pPr marL="3429000" indent="-228600" fontAlgn="base">
              <a:spcBef>
                <a:spcPct val="0"/>
              </a:spcBef>
              <a:spcAft>
                <a:spcPct val="0"/>
              </a:spcAft>
              <a:defRPr>
                <a:solidFill>
                  <a:schemeClr val="tx1"/>
                </a:solidFill>
                <a:latin typeface="Calibri" pitchFamily="34" charset="0"/>
              </a:defRPr>
            </a:lvl8pPr>
            <a:lvl9pPr marL="3886200" indent="-228600" fontAlgn="base">
              <a:spcBef>
                <a:spcPct val="0"/>
              </a:spcBef>
              <a:spcAft>
                <a:spcPct val="0"/>
              </a:spcAft>
              <a:defRPr>
                <a:solidFill>
                  <a:schemeClr val="tx1"/>
                </a:solidFill>
                <a:latin typeface="Calibri" pitchFamily="34" charset="0"/>
              </a:defRPr>
            </a:lvl9pPr>
          </a:lstStyle>
          <a:p>
            <a:pPr algn="ctr"/>
            <a:r>
              <a:rPr lang="en-US" altLang="en-US" sz="1600">
                <a:solidFill>
                  <a:srgbClr val="FF0000"/>
                </a:solidFill>
                <a:latin typeface="Arial" pitchFamily="34" charset="0"/>
                <a:ea typeface="ＭＳ Ｐゴシック" pitchFamily="34" charset="-128"/>
              </a:rPr>
              <a:t>loose vs tight interpretation:</a:t>
            </a:r>
          </a:p>
          <a:p>
            <a:pPr algn="ctr"/>
            <a:r>
              <a:rPr lang="en-US" altLang="en-US" sz="1600">
                <a:solidFill>
                  <a:srgbClr val="FF0000"/>
                </a:solidFill>
                <a:latin typeface="Arial" pitchFamily="34" charset="0"/>
                <a:ea typeface="ＭＳ Ｐゴシック" pitchFamily="34" charset="-128"/>
              </a:rPr>
              <a:t>catch more (false +) or catch less (false -)</a:t>
            </a:r>
          </a:p>
        </p:txBody>
      </p:sp>
      <p:sp>
        <p:nvSpPr>
          <p:cNvPr id="2" name="TextBox 1"/>
          <p:cNvSpPr txBox="1"/>
          <p:nvPr/>
        </p:nvSpPr>
        <p:spPr>
          <a:xfrm>
            <a:off x="5087889" y="5259476"/>
            <a:ext cx="3228769" cy="338554"/>
          </a:xfrm>
          <a:prstGeom prst="rect">
            <a:avLst/>
          </a:prstGeom>
          <a:noFill/>
        </p:spPr>
        <p:txBody>
          <a:bodyPr wrap="none">
            <a:spAutoFit/>
          </a:bodyPr>
          <a:lstStyle/>
          <a:p>
            <a:pPr>
              <a:defRPr/>
            </a:pPr>
            <a:r>
              <a:rPr lang="en-US" sz="1600" dirty="0">
                <a:solidFill>
                  <a:srgbClr val="FF0000"/>
                </a:solidFill>
                <a:latin typeface="+mj-lt"/>
              </a:rPr>
              <a:t>Valid user identified as intruder</a:t>
            </a:r>
            <a:endParaRPr lang="en-US" sz="1600" dirty="0">
              <a:solidFill>
                <a:srgbClr val="FF0000"/>
              </a:solidFill>
              <a:latin typeface="+mj-lt"/>
            </a:endParaRPr>
          </a:p>
        </p:txBody>
      </p:sp>
      <p:sp>
        <p:nvSpPr>
          <p:cNvPr id="7" name="TextBox 6"/>
          <p:cNvSpPr txBox="1"/>
          <p:nvPr/>
        </p:nvSpPr>
        <p:spPr>
          <a:xfrm>
            <a:off x="8297862" y="4939926"/>
            <a:ext cx="2316660" cy="338554"/>
          </a:xfrm>
          <a:prstGeom prst="rect">
            <a:avLst/>
          </a:prstGeom>
          <a:noFill/>
        </p:spPr>
        <p:txBody>
          <a:bodyPr wrap="none">
            <a:spAutoFit/>
          </a:bodyPr>
          <a:lstStyle/>
          <a:p>
            <a:pPr>
              <a:defRPr/>
            </a:pPr>
            <a:r>
              <a:rPr lang="en-US" sz="1600" dirty="0">
                <a:solidFill>
                  <a:srgbClr val="FF0000"/>
                </a:solidFill>
                <a:latin typeface="+mj-lt"/>
              </a:rPr>
              <a:t>intruder not identified</a:t>
            </a:r>
          </a:p>
        </p:txBody>
      </p:sp>
    </p:spTree>
    <p:extLst>
      <p:ext uri="{BB962C8B-B14F-4D97-AF65-F5344CB8AC3E}">
        <p14:creationId xmlns:p14="http://schemas.microsoft.com/office/powerpoint/2010/main" val="101530348"/>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7304" y="301752"/>
            <a:ext cx="9518848" cy="1143000"/>
          </a:xfrm>
        </p:spPr>
        <p:txBody>
          <a:bodyPr/>
          <a:lstStyle/>
          <a:p>
            <a:pPr>
              <a:defRPr/>
            </a:pPr>
            <a:r>
              <a:rPr lang="en-US" dirty="0" smtClean="0"/>
              <a:t>IDS Evaluation Metrics</a:t>
            </a:r>
            <a:endParaRPr lang="en-US" dirty="0"/>
          </a:p>
        </p:txBody>
      </p:sp>
      <p:sp>
        <p:nvSpPr>
          <p:cNvPr id="3" name="Content Placeholder 2"/>
          <p:cNvSpPr>
            <a:spLocks noGrp="1"/>
          </p:cNvSpPr>
          <p:nvPr>
            <p:ph idx="1"/>
          </p:nvPr>
        </p:nvSpPr>
        <p:spPr>
          <a:xfrm>
            <a:off x="394792" y="1839105"/>
            <a:ext cx="11318672" cy="3916363"/>
          </a:xfrm>
        </p:spPr>
        <p:txBody>
          <a:bodyPr>
            <a:noAutofit/>
          </a:bodyPr>
          <a:lstStyle/>
          <a:p>
            <a:pPr>
              <a:lnSpc>
                <a:spcPct val="140000"/>
              </a:lnSpc>
              <a:defRPr/>
            </a:pPr>
            <a:r>
              <a:rPr lang="en-US" altLang="zh-CN" b="1" dirty="0" smtClean="0">
                <a:solidFill>
                  <a:srgbClr val="C00000"/>
                </a:solidFill>
                <a:ea typeface="SimSun" pitchFamily="2" charset="-122"/>
              </a:rPr>
              <a:t>False positive</a:t>
            </a:r>
            <a:r>
              <a:rPr lang="en-US" altLang="zh-CN" dirty="0" smtClean="0">
                <a:ea typeface="SimSun" pitchFamily="2" charset="-122"/>
              </a:rPr>
              <a:t>: An event, incorrectly identified by the IDS as being an intrusion when none has occurred</a:t>
            </a:r>
          </a:p>
          <a:p>
            <a:pPr marL="342900" lvl="2">
              <a:lnSpc>
                <a:spcPct val="140000"/>
              </a:lnSpc>
              <a:defRPr/>
            </a:pPr>
            <a:r>
              <a:rPr lang="en-US" altLang="zh-CN" sz="2400" b="1" dirty="0">
                <a:solidFill>
                  <a:srgbClr val="C00000"/>
                </a:solidFill>
                <a:latin typeface="Adobe Caslon Pro" panose="0205050205050A020403" pitchFamily="18" charset="0"/>
                <a:ea typeface="SimSun" pitchFamily="2" charset="-122"/>
              </a:rPr>
              <a:t>False negative</a:t>
            </a:r>
            <a:r>
              <a:rPr lang="en-US" altLang="zh-CN" sz="2400" dirty="0">
                <a:latin typeface="Adobe Caslon Pro" panose="0205050205050A020403" pitchFamily="18" charset="0"/>
                <a:ea typeface="SimSun" pitchFamily="2" charset="-122"/>
              </a:rPr>
              <a:t>: An event that the IDS fails to identify as an intrusion when one has in fact occurred</a:t>
            </a:r>
          </a:p>
          <a:p>
            <a:pPr marL="342900" lvl="2">
              <a:lnSpc>
                <a:spcPct val="140000"/>
              </a:lnSpc>
              <a:defRPr/>
            </a:pPr>
            <a:r>
              <a:rPr lang="en-US" altLang="zh-CN" sz="2400" b="1" dirty="0">
                <a:solidFill>
                  <a:srgbClr val="C00000"/>
                </a:solidFill>
                <a:latin typeface="Adobe Caslon Pro" panose="0205050205050A020403" pitchFamily="18" charset="0"/>
                <a:ea typeface="SimSun" pitchFamily="2" charset="-122"/>
              </a:rPr>
              <a:t>True Positives : </a:t>
            </a:r>
            <a:r>
              <a:rPr lang="en-US" altLang="zh-CN" sz="2400" dirty="0">
                <a:latin typeface="Adobe Caslon Pro" panose="0205050205050A020403" pitchFamily="18" charset="0"/>
                <a:ea typeface="SimSun" pitchFamily="2" charset="-122"/>
              </a:rPr>
              <a:t>An event the IDS accurately identifies as intrusion</a:t>
            </a:r>
          </a:p>
          <a:p>
            <a:pPr marL="342900" lvl="1">
              <a:lnSpc>
                <a:spcPct val="140000"/>
              </a:lnSpc>
              <a:buClr>
                <a:schemeClr val="accent1"/>
              </a:buClr>
              <a:defRPr/>
            </a:pPr>
            <a:r>
              <a:rPr lang="en-US" altLang="zh-CN" sz="2400" dirty="0">
                <a:latin typeface="Adobe Caslon Pro" panose="0205050205050A020403" pitchFamily="18" charset="0"/>
                <a:ea typeface="SimSun" pitchFamily="2" charset="-122"/>
              </a:rPr>
              <a:t>IDS Goals:</a:t>
            </a:r>
          </a:p>
          <a:p>
            <a:pPr marL="708025" lvl="2">
              <a:lnSpc>
                <a:spcPct val="140000"/>
              </a:lnSpc>
              <a:defRPr/>
            </a:pPr>
            <a:r>
              <a:rPr lang="en-US" altLang="zh-CN" sz="2400" dirty="0">
                <a:latin typeface="Adobe Caslon Pro" panose="0205050205050A020403" pitchFamily="18" charset="0"/>
                <a:ea typeface="SimSun" pitchFamily="2" charset="-122"/>
              </a:rPr>
              <a:t>Maximize True positives</a:t>
            </a:r>
          </a:p>
          <a:p>
            <a:pPr marL="708025" lvl="2">
              <a:lnSpc>
                <a:spcPct val="140000"/>
              </a:lnSpc>
              <a:defRPr/>
            </a:pPr>
            <a:r>
              <a:rPr lang="en-US" altLang="zh-CN" sz="2400" dirty="0">
                <a:latin typeface="Adobe Caslon Pro" panose="0205050205050A020403" pitchFamily="18" charset="0"/>
                <a:ea typeface="SimSun" pitchFamily="2" charset="-122"/>
              </a:rPr>
              <a:t>Minimize </a:t>
            </a:r>
            <a:r>
              <a:rPr lang="en-US" altLang="zh-CN" sz="2400" dirty="0">
                <a:latin typeface="Adobe Caslon Pro" panose="0205050205050A020403" pitchFamily="18" charset="0"/>
                <a:ea typeface="SimSun" pitchFamily="2" charset="-122"/>
              </a:rPr>
              <a:t>false positives, false </a:t>
            </a:r>
            <a:r>
              <a:rPr lang="en-US" altLang="zh-CN" sz="2400" dirty="0">
                <a:latin typeface="Adobe Caslon Pro" panose="0205050205050A020403" pitchFamily="18" charset="0"/>
                <a:ea typeface="SimSun" pitchFamily="2" charset="-122"/>
              </a:rPr>
              <a:t>negatives</a:t>
            </a:r>
          </a:p>
          <a:p>
            <a:pPr marL="708025" lvl="2">
              <a:lnSpc>
                <a:spcPct val="140000"/>
              </a:lnSpc>
              <a:defRPr/>
            </a:pPr>
            <a:r>
              <a:rPr lang="en-US" altLang="zh-CN" sz="2400" dirty="0">
                <a:latin typeface="Adobe Caslon Pro" panose="0205050205050A020403" pitchFamily="18" charset="0"/>
                <a:ea typeface="SimSun" pitchFamily="2" charset="-122"/>
              </a:rPr>
              <a:t>Minimize time spent verifying attacks, looking for them</a:t>
            </a:r>
          </a:p>
          <a:p>
            <a:pPr marL="708025" lvl="2">
              <a:lnSpc>
                <a:spcPct val="140000"/>
              </a:lnSpc>
              <a:defRPr/>
            </a:pPr>
            <a:endParaRPr lang="en-US" altLang="zh-CN" sz="2400" dirty="0">
              <a:latin typeface="Adobe Caslon Pro" panose="0205050205050A020403" pitchFamily="18" charset="0"/>
              <a:ea typeface="SimSun" pitchFamily="2" charset="-122"/>
            </a:endParaRPr>
          </a:p>
          <a:p>
            <a:pPr>
              <a:lnSpc>
                <a:spcPct val="140000"/>
              </a:lnSpc>
              <a:defRPr/>
            </a:pPr>
            <a:endParaRPr lang="en-US" altLang="zh-CN" dirty="0">
              <a:ea typeface="SimSun" pitchFamily="2" charset="-122"/>
            </a:endParaRPr>
          </a:p>
          <a:p>
            <a:pPr>
              <a:defRPr/>
            </a:pPr>
            <a:endParaRPr lang="en-US" dirty="0"/>
          </a:p>
        </p:txBody>
      </p:sp>
    </p:spTree>
    <p:extLst>
      <p:ext uri="{BB962C8B-B14F-4D97-AF65-F5344CB8AC3E}">
        <p14:creationId xmlns:p14="http://schemas.microsoft.com/office/powerpoint/2010/main" val="592853849"/>
      </p:ext>
    </p:extLst>
  </p:cSld>
  <p:clrMapOvr>
    <a:masterClrMapping/>
  </p:clrMapOvr>
  <p:timing>
    <p:tnLst>
      <p:par>
        <p:cTn id="1" dur="indefinite" restart="never" nodeType="tmRoot"/>
      </p:par>
    </p:tnLst>
  </p:timing>
</p:sld>
</file>

<file path=ppt/theme/theme1.xml><?xml version="1.0" encoding="utf-8"?>
<a:theme xmlns:a="http://schemas.openxmlformats.org/drawingml/2006/main" name="Plaza">
  <a:themeElements>
    <a:clrScheme name="Plaza">
      <a:dk1>
        <a:sysClr val="windowText" lastClr="000000"/>
      </a:dk1>
      <a:lt1>
        <a:sysClr val="window" lastClr="FFFFFF"/>
      </a:lt1>
      <a:dk2>
        <a:srgbClr val="333333"/>
      </a:dk2>
      <a:lt2>
        <a:srgbClr val="CCCCCC"/>
      </a:lt2>
      <a:accent1>
        <a:srgbClr val="990000"/>
      </a:accent1>
      <a:accent2>
        <a:srgbClr val="580101"/>
      </a:accent2>
      <a:accent3>
        <a:srgbClr val="E94A00"/>
      </a:accent3>
      <a:accent4>
        <a:srgbClr val="EB8F00"/>
      </a:accent4>
      <a:accent5>
        <a:srgbClr val="A4A4A4"/>
      </a:accent5>
      <a:accent6>
        <a:srgbClr val="666666"/>
      </a:accent6>
      <a:hlink>
        <a:srgbClr val="D01010"/>
      </a:hlink>
      <a:folHlink>
        <a:srgbClr val="E6682E"/>
      </a:folHlink>
    </a:clrScheme>
    <a:fontScheme name="Plaza">
      <a:majorFont>
        <a:latin typeface="Century Gothic"/>
        <a:ea typeface=""/>
        <a:cs typeface=""/>
        <a:font script="Jpan" typeface="メイリオ"/>
        <a:font script="Hans" typeface="宋体"/>
        <a:font script="Hant" typeface="新細明體"/>
      </a:majorFont>
      <a:minorFont>
        <a:latin typeface="Century Gothic"/>
        <a:ea typeface=""/>
        <a:cs typeface=""/>
        <a:font script="Jpan" typeface="メイリオ"/>
        <a:font script="Hans" typeface="宋体"/>
        <a:font script="Hant" typeface="新細明體"/>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187</TotalTime>
  <Words>4707</Words>
  <Application>Microsoft Office PowerPoint</Application>
  <PresentationFormat>Widescreen</PresentationFormat>
  <Paragraphs>426</Paragraphs>
  <Slides>33</Slides>
  <Notes>26</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33</vt:i4>
      </vt:variant>
    </vt:vector>
  </HeadingPairs>
  <TitlesOfParts>
    <vt:vector size="46" baseType="lpstr">
      <vt:lpstr>MS PGothic</vt:lpstr>
      <vt:lpstr>MS PGothic</vt:lpstr>
      <vt:lpstr>SimSun</vt:lpstr>
      <vt:lpstr>Adobe Caslon Pro</vt:lpstr>
      <vt:lpstr>Arial</vt:lpstr>
      <vt:lpstr>Calibri</vt:lpstr>
      <vt:lpstr>Century Gothic</vt:lpstr>
      <vt:lpstr>Gloria Hallelujah</vt:lpstr>
      <vt:lpstr>Times New Roman</vt:lpstr>
      <vt:lpstr>Wingdings</vt:lpstr>
      <vt:lpstr>Wingdings 2</vt:lpstr>
      <vt:lpstr>ヒラギノ角ゴ Pro W3</vt:lpstr>
      <vt:lpstr>Plaza</vt:lpstr>
      <vt:lpstr>Intrusion Detection Systems</vt:lpstr>
      <vt:lpstr>First Line of Defense: The Firewall</vt:lpstr>
      <vt:lpstr>Limitations of Intrusion Prevention Systems</vt:lpstr>
      <vt:lpstr>Insider Attacks</vt:lpstr>
      <vt:lpstr>Examples of Intrusion</vt:lpstr>
      <vt:lpstr>Intruder Behavior</vt:lpstr>
      <vt:lpstr>PowerPoint Presentation</vt:lpstr>
      <vt:lpstr>Defense-in-Depth</vt:lpstr>
      <vt:lpstr>Intrusion Detection </vt:lpstr>
      <vt:lpstr>Intrusion Detection</vt:lpstr>
      <vt:lpstr>Types of Intrusion detection systems</vt:lpstr>
      <vt:lpstr>IDS Components </vt:lpstr>
      <vt:lpstr>PowerPoint Presentation</vt:lpstr>
      <vt:lpstr>IDS Components (continued)</vt:lpstr>
      <vt:lpstr>IDS Components </vt:lpstr>
      <vt:lpstr>Network based IDS  (NIDS)</vt:lpstr>
      <vt:lpstr>Network based IDS  (NIDS) Components</vt:lpstr>
      <vt:lpstr>Network based IDS</vt:lpstr>
      <vt:lpstr>Host-Based IDS (HIDS) </vt:lpstr>
      <vt:lpstr>How HIDS Work </vt:lpstr>
      <vt:lpstr>Advantages of HIDS </vt:lpstr>
      <vt:lpstr>Disadvantages of HIDS </vt:lpstr>
      <vt:lpstr>Types of IDS </vt:lpstr>
      <vt:lpstr>Analysis Approaches</vt:lpstr>
      <vt:lpstr>Misuse or Signature Detection</vt:lpstr>
      <vt:lpstr>Signature Approaches</vt:lpstr>
      <vt:lpstr>Misuse Signature Intruder Detection</vt:lpstr>
      <vt:lpstr>Signature Approach Advantages &amp; Disadvantages</vt:lpstr>
      <vt:lpstr>Analysis Approaches</vt:lpstr>
      <vt:lpstr>Anomaly Detection Example</vt:lpstr>
      <vt:lpstr>Anomaly Detection Advantages &amp; Disadvantages</vt:lpstr>
      <vt:lpstr>IDS principles</vt:lpstr>
      <vt:lpstr>IDS Evaluation Metrics</vt:lpstr>
    </vt:vector>
  </TitlesOfParts>
  <Company>UWB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Intrusion Detection Systems</dc:title>
  <dc:creator>Geethapriya Thamilarasu</dc:creator>
  <cp:lastModifiedBy>Geethapriya Thamilarasu</cp:lastModifiedBy>
  <cp:revision>8</cp:revision>
  <dcterms:created xsi:type="dcterms:W3CDTF">2018-02-13T19:21:39Z</dcterms:created>
  <dcterms:modified xsi:type="dcterms:W3CDTF">2018-02-13T22:29:28Z</dcterms:modified>
</cp:coreProperties>
</file>