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33"/>
  </p:notesMasterIdLst>
  <p:sldIdLst>
    <p:sldId id="257" r:id="rId3"/>
    <p:sldId id="259" r:id="rId4"/>
    <p:sldId id="260" r:id="rId5"/>
    <p:sldId id="29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7" r:id="rId17"/>
    <p:sldId id="296" r:id="rId18"/>
    <p:sldId id="273" r:id="rId19"/>
    <p:sldId id="274" r:id="rId20"/>
    <p:sldId id="275" r:id="rId21"/>
    <p:sldId id="276" r:id="rId22"/>
    <p:sldId id="300" r:id="rId23"/>
    <p:sldId id="277" r:id="rId24"/>
    <p:sldId id="278" r:id="rId25"/>
    <p:sldId id="279" r:id="rId26"/>
    <p:sldId id="280" r:id="rId27"/>
    <p:sldId id="281" r:id="rId28"/>
    <p:sldId id="282" r:id="rId29"/>
    <p:sldId id="299" r:id="rId30"/>
    <p:sldId id="283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D60C9-0D69-45E9-9AB0-8BCF88863E8A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9F305-CE87-4B2C-947A-080CF1D55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6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6896E3-56B8-DD4F-92D1-41B1FE9B0E6C}" type="slidenum">
              <a:rPr kumimoji="0" lang="en-AU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-110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-110" charset="0"/>
              <a:ea typeface="+mn-ea"/>
              <a:cs typeface="+mn-cs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562600" cy="4343400"/>
          </a:xfrm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 symmetric encryption scheme has five ingredients (Figure 2.1):</a:t>
            </a:r>
          </a:p>
          <a:p>
            <a:pPr eaLnBrk="1" hangingPunct="1"/>
            <a:endParaRPr lang="en-US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Plaintext: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This is the original message or data that is fed into the algorithm as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input.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Encryption algorithm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The encryption algorithm performs various substitutions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and transformations on the plaintext.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Secret key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The secret key is also input to the encryption algorithm. The exact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substitutions and transformations performed by the algorithm depend on the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key.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This is the scrambled message produced as output. It depends on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the plaintext and the secret key. For a given message, two different keys will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produce two different </a:t>
            </a:r>
            <a:r>
              <a:rPr lang="en-US" b="0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ciphertexts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.</a:t>
            </a:r>
          </a:p>
          <a:p>
            <a:pPr eaLnBrk="1" hangingPunct="1"/>
            <a:endParaRPr lang="en-US" b="0" dirty="0" smtClean="0"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• </a:t>
            </a:r>
            <a:r>
              <a:rPr lang="en-US" b="1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Decryption algorithm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: This is essentially the encryption algorithm run in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reverse. It takes the </a:t>
            </a:r>
            <a:r>
              <a:rPr lang="en-US" b="0" dirty="0" err="1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ciphertext</a:t>
            </a:r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and the secret key and produces the original</a:t>
            </a:r>
          </a:p>
          <a:p>
            <a:pPr eaLnBrk="1" hangingPunct="1"/>
            <a:r>
              <a:rPr lang="en-US" b="0" dirty="0" smtClean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plaintext.</a:t>
            </a:r>
            <a:endParaRPr lang="en-US" b="0" dirty="0" smtClean="0">
              <a:latin typeface="Times New Roman" pitchFamily="-110" charset="0"/>
              <a:ea typeface="Times New Roman" pitchFamily="-110" charset="0"/>
              <a:cs typeface="Times New Roman" pitchFamily="-11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247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FF5EC72-141A-4567-81A6-EFA2953336B1}" type="slidenum">
              <a:rPr lang="en-US" altLang="en-US">
                <a:latin typeface="Calibri" panose="020F0502020204030204" pitchFamily="34" charset="0"/>
              </a:rPr>
              <a:pPr/>
              <a:t>27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20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64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Tw Cen MT" panose="020B06020201040206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1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75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05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7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1/16/2018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0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7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430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5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39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B9344-A600-C44C-BFF3-F262E2EAB853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19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C9FC-DA22-1F47-8722-58727A1D436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90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0927A-0526-144F-9580-37ABB5A1E7E2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378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5AEC4-77F9-F44E-AF10-D517C4B655C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221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5AEC4-77F9-F44E-AF10-D517C4B655CE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0283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E093F-740F-2B40-9952-A828B8BE9ABC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223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1BA6F-B221-4442-B3E0-4DE91DDD2916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359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3DB47-CF9E-3940-A66D-FFE81C46DA24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099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43092-C6C6-4F4E-AC3B-C3372C3BCD24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297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F7B68-3A81-2E4B-BA12-F5A493E24C50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978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B32E-5D81-2D4F-8CC9-49749ECC7299}" type="slidenum">
              <a:rPr lang="en-US" smtClean="0">
                <a:solidFill>
                  <a:prstClr val="white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77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09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F62F1-22C1-4045-9A09-9CF772C9FABC}" type="datetimeFigureOut">
              <a:rPr lang="en-US" smtClean="0"/>
              <a:t>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A94F1-4CA2-41F2-9841-1A83E01B73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6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en.wikipedia.org/wiki/Public_key_cryptography" TargetMode="Externa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w Cen MT" panose="020B0602020104020603" pitchFamily="34" charset="0"/>
              </a:rPr>
              <a:t>Introduction to Cryptography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0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Cryptography</a:t>
            </a:r>
          </a:p>
        </p:txBody>
      </p:sp>
      <p:pic>
        <p:nvPicPr>
          <p:cNvPr id="614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4856162"/>
            <a:ext cx="5450840" cy="1306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3883025"/>
            <a:ext cx="650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Box 4"/>
          <p:cNvSpPr txBox="1">
            <a:spLocks noChangeArrowheads="1"/>
          </p:cNvSpPr>
          <p:nvPr/>
        </p:nvSpPr>
        <p:spPr bwMode="auto">
          <a:xfrm>
            <a:off x="2027875" y="2210028"/>
            <a:ext cx="784567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Tw Cen MT" panose="020B0602020104020603" pitchFamily="34" charset="0"/>
              </a:rPr>
              <a:t>The art of secret writing.</a:t>
            </a:r>
            <a:br>
              <a:rPr lang="en-US" altLang="en-US" sz="2400" dirty="0">
                <a:latin typeface="Tw Cen MT" panose="020B0602020104020603" pitchFamily="34" charset="0"/>
              </a:rPr>
            </a:br>
            <a:r>
              <a:rPr lang="en-US" altLang="en-US" sz="2400" dirty="0">
                <a:latin typeface="Tw Cen MT" panose="020B0602020104020603" pitchFamily="34" charset="0"/>
              </a:rPr>
              <a:t>The art of mangling information into apparent unintelligibility</a:t>
            </a:r>
            <a:br>
              <a:rPr lang="en-US" altLang="en-US" sz="2400" dirty="0">
                <a:latin typeface="Tw Cen MT" panose="020B0602020104020603" pitchFamily="34" charset="0"/>
              </a:rPr>
            </a:br>
            <a:r>
              <a:rPr lang="en-US" altLang="en-US" sz="2400" dirty="0">
                <a:latin typeface="Tw Cen MT" panose="020B0602020104020603" pitchFamily="34" charset="0"/>
              </a:rPr>
              <a:t>in a manner allowing a secret method of </a:t>
            </a:r>
            <a:r>
              <a:rPr lang="en-US" altLang="en-US" sz="2400" dirty="0" err="1">
                <a:latin typeface="Tw Cen MT" panose="020B0602020104020603" pitchFamily="34" charset="0"/>
              </a:rPr>
              <a:t>unmangling</a:t>
            </a:r>
            <a:r>
              <a:rPr lang="en-US" altLang="en-US" sz="2400" dirty="0">
                <a:latin typeface="Tw Cen MT" panose="020B0602020104020603" pitchFamily="34" charset="0"/>
              </a:rPr>
              <a:t>.</a:t>
            </a:r>
          </a:p>
        </p:txBody>
      </p:sp>
      <p:pic>
        <p:nvPicPr>
          <p:cNvPr id="6151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712" y="1841501"/>
            <a:ext cx="711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888" y="1841501"/>
            <a:ext cx="812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0658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Cryptography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256" y="1982894"/>
            <a:ext cx="10058400" cy="4023360"/>
          </a:xfrm>
        </p:spPr>
        <p:txBody>
          <a:bodyPr rtlCol="0"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  Messages</a:t>
            </a: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:</a:t>
            </a:r>
          </a:p>
          <a:p>
            <a:pPr lvl="1">
              <a:buFont typeface="Arial"/>
              <a:buChar char="–"/>
              <a:defRPr/>
            </a:pP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Plaintext</a:t>
            </a:r>
          </a:p>
          <a:p>
            <a:pPr lvl="1">
              <a:buFont typeface="Arial"/>
              <a:buChar char="–"/>
              <a:defRPr/>
            </a:pPr>
            <a:r>
              <a:rPr lang="en-US" sz="2400" dirty="0" err="1" smtClean="0">
                <a:solidFill>
                  <a:schemeClr val="tx1"/>
                </a:solidFill>
                <a:latin typeface="Tw Cen MT" panose="020B0602020104020603" pitchFamily="34" charset="0"/>
              </a:rPr>
              <a:t>Ciphertext</a:t>
            </a:r>
            <a:endParaRPr lang="en-US" sz="2400" dirty="0" smtClean="0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>
              <a:buFont typeface="Arial"/>
              <a:buChar char="•"/>
              <a:defRPr/>
            </a:pP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  Ingredients</a:t>
            </a: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:</a:t>
            </a:r>
          </a:p>
          <a:p>
            <a:pPr lvl="1">
              <a:buFont typeface="Arial"/>
              <a:buChar char="–"/>
              <a:defRPr/>
            </a:pPr>
            <a:r>
              <a:rPr lang="en-US" sz="2400" dirty="0" err="1" smtClean="0">
                <a:solidFill>
                  <a:schemeClr val="tx1"/>
                </a:solidFill>
                <a:latin typeface="Tw Cen MT" panose="020B0602020104020603" pitchFamily="34" charset="0"/>
              </a:rPr>
              <a:t>Algorithm(s</a:t>
            </a: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)</a:t>
            </a:r>
          </a:p>
          <a:p>
            <a:pPr lvl="1">
              <a:buFont typeface="Arial"/>
              <a:buChar char="–"/>
              <a:defRPr/>
            </a:pPr>
            <a:r>
              <a:rPr lang="en-US" sz="2400" dirty="0" err="1" smtClean="0">
                <a:solidFill>
                  <a:schemeClr val="tx1"/>
                </a:solidFill>
                <a:latin typeface="Tw Cen MT" panose="020B0602020104020603" pitchFamily="34" charset="0"/>
              </a:rPr>
              <a:t>Key(s</a:t>
            </a: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)</a:t>
            </a:r>
          </a:p>
          <a:p>
            <a:pPr>
              <a:buFont typeface="Arial"/>
              <a:buChar char="•"/>
              <a:defRPr/>
            </a:pP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  Players</a:t>
            </a: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:</a:t>
            </a:r>
          </a:p>
          <a:p>
            <a:pPr lvl="1">
              <a:buFont typeface="Arial"/>
              <a:buChar char="–"/>
              <a:defRPr/>
            </a:pPr>
            <a:r>
              <a:rPr lang="en-US" sz="2400" i="1" dirty="0" smtClean="0">
                <a:solidFill>
                  <a:schemeClr val="tx1"/>
                </a:solidFill>
                <a:latin typeface="Tw Cen MT" panose="020B0602020104020603" pitchFamily="34" charset="0"/>
              </a:rPr>
              <a:t>Cryptographer</a:t>
            </a: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: invents clever algorithms</a:t>
            </a:r>
          </a:p>
          <a:p>
            <a:pPr lvl="1">
              <a:buFont typeface="Arial"/>
              <a:buChar char="–"/>
              <a:defRPr/>
            </a:pPr>
            <a:r>
              <a:rPr lang="en-US" sz="2400" i="1" dirty="0" smtClean="0">
                <a:solidFill>
                  <a:schemeClr val="tx1"/>
                </a:solidFill>
                <a:latin typeface="Tw Cen MT" panose="020B0602020104020603" pitchFamily="34" charset="0"/>
              </a:rPr>
              <a:t>Cryptanalyst</a:t>
            </a:r>
            <a:r>
              <a:rPr lang="en-US" sz="24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: breaks clever algorithms</a:t>
            </a:r>
          </a:p>
        </p:txBody>
      </p:sp>
      <p:pic>
        <p:nvPicPr>
          <p:cNvPr id="7173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130552"/>
            <a:ext cx="6086246" cy="47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509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1283208" y="1908048"/>
            <a:ext cx="9241536" cy="4572000"/>
          </a:xfrm>
        </p:spPr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en-US" altLang="en-US" b="1" dirty="0" smtClean="0">
                <a:solidFill>
                  <a:srgbClr val="C00000"/>
                </a:solidFill>
                <a:latin typeface="Adobe Caslon Pro" panose="0205050205050A020403" pitchFamily="18" charset="0"/>
              </a:rPr>
              <a:t>Plaintex</a:t>
            </a:r>
            <a:r>
              <a:rPr lang="en-US" altLang="en-US" dirty="0" smtClean="0">
                <a:solidFill>
                  <a:srgbClr val="C00000"/>
                </a:solidFill>
                <a:latin typeface="Adobe Caslon Pro" panose="0205050205050A020403" pitchFamily="18" charset="0"/>
              </a:rPr>
              <a:t>t</a:t>
            </a:r>
            <a:r>
              <a:rPr lang="en-US" altLang="en-US" dirty="0" smtClean="0">
                <a:latin typeface="Adobe Caslon Pro" panose="0205050205050A020403" pitchFamily="18" charset="0"/>
              </a:rPr>
              <a:t>: (the original message) Message or data which are in their normal, readable (not cryptic) form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b="1" dirty="0" smtClean="0">
                <a:solidFill>
                  <a:srgbClr val="C00000"/>
                </a:solidFill>
                <a:latin typeface="Adobe Caslon Pro" panose="0205050205050A020403" pitchFamily="18" charset="0"/>
              </a:rPr>
              <a:t>Encryption</a:t>
            </a:r>
            <a:r>
              <a:rPr lang="en-US" altLang="en-US" dirty="0" smtClean="0">
                <a:latin typeface="Adobe Caslon Pro" panose="0205050205050A020403" pitchFamily="18" charset="0"/>
              </a:rPr>
              <a:t>: Encoding the contents of the message in such a way that hides its contents from outsiders</a:t>
            </a:r>
          </a:p>
          <a:p>
            <a:pPr marL="342900" lvl="1" indent="-342900">
              <a:lnSpc>
                <a:spcPct val="114000"/>
              </a:lnSpc>
              <a:buClr>
                <a:schemeClr val="folHlink"/>
              </a:buClr>
              <a:buSzPct val="60000"/>
            </a:pPr>
            <a:r>
              <a:rPr lang="en-US" altLang="en-US" b="1" dirty="0" err="1">
                <a:solidFill>
                  <a:srgbClr val="C00000"/>
                </a:solidFill>
                <a:latin typeface="Adobe Caslon Pro" panose="0205050205050A020403" pitchFamily="18" charset="0"/>
              </a:rPr>
              <a:t>Ciphertext</a:t>
            </a:r>
            <a:r>
              <a:rPr lang="en-US" altLang="en-US" dirty="0">
                <a:latin typeface="Adobe Caslon Pro" panose="0205050205050A020403" pitchFamily="18" charset="0"/>
              </a:rPr>
              <a:t>: the encoded or encrypted message</a:t>
            </a:r>
          </a:p>
          <a:p>
            <a:pPr marL="342900" lvl="1" indent="-342900">
              <a:lnSpc>
                <a:spcPct val="114000"/>
              </a:lnSpc>
              <a:buClr>
                <a:schemeClr val="folHlink"/>
              </a:buClr>
              <a:buSzPct val="60000"/>
            </a:pPr>
            <a:r>
              <a:rPr lang="en-US" altLang="en-US" b="1" dirty="0">
                <a:solidFill>
                  <a:srgbClr val="C00000"/>
                </a:solidFill>
                <a:latin typeface="Adobe Caslon Pro" panose="0205050205050A020403" pitchFamily="18" charset="0"/>
              </a:rPr>
              <a:t>Decryption</a:t>
            </a:r>
            <a:r>
              <a:rPr lang="en-US" altLang="en-US" dirty="0">
                <a:latin typeface="Adobe Caslon Pro" panose="0205050205050A020403" pitchFamily="18" charset="0"/>
              </a:rPr>
              <a:t>: The process of retrieving the plaintext back from the </a:t>
            </a:r>
            <a:r>
              <a:rPr lang="en-US" altLang="en-US" dirty="0" err="1">
                <a:latin typeface="Adobe Caslon Pro" panose="0205050205050A020403" pitchFamily="18" charset="0"/>
              </a:rPr>
              <a:t>ciphertext</a:t>
            </a:r>
            <a:r>
              <a:rPr lang="en-US" altLang="en-US" dirty="0">
                <a:latin typeface="Adobe Caslon Pro" panose="0205050205050A020403" pitchFamily="18" charset="0"/>
              </a:rPr>
              <a:t>.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b="1" dirty="0" smtClean="0">
                <a:solidFill>
                  <a:srgbClr val="C00000"/>
                </a:solidFill>
                <a:latin typeface="Adobe Caslon Pro" panose="0205050205050A020403" pitchFamily="18" charset="0"/>
                <a:ea typeface="ヒラギノ角ゴ Pro W3" charset="-128"/>
              </a:rPr>
              <a:t>Key</a:t>
            </a:r>
            <a:r>
              <a:rPr lang="en-US" altLang="en-US" dirty="0" smtClean="0">
                <a:latin typeface="Adobe Caslon Pro" panose="0205050205050A020403" pitchFamily="18" charset="0"/>
                <a:ea typeface="ヒラギノ角ゴ Pro W3" charset="-128"/>
              </a:rPr>
              <a:t> – a sequence of characters or bits used by an algorithm to encrypt or decrypt a message</a:t>
            </a:r>
          </a:p>
          <a:p>
            <a:pPr eaLnBrk="1" hangingPunct="1">
              <a:lnSpc>
                <a:spcPct val="114000"/>
              </a:lnSpc>
            </a:pPr>
            <a:endParaRPr lang="en-US" altLang="en-US" dirty="0" smtClean="0">
              <a:latin typeface="Adobe Caslon Pro" panose="0205050205050A020403" pitchFamily="18" charset="0"/>
              <a:ea typeface="ヒラギノ角ゴ Pro W3" charset="-128"/>
            </a:endParaRPr>
          </a:p>
          <a:p>
            <a:pPr eaLnBrk="1" hangingPunct="1">
              <a:lnSpc>
                <a:spcPct val="114000"/>
              </a:lnSpc>
            </a:pPr>
            <a:endParaRPr lang="en-US" altLang="en-US" dirty="0" smtClean="0">
              <a:latin typeface="Adobe Caslon Pro" panose="0205050205050A020403" pitchFamily="18" charset="0"/>
            </a:endParaRPr>
          </a:p>
        </p:txBody>
      </p:sp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Cryptography Terms</a:t>
            </a:r>
          </a:p>
        </p:txBody>
      </p:sp>
    </p:spTree>
    <p:extLst>
      <p:ext uri="{BB962C8B-B14F-4D97-AF65-F5344CB8AC3E}">
        <p14:creationId xmlns:p14="http://schemas.microsoft.com/office/powerpoint/2010/main" val="110179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Cryptography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Tx/>
              <a:buSzPct val="101000"/>
              <a:buFont typeface="Wingdings" panose="05000000000000000000" pitchFamily="2" charset="2"/>
              <a:buChar char="§"/>
            </a:pPr>
            <a:r>
              <a:rPr lang="en-US" altLang="en-US" dirty="0" smtClean="0"/>
              <a:t>  Algorithm</a:t>
            </a:r>
            <a:endParaRPr lang="en-US" altLang="en-US" dirty="0" smtClean="0"/>
          </a:p>
          <a:p>
            <a:pPr eaLnBrk="1" hangingPunct="1">
              <a:buClrTx/>
              <a:buSzPct val="101000"/>
              <a:buFont typeface="Wingdings" panose="05000000000000000000" pitchFamily="2" charset="2"/>
              <a:buChar char="§"/>
            </a:pPr>
            <a:r>
              <a:rPr lang="en-US" altLang="en-US" dirty="0" smtClean="0"/>
              <a:t>  Key(s</a:t>
            </a:r>
            <a:r>
              <a:rPr lang="en-US" altLang="en-US" dirty="0" smtClean="0"/>
              <a:t>) = secret value(s)</a:t>
            </a:r>
          </a:p>
          <a:p>
            <a:pPr eaLnBrk="1" hangingPunct="1">
              <a:buClrTx/>
              <a:buSzPct val="101000"/>
              <a:buFont typeface="Wingdings" panose="05000000000000000000" pitchFamily="2" charset="2"/>
              <a:buChar char="§"/>
            </a:pPr>
            <a:r>
              <a:rPr lang="en-US" altLang="en-US" dirty="0" smtClean="0"/>
              <a:t>  OK </a:t>
            </a:r>
            <a:r>
              <a:rPr lang="en-US" altLang="en-US" dirty="0" smtClean="0"/>
              <a:t>for good algorithm to be public</a:t>
            </a:r>
          </a:p>
          <a:p>
            <a:pPr lvl="1" eaLnBrk="1" hangingPunct="1"/>
            <a:r>
              <a:rPr lang="en-US" altLang="en-US" dirty="0" smtClean="0"/>
              <a:t>Not OK to use bad algorithm</a:t>
            </a:r>
          </a:p>
          <a:p>
            <a:pPr lvl="1" eaLnBrk="1" hangingPunct="1"/>
            <a:r>
              <a:rPr lang="en-US" altLang="en-US" dirty="0" smtClean="0"/>
              <a:t>“Sunlight is the best disinfectant”</a:t>
            </a:r>
          </a:p>
          <a:p>
            <a:pPr lvl="1" eaLnBrk="1" hangingPunct="1"/>
            <a:r>
              <a:rPr lang="en-US" altLang="en-US" dirty="0" smtClean="0"/>
              <a:t>Algorithm without key does not help </a:t>
            </a:r>
            <a:r>
              <a:rPr lang="en-US" altLang="en-US" dirty="0" err="1" smtClean="0"/>
              <a:t>unmangle</a:t>
            </a:r>
            <a:r>
              <a:rPr lang="en-US" altLang="en-US" dirty="0" smtClean="0"/>
              <a:t> the information</a:t>
            </a:r>
          </a:p>
        </p:txBody>
      </p:sp>
    </p:spTree>
    <p:extLst>
      <p:ext uri="{BB962C8B-B14F-4D97-AF65-F5344CB8AC3E}">
        <p14:creationId xmlns:p14="http://schemas.microsoft.com/office/powerpoint/2010/main" val="2439562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Computational Issues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dirty="0" smtClean="0"/>
              <a:t> Algorithm </a:t>
            </a:r>
            <a:r>
              <a:rPr lang="en-US" altLang="en-US" dirty="0" smtClean="0"/>
              <a:t>should be reasonably efficient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dirty="0" smtClean="0"/>
              <a:t> Security </a:t>
            </a:r>
            <a:r>
              <a:rPr lang="en-US" altLang="en-US" dirty="0" smtClean="0"/>
              <a:t>depends on how hard it is to break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dirty="0" smtClean="0"/>
              <a:t> Combination </a:t>
            </a:r>
            <a:r>
              <a:rPr lang="en-US" altLang="en-US" dirty="0" smtClean="0"/>
              <a:t>lock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en-US" dirty="0" smtClean="0"/>
              <a:t>3 number sequence (2R, 1L, 0R), #s between 1-40</a:t>
            </a:r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en-US" dirty="0" smtClean="0"/>
              <a:t>Possible combinations:</a:t>
            </a:r>
            <a:endParaRPr lang="en-US" altLang="en-US" baseline="30000" dirty="0" smtClean="0"/>
          </a:p>
        </p:txBody>
      </p:sp>
      <p:sp>
        <p:nvSpPr>
          <p:cNvPr id="9221" name="Footer Placeholder 5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t>CSS 432: Introduction to Cryptography</a:t>
            </a:r>
          </a:p>
        </p:txBody>
      </p:sp>
      <p:pic>
        <p:nvPicPr>
          <p:cNvPr id="9220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6" y="5329239"/>
            <a:ext cx="9429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799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Computational Issues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Algorithm should be reasonably efficient</a:t>
            </a:r>
          </a:p>
          <a:p>
            <a:pPr eaLnBrk="1" hangingPunct="1"/>
            <a:r>
              <a:rPr lang="en-US" altLang="en-US" dirty="0" smtClean="0"/>
              <a:t>Security depends on how hard it is to break</a:t>
            </a:r>
          </a:p>
          <a:p>
            <a:pPr eaLnBrk="1" hangingPunct="1"/>
            <a:r>
              <a:rPr lang="en-US" altLang="en-US" dirty="0" smtClean="0"/>
              <a:t>Combination lock</a:t>
            </a:r>
          </a:p>
          <a:p>
            <a:pPr lvl="1" eaLnBrk="1" hangingPunct="1"/>
            <a:r>
              <a:rPr lang="en-US" altLang="en-US" dirty="0" smtClean="0"/>
              <a:t>3 number sequence (2R, 1L, 0R), #s between 1-40</a:t>
            </a:r>
          </a:p>
          <a:p>
            <a:pPr lvl="2" eaLnBrk="1" hangingPunct="1"/>
            <a:r>
              <a:rPr lang="en-US" altLang="en-US" dirty="0" smtClean="0"/>
              <a:t>Possible combinations: 40</a:t>
            </a:r>
            <a:r>
              <a:rPr lang="en-US" altLang="en-US" baseline="30000" dirty="0" smtClean="0"/>
              <a:t>3</a:t>
            </a:r>
            <a:r>
              <a:rPr lang="en-US" altLang="en-US" dirty="0" smtClean="0"/>
              <a:t> = 64,000</a:t>
            </a:r>
            <a:endParaRPr lang="en-US" altLang="en-US" baseline="30000" dirty="0" smtClean="0"/>
          </a:p>
          <a:p>
            <a:pPr lvl="2" eaLnBrk="1" hangingPunct="1"/>
            <a:r>
              <a:rPr lang="en-US" altLang="en-US" dirty="0" smtClean="0"/>
              <a:t>10 seconds per sequence: 178 hours (/ 2 = 89)</a:t>
            </a:r>
          </a:p>
        </p:txBody>
      </p:sp>
      <p:pic>
        <p:nvPicPr>
          <p:cNvPr id="1024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6" y="5329239"/>
            <a:ext cx="9429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621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Computational Issues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Algorithm should be reasonably efficient</a:t>
            </a:r>
          </a:p>
          <a:p>
            <a:pPr eaLnBrk="1" hangingPunct="1"/>
            <a:r>
              <a:rPr lang="en-US" altLang="en-US" smtClean="0"/>
              <a:t>Security depends on how hard it is to break</a:t>
            </a:r>
          </a:p>
          <a:p>
            <a:pPr eaLnBrk="1" hangingPunct="1"/>
            <a:r>
              <a:rPr lang="en-US" altLang="en-US" smtClean="0"/>
              <a:t>Combination lock</a:t>
            </a:r>
          </a:p>
          <a:p>
            <a:pPr lvl="1" eaLnBrk="1" hangingPunct="1"/>
            <a:r>
              <a:rPr lang="en-US" altLang="en-US" smtClean="0"/>
              <a:t>3 number sequence (2R, 1L, 0R), #s between 1-40</a:t>
            </a:r>
          </a:p>
          <a:p>
            <a:pPr lvl="2" eaLnBrk="1" hangingPunct="1"/>
            <a:r>
              <a:rPr lang="en-US" altLang="en-US" smtClean="0"/>
              <a:t>Possible combinations: 40</a:t>
            </a:r>
            <a:r>
              <a:rPr lang="en-US" altLang="en-US" baseline="30000" smtClean="0"/>
              <a:t>3</a:t>
            </a:r>
            <a:r>
              <a:rPr lang="en-US" altLang="en-US" smtClean="0"/>
              <a:t> = 64,000</a:t>
            </a:r>
            <a:endParaRPr lang="en-US" altLang="en-US" baseline="30000" smtClean="0"/>
          </a:p>
          <a:p>
            <a:pPr lvl="2" eaLnBrk="1" hangingPunct="1"/>
            <a:r>
              <a:rPr lang="en-US" altLang="en-US" smtClean="0"/>
              <a:t>10 seconds per sequence: 178 hours (/ 2 = 89)</a:t>
            </a:r>
          </a:p>
        </p:txBody>
      </p:sp>
      <p:sp>
        <p:nvSpPr>
          <p:cNvPr id="11269" name="Footer Placeholder 7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t>CSS 432: Introduction to Cryptography</a:t>
            </a:r>
          </a:p>
        </p:txBody>
      </p:sp>
      <p:pic>
        <p:nvPicPr>
          <p:cNvPr id="11268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6" y="5329239"/>
            <a:ext cx="9429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78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Computational Issues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Algorithm should be reasonably efficient</a:t>
            </a:r>
          </a:p>
          <a:p>
            <a:pPr eaLnBrk="1" hangingPunct="1"/>
            <a:r>
              <a:rPr lang="en-US" altLang="en-US" dirty="0" smtClean="0"/>
              <a:t>Security depends on how hard it is to break</a:t>
            </a:r>
          </a:p>
          <a:p>
            <a:pPr eaLnBrk="1" hangingPunct="1"/>
            <a:r>
              <a:rPr lang="en-US" altLang="en-US" dirty="0" smtClean="0"/>
              <a:t>Combination lock</a:t>
            </a:r>
          </a:p>
          <a:p>
            <a:pPr lvl="1" eaLnBrk="1" hangingPunct="1"/>
            <a:r>
              <a:rPr lang="en-US" altLang="en-US" dirty="0" smtClean="0"/>
              <a:t>3 number </a:t>
            </a:r>
            <a:r>
              <a:rPr lang="en-US" altLang="en-US" dirty="0" smtClean="0"/>
              <a:t>sequence, </a:t>
            </a:r>
            <a:r>
              <a:rPr lang="en-US" altLang="en-US" dirty="0" smtClean="0"/>
              <a:t>#s between 1-40</a:t>
            </a:r>
          </a:p>
          <a:p>
            <a:pPr lvl="2" eaLnBrk="1" hangingPunct="1"/>
            <a:r>
              <a:rPr lang="en-US" altLang="en-US" dirty="0" smtClean="0"/>
              <a:t>Possible combinations: 40</a:t>
            </a:r>
            <a:r>
              <a:rPr lang="en-US" altLang="en-US" baseline="30000" dirty="0" smtClean="0"/>
              <a:t>3</a:t>
            </a:r>
            <a:r>
              <a:rPr lang="en-US" altLang="en-US" dirty="0" smtClean="0"/>
              <a:t> = 64,000</a:t>
            </a:r>
            <a:endParaRPr lang="en-US" altLang="en-US" baseline="30000" dirty="0" smtClean="0"/>
          </a:p>
          <a:p>
            <a:pPr lvl="2" eaLnBrk="1" hangingPunct="1"/>
            <a:r>
              <a:rPr lang="en-US" altLang="en-US" dirty="0" smtClean="0"/>
              <a:t>10 seconds per sequence: 178 hours (/ 2 = 89)</a:t>
            </a:r>
          </a:p>
          <a:p>
            <a:pPr lvl="1" eaLnBrk="1" hangingPunct="1"/>
            <a:r>
              <a:rPr lang="en-US" altLang="en-US" dirty="0" smtClean="0"/>
              <a:t>4 number sequence, 13 seconds per sequence</a:t>
            </a:r>
          </a:p>
        </p:txBody>
      </p:sp>
      <p:pic>
        <p:nvPicPr>
          <p:cNvPr id="1229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6" y="5329239"/>
            <a:ext cx="9429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023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Computational Issues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985963" y="1965960"/>
            <a:ext cx="8229600" cy="471963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Algorithm should be reasonably efficient</a:t>
            </a:r>
          </a:p>
          <a:p>
            <a:pPr eaLnBrk="1" hangingPunct="1"/>
            <a:r>
              <a:rPr lang="en-US" altLang="en-US" dirty="0" smtClean="0"/>
              <a:t>Security depends on how hard it is to break</a:t>
            </a:r>
          </a:p>
          <a:p>
            <a:pPr eaLnBrk="1" hangingPunct="1"/>
            <a:r>
              <a:rPr lang="en-US" altLang="en-US" dirty="0" smtClean="0"/>
              <a:t>Combination lock</a:t>
            </a:r>
          </a:p>
          <a:p>
            <a:pPr lvl="1" eaLnBrk="1" hangingPunct="1"/>
            <a:r>
              <a:rPr lang="en-US" altLang="en-US" dirty="0" smtClean="0"/>
              <a:t>3 number sequence (2R, 1L, 0R), #s between 1-40</a:t>
            </a:r>
          </a:p>
          <a:p>
            <a:pPr lvl="2" eaLnBrk="1" hangingPunct="1"/>
            <a:r>
              <a:rPr lang="en-US" altLang="en-US" dirty="0" smtClean="0"/>
              <a:t>Possible combinations: 40</a:t>
            </a:r>
            <a:r>
              <a:rPr lang="en-US" altLang="en-US" baseline="30000" dirty="0" smtClean="0"/>
              <a:t>3</a:t>
            </a:r>
            <a:r>
              <a:rPr lang="en-US" altLang="en-US" dirty="0" smtClean="0"/>
              <a:t> = 64,000</a:t>
            </a:r>
            <a:endParaRPr lang="en-US" altLang="en-US" baseline="30000" dirty="0" smtClean="0"/>
          </a:p>
          <a:p>
            <a:pPr lvl="2" eaLnBrk="1" hangingPunct="1"/>
            <a:r>
              <a:rPr lang="en-US" altLang="en-US" dirty="0" smtClean="0"/>
              <a:t>10 seconds per sequence: 178 hours (/ 2 = 89)</a:t>
            </a:r>
          </a:p>
          <a:p>
            <a:pPr lvl="1" eaLnBrk="1" hangingPunct="1"/>
            <a:r>
              <a:rPr lang="en-US" altLang="en-US" dirty="0" smtClean="0"/>
              <a:t>4 number sequence, 13 seconds per sequence</a:t>
            </a:r>
          </a:p>
          <a:p>
            <a:pPr lvl="2" eaLnBrk="1" hangingPunct="1"/>
            <a:r>
              <a:rPr lang="en-US" altLang="en-US" dirty="0" smtClean="0"/>
              <a:t>40</a:t>
            </a:r>
            <a:r>
              <a:rPr lang="en-US" altLang="en-US" baseline="30000" dirty="0" smtClean="0"/>
              <a:t>4</a:t>
            </a:r>
            <a:r>
              <a:rPr lang="en-US" altLang="en-US" dirty="0" smtClean="0"/>
              <a:t> = 2,560,000</a:t>
            </a:r>
          </a:p>
          <a:p>
            <a:pPr lvl="2" eaLnBrk="1" hangingPunct="1"/>
            <a:r>
              <a:rPr lang="en-US" altLang="en-US" dirty="0" smtClean="0"/>
              <a:t>9,244 hours</a:t>
            </a:r>
          </a:p>
        </p:txBody>
      </p:sp>
      <p:pic>
        <p:nvPicPr>
          <p:cNvPr id="1331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6" y="5329239"/>
            <a:ext cx="9429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5613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5" y="5457825"/>
            <a:ext cx="355600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Computational Issues</a:t>
            </a:r>
          </a:p>
        </p:txBody>
      </p:sp>
      <p:sp>
        <p:nvSpPr>
          <p:cNvPr id="14340" name="Content Placeholder 2"/>
          <p:cNvSpPr>
            <a:spLocks noGrp="1"/>
          </p:cNvSpPr>
          <p:nvPr>
            <p:ph idx="1"/>
          </p:nvPr>
        </p:nvSpPr>
        <p:spPr>
          <a:xfrm>
            <a:off x="1798320" y="1920240"/>
            <a:ext cx="8229600" cy="471963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Algorithm should be reasonably efficient</a:t>
            </a:r>
          </a:p>
          <a:p>
            <a:pPr eaLnBrk="1" hangingPunct="1"/>
            <a:r>
              <a:rPr lang="en-US" altLang="en-US" dirty="0" smtClean="0"/>
              <a:t>Security depends on how hard it is to break</a:t>
            </a:r>
          </a:p>
          <a:p>
            <a:pPr eaLnBrk="1" hangingPunct="1"/>
            <a:r>
              <a:rPr lang="en-US" altLang="en-US" dirty="0" smtClean="0"/>
              <a:t>Combination lock</a:t>
            </a:r>
          </a:p>
          <a:p>
            <a:pPr lvl="1" eaLnBrk="1" hangingPunct="1"/>
            <a:r>
              <a:rPr lang="en-US" altLang="en-US" dirty="0" smtClean="0"/>
              <a:t>3 number sequence (2R, 1L, 0R), #s between 1-40</a:t>
            </a:r>
          </a:p>
          <a:p>
            <a:pPr lvl="2" eaLnBrk="1" hangingPunct="1"/>
            <a:r>
              <a:rPr lang="en-US" altLang="en-US" dirty="0" smtClean="0"/>
              <a:t>Possible combinations: 40</a:t>
            </a:r>
            <a:r>
              <a:rPr lang="en-US" altLang="en-US" baseline="30000" dirty="0" smtClean="0"/>
              <a:t>3</a:t>
            </a:r>
            <a:r>
              <a:rPr lang="en-US" altLang="en-US" dirty="0" smtClean="0"/>
              <a:t> = 64,000</a:t>
            </a:r>
            <a:endParaRPr lang="en-US" altLang="en-US" baseline="30000" dirty="0" smtClean="0"/>
          </a:p>
          <a:p>
            <a:pPr lvl="2" eaLnBrk="1" hangingPunct="1"/>
            <a:r>
              <a:rPr lang="en-US" altLang="en-US" dirty="0" smtClean="0"/>
              <a:t>10 seconds per sequence: 178 hours (/ 2 = 89)</a:t>
            </a:r>
          </a:p>
          <a:p>
            <a:pPr lvl="1" eaLnBrk="1" hangingPunct="1"/>
            <a:r>
              <a:rPr lang="en-US" altLang="en-US" dirty="0" smtClean="0"/>
              <a:t>4 number sequence, 13 seconds per sequence</a:t>
            </a:r>
          </a:p>
          <a:p>
            <a:pPr lvl="2" eaLnBrk="1" hangingPunct="1"/>
            <a:r>
              <a:rPr lang="en-US" altLang="en-US" dirty="0" smtClean="0"/>
              <a:t>40</a:t>
            </a:r>
            <a:r>
              <a:rPr lang="en-US" altLang="en-US" baseline="30000" dirty="0" smtClean="0"/>
              <a:t>4</a:t>
            </a:r>
            <a:r>
              <a:rPr lang="en-US" altLang="en-US" dirty="0" smtClean="0"/>
              <a:t> = 2,560,000</a:t>
            </a:r>
          </a:p>
          <a:p>
            <a:pPr lvl="2" eaLnBrk="1" hangingPunct="1"/>
            <a:r>
              <a:rPr lang="en-US" altLang="en-US" dirty="0" smtClean="0"/>
              <a:t>9,244 hours</a:t>
            </a:r>
          </a:p>
        </p:txBody>
      </p:sp>
      <p:pic>
        <p:nvPicPr>
          <p:cNvPr id="1434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6" y="5329239"/>
            <a:ext cx="9429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6" y="5216526"/>
            <a:ext cx="1096963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647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Publication Issues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097280" y="2238926"/>
            <a:ext cx="10058400" cy="402336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Public or secret algorithms?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t>CSS 432: Introduction to Cryptography</a:t>
            </a:r>
          </a:p>
        </p:txBody>
      </p:sp>
    </p:spTree>
    <p:extLst>
      <p:ext uri="{BB962C8B-B14F-4D97-AF65-F5344CB8AC3E}">
        <p14:creationId xmlns:p14="http://schemas.microsoft.com/office/powerpoint/2010/main" val="224472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Publication Issues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mtClean="0"/>
              <a:t>Public or secret algorithms:</a:t>
            </a:r>
          </a:p>
          <a:p>
            <a:pPr lvl="1" eaLnBrk="1" hangingPunct="1"/>
            <a:r>
              <a:rPr lang="en-US" altLang="en-US" smtClean="0"/>
              <a:t>OK for good algorithm to be public</a:t>
            </a:r>
          </a:p>
          <a:p>
            <a:pPr lvl="1" eaLnBrk="1" hangingPunct="1"/>
            <a:r>
              <a:rPr lang="en-US" altLang="en-US" smtClean="0"/>
              <a:t>“Sunlight is the best disinfectant”</a:t>
            </a:r>
          </a:p>
          <a:p>
            <a:pPr lvl="1" eaLnBrk="1" hangingPunct="1"/>
            <a:r>
              <a:rPr lang="en-US" altLang="en-US" smtClean="0"/>
              <a:t>Reverse engineering, leaks</a:t>
            </a:r>
          </a:p>
          <a:p>
            <a:pPr lvl="1" eaLnBrk="1" hangingPunct="1"/>
            <a:r>
              <a:rPr lang="en-US" altLang="en-US" smtClean="0"/>
              <a:t>“Free consulting” by cryptanalysts</a:t>
            </a:r>
          </a:p>
          <a:p>
            <a:pPr eaLnBrk="1" hangingPunct="1"/>
            <a:r>
              <a:rPr lang="en-US" altLang="en-US" smtClean="0"/>
              <a:t>Generally:</a:t>
            </a:r>
          </a:p>
          <a:p>
            <a:pPr lvl="1" eaLnBrk="1" hangingPunct="1"/>
            <a:r>
              <a:rPr lang="en-US" altLang="en-US" smtClean="0"/>
              <a:t>Commercial: public</a:t>
            </a:r>
          </a:p>
          <a:p>
            <a:pPr lvl="1" eaLnBrk="1" hangingPunct="1"/>
            <a:r>
              <a:rPr lang="en-US" altLang="en-US" smtClean="0"/>
              <a:t>Military: secret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7032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Secret Codes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Caesar cipher</a:t>
            </a:r>
          </a:p>
          <a:p>
            <a:pPr lvl="1" eaLnBrk="1" hangingPunct="1"/>
            <a:r>
              <a:rPr lang="en-US" altLang="en-US" smtClean="0"/>
              <a:t>Substitute letter 3 letters further on</a:t>
            </a:r>
          </a:p>
          <a:p>
            <a:pPr lvl="2" eaLnBrk="1" hangingPunct="1"/>
            <a:r>
              <a:rPr lang="en-US" altLang="en-US" smtClean="0"/>
              <a:t>DOZEN </a:t>
            </a:r>
            <a:r>
              <a:rPr lang="en-US" altLang="en-US" smtClean="0">
                <a:sym typeface="Wingdings" panose="05000000000000000000" pitchFamily="2" charset="2"/>
              </a:rPr>
              <a:t> GRCHQ</a:t>
            </a: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t>CSS 432: Introduction to Cryptography</a:t>
            </a:r>
          </a:p>
        </p:txBody>
      </p:sp>
    </p:spTree>
    <p:extLst>
      <p:ext uri="{BB962C8B-B14F-4D97-AF65-F5344CB8AC3E}">
        <p14:creationId xmlns:p14="http://schemas.microsoft.com/office/powerpoint/2010/main" val="975243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/>
              <a:t>Ceasar’s Encryption (Key =3)</a:t>
            </a:r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82712" y="2209800"/>
            <a:ext cx="9285288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733800" y="4343400"/>
          <a:ext cx="6096000" cy="1584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630">
                <a:tc>
                  <a:txBody>
                    <a:bodyPr/>
                    <a:lstStyle/>
                    <a:p>
                      <a:r>
                        <a:rPr lang="en-US" sz="4800" dirty="0" smtClean="0">
                          <a:solidFill>
                            <a:srgbClr val="C00000"/>
                          </a:solidFill>
                        </a:rPr>
                        <a:t>h</a:t>
                      </a:r>
                      <a:endParaRPr lang="en-US" sz="4800" dirty="0">
                        <a:solidFill>
                          <a:srgbClr val="C00000"/>
                        </a:solidFill>
                      </a:endParaRPr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8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endParaRPr lang="en-US" sz="4800" dirty="0">
                        <a:solidFill>
                          <a:srgbClr val="C00000"/>
                        </a:solidFill>
                      </a:endParaRPr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800" dirty="0" smtClean="0">
                          <a:solidFill>
                            <a:srgbClr val="C00000"/>
                          </a:solidFill>
                        </a:rPr>
                        <a:t>d</a:t>
                      </a:r>
                      <a:endParaRPr lang="en-US" sz="4800" dirty="0">
                        <a:solidFill>
                          <a:srgbClr val="C00000"/>
                        </a:solidFill>
                      </a:endParaRPr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800" dirty="0" smtClean="0">
                          <a:solidFill>
                            <a:srgbClr val="C00000"/>
                          </a:solidFill>
                        </a:rPr>
                        <a:t>d</a:t>
                      </a:r>
                      <a:endParaRPr lang="en-US" sz="4800" dirty="0">
                        <a:solidFill>
                          <a:srgbClr val="C00000"/>
                        </a:solidFill>
                      </a:endParaRPr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800" dirty="0" smtClean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en-US" sz="4800" dirty="0">
                        <a:solidFill>
                          <a:srgbClr val="C00000"/>
                        </a:solidFill>
                      </a:endParaRPr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400" dirty="0" smtClean="0">
                          <a:solidFill>
                            <a:srgbClr val="C00000"/>
                          </a:solidFill>
                        </a:rPr>
                        <a:t>n</a:t>
                      </a:r>
                      <a:endParaRPr lang="en-US" sz="4400" dirty="0">
                        <a:solidFill>
                          <a:srgbClr val="C00000"/>
                        </a:solidFill>
                      </a:endParaRPr>
                    </a:p>
                  </a:txBody>
                  <a:tcPr marT="45702" marB="4570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695">
                <a:tc>
                  <a:txBody>
                    <a:bodyPr/>
                    <a:lstStyle/>
                    <a:p>
                      <a:r>
                        <a:rPr lang="en-US" sz="4400" dirty="0" smtClean="0"/>
                        <a:t>K</a:t>
                      </a:r>
                      <a:endParaRPr lang="en-US" sz="4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400" dirty="0" smtClean="0"/>
                        <a:t>L</a:t>
                      </a:r>
                      <a:endParaRPr lang="en-US" sz="4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400" dirty="0" smtClean="0"/>
                        <a:t>G</a:t>
                      </a:r>
                      <a:endParaRPr lang="en-US" sz="4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400" dirty="0" smtClean="0"/>
                        <a:t>G</a:t>
                      </a:r>
                      <a:endParaRPr lang="en-US" sz="4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400" dirty="0" smtClean="0"/>
                        <a:t>H</a:t>
                      </a:r>
                      <a:endParaRPr lang="en-US" sz="4400" dirty="0"/>
                    </a:p>
                  </a:txBody>
                  <a:tcPr marT="45702" marB="45702"/>
                </a:tc>
                <a:tc>
                  <a:txBody>
                    <a:bodyPr/>
                    <a:lstStyle/>
                    <a:p>
                      <a:r>
                        <a:rPr lang="en-US" sz="4400" dirty="0" smtClean="0"/>
                        <a:t>Q</a:t>
                      </a:r>
                      <a:endParaRPr lang="en-US" sz="4400" dirty="0"/>
                    </a:p>
                  </a:txBody>
                  <a:tcPr marT="45702" marB="4570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627" name="TextBox 4"/>
          <p:cNvSpPr txBox="1">
            <a:spLocks noChangeArrowheads="1"/>
          </p:cNvSpPr>
          <p:nvPr/>
        </p:nvSpPr>
        <p:spPr bwMode="auto">
          <a:xfrm>
            <a:off x="1905001" y="4419600"/>
            <a:ext cx="1643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Plaintext</a:t>
            </a:r>
          </a:p>
        </p:txBody>
      </p:sp>
      <p:sp>
        <p:nvSpPr>
          <p:cNvPr id="25628" name="TextBox 6"/>
          <p:cNvSpPr txBox="1">
            <a:spLocks noChangeArrowheads="1"/>
          </p:cNvSpPr>
          <p:nvPr/>
        </p:nvSpPr>
        <p:spPr bwMode="auto">
          <a:xfrm>
            <a:off x="1898650" y="5334000"/>
            <a:ext cx="1925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200"/>
              <a:t>Ciphertext</a:t>
            </a:r>
          </a:p>
        </p:txBody>
      </p:sp>
    </p:spTree>
    <p:extLst>
      <p:ext uri="{BB962C8B-B14F-4D97-AF65-F5344CB8AC3E}">
        <p14:creationId xmlns:p14="http://schemas.microsoft.com/office/powerpoint/2010/main" val="33399872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/>
          <p:cNvSpPr>
            <a:spLocks noGrp="1"/>
          </p:cNvSpPr>
          <p:nvPr>
            <p:ph idx="1"/>
          </p:nvPr>
        </p:nvSpPr>
        <p:spPr>
          <a:xfrm>
            <a:off x="1594104" y="2072641"/>
            <a:ext cx="8001000" cy="38782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000" dirty="0">
                <a:solidFill>
                  <a:srgbClr val="C00000"/>
                </a:solidFill>
              </a:rPr>
              <a:t>What is the clumsiest bee?</a:t>
            </a:r>
          </a:p>
          <a:p>
            <a:pPr eaLnBrk="1" hangingPunct="1">
              <a:defRPr/>
            </a:pPr>
            <a:r>
              <a:rPr lang="en-US" altLang="en-US" sz="4000" dirty="0" smtClean="0">
                <a:solidFill>
                  <a:srgbClr val="C00000"/>
                </a:solidFill>
              </a:rPr>
              <a:t>Key = 1</a:t>
            </a:r>
            <a:endParaRPr lang="en-US" altLang="en-US" sz="4000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r>
              <a:rPr lang="en-US" altLang="en-US" sz="4000" dirty="0">
                <a:solidFill>
                  <a:srgbClr val="C00000"/>
                </a:solidFill>
              </a:rPr>
              <a:t>Plain text =  ???</a:t>
            </a:r>
          </a:p>
          <a:p>
            <a:pPr eaLnBrk="1" hangingPunct="1">
              <a:defRPr/>
            </a:pPr>
            <a:r>
              <a:rPr lang="en-US" altLang="en-US" sz="4000" dirty="0">
                <a:solidFill>
                  <a:srgbClr val="C00000"/>
                </a:solidFill>
              </a:rPr>
              <a:t>A BUMBLING BEE</a:t>
            </a:r>
          </a:p>
          <a:p>
            <a:pPr eaLnBrk="1" hangingPunct="1">
              <a:defRPr/>
            </a:pPr>
            <a:r>
              <a:rPr lang="en-US" altLang="en-US" sz="4000" dirty="0">
                <a:solidFill>
                  <a:srgbClr val="C00000"/>
                </a:solidFill>
              </a:rPr>
              <a:t>Cipher Text is</a:t>
            </a:r>
          </a:p>
          <a:p>
            <a:pPr marL="0" indent="0">
              <a:buNone/>
              <a:defRPr/>
            </a:pPr>
            <a:r>
              <a:rPr lang="pt-BR" altLang="en-US" sz="4000" dirty="0">
                <a:solidFill>
                  <a:srgbClr val="C00000"/>
                </a:solidFill>
              </a:rPr>
              <a:t>	B C V N C M J O H C F F</a:t>
            </a:r>
            <a:endParaRPr lang="en-US" altLang="en-US" sz="4000" dirty="0">
              <a:solidFill>
                <a:srgbClr val="C00000"/>
              </a:solidFill>
            </a:endParaRPr>
          </a:p>
        </p:txBody>
      </p:sp>
      <p:sp>
        <p:nvSpPr>
          <p:cNvPr id="24579" name="Title 2"/>
          <p:cNvSpPr>
            <a:spLocks noGrp="1"/>
          </p:cNvSpPr>
          <p:nvPr>
            <p:ph type="title"/>
          </p:nvPr>
        </p:nvSpPr>
        <p:spPr>
          <a:xfrm>
            <a:off x="2057401" y="304800"/>
            <a:ext cx="8378825" cy="1054100"/>
          </a:xfrm>
        </p:spPr>
        <p:txBody>
          <a:bodyPr/>
          <a:lstStyle/>
          <a:p>
            <a:pPr eaLnBrk="1" hangingPunct="1"/>
            <a:r>
              <a:rPr lang="en-US" altLang="en-US" sz="4400"/>
              <a:t>Caesar’s Encryption &amp; Decryption</a:t>
            </a:r>
          </a:p>
        </p:txBody>
      </p:sp>
    </p:spTree>
    <p:extLst>
      <p:ext uri="{BB962C8B-B14F-4D97-AF65-F5344CB8AC3E}">
        <p14:creationId xmlns:p14="http://schemas.microsoft.com/office/powerpoint/2010/main" val="269362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538" y="327025"/>
            <a:ext cx="66675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3832226" y="5778500"/>
            <a:ext cx="48561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[from </a:t>
            </a:r>
            <a:r>
              <a:rPr lang="en-US" altLang="en-US" i="1">
                <a:latin typeface="Calibri" panose="020F0502020204030204" pitchFamily="34" charset="0"/>
              </a:rPr>
              <a:t>Stallings, Cryptography &amp; Network Security</a:t>
            </a:r>
            <a:r>
              <a:rPr lang="en-US" altLang="en-US">
                <a:latin typeface="Calibri" panose="020F050202020403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7412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Breaking an Encryption Scheme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1542288" y="1920241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 dirty="0" err="1" smtClean="0"/>
              <a:t>Ciphertext</a:t>
            </a:r>
            <a:r>
              <a:rPr lang="en-US" altLang="en-US" dirty="0" smtClean="0"/>
              <a:t> only</a:t>
            </a:r>
          </a:p>
          <a:p>
            <a:pPr lvl="1" eaLnBrk="1" hangingPunct="1"/>
            <a:r>
              <a:rPr lang="en-US" altLang="en-US" dirty="0" smtClean="0"/>
              <a:t>Try all possible keys, look for intelligibility</a:t>
            </a:r>
          </a:p>
          <a:p>
            <a:pPr lvl="1" eaLnBrk="1" hangingPunct="1"/>
            <a:r>
              <a:rPr lang="en-US" altLang="en-US" dirty="0" smtClean="0"/>
              <a:t>Need sufficiently long </a:t>
            </a:r>
            <a:r>
              <a:rPr lang="en-US" altLang="en-US" dirty="0" err="1" smtClean="0"/>
              <a:t>ciphertext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XYZ = ?</a:t>
            </a:r>
          </a:p>
          <a:p>
            <a:pPr eaLnBrk="1" hangingPunct="1"/>
            <a:r>
              <a:rPr lang="en-US" altLang="en-US" dirty="0" smtClean="0"/>
              <a:t>Known plaintext</a:t>
            </a:r>
          </a:p>
          <a:p>
            <a:pPr lvl="1" eaLnBrk="1" hangingPunct="1"/>
            <a:r>
              <a:rPr lang="en-US" altLang="en-US" dirty="0" smtClean="0"/>
              <a:t>(plaintext, </a:t>
            </a:r>
            <a:r>
              <a:rPr lang="en-US" altLang="en-US" dirty="0" err="1" smtClean="0"/>
              <a:t>ciphertext</a:t>
            </a:r>
            <a:r>
              <a:rPr lang="en-US" altLang="en-US" dirty="0" smtClean="0"/>
              <a:t>) pair(s)</a:t>
            </a:r>
          </a:p>
          <a:p>
            <a:pPr eaLnBrk="1" hangingPunct="1"/>
            <a:r>
              <a:rPr lang="en-US" altLang="en-US" dirty="0" smtClean="0"/>
              <a:t>Chosen plaintext</a:t>
            </a:r>
          </a:p>
          <a:p>
            <a:pPr lvl="1" eaLnBrk="1" hangingPunct="1"/>
            <a:r>
              <a:rPr lang="en-US" altLang="en-US" dirty="0" smtClean="0"/>
              <a:t>Have plaintext encrypted, compare expected values </a:t>
            </a:r>
          </a:p>
        </p:txBody>
      </p:sp>
      <p:pic>
        <p:nvPicPr>
          <p:cNvPr id="2150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68" y="3254566"/>
            <a:ext cx="63500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76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Types of Cryptography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Public Key</a:t>
            </a:r>
          </a:p>
          <a:p>
            <a:pPr lvl="1" eaLnBrk="1" hangingPunct="1"/>
            <a:r>
              <a:rPr lang="en-US" altLang="en-US" smtClean="0"/>
              <a:t>Two keys: public &amp; private</a:t>
            </a:r>
          </a:p>
          <a:p>
            <a:pPr eaLnBrk="1" hangingPunct="1"/>
            <a:r>
              <a:rPr lang="en-US" altLang="en-US" smtClean="0"/>
              <a:t>Symmetric Key (aka “Secret Key”)</a:t>
            </a:r>
          </a:p>
          <a:p>
            <a:pPr lvl="1" eaLnBrk="1" hangingPunct="1"/>
            <a:r>
              <a:rPr lang="en-US" altLang="en-US" smtClean="0"/>
              <a:t>One key: secret (but possibly shared)</a:t>
            </a:r>
          </a:p>
          <a:p>
            <a:pPr eaLnBrk="1" hangingPunct="1"/>
            <a:r>
              <a:rPr lang="en-US" altLang="en-US" smtClean="0"/>
              <a:t>Hash Functions</a:t>
            </a:r>
          </a:p>
          <a:p>
            <a:pPr lvl="1" eaLnBrk="1" hangingPunct="1"/>
            <a:r>
              <a:rPr lang="en-US" altLang="en-US" smtClean="0"/>
              <a:t>No keys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t>CSS 432: Introduction to Cryptography</a:t>
            </a:r>
          </a:p>
        </p:txBody>
      </p:sp>
    </p:spTree>
    <p:extLst>
      <p:ext uri="{BB962C8B-B14F-4D97-AF65-F5344CB8AC3E}">
        <p14:creationId xmlns:p14="http://schemas.microsoft.com/office/powerpoint/2010/main" val="336335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75853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chemeClr val="tx1"/>
                </a:solidFill>
                <a:latin typeface="Tw Cen MT" panose="020B0602020104020603" pitchFamily="34" charset="0"/>
              </a:rPr>
              <a:t>Symmetric Key Cryptography</a:t>
            </a:r>
          </a:p>
        </p:txBody>
      </p:sp>
      <p:pic>
        <p:nvPicPr>
          <p:cNvPr id="2355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225" y="1998186"/>
            <a:ext cx="38608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TextBox 4"/>
          <p:cNvSpPr txBox="1">
            <a:spLocks noChangeArrowheads="1"/>
          </p:cNvSpPr>
          <p:nvPr/>
        </p:nvSpPr>
        <p:spPr bwMode="auto">
          <a:xfrm>
            <a:off x="3432175" y="3975037"/>
            <a:ext cx="41529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AKA </a:t>
            </a:r>
            <a:r>
              <a:rPr lang="en-US" altLang="en-US" sz="2400" i="1" dirty="0">
                <a:latin typeface="Calibri" panose="020F0502020204030204" pitchFamily="34" charset="0"/>
              </a:rPr>
              <a:t>secret key cryptography</a:t>
            </a:r>
          </a:p>
          <a:p>
            <a:pPr eaLnBrk="1" hangingPunct="1"/>
            <a:r>
              <a:rPr lang="en-US" altLang="en-US" sz="2400" dirty="0">
                <a:latin typeface="Calibri" panose="020F0502020204030204" pitchFamily="34" charset="0"/>
              </a:rPr>
              <a:t>AKA </a:t>
            </a:r>
            <a:r>
              <a:rPr lang="en-US" altLang="en-US" sz="2400" i="1" dirty="0">
                <a:latin typeface="Calibri" panose="020F0502020204030204" pitchFamily="34" charset="0"/>
              </a:rPr>
              <a:t>conventional cryptography</a:t>
            </a:r>
          </a:p>
        </p:txBody>
      </p:sp>
      <p:pic>
        <p:nvPicPr>
          <p:cNvPr id="23557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705" y="5124863"/>
            <a:ext cx="1238250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30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8" t="6951" r="8537" b="38450"/>
          <a:stretch/>
        </p:blipFill>
        <p:spPr>
          <a:xfrm>
            <a:off x="1703513" y="1124744"/>
            <a:ext cx="8724047" cy="45365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93523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Symmetric Key Applications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Transmission over insecure channel</a:t>
            </a:r>
          </a:p>
          <a:p>
            <a:pPr lvl="1" eaLnBrk="1" hangingPunct="1">
              <a:lnSpc>
                <a:spcPct val="114000"/>
              </a:lnSpc>
            </a:pPr>
            <a:r>
              <a:rPr lang="en-US" altLang="en-US" dirty="0" smtClean="0"/>
              <a:t>Shared secret (transmitter, receiver)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Secure storage on insecure media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Authentication</a:t>
            </a:r>
          </a:p>
          <a:p>
            <a:pPr lvl="1" eaLnBrk="1" hangingPunct="1">
              <a:lnSpc>
                <a:spcPct val="114000"/>
              </a:lnSpc>
            </a:pPr>
            <a:r>
              <a:rPr lang="en-US" altLang="en-US" i="1" dirty="0" smtClean="0"/>
              <a:t>Strong </a:t>
            </a:r>
            <a:r>
              <a:rPr lang="en-US" altLang="en-US" dirty="0" smtClean="0"/>
              <a:t>authentication: prove knowledge </a:t>
            </a:r>
            <a:br>
              <a:rPr lang="en-US" altLang="en-US" dirty="0" smtClean="0"/>
            </a:br>
            <a:r>
              <a:rPr lang="en-US" altLang="en-US" dirty="0" smtClean="0"/>
              <a:t>without revealing key</a:t>
            </a:r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380" y="4345094"/>
            <a:ext cx="5477762" cy="2000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452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simple example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K</a:t>
            </a:r>
            <a:r>
              <a:rPr lang="en-US" altLang="en-US" baseline="-25000" dirty="0" smtClean="0"/>
              <a:t>AB</a:t>
            </a:r>
            <a:r>
              <a:rPr lang="en-US" altLang="en-US" dirty="0" smtClean="0"/>
              <a:t> = +3 (Caesar cipher), known by Alice &amp; Bob</a:t>
            </a:r>
          </a:p>
          <a:p>
            <a:pPr eaLnBrk="1" hangingPunct="1"/>
            <a:r>
              <a:rPr lang="en-US" altLang="en-US" dirty="0" err="1" smtClean="0"/>
              <a:t>r</a:t>
            </a:r>
            <a:r>
              <a:rPr lang="en-US" altLang="en-US" baseline="-25000" dirty="0" err="1" smtClean="0"/>
              <a:t>A</a:t>
            </a:r>
            <a:r>
              <a:rPr lang="en-US" altLang="en-US" dirty="0" smtClean="0"/>
              <a:t> = “</a:t>
            </a:r>
            <a:r>
              <a:rPr lang="en-US" altLang="en-US" dirty="0" err="1" smtClean="0"/>
              <a:t>marco</a:t>
            </a:r>
            <a:r>
              <a:rPr lang="en-US" altLang="en-US" dirty="0" smtClean="0"/>
              <a:t>”</a:t>
            </a:r>
          </a:p>
          <a:p>
            <a:pPr lvl="1" eaLnBrk="1" hangingPunct="1"/>
            <a:r>
              <a:rPr lang="en-US" altLang="en-US" dirty="0" err="1" smtClean="0"/>
              <a:t>r</a:t>
            </a:r>
            <a:r>
              <a:rPr lang="en-US" altLang="en-US" baseline="-25000" dirty="0" err="1" smtClean="0"/>
              <a:t>A</a:t>
            </a:r>
            <a:r>
              <a:rPr lang="en-US" altLang="en-US" baseline="-25000" dirty="0" smtClean="0"/>
              <a:t> </a:t>
            </a:r>
            <a:r>
              <a:rPr lang="en-US" altLang="en-US" dirty="0" smtClean="0"/>
              <a:t>encrypted with K</a:t>
            </a:r>
            <a:r>
              <a:rPr lang="en-US" altLang="en-US" baseline="-25000" dirty="0" smtClean="0"/>
              <a:t>AB</a:t>
            </a:r>
            <a:r>
              <a:rPr lang="en-US" altLang="en-US" dirty="0" smtClean="0"/>
              <a:t>:</a:t>
            </a:r>
          </a:p>
          <a:p>
            <a:pPr eaLnBrk="1" hangingPunct="1"/>
            <a:r>
              <a:rPr lang="en-US" altLang="en-US" dirty="0" err="1" smtClean="0"/>
              <a:t>r</a:t>
            </a:r>
            <a:r>
              <a:rPr lang="en-US" altLang="en-US" baseline="-25000" dirty="0" err="1" smtClean="0"/>
              <a:t>B</a:t>
            </a:r>
            <a:r>
              <a:rPr lang="en-US" altLang="en-US" dirty="0" smtClean="0"/>
              <a:t> = “polo”</a:t>
            </a:r>
          </a:p>
          <a:p>
            <a:pPr lvl="1" eaLnBrk="1" hangingPunct="1"/>
            <a:r>
              <a:rPr lang="en-US" altLang="en-US" dirty="0" err="1" smtClean="0"/>
              <a:t>r</a:t>
            </a:r>
            <a:r>
              <a:rPr lang="en-US" altLang="en-US" baseline="-25000" dirty="0" err="1" smtClean="0"/>
              <a:t>A</a:t>
            </a:r>
            <a:r>
              <a:rPr lang="en-US" altLang="en-US" baseline="-25000" dirty="0" smtClean="0"/>
              <a:t> </a:t>
            </a:r>
            <a:r>
              <a:rPr lang="en-US" altLang="en-US" dirty="0" smtClean="0"/>
              <a:t>encrypted with K</a:t>
            </a:r>
            <a:r>
              <a:rPr lang="en-US" altLang="en-US" baseline="-25000" dirty="0" smtClean="0"/>
              <a:t>AB</a:t>
            </a:r>
            <a:r>
              <a:rPr lang="en-US" altLang="en-US" dirty="0" smtClean="0"/>
              <a:t>:</a:t>
            </a:r>
          </a:p>
          <a:p>
            <a:pPr eaLnBrk="1" hangingPunct="1"/>
            <a:endParaRPr lang="en-US" altLang="en-US" dirty="0" smtClean="0"/>
          </a:p>
        </p:txBody>
      </p:sp>
      <p:pic>
        <p:nvPicPr>
          <p:cNvPr id="2560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350" y="3989410"/>
            <a:ext cx="6113278" cy="1988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684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simple example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K</a:t>
            </a:r>
            <a:r>
              <a:rPr lang="en-US" altLang="en-US" baseline="-25000" smtClean="0"/>
              <a:t>AB</a:t>
            </a:r>
            <a:r>
              <a:rPr lang="en-US" altLang="en-US" smtClean="0"/>
              <a:t> = +3 (Caesar cipher), known by Alice &amp; Bob</a:t>
            </a:r>
          </a:p>
          <a:p>
            <a:pPr eaLnBrk="1" hangingPunct="1"/>
            <a:r>
              <a:rPr lang="en-US" altLang="en-US" smtClean="0"/>
              <a:t>r</a:t>
            </a:r>
            <a:r>
              <a:rPr lang="en-US" altLang="en-US" baseline="-25000" smtClean="0"/>
              <a:t>A</a:t>
            </a:r>
            <a:r>
              <a:rPr lang="en-US" altLang="en-US" smtClean="0"/>
              <a:t> = “marco”</a:t>
            </a:r>
          </a:p>
          <a:p>
            <a:pPr lvl="1" eaLnBrk="1" hangingPunct="1"/>
            <a:r>
              <a:rPr lang="en-US" altLang="en-US" smtClean="0"/>
              <a:t>r</a:t>
            </a:r>
            <a:r>
              <a:rPr lang="en-US" altLang="en-US" baseline="-25000" smtClean="0"/>
              <a:t>A </a:t>
            </a:r>
            <a:r>
              <a:rPr lang="en-US" altLang="en-US" smtClean="0"/>
              <a:t>encrypted with K</a:t>
            </a:r>
            <a:r>
              <a:rPr lang="en-US" altLang="en-US" baseline="-25000" smtClean="0"/>
              <a:t>AB</a:t>
            </a:r>
            <a:r>
              <a:rPr lang="en-US" altLang="en-US" smtClean="0"/>
              <a:t>: “pdufr”</a:t>
            </a:r>
          </a:p>
          <a:p>
            <a:pPr eaLnBrk="1" hangingPunct="1"/>
            <a:r>
              <a:rPr lang="en-US" altLang="en-US" smtClean="0"/>
              <a:t>r</a:t>
            </a:r>
            <a:r>
              <a:rPr lang="en-US" altLang="en-US" baseline="-25000" smtClean="0"/>
              <a:t>B</a:t>
            </a:r>
            <a:r>
              <a:rPr lang="en-US" altLang="en-US" smtClean="0"/>
              <a:t> = “polo”</a:t>
            </a:r>
          </a:p>
          <a:p>
            <a:pPr lvl="1" eaLnBrk="1" hangingPunct="1"/>
            <a:r>
              <a:rPr lang="en-US" altLang="en-US" smtClean="0"/>
              <a:t>r</a:t>
            </a:r>
            <a:r>
              <a:rPr lang="en-US" altLang="en-US" baseline="-25000" smtClean="0"/>
              <a:t>A </a:t>
            </a:r>
            <a:r>
              <a:rPr lang="en-US" altLang="en-US" smtClean="0"/>
              <a:t>encrypted with K</a:t>
            </a:r>
            <a:r>
              <a:rPr lang="en-US" altLang="en-US" baseline="-25000" smtClean="0"/>
              <a:t>AB</a:t>
            </a:r>
            <a:r>
              <a:rPr lang="en-US" altLang="en-US" smtClean="0"/>
              <a:t>: “sror”</a:t>
            </a:r>
          </a:p>
          <a:p>
            <a:pPr eaLnBrk="1" hangingPunct="1"/>
            <a:endParaRPr lang="en-US" altLang="en-US" smtClean="0"/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374" y="3845814"/>
            <a:ext cx="5888336" cy="1914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628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simple example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K</a:t>
            </a:r>
            <a:r>
              <a:rPr lang="en-US" altLang="en-US" baseline="-25000" smtClean="0"/>
              <a:t>AB</a:t>
            </a:r>
            <a:r>
              <a:rPr lang="en-US" altLang="en-US" smtClean="0"/>
              <a:t> = +3 (Caesar cipher), known by Alice &amp; Bob</a:t>
            </a:r>
          </a:p>
          <a:p>
            <a:pPr eaLnBrk="1" hangingPunct="1"/>
            <a:r>
              <a:rPr lang="en-US" altLang="en-US" smtClean="0"/>
              <a:t>r</a:t>
            </a:r>
            <a:r>
              <a:rPr lang="en-US" altLang="en-US" baseline="-25000" smtClean="0"/>
              <a:t>A</a:t>
            </a:r>
            <a:r>
              <a:rPr lang="en-US" altLang="en-US" smtClean="0"/>
              <a:t> = “marco”</a:t>
            </a:r>
          </a:p>
          <a:p>
            <a:pPr lvl="1" eaLnBrk="1" hangingPunct="1"/>
            <a:r>
              <a:rPr lang="en-US" altLang="en-US" smtClean="0"/>
              <a:t>r</a:t>
            </a:r>
            <a:r>
              <a:rPr lang="en-US" altLang="en-US" baseline="-25000" smtClean="0"/>
              <a:t>A </a:t>
            </a:r>
            <a:r>
              <a:rPr lang="en-US" altLang="en-US" smtClean="0"/>
              <a:t>encrypted with K</a:t>
            </a:r>
            <a:r>
              <a:rPr lang="en-US" altLang="en-US" baseline="-25000" smtClean="0"/>
              <a:t>AB</a:t>
            </a:r>
            <a:r>
              <a:rPr lang="en-US" altLang="en-US" smtClean="0"/>
              <a:t>: “pdufr”</a:t>
            </a:r>
          </a:p>
          <a:p>
            <a:pPr eaLnBrk="1" hangingPunct="1"/>
            <a:r>
              <a:rPr lang="en-US" altLang="en-US" smtClean="0"/>
              <a:t>r</a:t>
            </a:r>
            <a:r>
              <a:rPr lang="en-US" altLang="en-US" baseline="-25000" smtClean="0"/>
              <a:t>B</a:t>
            </a:r>
            <a:r>
              <a:rPr lang="en-US" altLang="en-US" smtClean="0"/>
              <a:t> = “polo”</a:t>
            </a:r>
          </a:p>
          <a:p>
            <a:pPr lvl="1" eaLnBrk="1" hangingPunct="1"/>
            <a:r>
              <a:rPr lang="en-US" altLang="en-US" smtClean="0"/>
              <a:t>r</a:t>
            </a:r>
            <a:r>
              <a:rPr lang="en-US" altLang="en-US" baseline="-25000" smtClean="0"/>
              <a:t>A </a:t>
            </a:r>
            <a:r>
              <a:rPr lang="en-US" altLang="en-US" smtClean="0"/>
              <a:t>encrypted with K</a:t>
            </a:r>
            <a:r>
              <a:rPr lang="en-US" altLang="en-US" baseline="-25000" smtClean="0"/>
              <a:t>AB</a:t>
            </a:r>
            <a:r>
              <a:rPr lang="en-US" altLang="en-US" smtClean="0"/>
              <a:t>: “sror”</a:t>
            </a:r>
          </a:p>
          <a:p>
            <a:pPr eaLnBrk="1" hangingPunct="1"/>
            <a:r>
              <a:rPr lang="en-US" altLang="en-US" smtClean="0"/>
              <a:t>(“marco”, “pdufr”), (“polo”, “sror”)</a:t>
            </a:r>
          </a:p>
          <a:p>
            <a:pPr eaLnBrk="1" hangingPunct="1"/>
            <a:endParaRPr lang="en-US" altLang="en-US" smtClean="0"/>
          </a:p>
        </p:txBody>
      </p:sp>
      <p:pic>
        <p:nvPicPr>
          <p:cNvPr id="2765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541" y="3342894"/>
            <a:ext cx="6281985" cy="2042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032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11845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chemeClr val="tx1"/>
                </a:solidFill>
                <a:latin typeface="Tw Cen MT" panose="020B0602020104020603" pitchFamily="34" charset="0"/>
              </a:rPr>
              <a:t>Public Key Cryptography</a:t>
            </a:r>
          </a:p>
        </p:txBody>
      </p:sp>
      <p:pic>
        <p:nvPicPr>
          <p:cNvPr id="2867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328" y="1910874"/>
            <a:ext cx="39624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92501" y="4146074"/>
            <a:ext cx="4814887" cy="831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/>
              <a:t>AKA </a:t>
            </a:r>
            <a:r>
              <a:rPr lang="en-US" sz="2400" i="1" dirty="0"/>
              <a:t>asymmetric cryptography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AKA 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unconventional cryptography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(?)</a:t>
            </a:r>
          </a:p>
        </p:txBody>
      </p:sp>
      <p:sp>
        <p:nvSpPr>
          <p:cNvPr id="28677" name="TextBox 5"/>
          <p:cNvSpPr txBox="1">
            <a:spLocks noChangeArrowheads="1"/>
          </p:cNvSpPr>
          <p:nvPr/>
        </p:nvSpPr>
        <p:spPr bwMode="auto">
          <a:xfrm>
            <a:off x="3222244" y="5316030"/>
            <a:ext cx="637895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 b="1" dirty="0">
                <a:latin typeface="Calibri" panose="020F0502020204030204" pitchFamily="34" charset="0"/>
              </a:rPr>
              <a:t>Public key</a:t>
            </a:r>
            <a:r>
              <a:rPr lang="en-US" altLang="en-US" sz="2400" dirty="0">
                <a:latin typeface="Calibri" panose="020F0502020204030204" pitchFamily="34" charset="0"/>
              </a:rPr>
              <a:t>: published, ideally known widely</a:t>
            </a:r>
          </a:p>
          <a:p>
            <a:pPr eaLnBrk="1" hangingPunct="1"/>
            <a:r>
              <a:rPr lang="en-US" altLang="en-US" sz="2400" b="1" dirty="0">
                <a:latin typeface="Calibri" panose="020F0502020204030204" pitchFamily="34" charset="0"/>
              </a:rPr>
              <a:t>Private key </a:t>
            </a:r>
            <a:r>
              <a:rPr lang="en-US" altLang="en-US" sz="2400" dirty="0">
                <a:latin typeface="Calibri" panose="020F0502020204030204" pitchFamily="34" charset="0"/>
              </a:rPr>
              <a:t>(NOT “secret key”): not published</a:t>
            </a:r>
          </a:p>
        </p:txBody>
      </p:sp>
    </p:spTree>
    <p:extLst>
      <p:ext uri="{BB962C8B-B14F-4D97-AF65-F5344CB8AC3E}">
        <p14:creationId xmlns:p14="http://schemas.microsoft.com/office/powerpoint/2010/main" val="15838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Public Key Cryptography</a:t>
            </a:r>
          </a:p>
        </p:txBody>
      </p:sp>
      <p:pic>
        <p:nvPicPr>
          <p:cNvPr id="29699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3" y="1643063"/>
            <a:ext cx="3657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225" y="1843088"/>
            <a:ext cx="333375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3409950" y="5589589"/>
            <a:ext cx="53736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Calibri" panose="020F0502020204030204" pitchFamily="34" charset="0"/>
                <a:hlinkClick r:id="rId5"/>
              </a:rPr>
              <a:t>http://en.wikipedia.org/wiki/Public_key_cryptography</a:t>
            </a:r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86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Public Key Cryptography</a:t>
            </a:r>
          </a:p>
        </p:txBody>
      </p:sp>
      <p:sp>
        <p:nvSpPr>
          <p:cNvPr id="16386" name="Content Placeholder 4"/>
          <p:cNvSpPr>
            <a:spLocks noGrp="1"/>
          </p:cNvSpPr>
          <p:nvPr>
            <p:ph idx="1"/>
          </p:nvPr>
        </p:nvSpPr>
        <p:spPr>
          <a:xfrm>
            <a:off x="822960" y="1737360"/>
            <a:ext cx="10908792" cy="4907279"/>
          </a:xfrm>
        </p:spPr>
        <p:txBody>
          <a:bodyPr>
            <a:normAutofit/>
          </a:bodyPr>
          <a:lstStyle/>
          <a:p>
            <a:r>
              <a:rPr lang="en-US" altLang="en-US" dirty="0"/>
              <a:t>Sender (Alice) and Receiver (Bob) each have two keys:</a:t>
            </a:r>
          </a:p>
          <a:p>
            <a:pPr lvl="1"/>
            <a:r>
              <a:rPr lang="en-US" altLang="en-US" sz="2200" dirty="0"/>
              <a:t>Public Key </a:t>
            </a:r>
            <a:r>
              <a:rPr lang="en-US" altLang="en-US" sz="2200" dirty="0">
                <a:solidFill>
                  <a:srgbClr val="C00000"/>
                </a:solidFill>
              </a:rPr>
              <a:t> KP</a:t>
            </a:r>
            <a:r>
              <a:rPr lang="en-US" altLang="en-US" sz="2200" baseline="-25000" dirty="0">
                <a:solidFill>
                  <a:srgbClr val="C00000"/>
                </a:solidFill>
              </a:rPr>
              <a:t>A </a:t>
            </a:r>
            <a:r>
              <a:rPr lang="en-US" altLang="en-US" sz="2200" dirty="0"/>
              <a:t>(Alice)</a:t>
            </a:r>
            <a:r>
              <a:rPr lang="en-US" altLang="en-US" sz="2200" baseline="-25000" dirty="0"/>
              <a:t> </a:t>
            </a:r>
            <a:r>
              <a:rPr lang="en-US" altLang="en-US" sz="2200" dirty="0"/>
              <a:t>and </a:t>
            </a:r>
            <a:r>
              <a:rPr lang="en-US" altLang="en-US" sz="2200" dirty="0">
                <a:solidFill>
                  <a:srgbClr val="C00000"/>
                </a:solidFill>
              </a:rPr>
              <a:t>KP</a:t>
            </a:r>
            <a:r>
              <a:rPr lang="en-US" altLang="en-US" sz="2200" baseline="-25000" dirty="0">
                <a:solidFill>
                  <a:srgbClr val="C00000"/>
                </a:solidFill>
              </a:rPr>
              <a:t>B</a:t>
            </a:r>
            <a:r>
              <a:rPr lang="en-US" altLang="en-US" sz="2200" baseline="-25000" dirty="0"/>
              <a:t> </a:t>
            </a:r>
            <a:r>
              <a:rPr lang="en-US" altLang="en-US" sz="2200" dirty="0"/>
              <a:t>(Bob)</a:t>
            </a:r>
            <a:endParaRPr lang="en-US" altLang="en-US" sz="2200" baseline="-25000" dirty="0"/>
          </a:p>
          <a:p>
            <a:pPr lvl="1"/>
            <a:r>
              <a:rPr lang="en-US" altLang="en-US" sz="2200" dirty="0"/>
              <a:t>Private Key </a:t>
            </a:r>
            <a:r>
              <a:rPr lang="en-US" altLang="en-US" sz="2200" dirty="0">
                <a:solidFill>
                  <a:srgbClr val="C00000"/>
                </a:solidFill>
              </a:rPr>
              <a:t>KS</a:t>
            </a:r>
            <a:r>
              <a:rPr lang="en-US" altLang="en-US" sz="2200" baseline="-25000" dirty="0">
                <a:solidFill>
                  <a:srgbClr val="C00000"/>
                </a:solidFill>
              </a:rPr>
              <a:t>A</a:t>
            </a:r>
            <a:r>
              <a:rPr lang="en-US" altLang="en-US" sz="2200" dirty="0"/>
              <a:t> (Alice) and </a:t>
            </a:r>
            <a:r>
              <a:rPr lang="en-US" altLang="en-US" sz="2200" dirty="0">
                <a:solidFill>
                  <a:srgbClr val="C00000"/>
                </a:solidFill>
              </a:rPr>
              <a:t>KS</a:t>
            </a:r>
            <a:r>
              <a:rPr lang="en-US" altLang="en-US" sz="2200" baseline="-25000" dirty="0">
                <a:solidFill>
                  <a:srgbClr val="C00000"/>
                </a:solidFill>
              </a:rPr>
              <a:t>B</a:t>
            </a:r>
            <a:r>
              <a:rPr lang="en-US" altLang="en-US" sz="2200" baseline="-25000" dirty="0"/>
              <a:t> </a:t>
            </a:r>
            <a:r>
              <a:rPr lang="en-US" altLang="en-US" sz="2200" dirty="0"/>
              <a:t>(Bob)</a:t>
            </a:r>
          </a:p>
          <a:p>
            <a:r>
              <a:rPr lang="en-US" altLang="en-US" dirty="0"/>
              <a:t>Each keep their secret (private) key to themselves but publish their public keys (Everybody knows everybody else</a:t>
            </a:r>
            <a:r>
              <a:rPr lang="ja-JP" altLang="en-US" dirty="0"/>
              <a:t>’</a:t>
            </a:r>
            <a:r>
              <a:rPr lang="en-US" altLang="ja-JP" dirty="0"/>
              <a:t>s public key)</a:t>
            </a:r>
          </a:p>
          <a:p>
            <a:r>
              <a:rPr lang="en-US" altLang="en-US" dirty="0"/>
              <a:t>If Alice wants to send a message (M) to Bob</a:t>
            </a:r>
          </a:p>
          <a:p>
            <a:pPr lvl="1"/>
            <a:r>
              <a:rPr lang="en-US" altLang="en-US" sz="2200" dirty="0"/>
              <a:t>Alice obtains Bob</a:t>
            </a:r>
            <a:r>
              <a:rPr lang="ja-JP" altLang="en-US" sz="2200" dirty="0"/>
              <a:t>’</a:t>
            </a:r>
            <a:r>
              <a:rPr lang="en-US" altLang="ja-JP" sz="2200" dirty="0"/>
              <a:t>s public key (</a:t>
            </a:r>
            <a:r>
              <a:rPr lang="en-US" altLang="ja-JP" sz="2200" dirty="0">
                <a:solidFill>
                  <a:srgbClr val="C00000"/>
                </a:solidFill>
              </a:rPr>
              <a:t>KP</a:t>
            </a:r>
            <a:r>
              <a:rPr lang="en-US" altLang="ja-JP" sz="2200" baseline="-25000" dirty="0">
                <a:solidFill>
                  <a:srgbClr val="C00000"/>
                </a:solidFill>
              </a:rPr>
              <a:t>B</a:t>
            </a:r>
            <a:r>
              <a:rPr lang="en-US" altLang="ja-JP" sz="2200" dirty="0"/>
              <a:t>)</a:t>
            </a:r>
            <a:endParaRPr lang="en-US" altLang="ja-JP" sz="2200" baseline="-25000" dirty="0"/>
          </a:p>
          <a:p>
            <a:pPr lvl="1"/>
            <a:r>
              <a:rPr lang="en-US" altLang="en-US" sz="2200" dirty="0"/>
              <a:t>Alice applies Bob</a:t>
            </a:r>
            <a:r>
              <a:rPr lang="ja-JP" altLang="en-US" sz="2200" dirty="0"/>
              <a:t>’</a:t>
            </a:r>
            <a:r>
              <a:rPr lang="en-US" altLang="ja-JP" sz="2200" dirty="0"/>
              <a:t>s public key to M to create a </a:t>
            </a:r>
            <a:r>
              <a:rPr lang="en-US" altLang="ja-JP" sz="2200" dirty="0" err="1"/>
              <a:t>ciphertext</a:t>
            </a:r>
            <a:r>
              <a:rPr lang="en-US" altLang="ja-JP" sz="2200" dirty="0"/>
              <a:t> C =P</a:t>
            </a:r>
            <a:r>
              <a:rPr lang="en-US" altLang="ja-JP" sz="2200" baseline="-25000" dirty="0"/>
              <a:t>B</a:t>
            </a:r>
            <a:r>
              <a:rPr lang="en-US" altLang="ja-JP" sz="2200" dirty="0"/>
              <a:t>(M)</a:t>
            </a:r>
          </a:p>
          <a:p>
            <a:pPr lvl="1"/>
            <a:r>
              <a:rPr lang="en-US" altLang="en-US" sz="2200" dirty="0"/>
              <a:t>Alice then sends the </a:t>
            </a:r>
            <a:r>
              <a:rPr lang="en-US" altLang="en-US" sz="2200" dirty="0" err="1"/>
              <a:t>ciphertext</a:t>
            </a:r>
            <a:r>
              <a:rPr lang="en-US" altLang="en-US" sz="2200" dirty="0"/>
              <a:t> to bob</a:t>
            </a:r>
          </a:p>
          <a:p>
            <a:pPr lvl="1"/>
            <a:r>
              <a:rPr lang="en-US" altLang="en-US" sz="2200" dirty="0"/>
              <a:t>Bob can then decode the message using the secret key to compute S</a:t>
            </a:r>
            <a:r>
              <a:rPr lang="en-US" altLang="en-US" sz="2200" baseline="-25000" dirty="0"/>
              <a:t>B</a:t>
            </a:r>
            <a:r>
              <a:rPr lang="en-US" altLang="en-US" sz="2200" dirty="0"/>
              <a:t>(C)</a:t>
            </a:r>
          </a:p>
          <a:p>
            <a:pPr lvl="1"/>
            <a:r>
              <a:rPr lang="en-US" altLang="en-US" sz="2200" dirty="0"/>
              <a:t>Even if adversary knows C and KP</a:t>
            </a:r>
            <a:r>
              <a:rPr lang="en-US" altLang="en-US" sz="2200" baseline="-25000" dirty="0"/>
              <a:t>B</a:t>
            </a:r>
            <a:r>
              <a:rPr lang="en-US" altLang="en-US" sz="2200" dirty="0"/>
              <a:t> , it cannot decode the message without KS</a:t>
            </a:r>
            <a:r>
              <a:rPr lang="en-US" altLang="en-US" sz="2200" baseline="-25000" dirty="0"/>
              <a:t>B</a:t>
            </a:r>
            <a:r>
              <a:rPr lang="en-US" altLang="en-US" sz="2200" dirty="0"/>
              <a:t>, which only Bob knows</a:t>
            </a:r>
            <a:endParaRPr lang="en-US" altLang="en-US" sz="2200" baseline="-25000" dirty="0"/>
          </a:p>
        </p:txBody>
      </p:sp>
    </p:spTree>
    <p:extLst>
      <p:ext uri="{BB962C8B-B14F-4D97-AF65-F5344CB8AC3E}">
        <p14:creationId xmlns:p14="http://schemas.microsoft.com/office/powerpoint/2010/main" val="7578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Public Key Cryptography Issues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1097280" y="2156630"/>
            <a:ext cx="10058400" cy="4023360"/>
          </a:xfrm>
        </p:spPr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Efficiency</a:t>
            </a:r>
          </a:p>
          <a:p>
            <a:pPr lvl="1" eaLnBrk="1" hangingPunct="1">
              <a:lnSpc>
                <a:spcPct val="114000"/>
              </a:lnSpc>
            </a:pPr>
            <a:r>
              <a:rPr lang="en-US" altLang="en-US" dirty="0" smtClean="0"/>
              <a:t>Public key cryptographic algorithms are orders of magnitude slower than symmetric key algorithms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dirty="0" smtClean="0"/>
              <a:t>Hybrid model</a:t>
            </a:r>
          </a:p>
          <a:p>
            <a:pPr lvl="1" eaLnBrk="1" hangingPunct="1">
              <a:lnSpc>
                <a:spcPct val="114000"/>
              </a:lnSpc>
            </a:pPr>
            <a:r>
              <a:rPr lang="en-US" altLang="en-US" dirty="0" smtClean="0"/>
              <a:t>Public key used to establish temporary shared key</a:t>
            </a:r>
          </a:p>
          <a:p>
            <a:pPr lvl="1" eaLnBrk="1" hangingPunct="1">
              <a:lnSpc>
                <a:spcPct val="114000"/>
              </a:lnSpc>
            </a:pPr>
            <a:r>
              <a:rPr lang="en-US" altLang="en-US" dirty="0" smtClean="0"/>
              <a:t>Symmetric key used for remainder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93805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Digital Signatures</a:t>
            </a:r>
          </a:p>
        </p:txBody>
      </p:sp>
      <p:pic>
        <p:nvPicPr>
          <p:cNvPr id="3584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128" y="1743076"/>
            <a:ext cx="4596384" cy="2027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Box 3"/>
          <p:cNvSpPr txBox="1">
            <a:spLocks noChangeArrowheads="1"/>
          </p:cNvSpPr>
          <p:nvPr/>
        </p:nvSpPr>
        <p:spPr bwMode="auto">
          <a:xfrm>
            <a:off x="219456" y="3770892"/>
            <a:ext cx="833932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 dirty="0">
                <a:latin typeface="Tw Cen MT" panose="020B0602020104020603" pitchFamily="34" charset="0"/>
              </a:rPr>
              <a:t>Asymmetry:</a:t>
            </a:r>
          </a:p>
          <a:p>
            <a:pPr eaLnBrk="1" hangingPunct="1"/>
            <a:r>
              <a:rPr lang="en-US" altLang="en-US" sz="2400" dirty="0">
                <a:latin typeface="Tw Cen MT" panose="020B0602020104020603" pitchFamily="34" charset="0"/>
              </a:rPr>
              <a:t>Signature can only be </a:t>
            </a:r>
            <a:r>
              <a:rPr lang="en-US" altLang="en-US" sz="2400" i="1" dirty="0">
                <a:latin typeface="Tw Cen MT" panose="020B0602020104020603" pitchFamily="34" charset="0"/>
              </a:rPr>
              <a:t>generated </a:t>
            </a:r>
            <a:r>
              <a:rPr lang="en-US" altLang="en-US" sz="2400" dirty="0">
                <a:latin typeface="Tw Cen MT" panose="020B0602020104020603" pitchFamily="34" charset="0"/>
              </a:rPr>
              <a:t>by owner/knower of private key</a:t>
            </a:r>
          </a:p>
          <a:p>
            <a:pPr eaLnBrk="1" hangingPunct="1"/>
            <a:r>
              <a:rPr lang="en-US" altLang="en-US" sz="2400" dirty="0">
                <a:latin typeface="Tw Cen MT" panose="020B0602020104020603" pitchFamily="34" charset="0"/>
              </a:rPr>
              <a:t>Signature can be </a:t>
            </a:r>
            <a:r>
              <a:rPr lang="en-US" altLang="en-US" sz="2400" i="1" dirty="0">
                <a:latin typeface="Tw Cen MT" panose="020B0602020104020603" pitchFamily="34" charset="0"/>
              </a:rPr>
              <a:t>verified </a:t>
            </a:r>
            <a:r>
              <a:rPr lang="en-US" altLang="en-US" sz="2400" dirty="0">
                <a:latin typeface="Tw Cen MT" panose="020B0602020104020603" pitchFamily="34" charset="0"/>
              </a:rPr>
              <a:t>by anyone via public key</a:t>
            </a:r>
          </a:p>
          <a:p>
            <a:pPr eaLnBrk="1" hangingPunct="1"/>
            <a:endParaRPr lang="en-US" altLang="en-US" sz="2400" dirty="0">
              <a:latin typeface="Tw Cen MT" panose="020B0602020104020603" pitchFamily="34" charset="0"/>
            </a:endParaRPr>
          </a:p>
          <a:p>
            <a:pPr eaLnBrk="1" hangingPunct="1"/>
            <a:r>
              <a:rPr lang="en-US" altLang="en-US" sz="2400" b="1" i="1" dirty="0">
                <a:latin typeface="Tw Cen MT" panose="020B0602020104020603" pitchFamily="34" charset="0"/>
              </a:rPr>
              <a:t>Non-repudiation</a:t>
            </a:r>
            <a:r>
              <a:rPr lang="en-US" altLang="en-US" sz="2400" dirty="0">
                <a:latin typeface="Tw Cen MT" panose="020B0602020104020603" pitchFamily="34" charset="0"/>
              </a:rPr>
              <a:t>:</a:t>
            </a:r>
          </a:p>
          <a:p>
            <a:pPr eaLnBrk="1" hangingPunct="1"/>
            <a:r>
              <a:rPr lang="en-US" altLang="en-US" sz="2400" dirty="0">
                <a:latin typeface="Tw Cen MT" panose="020B0602020104020603" pitchFamily="34" charset="0"/>
              </a:rPr>
              <a:t>Sender cannot prove message (signature) was not sent</a:t>
            </a:r>
          </a:p>
          <a:p>
            <a:pPr eaLnBrk="1" hangingPunct="1"/>
            <a:r>
              <a:rPr lang="en-US" altLang="en-US" sz="2400" dirty="0">
                <a:latin typeface="Tw Cen MT" panose="020B0602020104020603" pitchFamily="34" charset="0"/>
              </a:rPr>
              <a:t>Key may have been stolen</a:t>
            </a:r>
          </a:p>
        </p:txBody>
      </p:sp>
      <p:pic>
        <p:nvPicPr>
          <p:cNvPr id="3584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493" y="2886076"/>
            <a:ext cx="2346325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55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</TotalTime>
  <Words>1247</Words>
  <Application>Microsoft Office PowerPoint</Application>
  <PresentationFormat>Widescreen</PresentationFormat>
  <Paragraphs>214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MS PGothic</vt:lpstr>
      <vt:lpstr>MS PGothic</vt:lpstr>
      <vt:lpstr>ヒラギノ角ゴ Pro W3</vt:lpstr>
      <vt:lpstr>Adobe Caslon Pro</vt:lpstr>
      <vt:lpstr>Arial</vt:lpstr>
      <vt:lpstr>Calibri</vt:lpstr>
      <vt:lpstr>Calibri Light</vt:lpstr>
      <vt:lpstr>Times New Roman</vt:lpstr>
      <vt:lpstr>Tw Cen MT</vt:lpstr>
      <vt:lpstr>Wingdings</vt:lpstr>
      <vt:lpstr>Retrospect</vt:lpstr>
      <vt:lpstr>Office Theme</vt:lpstr>
      <vt:lpstr>Introduction to Cryptography</vt:lpstr>
      <vt:lpstr>Cryptography</vt:lpstr>
      <vt:lpstr>Cryptography Definitions</vt:lpstr>
      <vt:lpstr>Cryptography Terms</vt:lpstr>
      <vt:lpstr>Cryptography</vt:lpstr>
      <vt:lpstr>Computational Issues</vt:lpstr>
      <vt:lpstr>Computational Issues</vt:lpstr>
      <vt:lpstr>Computational Issues</vt:lpstr>
      <vt:lpstr>Computational Issues</vt:lpstr>
      <vt:lpstr>Computational Issues</vt:lpstr>
      <vt:lpstr>Computational Issues</vt:lpstr>
      <vt:lpstr>Publication Issues</vt:lpstr>
      <vt:lpstr>Publication Issues</vt:lpstr>
      <vt:lpstr>Secret Codes</vt:lpstr>
      <vt:lpstr>Ceasar’s Encryption (Key =3)</vt:lpstr>
      <vt:lpstr>Caesar’s Encryption &amp; Decryption</vt:lpstr>
      <vt:lpstr>PowerPoint Presentation</vt:lpstr>
      <vt:lpstr>Breaking an Encryption Scheme</vt:lpstr>
      <vt:lpstr>Types of Cryptography</vt:lpstr>
      <vt:lpstr>Symmetric Key Cryptography</vt:lpstr>
      <vt:lpstr>PowerPoint Presentation</vt:lpstr>
      <vt:lpstr>Symmetric Key Applications</vt:lpstr>
      <vt:lpstr>A simple example</vt:lpstr>
      <vt:lpstr>A simple example</vt:lpstr>
      <vt:lpstr>A simple example</vt:lpstr>
      <vt:lpstr>Public Key Cryptography</vt:lpstr>
      <vt:lpstr>Public Key Cryptography</vt:lpstr>
      <vt:lpstr>Public Key Cryptography</vt:lpstr>
      <vt:lpstr>Public Key Cryptography Issues</vt:lpstr>
      <vt:lpstr>Digital Signatures</vt:lpstr>
    </vt:vector>
  </TitlesOfParts>
  <Company>UWB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Cryptography</dc:title>
  <dc:creator>Geethapriya Thamilarasu</dc:creator>
  <cp:lastModifiedBy>Geethapriya Thamilarasu</cp:lastModifiedBy>
  <cp:revision>7</cp:revision>
  <dcterms:created xsi:type="dcterms:W3CDTF">2018-01-16T22:27:58Z</dcterms:created>
  <dcterms:modified xsi:type="dcterms:W3CDTF">2018-01-16T22:53:20Z</dcterms:modified>
</cp:coreProperties>
</file>