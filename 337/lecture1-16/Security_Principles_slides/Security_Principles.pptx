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15"/>
  </p:notesMasterIdLst>
  <p:sldIdLst>
    <p:sldId id="256" r:id="rId2"/>
    <p:sldId id="257" r:id="rId3"/>
    <p:sldId id="259" r:id="rId4"/>
    <p:sldId id="260" r:id="rId5"/>
    <p:sldId id="261" r:id="rId6"/>
    <p:sldId id="262" r:id="rId7"/>
    <p:sldId id="263" r:id="rId8"/>
    <p:sldId id="264" r:id="rId9"/>
    <p:sldId id="265" r:id="rId10"/>
    <p:sldId id="266" r:id="rId11"/>
    <p:sldId id="267" r:id="rId12"/>
    <p:sldId id="271" r:id="rId13"/>
    <p:sldId id="272"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25" autoAdjust="0"/>
    <p:restoredTop sz="94660"/>
  </p:normalViewPr>
  <p:slideViewPr>
    <p:cSldViewPr snapToGrid="0">
      <p:cViewPr varScale="1">
        <p:scale>
          <a:sx n="105" d="100"/>
          <a:sy n="105" d="100"/>
        </p:scale>
        <p:origin x="120" y="2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8FF516-2FB5-4365-BCD5-78CD0E3BCEB5}" type="datetimeFigureOut">
              <a:rPr lang="en-US" smtClean="0"/>
              <a:t>1/16/2018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1AAD16F-BD6E-41F5-BBAB-AD031CD14B6C}" type="slidenum">
              <a:rPr lang="en-US" smtClean="0"/>
              <a:t>‹#›</a:t>
            </a:fld>
            <a:endParaRPr lang="en-US"/>
          </a:p>
        </p:txBody>
      </p:sp>
    </p:spTree>
    <p:extLst>
      <p:ext uri="{BB962C8B-B14F-4D97-AF65-F5344CB8AC3E}">
        <p14:creationId xmlns:p14="http://schemas.microsoft.com/office/powerpoint/2010/main" val="2761503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Slide Image Placeholder 1"/>
          <p:cNvSpPr>
            <a:spLocks noGrp="1" noRot="1" noChangeAspect="1" noTextEdit="1"/>
          </p:cNvSpPr>
          <p:nvPr>
            <p:ph type="sldImg"/>
          </p:nvPr>
        </p:nvSpPr>
        <p:spPr>
          <a:ln/>
        </p:spPr>
      </p:sp>
      <p:sp>
        <p:nvSpPr>
          <p:cNvPr id="2457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This is an agenda slide for the next eight slides – to introduce the coming topics.</a:t>
            </a:r>
          </a:p>
          <a:p>
            <a:r>
              <a:rPr lang="en-US" altLang="en-US" smtClean="0">
                <a:latin typeface="Arial" panose="020B0604020202020204" pitchFamily="34" charset="0"/>
              </a:rPr>
              <a:t>These are important principles that guide our decision-making process in designing, planning, and implementing secure information systems.</a:t>
            </a:r>
          </a:p>
          <a:p>
            <a:r>
              <a:rPr lang="en-US" altLang="en-US" smtClean="0">
                <a:latin typeface="Arial" panose="020B0604020202020204" pitchFamily="34" charset="0"/>
              </a:rPr>
              <a:t>Note that four of the items address specific Comptia Objectives</a:t>
            </a:r>
          </a:p>
          <a:p>
            <a:endParaRPr lang="en-US" altLang="en-US" smtClean="0">
              <a:latin typeface="Arial" panose="020B0604020202020204" pitchFamily="34" charset="0"/>
            </a:endParaRPr>
          </a:p>
          <a:p>
            <a:r>
              <a:rPr lang="en-US" altLang="en-US" smtClean="0">
                <a:latin typeface="Arial" panose="020B0604020202020204" pitchFamily="34" charset="0"/>
              </a:rPr>
              <a:t>Comptia Objectives</a:t>
            </a:r>
          </a:p>
          <a:p>
            <a:r>
              <a:rPr lang="en-US" altLang="en-US" smtClean="0">
                <a:latin typeface="Arial" panose="020B0604020202020204" pitchFamily="34" charset="0"/>
              </a:rPr>
              <a:t>Security approaches -  </a:t>
            </a:r>
          </a:p>
          <a:p>
            <a:r>
              <a:rPr lang="en-US" altLang="en-US" smtClean="0">
                <a:latin typeface="Arial" panose="020B0604020202020204" pitchFamily="34" charset="0"/>
              </a:rPr>
              <a:t>Least privilege – 3.1</a:t>
            </a:r>
          </a:p>
          <a:p>
            <a:r>
              <a:rPr lang="en-US" altLang="en-US" smtClean="0">
                <a:latin typeface="Arial" panose="020B0604020202020204" pitchFamily="34" charset="0"/>
              </a:rPr>
              <a:t>Separation of duties – 3.1</a:t>
            </a:r>
          </a:p>
          <a:p>
            <a:r>
              <a:rPr lang="en-US" altLang="en-US" smtClean="0">
                <a:latin typeface="Arial" panose="020B0604020202020204" pitchFamily="34" charset="0"/>
              </a:rPr>
              <a:t>Implicit deny – 3.1</a:t>
            </a:r>
          </a:p>
          <a:p>
            <a:r>
              <a:rPr lang="en-US" altLang="en-US" smtClean="0">
                <a:latin typeface="Arial" panose="020B0604020202020204" pitchFamily="34" charset="0"/>
              </a:rPr>
              <a:t>Job rotation – 3.1</a:t>
            </a:r>
          </a:p>
          <a:p>
            <a:r>
              <a:rPr lang="en-US" altLang="en-US" smtClean="0">
                <a:latin typeface="Arial" panose="020B0604020202020204" pitchFamily="34" charset="0"/>
              </a:rPr>
              <a:t>Layered security</a:t>
            </a:r>
          </a:p>
          <a:p>
            <a:r>
              <a:rPr lang="en-US" altLang="en-US" smtClean="0">
                <a:latin typeface="Arial" panose="020B0604020202020204" pitchFamily="34" charset="0"/>
              </a:rPr>
              <a:t>Defense in depth</a:t>
            </a:r>
          </a:p>
          <a:p>
            <a:r>
              <a:rPr lang="en-US" altLang="en-US" smtClean="0">
                <a:latin typeface="Arial" panose="020B0604020202020204" pitchFamily="34" charset="0"/>
              </a:rPr>
              <a:t>Security through obscurity</a:t>
            </a:r>
          </a:p>
          <a:p>
            <a:r>
              <a:rPr lang="en-US" altLang="en-US" smtClean="0">
                <a:latin typeface="Arial" panose="020B0604020202020204" pitchFamily="34" charset="0"/>
              </a:rPr>
              <a:t>Keep it simple</a:t>
            </a:r>
          </a:p>
          <a:p>
            <a:endParaRPr lang="en-US" altLang="en-US" smtClean="0">
              <a:latin typeface="Arial" panose="020B0604020202020204" pitchFamily="34" charset="0"/>
            </a:endParaRPr>
          </a:p>
        </p:txBody>
      </p:sp>
      <p:sp>
        <p:nvSpPr>
          <p:cNvPr id="2457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F9242ED3-54A1-420D-BB77-0C4B9A0A67B5}" type="slidenum">
              <a:rPr lang="en-US" altLang="en-US" sz="1200"/>
              <a:pPr eaLnBrk="1" hangingPunct="1"/>
              <a:t>2</a:t>
            </a:fld>
            <a:endParaRPr lang="en-US" altLang="en-US" sz="1200"/>
          </a:p>
        </p:txBody>
      </p:sp>
    </p:spTree>
    <p:extLst>
      <p:ext uri="{BB962C8B-B14F-4D97-AF65-F5344CB8AC3E}">
        <p14:creationId xmlns:p14="http://schemas.microsoft.com/office/powerpoint/2010/main" val="1912177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Slide Image Placeholder 1"/>
          <p:cNvSpPr>
            <a:spLocks noGrp="1" noRot="1" noChangeAspect="1" noTextEdit="1"/>
          </p:cNvSpPr>
          <p:nvPr>
            <p:ph type="sldImg"/>
          </p:nvPr>
        </p:nvSpPr>
        <p:spPr>
          <a:ln/>
        </p:spPr>
      </p:sp>
      <p:sp>
        <p:nvSpPr>
          <p:cNvPr id="2867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Security+ objective 3.3a Organize into groups and roles</a:t>
            </a:r>
          </a:p>
          <a:p>
            <a:pPr eaLnBrk="1" hangingPunct="1">
              <a:spcBef>
                <a:spcPct val="0"/>
              </a:spcBef>
            </a:pPr>
            <a:endParaRPr lang="en-US" altLang="en-US" smtClean="0">
              <a:latin typeface="Calibri" panose="020F0502020204030204" pitchFamily="34" charset="0"/>
            </a:endParaRPr>
          </a:p>
          <a:p>
            <a:pPr eaLnBrk="1" hangingPunct="1">
              <a:spcBef>
                <a:spcPct val="0"/>
              </a:spcBef>
            </a:pPr>
            <a:r>
              <a:rPr lang="en-US" altLang="en-US" smtClean="0">
                <a:latin typeface="Calibri" panose="020F0502020204030204" pitchFamily="34" charset="0"/>
              </a:rPr>
              <a:t>1. One of the most fundamental approaches to security is least privilege. </a:t>
            </a:r>
          </a:p>
          <a:p>
            <a:pPr eaLnBrk="1" hangingPunct="1">
              <a:spcBef>
                <a:spcPct val="0"/>
              </a:spcBef>
            </a:pPr>
            <a:r>
              <a:rPr lang="en-US" altLang="en-US" smtClean="0">
                <a:latin typeface="Calibri" panose="020F0502020204030204" pitchFamily="34" charset="0"/>
              </a:rPr>
              <a:t>2. There are two prominent drawbacks to this security concept, however.</a:t>
            </a:r>
          </a:p>
          <a:p>
            <a:pPr marL="706438" lvl="1" indent="-234950" eaLnBrk="1" hangingPunct="1">
              <a:spcBef>
                <a:spcPct val="0"/>
              </a:spcBef>
            </a:pPr>
            <a:r>
              <a:rPr lang="en-US" altLang="en-US" smtClean="0">
                <a:latin typeface="Calibri" panose="020F0502020204030204" pitchFamily="34" charset="0"/>
              </a:rPr>
              <a:t>A. First, if the concept isn't utilized correctly by allowing everyone the same rights and permissions just because it is easier, then the entire purpose of using least privilege is cancelled out. </a:t>
            </a:r>
          </a:p>
          <a:p>
            <a:pPr marL="706438" lvl="1" indent="-234950" eaLnBrk="1" hangingPunct="1">
              <a:spcBef>
                <a:spcPct val="0"/>
              </a:spcBef>
            </a:pPr>
            <a:r>
              <a:rPr lang="en-US" altLang="en-US" smtClean="0">
                <a:latin typeface="Calibri" panose="020F0502020204030204" pitchFamily="34" charset="0"/>
              </a:rPr>
              <a:t>B. Second, programs should execute only in the security context that is needed for that program to perform its duties successfully. If all the programs run under a main administrator account, then any attack through that domain would have an elevated access level and could cause much more damage.</a:t>
            </a:r>
          </a:p>
          <a:p>
            <a:pPr marL="706438" lvl="1" indent="-234950" eaLnBrk="1" hangingPunct="1">
              <a:spcBef>
                <a:spcPct val="0"/>
              </a:spcBef>
            </a:pPr>
            <a:endParaRPr lang="en-US" altLang="en-US" smtClean="0">
              <a:latin typeface="Calibri" panose="020F0502020204030204" pitchFamily="34" charset="0"/>
            </a:endParaRPr>
          </a:p>
          <a:p>
            <a:pPr marL="706438" lvl="1" indent="-234950" eaLnBrk="1" hangingPunct="1">
              <a:spcBef>
                <a:spcPct val="0"/>
              </a:spcBef>
            </a:pPr>
            <a:r>
              <a:rPr lang="en-US" altLang="en-US" smtClean="0">
                <a:latin typeface="Calibri" panose="020F0502020204030204" pitchFamily="34" charset="0"/>
              </a:rPr>
              <a:t>If a person is logged in as an administrator, then any program that is run, including malware, will run as an administrator (this is what we mean by context). Many of the things that malware tries to do to a system would not work as a normal user and would stop some of the viruses from being successful.</a:t>
            </a:r>
          </a:p>
          <a:p>
            <a:pPr marL="706438" lvl="1" indent="-234950" eaLnBrk="1" hangingPunct="1">
              <a:spcBef>
                <a:spcPct val="0"/>
              </a:spcBef>
            </a:pPr>
            <a:endParaRPr lang="en-US" altLang="en-US" smtClean="0">
              <a:latin typeface="Calibri" panose="020F0502020204030204" pitchFamily="34" charset="0"/>
            </a:endParaRPr>
          </a:p>
        </p:txBody>
      </p:sp>
      <p:sp>
        <p:nvSpPr>
          <p:cNvPr id="2867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334B3570-8557-47C4-8EE7-2B6970229901}" type="slidenum">
              <a:rPr lang="en-US" altLang="en-US" sz="1200"/>
              <a:pPr eaLnBrk="1" hangingPunct="1"/>
              <a:t>3</a:t>
            </a:fld>
            <a:endParaRPr lang="en-US" altLang="en-US" sz="1200"/>
          </a:p>
        </p:txBody>
      </p:sp>
    </p:spTree>
    <p:extLst>
      <p:ext uri="{BB962C8B-B14F-4D97-AF65-F5344CB8AC3E}">
        <p14:creationId xmlns:p14="http://schemas.microsoft.com/office/powerpoint/2010/main" val="3684629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Slide Image Placeholder 1"/>
          <p:cNvSpPr>
            <a:spLocks noGrp="1" noRot="1" noChangeAspect="1" noTextEdit="1"/>
          </p:cNvSpPr>
          <p:nvPr>
            <p:ph type="sldImg"/>
          </p:nvPr>
        </p:nvSpPr>
        <p:spPr>
          <a:ln/>
        </p:spPr>
      </p:sp>
      <p:sp>
        <p:nvSpPr>
          <p:cNvPr id="30722"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Security+ objective 3.1c Separation of Duties</a:t>
            </a:r>
          </a:p>
          <a:p>
            <a:endParaRPr lang="en-US" altLang="en-US" smtClean="0">
              <a:latin typeface="Arial" panose="020B0604020202020204" pitchFamily="34" charset="0"/>
            </a:endParaRPr>
          </a:p>
          <a:p>
            <a:endParaRPr lang="en-US" altLang="en-US" smtClean="0">
              <a:latin typeface="Arial" panose="020B0604020202020204" pitchFamily="34" charset="0"/>
            </a:endParaRPr>
          </a:p>
        </p:txBody>
      </p:sp>
      <p:sp>
        <p:nvSpPr>
          <p:cNvPr id="30723"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085B5711-7A6F-4244-B87B-5D8E29024654}" type="slidenum">
              <a:rPr lang="en-US" altLang="en-US" sz="1200"/>
              <a:pPr eaLnBrk="1" hangingPunct="1"/>
              <a:t>4</a:t>
            </a:fld>
            <a:endParaRPr lang="en-US" altLang="en-US" sz="1200"/>
          </a:p>
        </p:txBody>
      </p:sp>
    </p:spTree>
    <p:extLst>
      <p:ext uri="{BB962C8B-B14F-4D97-AF65-F5344CB8AC3E}">
        <p14:creationId xmlns:p14="http://schemas.microsoft.com/office/powerpoint/2010/main" val="38866604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Slide Image Placeholder 1"/>
          <p:cNvSpPr>
            <a:spLocks noGrp="1" noRot="1" noChangeAspect="1" noTextEdit="1"/>
          </p:cNvSpPr>
          <p:nvPr>
            <p:ph type="sldImg"/>
          </p:nvPr>
        </p:nvSpPr>
        <p:spPr>
          <a:ln/>
        </p:spPr>
      </p:sp>
      <p:sp>
        <p:nvSpPr>
          <p:cNvPr id="32770"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Security+ objective 3.1a Implicit Deny</a:t>
            </a:r>
          </a:p>
          <a:p>
            <a:pPr eaLnBrk="1" hangingPunct="1">
              <a:spcBef>
                <a:spcPct val="0"/>
              </a:spcBef>
              <a:buFontTx/>
              <a:buAutoNum type="arabicPeriod"/>
            </a:pPr>
            <a:endParaRPr lang="en-US" altLang="en-US" smtClean="0">
              <a:latin typeface="Calibri" panose="020F0502020204030204" pitchFamily="34" charset="0"/>
            </a:endParaRPr>
          </a:p>
          <a:p>
            <a:pPr eaLnBrk="1" hangingPunct="1">
              <a:spcBef>
                <a:spcPct val="0"/>
              </a:spcBef>
              <a:buFontTx/>
              <a:buAutoNum type="arabicPeriod"/>
            </a:pPr>
            <a:r>
              <a:rPr lang="en-US" altLang="en-US" smtClean="0">
                <a:latin typeface="Calibri" panose="020F0502020204030204" pitchFamily="34" charset="0"/>
              </a:rPr>
              <a:t>One of the less friendly, but fundamental, approaches to security are known as implicit deny. </a:t>
            </a:r>
          </a:p>
          <a:p>
            <a:pPr eaLnBrk="1" hangingPunct="1">
              <a:spcBef>
                <a:spcPct val="0"/>
              </a:spcBef>
              <a:buFontTx/>
              <a:buAutoNum type="arabicPeriod"/>
            </a:pPr>
            <a:r>
              <a:rPr lang="en-US" altLang="en-US" smtClean="0">
                <a:latin typeface="Calibri" panose="020F0502020204030204" pitchFamily="34" charset="0"/>
              </a:rPr>
              <a:t>Implicit deny is an essential default setting for any security system. </a:t>
            </a:r>
          </a:p>
          <a:p>
            <a:pPr eaLnBrk="1" hangingPunct="1">
              <a:spcBef>
                <a:spcPct val="0"/>
              </a:spcBef>
              <a:buFontTx/>
              <a:buAutoNum type="arabicPeriod"/>
            </a:pPr>
            <a:r>
              <a:rPr lang="en-US" altLang="en-US" smtClean="0">
                <a:latin typeface="Calibri" panose="020F0502020204030204" pitchFamily="34" charset="0"/>
              </a:rPr>
              <a:t>An example can be found in the programs used to monitor and block access to certain web sites. The first approach would provide a list websites the users cannot access. The opposite approach would block all access to sites not identified as authorized. Either approach of this concept is effective, whichever one is chosen for an organization is chosen based on the security objectives or policies of the organization.</a:t>
            </a:r>
          </a:p>
          <a:p>
            <a:endParaRPr lang="en-US" altLang="en-US" smtClean="0">
              <a:latin typeface="Arial" panose="020B0604020202020204" pitchFamily="34" charset="0"/>
            </a:endParaRPr>
          </a:p>
        </p:txBody>
      </p:sp>
      <p:sp>
        <p:nvSpPr>
          <p:cNvPr id="32771"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E2CF5F62-B096-4C1B-A6EF-877402E293A1}" type="slidenum">
              <a:rPr lang="en-US" altLang="en-US" sz="1200"/>
              <a:pPr eaLnBrk="1" hangingPunct="1"/>
              <a:t>5</a:t>
            </a:fld>
            <a:endParaRPr lang="en-US" altLang="en-US" sz="1200"/>
          </a:p>
        </p:txBody>
      </p:sp>
    </p:spTree>
    <p:extLst>
      <p:ext uri="{BB962C8B-B14F-4D97-AF65-F5344CB8AC3E}">
        <p14:creationId xmlns:p14="http://schemas.microsoft.com/office/powerpoint/2010/main" val="25969047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Slide Image Placeholder 1"/>
          <p:cNvSpPr>
            <a:spLocks noGrp="1" noRot="1" noChangeAspect="1" noTextEdit="1"/>
          </p:cNvSpPr>
          <p:nvPr>
            <p:ph type="sldImg"/>
          </p:nvPr>
        </p:nvSpPr>
        <p:spPr>
          <a:ln/>
        </p:spPr>
      </p:sp>
      <p:sp>
        <p:nvSpPr>
          <p:cNvPr id="3481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smtClean="0">
                <a:latin typeface="Arial" panose="020B0604020202020204" pitchFamily="34" charset="0"/>
              </a:rPr>
              <a:t>Security+ objective 3.1d Job Rotation</a:t>
            </a:r>
          </a:p>
          <a:p>
            <a:pPr>
              <a:buFontTx/>
              <a:buAutoNum type="arabicPeriod"/>
            </a:pPr>
            <a:endParaRPr lang="en-US" altLang="en-US" smtClean="0">
              <a:latin typeface="Calibri" panose="020F0502020204030204" pitchFamily="34" charset="0"/>
            </a:endParaRPr>
          </a:p>
          <a:p>
            <a:pPr>
              <a:buFontTx/>
              <a:buAutoNum type="arabicPeriod"/>
            </a:pPr>
            <a:r>
              <a:rPr lang="en-US" altLang="en-US" smtClean="0">
                <a:latin typeface="Calibri" panose="020F0502020204030204" pitchFamily="34" charset="0"/>
              </a:rPr>
              <a:t>More basic but essential approaches to security would be job rotation and layered security. </a:t>
            </a:r>
          </a:p>
          <a:p>
            <a:pPr>
              <a:buFontTx/>
              <a:buAutoNum type="arabicPeriod"/>
            </a:pPr>
            <a:r>
              <a:rPr lang="en-US" altLang="en-US" smtClean="0">
                <a:latin typeface="Calibri" panose="020F0502020204030204" pitchFamily="34" charset="0"/>
              </a:rPr>
              <a:t>A drawback to job rotation occurs when an organization relies on this concept too heavily. Since the IT world is very technical, some of the skills and aspects of expertise required for the various areas of IT require years of study and development to master. By rotating the individuals through the jobs too much, they lose the ability to take the time necessary to gain better expertise in different areas of IT. </a:t>
            </a:r>
            <a:endParaRPr lang="en-US" altLang="en-US" smtClean="0">
              <a:latin typeface="Arial" panose="020B0604020202020204" pitchFamily="34" charset="0"/>
            </a:endParaRPr>
          </a:p>
        </p:txBody>
      </p:sp>
      <p:sp>
        <p:nvSpPr>
          <p:cNvPr id="3481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9FC5EC96-CC29-448D-BF78-88EDFA582017}" type="slidenum">
              <a:rPr lang="en-US" altLang="en-US" sz="1200"/>
              <a:pPr eaLnBrk="1" hangingPunct="1"/>
              <a:t>6</a:t>
            </a:fld>
            <a:endParaRPr lang="en-US" altLang="en-US" sz="1200"/>
          </a:p>
        </p:txBody>
      </p:sp>
    </p:spTree>
    <p:extLst>
      <p:ext uri="{BB962C8B-B14F-4D97-AF65-F5344CB8AC3E}">
        <p14:creationId xmlns:p14="http://schemas.microsoft.com/office/powerpoint/2010/main" val="38550907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Slide Image Placeholder 1"/>
          <p:cNvSpPr>
            <a:spLocks noGrp="1" noRot="1" noChangeAspect="1" noTextEdit="1"/>
          </p:cNvSpPr>
          <p:nvPr>
            <p:ph type="sldImg"/>
          </p:nvPr>
        </p:nvSpPr>
        <p:spPr>
          <a:ln/>
        </p:spPr>
      </p:sp>
      <p:sp>
        <p:nvSpPr>
          <p:cNvPr id="3686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4950" indent="-234950">
              <a:buFontTx/>
              <a:buAutoNum type="arabicPeriod"/>
            </a:pPr>
            <a:r>
              <a:rPr lang="en-US" altLang="en-US" smtClean="0">
                <a:latin typeface="Calibri" panose="020F0502020204030204" pitchFamily="34" charset="0"/>
              </a:rPr>
              <a:t>More basic, but essential approaches to security would be job rotation and layered security. </a:t>
            </a:r>
          </a:p>
          <a:p>
            <a:pPr marL="234950" indent="-234950">
              <a:buFontTx/>
              <a:buAutoNum type="arabicPeriod"/>
            </a:pPr>
            <a:r>
              <a:rPr lang="en-US" altLang="en-US" smtClean="0">
                <a:latin typeface="Calibri" panose="020F0502020204030204" pitchFamily="34" charset="0"/>
              </a:rPr>
              <a:t>Layered security is a security approach that focuses on a security system as a piece of architecture. </a:t>
            </a:r>
          </a:p>
          <a:p>
            <a:pPr marL="234950" indent="-234950" eaLnBrk="1" hangingPunct="1">
              <a:spcBef>
                <a:spcPct val="0"/>
              </a:spcBef>
              <a:buFontTx/>
              <a:buAutoNum type="arabicPeriod"/>
            </a:pPr>
            <a:r>
              <a:rPr lang="en-US" altLang="en-US" smtClean="0">
                <a:latin typeface="Calibri" panose="020F0502020204030204" pitchFamily="34" charset="0"/>
              </a:rPr>
              <a:t>Example of layered security could be found in the layout of a bank. A bank does not protect the money that it stores only by using a vault. It has one or more security guards as a first defense to watch for suspicious activities and to secure the facility when the bank is closed. It may have monitoring systems that watch various activities that take place in the bank, whether involving customers or employees. The vault is usually located in the center of the facility, and thus there are layers of rooms or walls before arriving at the vault. There is access control, which ensures that the people entering the vault have to be given the authorization beforehand. And the systems, including manual switches, are connected directly to the police station in case a determined bank robber successfully penetrates any one of these layers of protection.</a:t>
            </a:r>
          </a:p>
          <a:p>
            <a:pPr marL="234950" indent="-234950">
              <a:buFontTx/>
              <a:buAutoNum type="arabicPeriod"/>
            </a:pPr>
            <a:endParaRPr lang="en-US" altLang="en-US" smtClean="0">
              <a:latin typeface="Arial" panose="020B0604020202020204" pitchFamily="34" charset="0"/>
            </a:endParaRPr>
          </a:p>
        </p:txBody>
      </p:sp>
      <p:sp>
        <p:nvSpPr>
          <p:cNvPr id="3686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78AD3A9B-739B-43FF-A747-B3A0EFDE911A}" type="slidenum">
              <a:rPr lang="en-US" altLang="en-US" sz="1200"/>
              <a:pPr eaLnBrk="1" hangingPunct="1"/>
              <a:t>7</a:t>
            </a:fld>
            <a:endParaRPr lang="en-US" altLang="en-US" sz="1200"/>
          </a:p>
        </p:txBody>
      </p:sp>
    </p:spTree>
    <p:extLst>
      <p:ext uri="{BB962C8B-B14F-4D97-AF65-F5344CB8AC3E}">
        <p14:creationId xmlns:p14="http://schemas.microsoft.com/office/powerpoint/2010/main" val="28305506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p:cNvSpPr>
            <a:spLocks noGrp="1" noRot="1" noChangeAspect="1" noTextEdit="1"/>
          </p:cNvSpPr>
          <p:nvPr>
            <p:ph type="sldImg"/>
          </p:nvPr>
        </p:nvSpPr>
        <p:spPr>
          <a:ln/>
        </p:spPr>
      </p:sp>
      <p:sp>
        <p:nvSpPr>
          <p:cNvPr id="39938"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4950" indent="-234950">
              <a:buFont typeface="Calibri" panose="020F0502020204030204" pitchFamily="34" charset="0"/>
              <a:buAutoNum type="arabicPeriod"/>
            </a:pPr>
            <a:r>
              <a:rPr lang="en-US" altLang="en-US" sz="1100" smtClean="0">
                <a:latin typeface="Calibri" panose="020F0502020204030204" pitchFamily="34" charset="0"/>
              </a:rPr>
              <a:t>An example of Diversity of Defense: </a:t>
            </a:r>
          </a:p>
          <a:p>
            <a:pPr marL="706438" lvl="1" indent="-234950"/>
            <a:r>
              <a:rPr lang="en-US" altLang="en-US" sz="1100" smtClean="0">
                <a:latin typeface="Calibri" panose="020F0502020204030204" pitchFamily="34" charset="0"/>
              </a:rPr>
              <a:t>A. If an environment has two firewalls that form a demilitarized zone (DMZ). For example, one firewall may be placed at the perimeter of the Internet and the DMZ. This firewall analyzes the traffic that is entering through that specific access point and enforces certain types of restrictions. The other firewall may then be placed between the DMZ and the internal network. When applying the diversity of defense concept, you should set up these two firewalls to filter for different types of traffic and provide different types of restrictions. The first firewall, for example, may make sure that no FTP, SNMP, or Telnet traffic enters the network but allow SMTP, SSH, HTTP, and SSL traffic through. The second firewall may not allow SSL or SSH through and may interrogate SMTP and HTTP traffic to make sure that certain types of attacks are not part of that traffic.</a:t>
            </a:r>
          </a:p>
          <a:p>
            <a:pPr marL="234950" indent="-234950">
              <a:buFont typeface="Calibri" panose="020F0502020204030204" pitchFamily="34" charset="0"/>
              <a:buAutoNum type="arabicPeriod"/>
            </a:pPr>
            <a:r>
              <a:rPr lang="en-US" altLang="en-US" sz="1100" smtClean="0">
                <a:latin typeface="Calibri" panose="020F0502020204030204" pitchFamily="34" charset="0"/>
              </a:rPr>
              <a:t>Another example of diversity of defense:</a:t>
            </a:r>
          </a:p>
          <a:p>
            <a:pPr marL="706438" lvl="1" indent="-234950" eaLnBrk="1" hangingPunct="1">
              <a:spcBef>
                <a:spcPct val="0"/>
              </a:spcBef>
            </a:pPr>
            <a:r>
              <a:rPr lang="en-US" altLang="en-US" sz="1100" smtClean="0">
                <a:latin typeface="Calibri" panose="020F0502020204030204" pitchFamily="34" charset="0"/>
              </a:rPr>
              <a:t>B. An organization may use products from different vendors. Every product has its own security vulnerabilities that are usually known to experienced attackers in the community. A check point firewall has different security issues and settings than the open source sentry firewall; thus different exploits can be used against them to crash them or compromise them in some fashion. Combining this type of diversity with the preceding example, you might utilize the check point firewall as the first line of defense. If attackers are able to penetrate it, they are less likely to get through the next firewall if it is one from another vendor, such as a Cisco PIX firewall or a sentry firewall.</a:t>
            </a:r>
          </a:p>
          <a:p>
            <a:pPr marL="706438" lvl="1" indent="-234950" eaLnBrk="1" hangingPunct="1">
              <a:spcBef>
                <a:spcPct val="0"/>
              </a:spcBef>
            </a:pPr>
            <a:r>
              <a:rPr lang="en-US" altLang="en-US" sz="1100" smtClean="0">
                <a:latin typeface="Calibri" panose="020F0502020204030204" pitchFamily="34" charset="0"/>
              </a:rPr>
              <a:t> </a:t>
            </a:r>
          </a:p>
          <a:p>
            <a:pPr marL="706438" lvl="1" indent="-234950" eaLnBrk="1" hangingPunct="1">
              <a:spcBef>
                <a:spcPct val="0"/>
              </a:spcBef>
            </a:pPr>
            <a:r>
              <a:rPr lang="en-US" altLang="en-US" sz="1100" smtClean="0">
                <a:latin typeface="Calibri" panose="020F0502020204030204" pitchFamily="34" charset="0"/>
              </a:rPr>
              <a:t>A drawback is this adds complexity to the network and makes it more difficult to maintain.</a:t>
            </a:r>
          </a:p>
          <a:p>
            <a:pPr marL="234950" indent="-234950"/>
            <a:endParaRPr lang="en-US" altLang="en-US" sz="1100" smtClean="0">
              <a:latin typeface="Calibri" panose="020F0502020204030204" pitchFamily="34" charset="0"/>
            </a:endParaRPr>
          </a:p>
          <a:p>
            <a:pPr marL="234950" indent="-234950"/>
            <a:endParaRPr lang="en-US" altLang="en-US" sz="1100" smtClean="0">
              <a:latin typeface="Arial" panose="020B0604020202020204" pitchFamily="34" charset="0"/>
            </a:endParaRPr>
          </a:p>
        </p:txBody>
      </p:sp>
      <p:sp>
        <p:nvSpPr>
          <p:cNvPr id="39939"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DA4E90F8-0268-4988-BC02-660892B4703B}" type="slidenum">
              <a:rPr lang="en-US" altLang="en-US" sz="1200"/>
              <a:pPr eaLnBrk="1" hangingPunct="1"/>
              <a:t>9</a:t>
            </a:fld>
            <a:endParaRPr lang="en-US" altLang="en-US" sz="1200"/>
          </a:p>
        </p:txBody>
      </p:sp>
    </p:spTree>
    <p:extLst>
      <p:ext uri="{BB962C8B-B14F-4D97-AF65-F5344CB8AC3E}">
        <p14:creationId xmlns:p14="http://schemas.microsoft.com/office/powerpoint/2010/main" val="19697076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p:cNvSpPr>
            <a:spLocks noGrp="1" noRot="1" noChangeAspect="1" noTextEdit="1"/>
          </p:cNvSpPr>
          <p:nvPr>
            <p:ph type="sldImg"/>
          </p:nvPr>
        </p:nvSpPr>
        <p:spPr>
          <a:ln/>
        </p:spPr>
      </p:sp>
      <p:sp>
        <p:nvSpPr>
          <p:cNvPr id="41986"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4950" indent="-234950">
              <a:buFont typeface="Calibri" panose="020F0502020204030204" pitchFamily="34" charset="0"/>
              <a:buAutoNum type="arabicPeriod"/>
            </a:pPr>
            <a:r>
              <a:rPr lang="en-US" altLang="en-US" smtClean="0">
                <a:latin typeface="Calibri" panose="020F0502020204030204" pitchFamily="34" charset="0"/>
              </a:rPr>
              <a:t>In this day and age, when any subject can be researched or discussed on the internet and technology is more widely understood, this concept is not effective. </a:t>
            </a:r>
          </a:p>
          <a:p>
            <a:pPr marL="234950" indent="-234950">
              <a:buFont typeface="Calibri" panose="020F0502020204030204" pitchFamily="34" charset="0"/>
              <a:buAutoNum type="arabicPeriod"/>
            </a:pPr>
            <a:r>
              <a:rPr lang="en-US" altLang="en-US" smtClean="0">
                <a:latin typeface="Calibri" panose="020F0502020204030204" pitchFamily="34" charset="0"/>
              </a:rPr>
              <a:t>Since security through obscurity only seeks to hide an object, and not implement a security control to protect the object, any successful attack to the system or leak of information could compromise the system.</a:t>
            </a:r>
          </a:p>
        </p:txBody>
      </p:sp>
      <p:sp>
        <p:nvSpPr>
          <p:cNvPr id="41987"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FC51D390-518F-489E-BC8A-760110C7E993}" type="slidenum">
              <a:rPr lang="en-US" altLang="en-US" sz="1200"/>
              <a:pPr eaLnBrk="1" hangingPunct="1"/>
              <a:t>10</a:t>
            </a:fld>
            <a:endParaRPr lang="en-US" altLang="en-US" sz="1200"/>
          </a:p>
        </p:txBody>
      </p:sp>
    </p:spTree>
    <p:extLst>
      <p:ext uri="{BB962C8B-B14F-4D97-AF65-F5344CB8AC3E}">
        <p14:creationId xmlns:p14="http://schemas.microsoft.com/office/powerpoint/2010/main" val="222864778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p:cNvSpPr>
            <a:spLocks noGrp="1" noRot="1" noChangeAspect="1" noTextEdit="1"/>
          </p:cNvSpPr>
          <p:nvPr>
            <p:ph type="sldImg"/>
          </p:nvPr>
        </p:nvSpPr>
        <p:spPr>
          <a:ln/>
        </p:spPr>
      </p:sp>
      <p:sp>
        <p:nvSpPr>
          <p:cNvPr id="44034"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234950" indent="-234950">
              <a:buFont typeface="Calibri" panose="020F0502020204030204" pitchFamily="34" charset="0"/>
              <a:buAutoNum type="arabicPeriod"/>
            </a:pPr>
            <a:r>
              <a:rPr lang="en-US" altLang="en-US" smtClean="0">
                <a:latin typeface="Calibri" panose="020F0502020204030204" pitchFamily="34" charset="0"/>
              </a:rPr>
              <a:t>The terms security and complexity are often at odds with each other, because the more complex something is, the harder it is to understand, and it</a:t>
            </a:r>
            <a:r>
              <a:rPr lang="ja-JP" altLang="en-US" smtClean="0">
                <a:latin typeface="Calibri" panose="020F0502020204030204" pitchFamily="34" charset="0"/>
              </a:rPr>
              <a:t>’</a:t>
            </a:r>
            <a:r>
              <a:rPr lang="en-US" altLang="ja-JP" smtClean="0">
                <a:latin typeface="Calibri" panose="020F0502020204030204" pitchFamily="34" charset="0"/>
              </a:rPr>
              <a:t>s nearly impossible to secure something that cannot be understood. Another reason complexity can destroy security is that it allows too many opportunities for something to go wrong. </a:t>
            </a:r>
          </a:p>
          <a:p>
            <a:pPr marL="234950" indent="-234950">
              <a:buFont typeface="Calibri" panose="020F0502020204030204" pitchFamily="34" charset="0"/>
              <a:buAutoNum type="arabicPeriod"/>
            </a:pPr>
            <a:r>
              <a:rPr lang="en-US" altLang="en-US" smtClean="0">
                <a:latin typeface="Calibri" panose="020F0502020204030204" pitchFamily="34" charset="0"/>
              </a:rPr>
              <a:t>The default controls on most computer systems is to leave many services and programs running at one time. The keep it simple principle ensures that the processes that are running unnecessarily be eliminated. </a:t>
            </a:r>
          </a:p>
          <a:p>
            <a:pPr marL="234950" indent="-234950">
              <a:buFont typeface="Calibri" panose="020F0502020204030204" pitchFamily="34" charset="0"/>
              <a:buAutoNum type="arabicPeriod"/>
            </a:pPr>
            <a:r>
              <a:rPr lang="en-US" altLang="en-US" smtClean="0">
                <a:latin typeface="Calibri" panose="020F0502020204030204" pitchFamily="34" charset="0"/>
              </a:rPr>
              <a:t>This is a good ideal to apply to security as well, since it results in fewer applications that can be exploited and fewer services that the administrator is responsible for securing. </a:t>
            </a:r>
          </a:p>
          <a:p>
            <a:pPr marL="234950" indent="-234950">
              <a:buFont typeface="Calibri" panose="020F0502020204030204" pitchFamily="34" charset="0"/>
              <a:buAutoNum type="arabicPeriod"/>
            </a:pPr>
            <a:r>
              <a:rPr lang="en-US" altLang="en-US" smtClean="0">
                <a:latin typeface="Calibri" panose="020F0502020204030204" pitchFamily="34" charset="0"/>
              </a:rPr>
              <a:t>Alternately, the extreme of this approach is to assume that no service is necessary and activate services and ports only as they are requested. Whichever approach is taken towards the keep it simple principle, balance between providing functionality and maintaining security is essential.</a:t>
            </a:r>
          </a:p>
        </p:txBody>
      </p:sp>
      <p:sp>
        <p:nvSpPr>
          <p:cNvPr id="44035" name="Slide Number Placeholder 3"/>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42975" eaLnBrk="0" hangingPunct="0">
              <a:defRPr sz="2400">
                <a:solidFill>
                  <a:schemeClr val="tx1"/>
                </a:solidFill>
                <a:latin typeface="Arial" panose="020B0604020202020204" pitchFamily="34" charset="0"/>
                <a:ea typeface="ヒラギノ角ゴ Pro W3" charset="-128"/>
              </a:defRPr>
            </a:lvl1pPr>
            <a:lvl2pPr marL="742950" indent="-285750" defTabSz="942975" eaLnBrk="0" hangingPunct="0">
              <a:defRPr sz="2400">
                <a:solidFill>
                  <a:schemeClr val="tx1"/>
                </a:solidFill>
                <a:latin typeface="Arial" panose="020B0604020202020204" pitchFamily="34" charset="0"/>
                <a:ea typeface="ヒラギノ角ゴ Pro W3" charset="-128"/>
              </a:defRPr>
            </a:lvl2pPr>
            <a:lvl3pPr marL="1143000" indent="-228600" defTabSz="942975" eaLnBrk="0" hangingPunct="0">
              <a:defRPr sz="2400">
                <a:solidFill>
                  <a:schemeClr val="tx1"/>
                </a:solidFill>
                <a:latin typeface="Arial" panose="020B0604020202020204" pitchFamily="34" charset="0"/>
                <a:ea typeface="ヒラギノ角ゴ Pro W3" charset="-128"/>
              </a:defRPr>
            </a:lvl3pPr>
            <a:lvl4pPr marL="1600200" indent="-228600" defTabSz="942975" eaLnBrk="0" hangingPunct="0">
              <a:defRPr sz="2400">
                <a:solidFill>
                  <a:schemeClr val="tx1"/>
                </a:solidFill>
                <a:latin typeface="Arial" panose="020B0604020202020204" pitchFamily="34" charset="0"/>
                <a:ea typeface="ヒラギノ角ゴ Pro W3" charset="-128"/>
              </a:defRPr>
            </a:lvl4pPr>
            <a:lvl5pPr marL="2057400" indent="-228600" defTabSz="942975" eaLnBrk="0" hangingPunct="0">
              <a:defRPr sz="2400">
                <a:solidFill>
                  <a:schemeClr val="tx1"/>
                </a:solidFill>
                <a:latin typeface="Arial" panose="020B0604020202020204" pitchFamily="34" charset="0"/>
                <a:ea typeface="ヒラギノ角ゴ Pro W3" charset="-128"/>
              </a:defRPr>
            </a:lvl5pPr>
            <a:lvl6pPr marL="25146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6pPr>
            <a:lvl7pPr marL="29718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7pPr>
            <a:lvl8pPr marL="34290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8pPr>
            <a:lvl9pPr marL="3886200" indent="-228600" algn="ctr" defTabSz="942975" eaLnBrk="0" fontAlgn="base" hangingPunct="0">
              <a:spcBef>
                <a:spcPct val="0"/>
              </a:spcBef>
              <a:spcAft>
                <a:spcPct val="0"/>
              </a:spcAft>
              <a:defRPr sz="2400">
                <a:solidFill>
                  <a:schemeClr val="tx1"/>
                </a:solidFill>
                <a:latin typeface="Arial" panose="020B0604020202020204" pitchFamily="34" charset="0"/>
                <a:ea typeface="ヒラギノ角ゴ Pro W3" charset="-128"/>
              </a:defRPr>
            </a:lvl9pPr>
          </a:lstStyle>
          <a:p>
            <a:pPr eaLnBrk="1" hangingPunct="1"/>
            <a:fld id="{A67B23FE-9B12-456A-A45E-D228E35A3F11}" type="slidenum">
              <a:rPr lang="en-US" altLang="en-US" sz="1200"/>
              <a:pPr eaLnBrk="1" hangingPunct="1"/>
              <a:t>11</a:t>
            </a:fld>
            <a:endParaRPr lang="en-US" altLang="en-US" sz="1200"/>
          </a:p>
        </p:txBody>
      </p:sp>
    </p:spTree>
    <p:extLst>
      <p:ext uri="{BB962C8B-B14F-4D97-AF65-F5344CB8AC3E}">
        <p14:creationId xmlns:p14="http://schemas.microsoft.com/office/powerpoint/2010/main" val="336485874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Minimize the amount of mechanism common to more than one user and depended on by all users [28]. Every shared mechanism (especially one involving shared variables) represents a potential information path between users and must be designed with great care to be sure it does not unintentionally compromise security. Further, any mechanism serving all users must be certified to the satisfaction of every user, a job presumably harder than satisfying only one or a few users. For example, given the choice of implementing a new function as a supervisor procedure shared by all users or as a library procedure that can be handled as though it were the user's own, choose the latter course. Then, if one or a few users are not satisfied with the level of certification of the function, they can provide a substitute or not use it at all. Either way, they can avoid being harmed by a mistake in it. </a:t>
            </a:r>
            <a:endParaRPr lang="en-US" dirty="0"/>
          </a:p>
        </p:txBody>
      </p:sp>
      <p:sp>
        <p:nvSpPr>
          <p:cNvPr id="4" name="Slide Number Placeholder 3"/>
          <p:cNvSpPr>
            <a:spLocks noGrp="1"/>
          </p:cNvSpPr>
          <p:nvPr>
            <p:ph type="sldNum" sz="quarter" idx="10"/>
          </p:nvPr>
        </p:nvSpPr>
        <p:spPr/>
        <p:txBody>
          <a:bodyPr/>
          <a:lstStyle/>
          <a:p>
            <a:fld id="{E934FF0F-DB03-4D51-B0CB-CF86AE83ABF8}" type="slidenum">
              <a:rPr lang="en-US" smtClean="0"/>
              <a:t>12</a:t>
            </a:fld>
            <a:endParaRPr lang="en-US"/>
          </a:p>
        </p:txBody>
      </p:sp>
    </p:spTree>
    <p:extLst>
      <p:ext uri="{BB962C8B-B14F-4D97-AF65-F5344CB8AC3E}">
        <p14:creationId xmlns:p14="http://schemas.microsoft.com/office/powerpoint/2010/main" val="1657330770"/>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smtClean="0"/>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8D308EF4-C9F2-431C-9364-AA91D3B43826}"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29507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normAutofit/>
          </a:bodyPr>
          <a:lstStyle>
            <a:lvl1pPr>
              <a:defRPr sz="4400" b="1"/>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spTree>
    <p:extLst>
      <p:ext uri="{BB962C8B-B14F-4D97-AF65-F5344CB8AC3E}">
        <p14:creationId xmlns:p14="http://schemas.microsoft.com/office/powerpoint/2010/main" val="10193003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519454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216295FE-B9B3-4BCB-A37F-F7F80F040DFF}" type="datetimeFigureOut">
              <a:rPr lang="en-US" smtClean="0"/>
              <a:t>1/16/2018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08EF4-C9F2-431C-9364-AA91D3B43826}" type="slidenum">
              <a:rPr lang="en-US" smtClean="0"/>
              <a:t>‹#›</a:t>
            </a:fld>
            <a:endParaRPr lang="en-US"/>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25578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216295FE-B9B3-4BCB-A37F-F7F80F040DFF}" type="datetimeFigureOut">
              <a:rPr lang="en-US" smtClean="0"/>
              <a:t>1/16/2018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D308EF4-C9F2-431C-9364-AA91D3B43826}"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498014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216295FE-B9B3-4BCB-A37F-F7F80F040DFF}" type="datetimeFigureOut">
              <a:rPr lang="en-US" smtClean="0"/>
              <a:t>1/16/2018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D308EF4-C9F2-431C-9364-AA91D3B43826}"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656964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6295FE-B9B3-4BCB-A37F-F7F80F040DFF}" type="datetimeFigureOut">
              <a:rPr lang="en-US" smtClean="0"/>
              <a:t>1/16/2018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D308EF4-C9F2-431C-9364-AA91D3B43826}" type="slidenum">
              <a:rPr lang="en-US" smtClean="0"/>
              <a:t>‹#›</a:t>
            </a:fld>
            <a:endParaRPr lang="en-US"/>
          </a:p>
        </p:txBody>
      </p:sp>
    </p:spTree>
    <p:extLst>
      <p:ext uri="{BB962C8B-B14F-4D97-AF65-F5344CB8AC3E}">
        <p14:creationId xmlns:p14="http://schemas.microsoft.com/office/powerpoint/2010/main" val="10547187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16295FE-B9B3-4BCB-A37F-F7F80F040DFF}" type="datetimeFigureOut">
              <a:rPr lang="en-US" smtClean="0"/>
              <a:t>1/16/2018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08EF4-C9F2-431C-9364-AA91D3B43826}"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819603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smtClean="0"/>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16295FE-B9B3-4BCB-A37F-F7F80F040DFF}" type="datetimeFigureOut">
              <a:rPr lang="en-US" smtClean="0"/>
              <a:t>1/16/2018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08EF4-C9F2-431C-9364-AA91D3B43826}" type="slidenum">
              <a:rPr lang="en-US" smtClean="0"/>
              <a:t>‹#›</a:t>
            </a:fld>
            <a:endParaRPr lang="en-US"/>
          </a:p>
        </p:txBody>
      </p:sp>
    </p:spTree>
    <p:extLst>
      <p:ext uri="{BB962C8B-B14F-4D97-AF65-F5344CB8AC3E}">
        <p14:creationId xmlns:p14="http://schemas.microsoft.com/office/powerpoint/2010/main" val="34577753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216295FE-B9B3-4BCB-A37F-F7F80F040DFF}" type="datetimeFigureOut">
              <a:rPr lang="en-US" smtClean="0"/>
              <a:t>1/16/2018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D308EF4-C9F2-431C-9364-AA91D3B43826}" type="slidenum">
              <a:rPr lang="en-US" smtClean="0"/>
              <a:t>‹#›</a:t>
            </a:fld>
            <a:endParaRPr lang="en-US"/>
          </a:p>
        </p:txBody>
      </p:sp>
    </p:spTree>
    <p:extLst>
      <p:ext uri="{BB962C8B-B14F-4D97-AF65-F5344CB8AC3E}">
        <p14:creationId xmlns:p14="http://schemas.microsoft.com/office/powerpoint/2010/main" val="10772021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926558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54422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spTree>
    <p:extLst>
      <p:ext uri="{BB962C8B-B14F-4D97-AF65-F5344CB8AC3E}">
        <p14:creationId xmlns:p14="http://schemas.microsoft.com/office/powerpoint/2010/main" val="11611337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smtClean="0"/>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212941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smtClean="0"/>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670650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639876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216295FE-B9B3-4BCB-A37F-F7F80F040DFF}" type="datetimeFigureOut">
              <a:rPr lang="en-US" smtClean="0"/>
              <a:t>1/16/2018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D308EF4-C9F2-431C-9364-AA91D3B43826}"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406105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216295FE-B9B3-4BCB-A37F-F7F80F040DFF}" type="datetimeFigureOut">
              <a:rPr lang="en-US" smtClean="0"/>
              <a:t>1/16/2018</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D308EF4-C9F2-431C-9364-AA91D3B43826}" type="slidenum">
              <a:rPr lang="en-US" smtClean="0"/>
              <a:t>‹#›</a:t>
            </a:fld>
            <a:endParaRPr lang="en-US"/>
          </a:p>
        </p:txBody>
      </p:sp>
    </p:spTree>
    <p:extLst>
      <p:ext uri="{BB962C8B-B14F-4D97-AF65-F5344CB8AC3E}">
        <p14:creationId xmlns:p14="http://schemas.microsoft.com/office/powerpoint/2010/main" val="778737415"/>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Security Principles</a:t>
            </a:r>
            <a:endParaRPr lang="en-US" dirty="0"/>
          </a:p>
        </p:txBody>
      </p:sp>
      <p:sp>
        <p:nvSpPr>
          <p:cNvPr id="3" name="Subtitle 2"/>
          <p:cNvSpPr>
            <a:spLocks noGrp="1"/>
          </p:cNvSpPr>
          <p:nvPr>
            <p:ph type="subTitle" idx="1"/>
          </p:nvPr>
        </p:nvSpPr>
        <p:spPr/>
        <p:txBody>
          <a:bodyPr/>
          <a:lstStyle/>
          <a:p>
            <a:endParaRPr lang="en-US"/>
          </a:p>
        </p:txBody>
      </p:sp>
    </p:spTree>
    <p:extLst>
      <p:ext uri="{BB962C8B-B14F-4D97-AF65-F5344CB8AC3E}">
        <p14:creationId xmlns:p14="http://schemas.microsoft.com/office/powerpoint/2010/main" val="18157477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Title 1"/>
          <p:cNvSpPr>
            <a:spLocks noGrp="1"/>
          </p:cNvSpPr>
          <p:nvPr>
            <p:ph type="title"/>
          </p:nvPr>
        </p:nvSpPr>
        <p:spPr>
          <a:xfrm>
            <a:off x="3352800" y="1066801"/>
            <a:ext cx="5486400" cy="563563"/>
          </a:xfrm>
        </p:spPr>
        <p:txBody>
          <a:bodyPr>
            <a:normAutofit fontScale="90000"/>
          </a:bodyPr>
          <a:lstStyle/>
          <a:p>
            <a:r>
              <a:rPr lang="en-US" altLang="en-US" smtClean="0"/>
              <a:t>Security Principles</a:t>
            </a:r>
          </a:p>
        </p:txBody>
      </p:sp>
      <p:sp>
        <p:nvSpPr>
          <p:cNvPr id="23554" name="Content Placeholder 2"/>
          <p:cNvSpPr>
            <a:spLocks noGrp="1"/>
          </p:cNvSpPr>
          <p:nvPr>
            <p:ph idx="1"/>
          </p:nvPr>
        </p:nvSpPr>
        <p:spPr>
          <a:xfrm>
            <a:off x="1295401" y="2556932"/>
            <a:ext cx="9601196" cy="3953596"/>
          </a:xfrm>
        </p:spPr>
        <p:txBody>
          <a:bodyPr>
            <a:normAutofit lnSpcReduction="10000"/>
          </a:bodyPr>
          <a:lstStyle/>
          <a:p>
            <a:r>
              <a:rPr lang="en-US" altLang="en-US" dirty="0" smtClean="0"/>
              <a:t>Least </a:t>
            </a:r>
            <a:r>
              <a:rPr lang="en-US" altLang="en-US" dirty="0" smtClean="0"/>
              <a:t>privilege</a:t>
            </a:r>
          </a:p>
          <a:p>
            <a:r>
              <a:rPr lang="en-US" altLang="en-US" dirty="0" smtClean="0"/>
              <a:t>Separation of duties</a:t>
            </a:r>
          </a:p>
          <a:p>
            <a:r>
              <a:rPr lang="en-US" altLang="en-US" dirty="0" smtClean="0"/>
              <a:t>Fail safe defaults or Implicit </a:t>
            </a:r>
            <a:r>
              <a:rPr lang="en-US" altLang="en-US" dirty="0" smtClean="0"/>
              <a:t>deny</a:t>
            </a:r>
          </a:p>
          <a:p>
            <a:r>
              <a:rPr lang="en-US" altLang="en-US" dirty="0" smtClean="0"/>
              <a:t>Job rotation</a:t>
            </a:r>
          </a:p>
          <a:p>
            <a:r>
              <a:rPr lang="en-US" altLang="en-US" dirty="0" smtClean="0"/>
              <a:t>Layered </a:t>
            </a:r>
            <a:r>
              <a:rPr lang="en-US" altLang="en-US" dirty="0" smtClean="0"/>
              <a:t>security (Complete Mediation)</a:t>
            </a:r>
            <a:endParaRPr lang="en-US" altLang="en-US" dirty="0" smtClean="0"/>
          </a:p>
          <a:p>
            <a:r>
              <a:rPr lang="en-US" altLang="en-US" dirty="0" smtClean="0"/>
              <a:t>Defense in depth</a:t>
            </a:r>
          </a:p>
          <a:p>
            <a:r>
              <a:rPr lang="en-US" altLang="en-US" dirty="0" smtClean="0"/>
              <a:t>Security through obscurity</a:t>
            </a:r>
          </a:p>
          <a:p>
            <a:r>
              <a:rPr lang="en-US" altLang="en-US" dirty="0" smtClean="0"/>
              <a:t>Keep it simple</a:t>
            </a:r>
          </a:p>
          <a:p>
            <a:endParaRPr lang="en-US" altLang="en-US" dirty="0" smtClean="0"/>
          </a:p>
          <a:p>
            <a:endParaRPr lang="en-US" altLang="en-US" dirty="0" smtClean="0"/>
          </a:p>
        </p:txBody>
      </p:sp>
    </p:spTree>
    <p:extLst>
      <p:ext uri="{BB962C8B-B14F-4D97-AF65-F5344CB8AC3E}">
        <p14:creationId xmlns:p14="http://schemas.microsoft.com/office/powerpoint/2010/main" val="3650925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1143001"/>
            <a:ext cx="5486400" cy="563563"/>
          </a:xfrm>
        </p:spPr>
        <p:txBody>
          <a:bodyPr>
            <a:noAutofit/>
          </a:bodyPr>
          <a:lstStyle/>
          <a:p>
            <a:pPr>
              <a:defRPr/>
            </a:pPr>
            <a:r>
              <a:rPr lang="en-US" dirty="0">
                <a:ea typeface="ＭＳ Ｐゴシック"/>
                <a:cs typeface="ＭＳ Ｐゴシック"/>
              </a:rPr>
              <a:t>Least Privilege</a:t>
            </a:r>
          </a:p>
        </p:txBody>
      </p:sp>
      <p:sp>
        <p:nvSpPr>
          <p:cNvPr id="27650" name="Content Placeholder 2"/>
          <p:cNvSpPr>
            <a:spLocks noGrp="1"/>
          </p:cNvSpPr>
          <p:nvPr>
            <p:ph idx="1"/>
          </p:nvPr>
        </p:nvSpPr>
        <p:spPr>
          <a:xfrm>
            <a:off x="1395984" y="2435353"/>
            <a:ext cx="9906000" cy="4373563"/>
          </a:xfrm>
        </p:spPr>
        <p:txBody>
          <a:bodyPr/>
          <a:lstStyle/>
          <a:p>
            <a:r>
              <a:rPr lang="en-US" altLang="en-US" dirty="0" smtClean="0"/>
              <a:t>Least privilege means a subject (user, application, or process) should have only the necessary rights and privileges to perform its task with no additional permissions. </a:t>
            </a:r>
          </a:p>
          <a:p>
            <a:r>
              <a:rPr lang="en-US" altLang="en-US" dirty="0" smtClean="0"/>
              <a:t>By limiting an object's privilege, we limit the amount of harm that can be </a:t>
            </a:r>
            <a:r>
              <a:rPr lang="en-US" altLang="en-US" dirty="0" smtClean="0"/>
              <a:t>caused (accident or error)</a:t>
            </a:r>
            <a:endParaRPr lang="en-US" altLang="en-US" dirty="0" smtClean="0"/>
          </a:p>
          <a:p>
            <a:r>
              <a:rPr lang="en-US" altLang="en-US" dirty="0" smtClean="0"/>
              <a:t>For example, a person should not be logged in as an administrator—they should be logged in with a regular user account, and change their context to do administrative duties.</a:t>
            </a:r>
            <a:r>
              <a:rPr lang="en-US" altLang="en-US" b="0" dirty="0" smtClean="0"/>
              <a:t> </a:t>
            </a:r>
          </a:p>
        </p:txBody>
      </p:sp>
    </p:spTree>
    <p:extLst>
      <p:ext uri="{BB962C8B-B14F-4D97-AF65-F5344CB8AC3E}">
        <p14:creationId xmlns:p14="http://schemas.microsoft.com/office/powerpoint/2010/main" val="26536903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29840" y="1139953"/>
            <a:ext cx="7208520" cy="563563"/>
          </a:xfrm>
        </p:spPr>
        <p:txBody>
          <a:bodyPr>
            <a:noAutofit/>
          </a:bodyPr>
          <a:lstStyle/>
          <a:p>
            <a:pPr>
              <a:defRPr/>
            </a:pPr>
            <a:r>
              <a:rPr lang="en-US" dirty="0">
                <a:ea typeface="ＭＳ Ｐゴシック"/>
                <a:cs typeface="ＭＳ Ｐゴシック"/>
              </a:rPr>
              <a:t>Separation of </a:t>
            </a:r>
            <a:r>
              <a:rPr lang="en-US" dirty="0" smtClean="0">
                <a:ea typeface="ＭＳ Ｐゴシック"/>
                <a:cs typeface="ＭＳ Ｐゴシック"/>
              </a:rPr>
              <a:t>Duties (</a:t>
            </a:r>
            <a:r>
              <a:rPr lang="en-US" dirty="0"/>
              <a:t>Separation of </a:t>
            </a:r>
            <a:r>
              <a:rPr lang="en-US" dirty="0" smtClean="0"/>
              <a:t>privilege)</a:t>
            </a:r>
            <a:endParaRPr lang="en-US" dirty="0">
              <a:ea typeface="ＭＳ Ｐゴシック"/>
              <a:cs typeface="ＭＳ Ｐゴシック"/>
            </a:endParaRPr>
          </a:p>
        </p:txBody>
      </p:sp>
      <p:sp>
        <p:nvSpPr>
          <p:cNvPr id="29698" name="Content Placeholder 2"/>
          <p:cNvSpPr>
            <a:spLocks noGrp="1"/>
          </p:cNvSpPr>
          <p:nvPr>
            <p:ph idx="1"/>
          </p:nvPr>
        </p:nvSpPr>
        <p:spPr>
          <a:xfrm>
            <a:off x="1505712" y="2316481"/>
            <a:ext cx="9906000" cy="4221163"/>
          </a:xfrm>
        </p:spPr>
        <p:txBody>
          <a:bodyPr>
            <a:normAutofit fontScale="92500" lnSpcReduction="10000"/>
          </a:bodyPr>
          <a:lstStyle/>
          <a:p>
            <a:r>
              <a:rPr lang="en-US" altLang="en-US" dirty="0" smtClean="0"/>
              <a:t>For any given task, more than one individual needs to be involved. </a:t>
            </a:r>
          </a:p>
          <a:p>
            <a:r>
              <a:rPr lang="en-US" altLang="en-US" dirty="0" smtClean="0"/>
              <a:t>Applicable to physical environments as well as network and host security. </a:t>
            </a:r>
          </a:p>
          <a:p>
            <a:r>
              <a:rPr lang="en-US" altLang="en-US" dirty="0" smtClean="0"/>
              <a:t>No single individual can abuse the system</a:t>
            </a:r>
            <a:r>
              <a:rPr lang="en-US" altLang="en-US" dirty="0" smtClean="0"/>
              <a:t>.</a:t>
            </a:r>
          </a:p>
          <a:p>
            <a:r>
              <a:rPr lang="en-US" altLang="en-US" dirty="0" smtClean="0"/>
              <a:t>Example: </a:t>
            </a:r>
            <a:r>
              <a:rPr lang="en-US" dirty="0"/>
              <a:t>defense system </a:t>
            </a:r>
            <a:r>
              <a:rPr lang="en-US" dirty="0" smtClean="0"/>
              <a:t>fires </a:t>
            </a:r>
            <a:r>
              <a:rPr lang="en-US" dirty="0"/>
              <a:t>a nuclear weapon only if two different people both give the correct </a:t>
            </a:r>
            <a:r>
              <a:rPr lang="en-US" dirty="0" smtClean="0"/>
              <a:t>command</a:t>
            </a:r>
          </a:p>
          <a:p>
            <a:r>
              <a:rPr lang="en-US" dirty="0"/>
              <a:t>In a computer system, separated keys apply to any situation in which two or more conditions must be met before access should be permitted</a:t>
            </a:r>
            <a:endParaRPr lang="en-US" altLang="en-US" dirty="0" smtClean="0"/>
          </a:p>
          <a:p>
            <a:r>
              <a:rPr lang="en-US" altLang="en-US" dirty="0" smtClean="0"/>
              <a:t>Potential drawback is the cost.</a:t>
            </a:r>
          </a:p>
          <a:p>
            <a:pPr lvl="1"/>
            <a:r>
              <a:rPr lang="en-US" altLang="en-US" dirty="0" smtClean="0"/>
              <a:t>Time – Tasks take longer</a:t>
            </a:r>
          </a:p>
          <a:p>
            <a:pPr lvl="1"/>
            <a:r>
              <a:rPr lang="en-US" altLang="en-US" dirty="0" smtClean="0"/>
              <a:t>Money – Must pay two people instead of one</a:t>
            </a:r>
          </a:p>
          <a:p>
            <a:pPr lvl="1"/>
            <a:endParaRPr lang="en-US" altLang="en-US" dirty="0" smtClean="0"/>
          </a:p>
          <a:p>
            <a:endParaRPr lang="en-US" altLang="en-US" dirty="0" smtClean="0"/>
          </a:p>
        </p:txBody>
      </p:sp>
    </p:spTree>
    <p:extLst>
      <p:ext uri="{BB962C8B-B14F-4D97-AF65-F5344CB8AC3E}">
        <p14:creationId xmlns:p14="http://schemas.microsoft.com/office/powerpoint/2010/main" val="33211253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1143001"/>
            <a:ext cx="5486400" cy="563563"/>
          </a:xfrm>
        </p:spPr>
        <p:txBody>
          <a:bodyPr>
            <a:noAutofit/>
          </a:bodyPr>
          <a:lstStyle/>
          <a:p>
            <a:pPr>
              <a:defRPr/>
            </a:pPr>
            <a:r>
              <a:rPr lang="en-US" dirty="0"/>
              <a:t>Fail-safe </a:t>
            </a:r>
            <a:r>
              <a:rPr lang="en-US" dirty="0" smtClean="0"/>
              <a:t>defaults (</a:t>
            </a:r>
            <a:r>
              <a:rPr lang="en-US" dirty="0" smtClean="0">
                <a:ea typeface="ＭＳ Ｐゴシック"/>
                <a:cs typeface="ＭＳ Ｐゴシック"/>
              </a:rPr>
              <a:t>Implicit Deny)</a:t>
            </a:r>
            <a:endParaRPr lang="en-US" dirty="0">
              <a:ea typeface="ＭＳ Ｐゴシック"/>
              <a:cs typeface="ＭＳ Ｐゴシック"/>
            </a:endParaRPr>
          </a:p>
        </p:txBody>
      </p:sp>
      <p:sp>
        <p:nvSpPr>
          <p:cNvPr id="31746" name="Content Placeholder 2"/>
          <p:cNvSpPr>
            <a:spLocks noGrp="1"/>
          </p:cNvSpPr>
          <p:nvPr>
            <p:ph idx="1"/>
          </p:nvPr>
        </p:nvSpPr>
        <p:spPr>
          <a:xfrm>
            <a:off x="1487424" y="2407921"/>
            <a:ext cx="9668256" cy="4221163"/>
          </a:xfrm>
        </p:spPr>
        <p:txBody>
          <a:bodyPr/>
          <a:lstStyle/>
          <a:p>
            <a:r>
              <a:rPr lang="en-US" dirty="0"/>
              <a:t>Base access decisions on permission rather than exclusion</a:t>
            </a:r>
          </a:p>
          <a:p>
            <a:r>
              <a:rPr lang="en-US" altLang="en-US" dirty="0" smtClean="0"/>
              <a:t>If </a:t>
            </a:r>
            <a:r>
              <a:rPr lang="en-US" altLang="en-US" dirty="0" smtClean="0"/>
              <a:t>a particular situation is not covered by any of the rules, then access can not be granted.</a:t>
            </a:r>
          </a:p>
          <a:p>
            <a:r>
              <a:rPr lang="en-US" altLang="en-US" dirty="0" smtClean="0"/>
              <a:t>Any individual without proper authorization cannot be granted access.</a:t>
            </a:r>
          </a:p>
          <a:p>
            <a:r>
              <a:rPr lang="en-US" altLang="en-US" dirty="0" smtClean="0"/>
              <a:t>The alternative to implicit deny is to allow access unless a specific rule forbids it.</a:t>
            </a:r>
          </a:p>
        </p:txBody>
      </p:sp>
    </p:spTree>
    <p:extLst>
      <p:ext uri="{BB962C8B-B14F-4D97-AF65-F5344CB8AC3E}">
        <p14:creationId xmlns:p14="http://schemas.microsoft.com/office/powerpoint/2010/main" val="30374715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1219201"/>
            <a:ext cx="5486400" cy="563563"/>
          </a:xfrm>
        </p:spPr>
        <p:txBody>
          <a:bodyPr>
            <a:noAutofit/>
          </a:bodyPr>
          <a:lstStyle/>
          <a:p>
            <a:pPr>
              <a:defRPr/>
            </a:pPr>
            <a:r>
              <a:rPr lang="en-US" dirty="0">
                <a:ea typeface="ＭＳ Ｐゴシック"/>
                <a:cs typeface="ＭＳ Ｐゴシック"/>
              </a:rPr>
              <a:t>Job Rotation</a:t>
            </a:r>
          </a:p>
        </p:txBody>
      </p:sp>
      <p:sp>
        <p:nvSpPr>
          <p:cNvPr id="33794" name="Content Placeholder 2"/>
          <p:cNvSpPr>
            <a:spLocks noGrp="1"/>
          </p:cNvSpPr>
          <p:nvPr>
            <p:ph idx="1"/>
          </p:nvPr>
        </p:nvSpPr>
        <p:spPr>
          <a:xfrm>
            <a:off x="1551432" y="2374393"/>
            <a:ext cx="9613392" cy="4373563"/>
          </a:xfrm>
        </p:spPr>
        <p:txBody>
          <a:bodyPr/>
          <a:lstStyle/>
          <a:p>
            <a:r>
              <a:rPr lang="en-US" altLang="en-US" dirty="0" smtClean="0"/>
              <a:t>The rotation of individuals through different tasks and duties in the organization's IT department.</a:t>
            </a:r>
          </a:p>
          <a:p>
            <a:r>
              <a:rPr lang="en-US" altLang="en-US" dirty="0" smtClean="0"/>
              <a:t>The individuals gain a better perspective of all the elements of how the various parts of the IT department can help or hinder the organization.</a:t>
            </a:r>
          </a:p>
          <a:p>
            <a:r>
              <a:rPr lang="en-US" altLang="en-US" dirty="0" smtClean="0"/>
              <a:t>Prevents a single point of failure, where only one employee knows mission critical job tasks.</a:t>
            </a:r>
          </a:p>
          <a:p>
            <a:r>
              <a:rPr lang="en-US" altLang="en-US" dirty="0" smtClean="0"/>
              <a:t>Drawback: technical expertise takes years to develop</a:t>
            </a:r>
          </a:p>
        </p:txBody>
      </p:sp>
    </p:spTree>
    <p:extLst>
      <p:ext uri="{BB962C8B-B14F-4D97-AF65-F5344CB8AC3E}">
        <p14:creationId xmlns:p14="http://schemas.microsoft.com/office/powerpoint/2010/main" val="4538969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2800" y="1219201"/>
            <a:ext cx="5486400" cy="563563"/>
          </a:xfrm>
        </p:spPr>
        <p:txBody>
          <a:bodyPr>
            <a:noAutofit/>
          </a:bodyPr>
          <a:lstStyle/>
          <a:p>
            <a:pPr>
              <a:defRPr/>
            </a:pPr>
            <a:r>
              <a:rPr lang="en-US" dirty="0">
                <a:ea typeface="ＭＳ Ｐゴシック"/>
                <a:cs typeface="ＭＳ Ｐゴシック"/>
              </a:rPr>
              <a:t>Layered </a:t>
            </a:r>
            <a:r>
              <a:rPr lang="en-US" dirty="0" smtClean="0">
                <a:ea typeface="ＭＳ Ｐゴシック"/>
                <a:cs typeface="ＭＳ Ｐゴシック"/>
              </a:rPr>
              <a:t>Security (</a:t>
            </a:r>
            <a:r>
              <a:rPr lang="en-US" dirty="0"/>
              <a:t>Complete </a:t>
            </a:r>
            <a:r>
              <a:rPr lang="en-US" dirty="0" smtClean="0"/>
              <a:t>mediation)</a:t>
            </a:r>
            <a:endParaRPr lang="en-US" dirty="0">
              <a:ea typeface="ＭＳ Ｐゴシック"/>
              <a:cs typeface="ＭＳ Ｐゴシック"/>
            </a:endParaRPr>
          </a:p>
        </p:txBody>
      </p:sp>
      <p:sp>
        <p:nvSpPr>
          <p:cNvPr id="35842" name="Content Placeholder 2"/>
          <p:cNvSpPr>
            <a:spLocks noGrp="1"/>
          </p:cNvSpPr>
          <p:nvPr>
            <p:ph idx="1"/>
          </p:nvPr>
        </p:nvSpPr>
        <p:spPr>
          <a:xfrm>
            <a:off x="1350264" y="2468881"/>
            <a:ext cx="9750552" cy="4068763"/>
          </a:xfrm>
        </p:spPr>
        <p:txBody>
          <a:bodyPr/>
          <a:lstStyle/>
          <a:p>
            <a:r>
              <a:rPr lang="en-US" altLang="en-US" dirty="0" smtClean="0"/>
              <a:t>Layered security implements different access controls and utilizing various tools and devices within a security system on multiple levels. </a:t>
            </a:r>
          </a:p>
          <a:p>
            <a:r>
              <a:rPr lang="en-US" dirty="0"/>
              <a:t>Every access to every object must be checked for </a:t>
            </a:r>
            <a:r>
              <a:rPr lang="en-US" dirty="0" smtClean="0"/>
              <a:t>authority</a:t>
            </a:r>
          </a:p>
          <a:p>
            <a:r>
              <a:rPr lang="en-US" altLang="en-US" dirty="0" smtClean="0"/>
              <a:t>Compromising </a:t>
            </a:r>
            <a:r>
              <a:rPr lang="en-US" altLang="en-US" dirty="0" smtClean="0"/>
              <a:t>the system would take longer and cost more than its worth. </a:t>
            </a:r>
          </a:p>
          <a:p>
            <a:r>
              <a:rPr lang="en-US" altLang="en-US" dirty="0" smtClean="0"/>
              <a:t>Potential downside is the amount of work it takes to create and then maintain the system.</a:t>
            </a:r>
          </a:p>
        </p:txBody>
      </p:sp>
    </p:spTree>
    <p:extLst>
      <p:ext uri="{BB962C8B-B14F-4D97-AF65-F5344CB8AC3E}">
        <p14:creationId xmlns:p14="http://schemas.microsoft.com/office/powerpoint/2010/main" val="354099361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Title 1"/>
          <p:cNvSpPr>
            <a:spLocks noGrp="1"/>
          </p:cNvSpPr>
          <p:nvPr>
            <p:ph type="title"/>
          </p:nvPr>
        </p:nvSpPr>
        <p:spPr/>
        <p:txBody>
          <a:bodyPr/>
          <a:lstStyle/>
          <a:p>
            <a:endParaRPr lang="en-US" altLang="en-US" smtClean="0"/>
          </a:p>
        </p:txBody>
      </p:sp>
      <p:pic>
        <p:nvPicPr>
          <p:cNvPr id="3789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715512" y="600520"/>
            <a:ext cx="4965700" cy="5751512"/>
          </a:xfrm>
          <a:noFill/>
        </p:spPr>
      </p:pic>
    </p:spTree>
    <p:extLst>
      <p:ext uri="{BB962C8B-B14F-4D97-AF65-F5344CB8AC3E}">
        <p14:creationId xmlns:p14="http://schemas.microsoft.com/office/powerpoint/2010/main" val="313396105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p:cNvSpPr>
            <a:spLocks noGrp="1"/>
          </p:cNvSpPr>
          <p:nvPr>
            <p:ph type="title"/>
          </p:nvPr>
        </p:nvSpPr>
        <p:spPr>
          <a:xfrm>
            <a:off x="2743200" y="1295401"/>
            <a:ext cx="6705600" cy="563563"/>
          </a:xfrm>
        </p:spPr>
        <p:txBody>
          <a:bodyPr>
            <a:normAutofit fontScale="90000"/>
          </a:bodyPr>
          <a:lstStyle/>
          <a:p>
            <a:r>
              <a:rPr lang="en-US" altLang="en-US"/>
              <a:t>Diversity of Defense</a:t>
            </a:r>
            <a:endParaRPr lang="en-US" altLang="en-US" smtClean="0"/>
          </a:p>
        </p:txBody>
      </p:sp>
      <p:sp>
        <p:nvSpPr>
          <p:cNvPr id="38914" name="Content Placeholder 2"/>
          <p:cNvSpPr>
            <a:spLocks noGrp="1"/>
          </p:cNvSpPr>
          <p:nvPr>
            <p:ph idx="1"/>
          </p:nvPr>
        </p:nvSpPr>
        <p:spPr>
          <a:xfrm>
            <a:off x="905256" y="2538985"/>
            <a:ext cx="6848856" cy="4144963"/>
          </a:xfrm>
        </p:spPr>
        <p:txBody>
          <a:bodyPr/>
          <a:lstStyle/>
          <a:p>
            <a:r>
              <a:rPr lang="en-US" altLang="en-US" dirty="0" smtClean="0"/>
              <a:t>This concept complements the layered security approach.</a:t>
            </a:r>
          </a:p>
          <a:p>
            <a:r>
              <a:rPr lang="en-US" altLang="en-US" dirty="0" smtClean="0"/>
              <a:t>Diversity of defense involves making different layers of security dissimilar.</a:t>
            </a:r>
          </a:p>
          <a:p>
            <a:r>
              <a:rPr lang="en-US" altLang="en-US" dirty="0" smtClean="0"/>
              <a:t>Even if attackers know how to get through a system that compromises one layer; they may not know how to get through the next layer that employs a different system of security.</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71169" y="597963"/>
            <a:ext cx="2755669" cy="1941022"/>
          </a:xfrm>
          <a:prstGeom prst="rect">
            <a:avLst/>
          </a:prstGeom>
        </p:spPr>
      </p:pic>
      <p:pic>
        <p:nvPicPr>
          <p:cNvPr id="5" name="Picture 4"/>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793736" y="4050792"/>
            <a:ext cx="3889444" cy="2187813"/>
          </a:xfrm>
          <a:prstGeom prst="rect">
            <a:avLst/>
          </a:prstGeom>
        </p:spPr>
      </p:pic>
    </p:spTree>
    <p:extLst>
      <p:ext uri="{BB962C8B-B14F-4D97-AF65-F5344CB8AC3E}">
        <p14:creationId xmlns:p14="http://schemas.microsoft.com/office/powerpoint/2010/main" val="35621591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p:cNvSpPr>
            <a:spLocks noGrp="1"/>
          </p:cNvSpPr>
          <p:nvPr>
            <p:ph type="title"/>
          </p:nvPr>
        </p:nvSpPr>
        <p:spPr>
          <a:xfrm>
            <a:off x="3352800" y="1143001"/>
            <a:ext cx="6632448" cy="563563"/>
          </a:xfrm>
        </p:spPr>
        <p:txBody>
          <a:bodyPr>
            <a:normAutofit fontScale="90000"/>
          </a:bodyPr>
          <a:lstStyle/>
          <a:p>
            <a:r>
              <a:rPr lang="en-US" altLang="en-US" dirty="0" smtClean="0"/>
              <a:t>Security Through </a:t>
            </a:r>
            <a:r>
              <a:rPr lang="en-US" altLang="en-US" dirty="0" smtClean="0"/>
              <a:t>Obscurity (</a:t>
            </a:r>
            <a:r>
              <a:rPr lang="en-US" dirty="0"/>
              <a:t>Open </a:t>
            </a:r>
            <a:r>
              <a:rPr lang="en-US" dirty="0" smtClean="0"/>
              <a:t>design)</a:t>
            </a:r>
            <a:endParaRPr lang="en-US" altLang="en-US" dirty="0" smtClean="0"/>
          </a:p>
        </p:txBody>
      </p:sp>
      <p:sp>
        <p:nvSpPr>
          <p:cNvPr id="40962" name="Content Placeholder 2"/>
          <p:cNvSpPr>
            <a:spLocks noGrp="1"/>
          </p:cNvSpPr>
          <p:nvPr>
            <p:ph idx="1"/>
          </p:nvPr>
        </p:nvSpPr>
        <p:spPr>
          <a:xfrm>
            <a:off x="1880616" y="2560637"/>
            <a:ext cx="9265920" cy="4297363"/>
          </a:xfrm>
        </p:spPr>
        <p:txBody>
          <a:bodyPr/>
          <a:lstStyle/>
          <a:p>
            <a:r>
              <a:rPr lang="en-US" altLang="en-US" dirty="0" smtClean="0"/>
              <a:t>Security through obscurity states that the security is effective if the environment and protection mechanisms are confusing or supposedly not generally known.</a:t>
            </a:r>
          </a:p>
          <a:p>
            <a:r>
              <a:rPr lang="en-US" altLang="en-US" dirty="0" smtClean="0"/>
              <a:t>The concept</a:t>
            </a:r>
            <a:r>
              <a:rPr lang="ja-JP" altLang="en-US" dirty="0" smtClean="0"/>
              <a:t>’</a:t>
            </a:r>
            <a:r>
              <a:rPr lang="en-US" altLang="ja-JP" dirty="0" smtClean="0"/>
              <a:t>s only objective is to hide an object (not to implement a security control to protect the object).</a:t>
            </a:r>
          </a:p>
          <a:p>
            <a:r>
              <a:rPr lang="en-US" altLang="en-US" dirty="0" smtClean="0"/>
              <a:t>It</a:t>
            </a:r>
            <a:r>
              <a:rPr lang="ja-JP" altLang="en-US" dirty="0" smtClean="0"/>
              <a:t>’</a:t>
            </a:r>
            <a:r>
              <a:rPr lang="en-US" altLang="ja-JP" dirty="0" smtClean="0"/>
              <a:t>s not effective</a:t>
            </a:r>
            <a:r>
              <a:rPr lang="en-US" altLang="ja-JP" dirty="0" smtClean="0"/>
              <a:t>.</a:t>
            </a:r>
          </a:p>
          <a:p>
            <a:r>
              <a:rPr lang="en-US" dirty="0"/>
              <a:t>The design should not be secret </a:t>
            </a:r>
          </a:p>
          <a:p>
            <a:endParaRPr lang="en-US" altLang="ja-JP" dirty="0" smtClean="0"/>
          </a:p>
          <a:p>
            <a:endParaRPr lang="en-US" altLang="en-US" dirty="0" smtClean="0"/>
          </a:p>
        </p:txBody>
      </p:sp>
    </p:spTree>
    <p:extLst>
      <p:ext uri="{BB962C8B-B14F-4D97-AF65-F5344CB8AC3E}">
        <p14:creationId xmlns:p14="http://schemas.microsoft.com/office/powerpoint/2010/main" val="350898768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p:cNvSpPr>
            <a:spLocks noGrp="1"/>
          </p:cNvSpPr>
          <p:nvPr>
            <p:ph type="title"/>
          </p:nvPr>
        </p:nvSpPr>
        <p:spPr>
          <a:xfrm>
            <a:off x="2066544" y="1143001"/>
            <a:ext cx="6772656" cy="563563"/>
          </a:xfrm>
        </p:spPr>
        <p:txBody>
          <a:bodyPr>
            <a:normAutofit fontScale="90000"/>
          </a:bodyPr>
          <a:lstStyle/>
          <a:p>
            <a:r>
              <a:rPr lang="en-US" altLang="en-US" dirty="0" smtClean="0"/>
              <a:t>Keep It </a:t>
            </a:r>
            <a:r>
              <a:rPr lang="en-US" altLang="en-US" dirty="0" smtClean="0"/>
              <a:t>Simple (</a:t>
            </a:r>
            <a:r>
              <a:rPr lang="en-US" dirty="0" smtClean="0"/>
              <a:t>Economy of Mechanism)</a:t>
            </a:r>
            <a:endParaRPr lang="en-US" altLang="en-US" dirty="0" smtClean="0"/>
          </a:p>
        </p:txBody>
      </p:sp>
      <p:sp>
        <p:nvSpPr>
          <p:cNvPr id="43010" name="Content Placeholder 2"/>
          <p:cNvSpPr>
            <a:spLocks noGrp="1"/>
          </p:cNvSpPr>
          <p:nvPr>
            <p:ph idx="1"/>
          </p:nvPr>
        </p:nvSpPr>
        <p:spPr>
          <a:xfrm>
            <a:off x="1688592" y="2648713"/>
            <a:ext cx="9467088" cy="4525963"/>
          </a:xfrm>
        </p:spPr>
        <p:txBody>
          <a:bodyPr/>
          <a:lstStyle/>
          <a:p>
            <a:r>
              <a:rPr lang="en-US" altLang="en-US" dirty="0" smtClean="0"/>
              <a:t>The simple security rule is the practice of keeping security processes and tools is simple and elegant. </a:t>
            </a:r>
          </a:p>
          <a:p>
            <a:r>
              <a:rPr lang="en-US" altLang="en-US" dirty="0" smtClean="0"/>
              <a:t>Security processes and tools should be simple to use, simple to administer, and easy to troubleshoot.</a:t>
            </a:r>
          </a:p>
          <a:p>
            <a:r>
              <a:rPr lang="en-US" altLang="en-US" dirty="0" smtClean="0"/>
              <a:t>A system should only run the services that it needs to provide and no more.</a:t>
            </a:r>
          </a:p>
        </p:txBody>
      </p:sp>
    </p:spTree>
    <p:extLst>
      <p:ext uri="{BB962C8B-B14F-4D97-AF65-F5344CB8AC3E}">
        <p14:creationId xmlns:p14="http://schemas.microsoft.com/office/powerpoint/2010/main" val="1199547017"/>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Least common mechanism</a:t>
            </a:r>
            <a:endParaRPr lang="en-US" dirty="0"/>
          </a:p>
        </p:txBody>
      </p:sp>
      <p:sp>
        <p:nvSpPr>
          <p:cNvPr id="3" name="Content Placeholder 2"/>
          <p:cNvSpPr>
            <a:spLocks noGrp="1"/>
          </p:cNvSpPr>
          <p:nvPr>
            <p:ph idx="1"/>
          </p:nvPr>
        </p:nvSpPr>
        <p:spPr>
          <a:xfrm>
            <a:off x="1295400" y="2368296"/>
            <a:ext cx="9851135" cy="4206240"/>
          </a:xfrm>
        </p:spPr>
        <p:txBody>
          <a:bodyPr>
            <a:normAutofit fontScale="92500" lnSpcReduction="20000"/>
          </a:bodyPr>
          <a:lstStyle/>
          <a:p>
            <a:r>
              <a:rPr lang="en-US" dirty="0" smtClean="0"/>
              <a:t>Minimize the amount of mechanism common to more than one user and depended on by all </a:t>
            </a:r>
            <a:r>
              <a:rPr lang="en-US" dirty="0" smtClean="0"/>
              <a:t>users.</a:t>
            </a:r>
          </a:p>
          <a:p>
            <a:r>
              <a:rPr lang="en-US" dirty="0" smtClean="0"/>
              <a:t>Every </a:t>
            </a:r>
            <a:r>
              <a:rPr lang="en-US" dirty="0" smtClean="0"/>
              <a:t>shared mechanism (especially one involving shared variables) represents a potential information path between users and must be designed with great care to be sure it does not unintentionally compromise security. </a:t>
            </a:r>
            <a:endParaRPr lang="en-US" dirty="0" smtClean="0"/>
          </a:p>
          <a:p>
            <a:r>
              <a:rPr lang="en-US" dirty="0" smtClean="0"/>
              <a:t>Further</a:t>
            </a:r>
            <a:r>
              <a:rPr lang="en-US" dirty="0" smtClean="0"/>
              <a:t>, any mechanism serving all users must be certified to the satisfaction of every user, a job presumably harder than satisfying only one or a few users. </a:t>
            </a:r>
            <a:endParaRPr lang="en-US" dirty="0" smtClean="0"/>
          </a:p>
          <a:p>
            <a:r>
              <a:rPr lang="en-US" dirty="0" smtClean="0"/>
              <a:t>For </a:t>
            </a:r>
            <a:r>
              <a:rPr lang="en-US" dirty="0" smtClean="0"/>
              <a:t>example, given the choice of implementing a new function as a supervisor procedure shared by all users or as a library procedure that can be handled as though it were the user's own, choose the latter course. </a:t>
            </a:r>
            <a:endParaRPr lang="en-US" dirty="0" smtClean="0"/>
          </a:p>
          <a:p>
            <a:r>
              <a:rPr lang="en-US" dirty="0" smtClean="0"/>
              <a:t>Then</a:t>
            </a:r>
            <a:r>
              <a:rPr lang="en-US" dirty="0" smtClean="0"/>
              <a:t>, if one or a few users are not satisfied with the level of certification of the function, they can provide a substitute or not use it at all. Either way, they can avoid being harmed by a mistake in it. </a:t>
            </a:r>
            <a:endParaRPr lang="en-US" dirty="0"/>
          </a:p>
        </p:txBody>
      </p:sp>
    </p:spTree>
    <p:extLst>
      <p:ext uri="{BB962C8B-B14F-4D97-AF65-F5344CB8AC3E}">
        <p14:creationId xmlns:p14="http://schemas.microsoft.com/office/powerpoint/2010/main" val="1159514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Psychological acceptability</a:t>
            </a:r>
            <a:endParaRPr lang="en-US" dirty="0"/>
          </a:p>
        </p:txBody>
      </p:sp>
      <p:sp>
        <p:nvSpPr>
          <p:cNvPr id="3" name="Content Placeholder 2"/>
          <p:cNvSpPr>
            <a:spLocks noGrp="1"/>
          </p:cNvSpPr>
          <p:nvPr>
            <p:ph idx="1"/>
          </p:nvPr>
        </p:nvSpPr>
        <p:spPr/>
        <p:txBody>
          <a:bodyPr/>
          <a:lstStyle/>
          <a:p>
            <a:r>
              <a:rPr lang="en-US" dirty="0" smtClean="0"/>
              <a:t>It is essential that the human interface be designed for ease of use, so that users routinely and automatically apply the protection mechanisms correctly</a:t>
            </a:r>
            <a:endParaRPr lang="en-US" dirty="0"/>
          </a:p>
        </p:txBody>
      </p:sp>
    </p:spTree>
    <p:extLst>
      <p:ext uri="{BB962C8B-B14F-4D97-AF65-F5344CB8AC3E}">
        <p14:creationId xmlns:p14="http://schemas.microsoft.com/office/powerpoint/2010/main" val="391880469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Organic">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Organic</Template>
  <TotalTime>102</TotalTime>
  <Words>2220</Words>
  <Application>Microsoft Office PowerPoint</Application>
  <PresentationFormat>Widescreen</PresentationFormat>
  <Paragraphs>117</Paragraphs>
  <Slides>13</Slides>
  <Notes>10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13</vt:i4>
      </vt:variant>
    </vt:vector>
  </HeadingPairs>
  <TitlesOfParts>
    <vt:vector size="21" baseType="lpstr">
      <vt:lpstr>MS PGothic</vt:lpstr>
      <vt:lpstr>Yu Gothic</vt:lpstr>
      <vt:lpstr>ヒラギノ角ゴ Pro W3</vt:lpstr>
      <vt:lpstr>Arial</vt:lpstr>
      <vt:lpstr>Calibri</vt:lpstr>
      <vt:lpstr>Garamond</vt:lpstr>
      <vt:lpstr>ＭＳ Ｐ明朝</vt:lpstr>
      <vt:lpstr>Organic</vt:lpstr>
      <vt:lpstr>Security Principles</vt:lpstr>
      <vt:lpstr>Security Principles</vt:lpstr>
      <vt:lpstr>Least Privilege</vt:lpstr>
      <vt:lpstr>Separation of Duties (Separation of privilege)</vt:lpstr>
      <vt:lpstr>Fail-safe defaults (Implicit Deny)</vt:lpstr>
      <vt:lpstr>Job Rotation</vt:lpstr>
      <vt:lpstr>Layered Security (Complete mediation)</vt:lpstr>
      <vt:lpstr>PowerPoint Presentation</vt:lpstr>
      <vt:lpstr>Diversity of Defense</vt:lpstr>
      <vt:lpstr>Security Through Obscurity (Open design)</vt:lpstr>
      <vt:lpstr>Keep It Simple (Economy of Mechanism)</vt:lpstr>
      <vt:lpstr>Least common mechanism</vt:lpstr>
      <vt:lpstr>Psychological acceptability</vt:lpstr>
    </vt:vector>
  </TitlesOfParts>
  <Company>UWB</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Principles</dc:title>
  <dc:creator>Geethapriya Thamilarasu</dc:creator>
  <cp:lastModifiedBy>Geethapriya Thamilarasu</cp:lastModifiedBy>
  <cp:revision>5</cp:revision>
  <dcterms:created xsi:type="dcterms:W3CDTF">2018-01-16T20:41:01Z</dcterms:created>
  <dcterms:modified xsi:type="dcterms:W3CDTF">2018-01-16T22:23:45Z</dcterms:modified>
</cp:coreProperties>
</file>