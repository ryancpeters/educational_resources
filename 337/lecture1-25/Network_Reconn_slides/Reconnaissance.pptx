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5" r:id="rId29"/>
    <p:sldId id="28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95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b="1">
                <a:latin typeface="Tw Cen MT" panose="020B06020201040206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54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33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06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1/25/2018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08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7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74F62F1-22C1-4045-9A09-9CF772C9FABC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5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46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90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27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pPr>
              <a:defRPr/>
            </a:pPr>
            <a:fld id="{B7F95E63-B2FC-6340-819F-09B1386E07D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4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74F62F1-22C1-4045-9A09-9CF772C9FABC}" type="datetimeFigureOut">
              <a:rPr lang="en-US" smtClean="0"/>
              <a:t>1/25/2018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81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help/operators.html" TargetMode="External"/><Relationship Id="rId2" Type="http://schemas.openxmlformats.org/officeDocument/2006/relationships/hyperlink" Target="http://www.google.com/help/basics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xploit-db.com/google-hacking-database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aramies/theHarvester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code.google.com/p/theharvester/downlaod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toolbar.netcraft.com/site_report/" TargetMode="External"/><Relationship Id="rId2" Type="http://schemas.openxmlformats.org/officeDocument/2006/relationships/hyperlink" Target="http://www.netcraft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hois.domaintools.com/" TargetMode="External"/><Relationship Id="rId2" Type="http://schemas.openxmlformats.org/officeDocument/2006/relationships/hyperlink" Target="https://whois.n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internic.net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1577" y="1905000"/>
            <a:ext cx="9359152" cy="3810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Network Reconnaissance</a:t>
            </a:r>
            <a:r>
              <a:rPr lang="en-US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/>
            </a:r>
            <a:br>
              <a:rPr lang="en-US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r>
              <a:rPr lang="en-US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Tools</a:t>
            </a:r>
            <a:r>
              <a:rPr lang="en-US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689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958578" y="1737360"/>
            <a:ext cx="9485304" cy="5181600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Introduction to Reconnaissance</a:t>
            </a:r>
          </a:p>
          <a:p>
            <a:r>
              <a:rPr lang="en-US" altLang="en-US" dirty="0" smtClean="0"/>
              <a:t>Passive Reconnaissance</a:t>
            </a:r>
          </a:p>
          <a:p>
            <a:pPr lvl="1"/>
            <a:r>
              <a:rPr lang="en-US" altLang="en-US" dirty="0" smtClean="0"/>
              <a:t>Google Hacking</a:t>
            </a:r>
          </a:p>
          <a:p>
            <a:pPr lvl="1"/>
            <a:r>
              <a:rPr lang="en-US" altLang="en-US" dirty="0" smtClean="0"/>
              <a:t>Harvester</a:t>
            </a:r>
          </a:p>
          <a:p>
            <a:pPr lvl="1"/>
            <a:r>
              <a:rPr lang="en-US" altLang="en-US" dirty="0" err="1" smtClean="0"/>
              <a:t>Whois</a:t>
            </a:r>
            <a:endParaRPr lang="en-US" altLang="en-US" dirty="0" smtClean="0"/>
          </a:p>
          <a:p>
            <a:pPr lvl="1"/>
            <a:r>
              <a:rPr lang="en-US" altLang="en-US" dirty="0" err="1" smtClean="0"/>
              <a:t>Netcraft</a:t>
            </a:r>
            <a:endParaRPr lang="en-US" altLang="en-US" dirty="0" smtClean="0"/>
          </a:p>
          <a:p>
            <a:r>
              <a:rPr lang="en-US" altLang="en-US" dirty="0" smtClean="0"/>
              <a:t>Active </a:t>
            </a:r>
            <a:r>
              <a:rPr lang="en-US" altLang="en-US" dirty="0" err="1" smtClean="0"/>
              <a:t>Reconnaisance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DNS Recon</a:t>
            </a:r>
          </a:p>
          <a:p>
            <a:pPr lvl="2"/>
            <a:r>
              <a:rPr lang="en-US" altLang="en-US" dirty="0" smtClean="0"/>
              <a:t>Host</a:t>
            </a:r>
          </a:p>
          <a:p>
            <a:pPr lvl="2"/>
            <a:r>
              <a:rPr lang="en-US" altLang="en-US" dirty="0" err="1" smtClean="0"/>
              <a:t>Nslookup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Dig</a:t>
            </a:r>
          </a:p>
          <a:p>
            <a:pPr lvl="2"/>
            <a:r>
              <a:rPr lang="en-US" altLang="en-US" dirty="0" smtClean="0"/>
              <a:t>Fierce</a:t>
            </a:r>
          </a:p>
        </p:txBody>
      </p:sp>
    </p:spTree>
    <p:extLst>
      <p:ext uri="{BB962C8B-B14F-4D97-AF65-F5344CB8AC3E}">
        <p14:creationId xmlns:p14="http://schemas.microsoft.com/office/powerpoint/2010/main" val="230621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868362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Reconnaissance/</a:t>
            </a:r>
            <a:r>
              <a:rPr lang="en-US" dirty="0" err="1" smtClean="0"/>
              <a:t>Footprinting</a:t>
            </a:r>
            <a:endParaRPr lang="en-US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147481" y="1246093"/>
            <a:ext cx="9610165" cy="4876800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  <a:buFont typeface="Arial" charset="0"/>
              <a:buChar char="•"/>
              <a:defRPr/>
            </a:pPr>
            <a:r>
              <a:rPr lang="en-US" altLang="en-US" dirty="0" smtClean="0"/>
              <a:t>Phase 1: Information gathering </a:t>
            </a:r>
          </a:p>
          <a:p>
            <a:pPr marL="114300" indent="0">
              <a:lnSpc>
                <a:spcPct val="114000"/>
              </a:lnSpc>
              <a:buNone/>
              <a:defRPr/>
            </a:pPr>
            <a:r>
              <a:rPr lang="en-US" b="1" dirty="0">
                <a:solidFill>
                  <a:srgbClr val="C00000"/>
                </a:solidFill>
              </a:rPr>
              <a:t>more information = higher probability of successful attack</a:t>
            </a:r>
            <a:endParaRPr lang="en-US" altLang="en-US" dirty="0" smtClean="0">
              <a:solidFill>
                <a:srgbClr val="C00000"/>
              </a:solidFill>
            </a:endParaRPr>
          </a:p>
          <a:p>
            <a:pPr>
              <a:lnSpc>
                <a:spcPct val="114000"/>
              </a:lnSpc>
              <a:buFont typeface="Arial" charset="0"/>
              <a:buChar char="•"/>
              <a:defRPr/>
            </a:pPr>
            <a:r>
              <a:rPr lang="en-US" altLang="en-US" dirty="0" smtClean="0"/>
              <a:t>Valuable skill for pen testers and hackers</a:t>
            </a:r>
          </a:p>
          <a:p>
            <a:pPr>
              <a:lnSpc>
                <a:spcPct val="114000"/>
              </a:lnSpc>
              <a:buFont typeface="Arial" charset="0"/>
              <a:buChar char="•"/>
              <a:defRPr/>
            </a:pPr>
            <a:r>
              <a:rPr lang="en-US" altLang="en-US" dirty="0" smtClean="0"/>
              <a:t>Conducting thorough search of public information </a:t>
            </a:r>
          </a:p>
          <a:p>
            <a:pPr lvl="1">
              <a:lnSpc>
                <a:spcPct val="114000"/>
              </a:lnSpc>
              <a:buFont typeface="Arial" charset="0"/>
              <a:buChar char="•"/>
              <a:defRPr/>
            </a:pPr>
            <a:r>
              <a:rPr lang="en-US" altLang="en-US" dirty="0" smtClean="0"/>
              <a:t>Open-Source Intelligence (OSINT)</a:t>
            </a:r>
          </a:p>
          <a:p>
            <a:pPr lvl="1">
              <a:lnSpc>
                <a:spcPct val="114000"/>
              </a:lnSpc>
              <a:buFont typeface="Arial" charset="0"/>
              <a:buChar char="•"/>
              <a:defRPr/>
            </a:pPr>
            <a:r>
              <a:rPr lang="en-US" altLang="en-US" dirty="0" smtClean="0"/>
              <a:t>Gather as much information as possible</a:t>
            </a:r>
          </a:p>
          <a:p>
            <a:pPr lvl="1">
              <a:lnSpc>
                <a:spcPct val="114000"/>
              </a:lnSpc>
              <a:buFont typeface="Arial" charset="0"/>
              <a:buChar char="•"/>
              <a:defRPr/>
            </a:pPr>
            <a:r>
              <a:rPr lang="en-US" altLang="en-US" dirty="0" smtClean="0"/>
              <a:t>Create a list of attackable IP addresses or URLs</a:t>
            </a:r>
          </a:p>
          <a:p>
            <a:pPr>
              <a:lnSpc>
                <a:spcPct val="114000"/>
              </a:lnSpc>
              <a:buFont typeface="Arial" charset="0"/>
              <a:buChar char="•"/>
              <a:defRPr/>
            </a:pPr>
            <a:r>
              <a:rPr lang="en-US" altLang="en-US" dirty="0" smtClean="0"/>
              <a:t>Difference between black hat and white hat – authorization</a:t>
            </a:r>
          </a:p>
          <a:p>
            <a:pPr lvl="1">
              <a:lnSpc>
                <a:spcPct val="114000"/>
              </a:lnSpc>
              <a:buFont typeface="Arial" charset="0"/>
              <a:buChar char="•"/>
              <a:defRPr/>
            </a:pPr>
            <a:r>
              <a:rPr lang="en-US" altLang="en-US" dirty="0" smtClean="0"/>
              <a:t>Malicious hackers are not bound by scope or authorization</a:t>
            </a:r>
          </a:p>
        </p:txBody>
      </p:sp>
    </p:spTree>
    <p:extLst>
      <p:ext uri="{BB962C8B-B14F-4D97-AF65-F5344CB8AC3E}">
        <p14:creationId xmlns:p14="http://schemas.microsoft.com/office/powerpoint/2010/main" val="309723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Reconnaissance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Active Recon – actively interact with target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Target may </a:t>
            </a:r>
            <a:r>
              <a:rPr lang="en-US" dirty="0" smtClean="0"/>
              <a:t>record </a:t>
            </a:r>
            <a:r>
              <a:rPr lang="en-US" dirty="0"/>
              <a:t>your IP address and log activity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Higher likelihood of being detected</a:t>
            </a:r>
          </a:p>
          <a:p>
            <a:pPr marL="411163" lvl="1" indent="0">
              <a:buNone/>
              <a:defRPr/>
            </a:pPr>
            <a:r>
              <a:rPr lang="en-US" dirty="0"/>
              <a:t>	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Passive Recon – makes use of vast amount of information available on the web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 smtClean="0"/>
              <a:t>No interaction with target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 smtClean="0"/>
              <a:t>Target has no way of knowing, recording or logging your activity</a:t>
            </a:r>
          </a:p>
          <a:p>
            <a:pPr marL="411163" lvl="1" indent="0">
              <a:buNone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b="1" dirty="0" smtClean="0">
                <a:solidFill>
                  <a:srgbClr val="C00000"/>
                </a:solidFill>
              </a:rPr>
              <a:t>NOTE: Do not attempt Active Recon without permission!!!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507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Real Example</a:t>
            </a:r>
            <a:endParaRPr lang="en-US" dirty="0"/>
          </a:p>
        </p:txBody>
      </p:sp>
      <p:pic>
        <p:nvPicPr>
          <p:cNvPr id="1945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0125" y="1676401"/>
            <a:ext cx="7620000" cy="10525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2155825" y="3048000"/>
            <a:ext cx="7848600" cy="327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Pentester registered a </a:t>
            </a:r>
            <a:r>
              <a:rPr lang="en-US" altLang="en-US" b="1"/>
              <a:t>no-ip </a:t>
            </a:r>
            <a:r>
              <a:rPr lang="en-US" altLang="en-US"/>
              <a:t>domain (stamps.no-ip.com) and collected some stamp images from Google images.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Embedded some nasty HTML containing exploit code for the latest Internet Explorer security hole (MS05-001 at the time), and proceeded to call David on his cellular phone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David visited malicious website in order to see the “stamps”.</a:t>
            </a:r>
          </a:p>
          <a:p>
            <a:pPr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While browsing the site, the exploit code on the visited website downloaded and executed Netcat on his local machine, sending the pentester a reverse shell.</a:t>
            </a:r>
          </a:p>
        </p:txBody>
      </p:sp>
    </p:spTree>
    <p:extLst>
      <p:ext uri="{BB962C8B-B14F-4D97-AF65-F5344CB8AC3E}">
        <p14:creationId xmlns:p14="http://schemas.microsoft.com/office/powerpoint/2010/main" val="90702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868362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Google Hacking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9153" y="1743636"/>
            <a:ext cx="9224682" cy="480060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H</a:t>
            </a:r>
            <a:r>
              <a:rPr lang="en-US" dirty="0" smtClean="0"/>
              <a:t>uge </a:t>
            </a:r>
            <a:r>
              <a:rPr lang="en-US" dirty="0"/>
              <a:t>amounts of data leaking into </a:t>
            </a:r>
            <a:r>
              <a:rPr lang="en-US" dirty="0" smtClean="0"/>
              <a:t>the web </a:t>
            </a:r>
            <a:r>
              <a:rPr lang="en-US" dirty="0"/>
              <a:t>and, even worse, leaking into the Google </a:t>
            </a:r>
            <a:r>
              <a:rPr lang="en-US" dirty="0" smtClean="0"/>
              <a:t>cache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Introduced </a:t>
            </a:r>
            <a:r>
              <a:rPr lang="en-US" dirty="0"/>
              <a:t>by Johnny </a:t>
            </a:r>
            <a:r>
              <a:rPr lang="en-US" dirty="0" smtClean="0"/>
              <a:t>Long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General Idea: use </a:t>
            </a:r>
            <a:r>
              <a:rPr lang="en-US" dirty="0"/>
              <a:t>special search operators </a:t>
            </a:r>
            <a:r>
              <a:rPr lang="en-US" dirty="0" smtClean="0"/>
              <a:t>in Google </a:t>
            </a:r>
            <a:r>
              <a:rPr lang="en-US" dirty="0"/>
              <a:t>in order to narrow down our search results and find very specific </a:t>
            </a:r>
            <a:r>
              <a:rPr lang="en-US" dirty="0" smtClean="0"/>
              <a:t>files, usually </a:t>
            </a:r>
            <a:r>
              <a:rPr lang="en-US" dirty="0"/>
              <a:t>with a known </a:t>
            </a:r>
            <a:r>
              <a:rPr lang="en-US" dirty="0" smtClean="0"/>
              <a:t>format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Basic Usage:</a:t>
            </a:r>
            <a:endParaRPr lang="en-US" dirty="0" smtClean="0">
              <a:hlinkClick r:id="rId2"/>
            </a:endParaRPr>
          </a:p>
          <a:p>
            <a:pPr marL="114300" indent="0">
              <a:buNone/>
              <a:defRPr/>
            </a:pP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www.google.com/help/basics.html</a:t>
            </a:r>
            <a:endParaRPr lang="en-US" dirty="0" smtClean="0"/>
          </a:p>
          <a:p>
            <a:pPr>
              <a:buFont typeface="Arial" charset="0"/>
              <a:buChar char="•"/>
              <a:defRPr/>
            </a:pPr>
            <a:r>
              <a:rPr lang="en-US" b="1" dirty="0"/>
              <a:t>Advanced Google </a:t>
            </a:r>
            <a:r>
              <a:rPr lang="en-US" b="1" dirty="0" smtClean="0"/>
              <a:t>Operators</a:t>
            </a:r>
          </a:p>
          <a:p>
            <a:pPr marL="114300" indent="0">
              <a:buNone/>
              <a:defRPr/>
            </a:pPr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www.google.com/help/operators.html</a:t>
            </a:r>
            <a:endParaRPr lang="en-US" dirty="0" smtClean="0"/>
          </a:p>
          <a:p>
            <a:pPr>
              <a:buFont typeface="Arial" charset="0"/>
              <a:buChar char="•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555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868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/>
              <a:t>Google Hacking</a:t>
            </a:r>
            <a:br>
              <a:rPr lang="en-US" sz="3600" dirty="0"/>
            </a:br>
            <a:r>
              <a:rPr lang="en-US" sz="3600" dirty="0"/>
              <a:t>Example: Searching within a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482" y="1730189"/>
            <a:ext cx="7620000" cy="4800600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b="1" dirty="0"/>
              <a:t>site: </a:t>
            </a:r>
            <a:r>
              <a:rPr lang="en-US" dirty="0"/>
              <a:t>operator restricts the results to websites in a given </a:t>
            </a:r>
            <a:r>
              <a:rPr lang="en-US" dirty="0" smtClean="0"/>
              <a:t>domain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err="1" smtClean="0">
                <a:solidFill>
                  <a:srgbClr val="C00000"/>
                </a:solidFill>
              </a:rPr>
              <a:t>site:qchem.com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dirty="0"/>
              <a:t>all the results </a:t>
            </a:r>
            <a:r>
              <a:rPr lang="en-US" dirty="0" smtClean="0"/>
              <a:t>come</a:t>
            </a:r>
          </a:p>
          <a:p>
            <a:pPr marL="114300" indent="0"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from </a:t>
            </a:r>
            <a:r>
              <a:rPr lang="en-US" dirty="0"/>
              <a:t>the target </a:t>
            </a:r>
            <a:r>
              <a:rPr lang="en-US" dirty="0" smtClean="0"/>
              <a:t>site</a:t>
            </a:r>
          </a:p>
          <a:p>
            <a:pPr>
              <a:buFont typeface="Arial" charset="0"/>
              <a:buChar char="•"/>
              <a:defRPr/>
            </a:pPr>
            <a:endParaRPr lang="en-US" dirty="0"/>
          </a:p>
        </p:txBody>
      </p:sp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9012" y="2051518"/>
            <a:ext cx="4881282" cy="4773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248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792162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Example: Searching within a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011" y="1985682"/>
            <a:ext cx="7620000" cy="5257800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 err="1">
                <a:solidFill>
                  <a:srgbClr val="C00000"/>
                </a:solidFill>
              </a:rPr>
              <a:t>filetype:pdf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site:qchem.com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dirty="0"/>
              <a:t>search will show us all the PDF files in the qchem.com </a:t>
            </a:r>
            <a:r>
              <a:rPr lang="en-US" dirty="0" smtClean="0"/>
              <a:t>site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Note: Old example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Company has now </a:t>
            </a:r>
          </a:p>
          <a:p>
            <a:pPr marL="114300" indent="0"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removed the pdf </a:t>
            </a:r>
            <a:r>
              <a:rPr lang="en-US" dirty="0" smtClean="0">
                <a:sym typeface="Wingdings" panose="05000000000000000000" pitchFamily="2" charset="2"/>
              </a:rPr>
              <a:t></a:t>
            </a:r>
          </a:p>
          <a:p>
            <a:pPr marL="114300" indent="0">
              <a:buNone/>
              <a:defRPr/>
            </a:pPr>
            <a:endParaRPr lang="en-US" dirty="0" smtClean="0"/>
          </a:p>
          <a:p>
            <a:pPr>
              <a:buFont typeface="Arial" charset="0"/>
              <a:buChar char="•"/>
              <a:defRPr/>
            </a:pPr>
            <a:endParaRPr lang="en-US" dirty="0"/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761" y="2088777"/>
            <a:ext cx="4694498" cy="4688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862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082" y="300925"/>
            <a:ext cx="76200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/>
              <a:t>Example: Finding Vulnerable Servers using Google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271" y="1358153"/>
            <a:ext cx="10076330" cy="4800600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I</a:t>
            </a:r>
            <a:r>
              <a:rPr lang="en-US" dirty="0" smtClean="0"/>
              <a:t>n </a:t>
            </a:r>
            <a:r>
              <a:rPr lang="en-US" dirty="0" err="1"/>
              <a:t>Febuary</a:t>
            </a:r>
            <a:r>
              <a:rPr lang="en-US" dirty="0"/>
              <a:t> 2006, a </a:t>
            </a:r>
            <a:r>
              <a:rPr lang="en-US" dirty="0" err="1" smtClean="0"/>
              <a:t>phpBB</a:t>
            </a:r>
            <a:r>
              <a:rPr lang="en-US" dirty="0"/>
              <a:t> </a:t>
            </a:r>
            <a:r>
              <a:rPr lang="en-US" dirty="0" smtClean="0"/>
              <a:t>(popular </a:t>
            </a:r>
            <a:r>
              <a:rPr lang="en-US" dirty="0"/>
              <a:t>open source forum software) vulnerability was found. </a:t>
            </a:r>
            <a:endParaRPr lang="en-US" dirty="0" smtClean="0"/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Google was quickly </a:t>
            </a:r>
            <a:r>
              <a:rPr lang="en-US" dirty="0"/>
              <a:t>used in order to identify all the web sites running </a:t>
            </a:r>
            <a:r>
              <a:rPr lang="en-US" dirty="0" err="1"/>
              <a:t>phpBB</a:t>
            </a:r>
            <a:r>
              <a:rPr lang="en-US" dirty="0"/>
              <a:t>, and those </a:t>
            </a:r>
            <a:r>
              <a:rPr lang="en-US" dirty="0" smtClean="0"/>
              <a:t>sites were </a:t>
            </a:r>
            <a:r>
              <a:rPr lang="en-US" dirty="0"/>
              <a:t>targeted for attack</a:t>
            </a:r>
            <a:r>
              <a:rPr lang="en-US" dirty="0" smtClean="0"/>
              <a:t>.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smtClean="0">
                <a:solidFill>
                  <a:srgbClr val="C00000"/>
                </a:solidFill>
              </a:rPr>
              <a:t>"</a:t>
            </a:r>
            <a:r>
              <a:rPr lang="en-US" dirty="0">
                <a:solidFill>
                  <a:srgbClr val="C00000"/>
                </a:solidFill>
              </a:rPr>
              <a:t>Powered by </a:t>
            </a:r>
            <a:r>
              <a:rPr lang="en-US" dirty="0" err="1">
                <a:solidFill>
                  <a:srgbClr val="C00000"/>
                </a:solidFill>
              </a:rPr>
              <a:t>phpBB</a:t>
            </a:r>
            <a:r>
              <a:rPr lang="en-US" dirty="0">
                <a:solidFill>
                  <a:srgbClr val="C00000"/>
                </a:solidFill>
              </a:rPr>
              <a:t>" </a:t>
            </a:r>
            <a:r>
              <a:rPr lang="en-US" dirty="0" err="1">
                <a:solidFill>
                  <a:srgbClr val="C00000"/>
                </a:solidFill>
              </a:rPr>
              <a:t>inurl</a:t>
            </a:r>
            <a:r>
              <a:rPr lang="en-US" dirty="0">
                <a:solidFill>
                  <a:srgbClr val="C00000"/>
                </a:solidFill>
              </a:rPr>
              <a:t>:"</a:t>
            </a:r>
            <a:r>
              <a:rPr lang="en-US" dirty="0" err="1">
                <a:solidFill>
                  <a:srgbClr val="C00000"/>
                </a:solidFill>
              </a:rPr>
              <a:t>index.php?s</a:t>
            </a:r>
            <a:r>
              <a:rPr lang="en-US" dirty="0">
                <a:solidFill>
                  <a:srgbClr val="C00000"/>
                </a:solidFill>
              </a:rPr>
              <a:t>" OR </a:t>
            </a:r>
            <a:r>
              <a:rPr lang="en-US" dirty="0" err="1">
                <a:solidFill>
                  <a:srgbClr val="C00000"/>
                </a:solidFill>
              </a:rPr>
              <a:t>inurl</a:t>
            </a:r>
            <a:r>
              <a:rPr lang="en-US" dirty="0">
                <a:solidFill>
                  <a:srgbClr val="C00000"/>
                </a:solidFill>
              </a:rPr>
              <a:t>:"</a:t>
            </a:r>
            <a:r>
              <a:rPr lang="en-US" dirty="0" err="1" smtClean="0">
                <a:solidFill>
                  <a:srgbClr val="C00000"/>
                </a:solidFill>
              </a:rPr>
              <a:t>index.php?style</a:t>
            </a:r>
            <a:r>
              <a:rPr lang="en-US" dirty="0" smtClean="0">
                <a:solidFill>
                  <a:srgbClr val="C00000"/>
                </a:solidFill>
              </a:rPr>
              <a:t>“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Note the massive amount of sites </a:t>
            </a:r>
            <a:endParaRPr lang="en-US" dirty="0" smtClean="0"/>
          </a:p>
          <a:p>
            <a:pPr marL="114300" indent="0"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found </a:t>
            </a:r>
            <a:r>
              <a:rPr lang="en-US" dirty="0"/>
              <a:t>– 10,900 !</a:t>
            </a:r>
          </a:p>
          <a:p>
            <a:pPr marL="114300" indent="0">
              <a:buNone/>
              <a:defRPr/>
            </a:pPr>
            <a:endParaRPr lang="en-US" dirty="0"/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576" y="3348038"/>
            <a:ext cx="3505200" cy="350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1404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dirty="0"/>
              <a:t>Example: Email Harvesting</a:t>
            </a:r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24201" y="1066800"/>
            <a:ext cx="5419725" cy="5334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189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563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97012" y="-1588"/>
            <a:ext cx="3571876" cy="2667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-93663"/>
            <a:ext cx="7046913" cy="6934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461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Google Hacking Resources</a:t>
            </a:r>
            <a:endParaRPr lang="en-US" dirty="0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altLang="en-US" smtClean="0"/>
              <a:t>Google Hacking Database</a:t>
            </a:r>
          </a:p>
          <a:p>
            <a:pPr marL="114300" indent="0">
              <a:buNone/>
            </a:pPr>
            <a:r>
              <a:rPr lang="en-US" altLang="en-US" smtClean="0">
                <a:hlinkClick r:id="rId2"/>
              </a:rPr>
              <a:t>https://www.exploit-db.com/google-hacking-database/</a:t>
            </a:r>
            <a:endParaRPr lang="en-US" altLang="en-US" smtClean="0"/>
          </a:p>
          <a:p>
            <a:pPr marL="114300" indent="0">
              <a:buNone/>
            </a:pPr>
            <a:endParaRPr lang="en-US" altLang="en-US" smtClean="0"/>
          </a:p>
          <a:p>
            <a:pPr marL="114300" indent="0">
              <a:buNone/>
            </a:pPr>
            <a:endParaRPr lang="en-US" altLang="en-US" smtClean="0"/>
          </a:p>
          <a:p>
            <a:pPr marL="114300" indent="0">
              <a:buNone/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07908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Passive Recon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2270" y="1918447"/>
            <a:ext cx="9802905" cy="5029200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b="1" dirty="0">
                <a:solidFill>
                  <a:srgbClr val="C00000"/>
                </a:solidFill>
              </a:rPr>
              <a:t>THE HARVESTER</a:t>
            </a:r>
            <a:r>
              <a:rPr lang="en-US" dirty="0" smtClean="0"/>
              <a:t>: Discovering and Leveraging E-mail Addresses</a:t>
            </a:r>
          </a:p>
          <a:p>
            <a:pPr>
              <a:buFont typeface="Arial" charset="0"/>
              <a:buChar char="•"/>
              <a:defRPr/>
            </a:pPr>
            <a:endParaRPr lang="en-US" dirty="0" smtClean="0"/>
          </a:p>
          <a:p>
            <a:pPr>
              <a:buFont typeface="Arial" charset="0"/>
              <a:buChar char="•"/>
              <a:defRPr/>
            </a:pPr>
            <a:r>
              <a:rPr lang="en-US" dirty="0" err="1" smtClean="0"/>
              <a:t>TheHarvester</a:t>
            </a:r>
            <a:r>
              <a:rPr lang="en-US" dirty="0" smtClean="0"/>
              <a:t> </a:t>
            </a:r>
            <a:r>
              <a:rPr lang="en-US" dirty="0"/>
              <a:t>has been developed in Python by </a:t>
            </a:r>
            <a:r>
              <a:rPr lang="en-US" dirty="0">
                <a:hlinkClick r:id="rId2"/>
              </a:rPr>
              <a:t>Christian </a:t>
            </a:r>
            <a:r>
              <a:rPr lang="en-US" dirty="0" err="1">
                <a:hlinkClick r:id="rId2"/>
              </a:rPr>
              <a:t>Martorella</a:t>
            </a:r>
            <a:r>
              <a:rPr lang="en-US" dirty="0">
                <a:hlinkClick r:id="rId2"/>
              </a:rPr>
              <a:t>.</a:t>
            </a:r>
            <a:r>
              <a:rPr lang="en-US" dirty="0"/>
              <a:t> </a:t>
            </a:r>
            <a:endParaRPr lang="en-US" dirty="0" smtClean="0"/>
          </a:p>
          <a:p>
            <a:pPr marL="114300" indent="0">
              <a:buNone/>
              <a:defRPr/>
            </a:pPr>
            <a:endParaRPr lang="en-US" dirty="0" smtClean="0"/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It </a:t>
            </a:r>
            <a:r>
              <a:rPr lang="en-US" dirty="0"/>
              <a:t>is a tool which provides us information of about e-mail accounts, user names and hostnames/subdomains from different public sources like search engines and PGP key server</a:t>
            </a:r>
            <a:r>
              <a:rPr lang="en-US" dirty="0" smtClean="0"/>
              <a:t>.</a:t>
            </a:r>
          </a:p>
          <a:p>
            <a:pPr>
              <a:buFont typeface="Arial" charset="0"/>
              <a:buChar char="•"/>
              <a:defRPr/>
            </a:pPr>
            <a:endParaRPr lang="en-US" dirty="0" smtClean="0"/>
          </a:p>
          <a:p>
            <a:pPr>
              <a:buFont typeface="Arial" charset="0"/>
              <a:buChar char="•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856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868362"/>
          </a:xfrm>
        </p:spPr>
        <p:txBody>
          <a:bodyPr/>
          <a:lstStyle/>
          <a:p>
            <a:pPr>
              <a:defRPr/>
            </a:pPr>
            <a:r>
              <a:rPr lang="en-US" dirty="0"/>
              <a:t>Recon Tools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1053354" y="1900518"/>
            <a:ext cx="10062881" cy="4800600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If you are using kali </a:t>
            </a:r>
            <a:r>
              <a:rPr lang="en-US" altLang="en-US" dirty="0" err="1" smtClean="0"/>
              <a:t>linux</a:t>
            </a:r>
            <a:r>
              <a:rPr lang="en-US" altLang="en-US" dirty="0" smtClean="0"/>
              <a:t>, go to the terminal and use the command </a:t>
            </a:r>
            <a:r>
              <a:rPr lang="en-US" altLang="en-US" dirty="0" err="1" smtClean="0"/>
              <a:t>theharvester</a:t>
            </a:r>
            <a:r>
              <a:rPr lang="en-US" altLang="en-US" dirty="0" smtClean="0"/>
              <a:t>.</a:t>
            </a:r>
          </a:p>
          <a:p>
            <a:r>
              <a:rPr lang="en-US" altLang="en-US" dirty="0" smtClean="0"/>
              <a:t>In case, it is not available in your distribution, then you can easily download it from </a:t>
            </a:r>
            <a:r>
              <a:rPr lang="en-US" altLang="en-US" dirty="0" smtClean="0">
                <a:hlinkClick r:id="rId2"/>
              </a:rPr>
              <a:t>http://code.google.com/p/theharvester/downlaod</a:t>
            </a:r>
            <a:r>
              <a:rPr lang="en-US" altLang="en-US" dirty="0" smtClean="0"/>
              <a:t>, simply download it and extract it.</a:t>
            </a:r>
          </a:p>
          <a:p>
            <a:r>
              <a:rPr lang="en-US" altLang="en-US" dirty="0" smtClean="0"/>
              <a:t>Provide execute permission to the theHarvester.py by [</a:t>
            </a:r>
            <a:r>
              <a:rPr lang="en-US" altLang="en-US" dirty="0" err="1" smtClean="0"/>
              <a:t>chmod</a:t>
            </a:r>
            <a:r>
              <a:rPr lang="en-US" altLang="en-US" dirty="0" smtClean="0"/>
              <a:t> 755 theHavester.py]</a:t>
            </a:r>
          </a:p>
          <a:p>
            <a:r>
              <a:rPr lang="en-US" altLang="en-US" dirty="0" smtClean="0"/>
              <a:t>After getting in to that, simply run. /</a:t>
            </a:r>
            <a:r>
              <a:rPr lang="en-US" altLang="en-US" dirty="0" err="1" smtClean="0"/>
              <a:t>theharvester</a:t>
            </a:r>
            <a:r>
              <a:rPr lang="en-US" altLang="en-US" dirty="0" smtClean="0"/>
              <a:t>, it will display version and other option that can be used with this tool with detailed description.</a:t>
            </a:r>
          </a:p>
          <a:p>
            <a:r>
              <a:rPr lang="en-US" altLang="en-US" b="1" dirty="0" smtClean="0">
                <a:solidFill>
                  <a:srgbClr val="C00000"/>
                </a:solidFill>
              </a:rPr>
              <a:t>NOTE: Can use command &gt; locate </a:t>
            </a:r>
            <a:r>
              <a:rPr lang="en-US" altLang="en-US" b="1" dirty="0" err="1" smtClean="0">
                <a:solidFill>
                  <a:srgbClr val="C00000"/>
                </a:solidFill>
              </a:rPr>
              <a:t>theharvester</a:t>
            </a:r>
            <a:r>
              <a:rPr lang="en-US" altLang="en-US" b="1" dirty="0" smtClean="0">
                <a:solidFill>
                  <a:srgbClr val="C00000"/>
                </a:solidFill>
              </a:rPr>
              <a:t> to figure out the directory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8889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Recon Tools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1582270" y="1958788"/>
            <a:ext cx="7924800" cy="480060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altLang="en-US" sz="2000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theHarvester</a:t>
            </a:r>
            <a:r>
              <a:rPr lang="en-US" altLang="en-US" sz="20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-d [</a:t>
            </a:r>
            <a:r>
              <a:rPr lang="en-US" altLang="en-US" sz="2000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altLang="en-US" sz="20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-l 20 -b [search engine name]</a:t>
            </a:r>
          </a:p>
          <a:p>
            <a:pPr>
              <a:buFont typeface="Arial" charset="0"/>
              <a:buChar char="•"/>
              <a:defRPr/>
            </a:pPr>
            <a:endParaRPr lang="en-US" altLang="en-US" dirty="0" smtClean="0"/>
          </a:p>
          <a:p>
            <a:pPr marL="114300" indent="0">
              <a:spcBef>
                <a:spcPts val="1200"/>
              </a:spcBef>
              <a:buNone/>
              <a:defRPr/>
            </a:pPr>
            <a:r>
              <a:rPr lang="en-US" altLang="en-US" dirty="0" smtClean="0"/>
              <a:t>-d [</a:t>
            </a:r>
            <a:r>
              <a:rPr lang="en-US" altLang="en-US" dirty="0" err="1" smtClean="0"/>
              <a:t>url</a:t>
            </a:r>
            <a:r>
              <a:rPr lang="en-US" altLang="en-US" dirty="0" smtClean="0"/>
              <a:t>] will be the remote site from which you wants to fetch the juicy information.</a:t>
            </a:r>
          </a:p>
          <a:p>
            <a:pPr marL="114300" indent="0">
              <a:spcBef>
                <a:spcPts val="1200"/>
              </a:spcBef>
              <a:buNone/>
              <a:defRPr/>
            </a:pPr>
            <a:r>
              <a:rPr lang="en-US" altLang="en-US" dirty="0" smtClean="0"/>
              <a:t>-l will limit the search for specified number.</a:t>
            </a:r>
          </a:p>
          <a:p>
            <a:pPr marL="114300" indent="0">
              <a:spcBef>
                <a:spcPts val="1200"/>
              </a:spcBef>
              <a:buNone/>
              <a:defRPr/>
            </a:pPr>
            <a:r>
              <a:rPr lang="en-US" altLang="en-US" dirty="0" smtClean="0"/>
              <a:t>-b is used to specify search engine name. (like google)</a:t>
            </a:r>
          </a:p>
          <a:p>
            <a:pPr>
              <a:buFont typeface="Arial" charset="0"/>
              <a:buChar char="•"/>
              <a:defRPr/>
            </a:pPr>
            <a:endParaRPr lang="en-US" altLang="en-US" dirty="0" smtClean="0"/>
          </a:p>
          <a:p>
            <a:pPr>
              <a:buFont typeface="Arial" charset="0"/>
              <a:buChar char="•"/>
              <a:defRPr/>
            </a:pPr>
            <a:r>
              <a:rPr lang="en-US" altLang="en-US" dirty="0" smtClean="0"/>
              <a:t>Example: </a:t>
            </a:r>
          </a:p>
          <a:p>
            <a:pPr marL="114300" indent="0">
              <a:buNone/>
              <a:defRPr/>
            </a:pPr>
            <a:r>
              <a:rPr lang="en-US" altLang="en-US" dirty="0"/>
              <a:t>#</a:t>
            </a:r>
            <a:r>
              <a:rPr lang="en-US" altLang="en-US" sz="2000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theHarvester</a:t>
            </a:r>
            <a:r>
              <a:rPr lang="en-US" altLang="en-US" sz="20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-d sixthstartech.com -l 300 -b all</a:t>
            </a:r>
          </a:p>
        </p:txBody>
      </p:sp>
    </p:spTree>
    <p:extLst>
      <p:ext uri="{BB962C8B-B14F-4D97-AF65-F5344CB8AC3E}">
        <p14:creationId xmlns:p14="http://schemas.microsoft.com/office/powerpoint/2010/main" val="274295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Example: the harvester</a:t>
            </a:r>
            <a:endParaRPr lang="en-US" dirty="0"/>
          </a:p>
        </p:txBody>
      </p:sp>
      <p:pic>
        <p:nvPicPr>
          <p:cNvPr id="3072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15368" y="1668781"/>
            <a:ext cx="7180263" cy="403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1752600" y="5638801"/>
            <a:ext cx="8305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b="1"/>
              <a:t>Save the result in HTML file. Command: </a:t>
            </a:r>
            <a:endParaRPr lang="en-US" altLang="en-US" sz="18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#</a:t>
            </a:r>
            <a:r>
              <a:rPr lang="en-US" altLang="en-US" sz="1800" b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theHarvester -d sixthstartech.com  -l 300 -b all -f pentest</a:t>
            </a:r>
          </a:p>
        </p:txBody>
      </p:sp>
    </p:spTree>
    <p:extLst>
      <p:ext uri="{BB962C8B-B14F-4D97-AF65-F5344CB8AC3E}">
        <p14:creationId xmlns:p14="http://schemas.microsoft.com/office/powerpoint/2010/main" val="318211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err="1"/>
              <a:t>Netcraft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916" y="1916654"/>
            <a:ext cx="9838764" cy="4800600"/>
          </a:xfrm>
        </p:spPr>
        <p:txBody>
          <a:bodyPr>
            <a:normAutofit lnSpcReduction="10000"/>
          </a:bodyPr>
          <a:lstStyle/>
          <a:p>
            <a:pPr>
              <a:buFont typeface="Arial" charset="0"/>
              <a:buChar char="•"/>
              <a:defRPr/>
            </a:pPr>
            <a:r>
              <a:rPr lang="en-US" b="1" dirty="0" err="1" smtClean="0">
                <a:solidFill>
                  <a:srgbClr val="C00000"/>
                </a:solidFill>
              </a:rPr>
              <a:t>NetCraft</a:t>
            </a:r>
            <a:endParaRPr lang="en-US" b="1" dirty="0">
              <a:solidFill>
                <a:srgbClr val="C00000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dirty="0"/>
              <a:t>Free online tool to gather information about webservers including both the client and server side technologies. </a:t>
            </a:r>
            <a:endParaRPr lang="en-US" dirty="0" smtClean="0"/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used to indirectly find out information about web servers on the internet, including the underlying operating system, web server version, uptime graphs, etc.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Visit </a:t>
            </a:r>
            <a:r>
              <a:rPr lang="en-US" dirty="0">
                <a:hlinkClick r:id="rId2"/>
              </a:rPr>
              <a:t>http://www.netcraft.com/</a:t>
            </a: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Start by searching for target in “What’s that site running”  textbox</a:t>
            </a:r>
          </a:p>
          <a:p>
            <a:pPr marL="114300" indent="0">
              <a:buNone/>
              <a:defRPr/>
            </a:pPr>
            <a:r>
              <a:rPr lang="en-US" dirty="0"/>
              <a:t>or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Visit </a:t>
            </a:r>
            <a:r>
              <a:rPr lang="en-US" dirty="0">
                <a:hlinkClick r:id="rId3"/>
              </a:rPr>
              <a:t>http://toolbar.netcraft.com/site_report/</a:t>
            </a:r>
            <a:endParaRPr lang="en-US" dirty="0"/>
          </a:p>
          <a:p>
            <a:pPr marL="114300" indent="0">
              <a:buNone/>
              <a:defRPr/>
            </a:pPr>
            <a:r>
              <a:rPr lang="en-US" dirty="0"/>
              <a:t>   and type the domain name. </a:t>
            </a:r>
          </a:p>
          <a:p>
            <a:pPr lvl="1">
              <a:buFont typeface="Arial" charset="0"/>
              <a:buChar char="•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65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err="1"/>
              <a:t>Netcraft</a:t>
            </a:r>
            <a:endParaRPr lang="en-US" dirty="0"/>
          </a:p>
        </p:txBody>
      </p:sp>
      <p:pic>
        <p:nvPicPr>
          <p:cNvPr id="3277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99412" y="1568824"/>
            <a:ext cx="4940300" cy="480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1676400" y="1752600"/>
            <a:ext cx="3106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http://searchdns.netcraft.com/</a:t>
            </a:r>
          </a:p>
        </p:txBody>
      </p:sp>
    </p:spTree>
    <p:extLst>
      <p:ext uri="{BB962C8B-B14F-4D97-AF65-F5344CB8AC3E}">
        <p14:creationId xmlns:p14="http://schemas.microsoft.com/office/powerpoint/2010/main" val="3006649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868362"/>
          </a:xfrm>
        </p:spPr>
        <p:txBody>
          <a:bodyPr/>
          <a:lstStyle/>
          <a:p>
            <a:pPr>
              <a:defRPr/>
            </a:pPr>
            <a:r>
              <a:rPr lang="en-US" b="1" dirty="0"/>
              <a:t>Whois Reconnaissance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140" y="1792941"/>
            <a:ext cx="10627659" cy="5181600"/>
          </a:xfrm>
        </p:spPr>
        <p:txBody>
          <a:bodyPr>
            <a:normAutofit lnSpcReduction="10000"/>
          </a:bodyPr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Simple but effective means for collecting additional information on target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name for a TCP service, a tool and a </a:t>
            </a:r>
            <a:r>
              <a:rPr lang="en-US" dirty="0" smtClean="0"/>
              <a:t>database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Whois </a:t>
            </a:r>
            <a:r>
              <a:rPr lang="en-US" dirty="0" smtClean="0"/>
              <a:t>databases contain </a:t>
            </a:r>
            <a:r>
              <a:rPr lang="en-US" dirty="0" err="1"/>
              <a:t>nameserver</a:t>
            </a:r>
            <a:r>
              <a:rPr lang="en-US" dirty="0"/>
              <a:t>, registrar, and in some cases full contact information about </a:t>
            </a:r>
            <a:r>
              <a:rPr lang="en-US" dirty="0" smtClean="0"/>
              <a:t>a domain </a:t>
            </a:r>
            <a:r>
              <a:rPr lang="en-US" dirty="0"/>
              <a:t>name. </a:t>
            </a:r>
            <a:endParaRPr lang="en-US" dirty="0" smtClean="0"/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Each </a:t>
            </a:r>
            <a:r>
              <a:rPr lang="en-US" dirty="0"/>
              <a:t>registrar must maintain a Whois database containing </a:t>
            </a:r>
            <a:r>
              <a:rPr lang="en-US" dirty="0" smtClean="0"/>
              <a:t>all contact </a:t>
            </a:r>
            <a:r>
              <a:rPr lang="en-US" dirty="0"/>
              <a:t>information for the domains they 'host</a:t>
            </a:r>
            <a:r>
              <a:rPr lang="en-US" dirty="0" smtClean="0"/>
              <a:t>'.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Allows to access specific information about the target including the IP addresses or host names of the company’s DNS servers and contact information (address/phone number etc.)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Linux </a:t>
            </a:r>
            <a:r>
              <a:rPr lang="en-US" dirty="0"/>
              <a:t>command</a:t>
            </a:r>
          </a:p>
          <a:p>
            <a:pPr marL="114300" indent="0">
              <a:buNone/>
              <a:defRPr/>
            </a:pP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whois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target_domain</a:t>
            </a:r>
            <a:endParaRPr lang="en-US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  <a:defRPr/>
            </a:pPr>
            <a:r>
              <a:rPr lang="en-US" dirty="0"/>
              <a:t> </a:t>
            </a:r>
          </a:p>
          <a:p>
            <a:pPr>
              <a:buFont typeface="Arial" charset="0"/>
              <a:buChar char="•"/>
              <a:defRPr/>
            </a:pPr>
            <a:endParaRPr lang="en-US" dirty="0" smtClean="0"/>
          </a:p>
          <a:p>
            <a:pPr>
              <a:buFont typeface="Arial" charset="0"/>
              <a:buChar char="•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07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792162"/>
          </a:xfrm>
        </p:spPr>
        <p:txBody>
          <a:bodyPr/>
          <a:lstStyle/>
          <a:p>
            <a:pPr>
              <a:defRPr/>
            </a:pPr>
            <a:r>
              <a:rPr lang="en-US" b="1" dirty="0"/>
              <a:t>Whois Reconnaissance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buFont typeface="Arial" charset="0"/>
              <a:buChar char="•"/>
              <a:defRPr/>
            </a:pPr>
            <a:r>
              <a:rPr lang="en-US" dirty="0"/>
              <a:t>Whois is also often made accessible over a web interface. </a:t>
            </a:r>
            <a:endParaRPr lang="en-US" dirty="0" smtClean="0"/>
          </a:p>
          <a:p>
            <a:pPr>
              <a:spcBef>
                <a:spcPts val="1200"/>
              </a:spcBef>
              <a:spcAft>
                <a:spcPts val="600"/>
              </a:spcAft>
              <a:buFont typeface="Arial" charset="0"/>
              <a:buChar char="•"/>
              <a:defRPr/>
            </a:pPr>
            <a:r>
              <a:rPr lang="en-US" dirty="0" smtClean="0"/>
              <a:t>The </a:t>
            </a:r>
            <a:r>
              <a:rPr lang="en-US" dirty="0"/>
              <a:t>following are </a:t>
            </a:r>
            <a:r>
              <a:rPr lang="en-US" dirty="0" smtClean="0"/>
              <a:t>some of </a:t>
            </a:r>
            <a:r>
              <a:rPr lang="en-US" dirty="0"/>
              <a:t>the most comprehensive Whois web interfaces available</a:t>
            </a:r>
            <a:r>
              <a:rPr lang="en-US" dirty="0" smtClean="0"/>
              <a:t>:</a:t>
            </a:r>
          </a:p>
          <a:p>
            <a:pPr marL="114300" indent="0">
              <a:buNone/>
              <a:defRPr/>
            </a:pPr>
            <a:r>
              <a:rPr lang="en-US" dirty="0">
                <a:hlinkClick r:id="rId2"/>
              </a:rPr>
              <a:t>https://whois.net/</a:t>
            </a:r>
            <a:endParaRPr lang="en-US" dirty="0"/>
          </a:p>
          <a:p>
            <a:pPr marL="114300" indent="0">
              <a:buNone/>
              <a:defRPr/>
            </a:pPr>
            <a:endParaRPr lang="en-US" dirty="0">
              <a:solidFill>
                <a:srgbClr val="C00000"/>
              </a:solidFill>
            </a:endParaRPr>
          </a:p>
          <a:p>
            <a:pPr marL="114300" indent="0">
              <a:buNone/>
              <a:defRPr/>
            </a:pPr>
            <a:r>
              <a:rPr lang="en-US" dirty="0">
                <a:solidFill>
                  <a:srgbClr val="C00000"/>
                </a:solidFill>
                <a:hlinkClick r:id="rId3"/>
              </a:rPr>
              <a:t>http://whois.domaintools.com</a:t>
            </a:r>
            <a:r>
              <a:rPr lang="en-US" dirty="0" smtClean="0">
                <a:solidFill>
                  <a:srgbClr val="C00000"/>
                </a:solidFill>
                <a:hlinkClick r:id="rId3"/>
              </a:rPr>
              <a:t>/</a:t>
            </a:r>
            <a:endParaRPr lang="en-US" dirty="0" smtClean="0">
              <a:solidFill>
                <a:srgbClr val="C00000"/>
              </a:solidFill>
            </a:endParaRPr>
          </a:p>
          <a:p>
            <a:pPr marL="114300" indent="0">
              <a:buNone/>
              <a:defRPr/>
            </a:pPr>
            <a:endParaRPr lang="en-US" dirty="0" smtClean="0">
              <a:solidFill>
                <a:srgbClr val="C00000"/>
              </a:solidFill>
              <a:hlinkClick r:id="rId4"/>
            </a:endParaRPr>
          </a:p>
          <a:p>
            <a:pPr marL="114300" indent="0">
              <a:buNone/>
              <a:defRPr/>
            </a:pPr>
            <a:r>
              <a:rPr lang="en-US" dirty="0" smtClean="0">
                <a:solidFill>
                  <a:srgbClr val="C00000"/>
                </a:solidFill>
                <a:hlinkClick r:id="rId4"/>
              </a:rPr>
              <a:t>http://</a:t>
            </a:r>
            <a:r>
              <a:rPr lang="en-US" u="sng" dirty="0" smtClean="0">
                <a:hlinkClick r:id="rId4"/>
              </a:rPr>
              <a:t>www.internic.net</a:t>
            </a:r>
            <a:endParaRPr lang="en-US" u="sng" dirty="0" smtClean="0"/>
          </a:p>
          <a:p>
            <a:pPr>
              <a:buFont typeface="Arial" charset="0"/>
              <a:buChar char="•"/>
              <a:defRPr/>
            </a:pPr>
            <a:endParaRPr lang="en-US" dirty="0" smtClean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C</a:t>
            </a:r>
            <a:r>
              <a:rPr lang="en-US" dirty="0" smtClean="0"/>
              <a:t>onsole </a:t>
            </a:r>
            <a:r>
              <a:rPr lang="en-US" dirty="0"/>
              <a:t>output and the web interface output </a:t>
            </a:r>
            <a:r>
              <a:rPr lang="en-US" dirty="0" smtClean="0"/>
              <a:t>contains identical </a:t>
            </a:r>
            <a:r>
              <a:rPr lang="en-US" dirty="0"/>
              <a:t>information</a:t>
            </a:r>
            <a:endParaRPr lang="en-US" dirty="0" smtClean="0"/>
          </a:p>
          <a:p>
            <a:pPr marL="114300" indent="0">
              <a:buNone/>
              <a:defRPr/>
            </a:pPr>
            <a:endParaRPr lang="en-US" dirty="0" smtClean="0">
              <a:hlinkClick r:id="rId2"/>
            </a:endParaRPr>
          </a:p>
          <a:p>
            <a:pPr marL="114300" indent="0">
              <a:buNone/>
              <a:defRPr/>
            </a:pP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93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715962"/>
          </a:xfrm>
        </p:spPr>
        <p:txBody>
          <a:bodyPr/>
          <a:lstStyle/>
          <a:p>
            <a:pPr>
              <a:defRPr/>
            </a:pPr>
            <a:r>
              <a:rPr lang="en-US" b="1" dirty="0"/>
              <a:t>DNS Reconnaissance</a:t>
            </a:r>
            <a:endParaRPr lang="en-US" dirty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999565" y="1663700"/>
            <a:ext cx="7230035" cy="5029200"/>
          </a:xfrm>
        </p:spPr>
        <p:txBody>
          <a:bodyPr/>
          <a:lstStyle/>
          <a:p>
            <a:r>
              <a:rPr lang="en-US" altLang="en-US" dirty="0" smtClean="0"/>
              <a:t>Extracting information from DNS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en-US" dirty="0" smtClean="0"/>
              <a:t>DNS offers a variety of information about public (and sometimes private!) organization servers, such as IP addresses, server names and server functions.</a:t>
            </a:r>
          </a:p>
          <a:p>
            <a:r>
              <a:rPr lang="en-US" altLang="en-US" dirty="0" smtClean="0"/>
              <a:t>DNS Servers – excellent target for hackers and pen testers</a:t>
            </a:r>
          </a:p>
          <a:p>
            <a:r>
              <a:rPr lang="en-US" altLang="en-US" dirty="0" smtClean="0"/>
              <a:t>Focus on DNS servers that belong to the target</a:t>
            </a:r>
          </a:p>
          <a:p>
            <a:pPr lvl="1"/>
            <a:r>
              <a:rPr lang="en-US" altLang="en-US" dirty="0" smtClean="0"/>
              <a:t>Can get access to full listing of internal IP addresses and host names that belong to the target</a:t>
            </a:r>
          </a:p>
          <a:p>
            <a:pPr lvl="1"/>
            <a:r>
              <a:rPr lang="en-US" altLang="en-US" dirty="0" smtClean="0"/>
              <a:t>Often misconfigured and unpatched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altLang="en-US" dirty="0" smtClean="0"/>
          </a:p>
        </p:txBody>
      </p:sp>
      <p:pic>
        <p:nvPicPr>
          <p:cNvPr id="3584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131" y="2896347"/>
            <a:ext cx="3448330" cy="3065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941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944562"/>
          </a:xfrm>
        </p:spPr>
        <p:txBody>
          <a:bodyPr/>
          <a:lstStyle/>
          <a:p>
            <a:pPr>
              <a:defRPr/>
            </a:pPr>
            <a:r>
              <a:rPr lang="en-US" b="1" dirty="0"/>
              <a:t>DNS Reconnaissance</a:t>
            </a:r>
            <a:endParaRPr lang="en-US" dirty="0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1541929" y="1851212"/>
            <a:ext cx="7620000" cy="51054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en-US" b="1" dirty="0" smtClean="0"/>
              <a:t>Interacting with a DNS server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en-US" dirty="0" smtClean="0"/>
              <a:t>Can interact with DNS servers using various DNS clients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en-US" dirty="0" smtClean="0"/>
              <a:t>host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en-US" dirty="0" err="1" smtClean="0"/>
              <a:t>nslookup</a:t>
            </a:r>
            <a:endParaRPr lang="en-US" altLang="en-US" dirty="0" smtClean="0"/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en-US" dirty="0" smtClean="0"/>
              <a:t>dig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en-US" dirty="0" smtClean="0"/>
              <a:t>fierce, </a:t>
            </a:r>
            <a:r>
              <a:rPr lang="en-US" altLang="en-US" dirty="0" err="1" smtClean="0"/>
              <a:t>etc</a:t>
            </a:r>
            <a:endParaRPr lang="en-US" altLang="en-US" dirty="0" smtClean="0"/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71388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Forward lookup </a:t>
            </a:r>
            <a:r>
              <a:rPr lang="en-US" b="1" dirty="0" err="1"/>
              <a:t>bruteforce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sz="2000" dirty="0"/>
              <a:t>T</a:t>
            </a:r>
            <a:r>
              <a:rPr lang="en-US" sz="2000" dirty="0" smtClean="0"/>
              <a:t>ry </a:t>
            </a:r>
            <a:r>
              <a:rPr lang="en-US" sz="2000" dirty="0"/>
              <a:t>to guess valid names of </a:t>
            </a:r>
            <a:r>
              <a:rPr lang="en-US" sz="2000" dirty="0" smtClean="0"/>
              <a:t>organizational servers</a:t>
            </a:r>
            <a:r>
              <a:rPr lang="en-US" sz="2000" dirty="0"/>
              <a:t>. </a:t>
            </a:r>
            <a:endParaRPr lang="en-US" sz="2000" dirty="0" smtClean="0"/>
          </a:p>
          <a:p>
            <a:pPr>
              <a:buFont typeface="Arial" charset="0"/>
              <a:buChar char="•"/>
              <a:defRPr/>
            </a:pPr>
            <a:r>
              <a:rPr lang="en-US" sz="2000" dirty="0"/>
              <a:t>T</a:t>
            </a:r>
            <a:r>
              <a:rPr lang="en-US" sz="2000" dirty="0" smtClean="0"/>
              <a:t>ry </a:t>
            </a:r>
            <a:r>
              <a:rPr lang="en-US" sz="2000" dirty="0"/>
              <a:t>to resolve a given name. </a:t>
            </a:r>
            <a:endParaRPr lang="en-US" sz="2000" dirty="0" smtClean="0"/>
          </a:p>
          <a:p>
            <a:pPr>
              <a:buFont typeface="Arial" charset="0"/>
              <a:buChar char="•"/>
              <a:defRPr/>
            </a:pPr>
            <a:r>
              <a:rPr lang="en-US" sz="2000" dirty="0" smtClean="0"/>
              <a:t>If </a:t>
            </a:r>
            <a:r>
              <a:rPr lang="en-US" sz="2000" dirty="0"/>
              <a:t>it resolves then the server </a:t>
            </a:r>
            <a:r>
              <a:rPr lang="en-US" sz="2000" dirty="0" smtClean="0"/>
              <a:t>exists</a:t>
            </a:r>
          </a:p>
          <a:p>
            <a:pPr>
              <a:buFont typeface="Arial" charset="0"/>
              <a:buChar char="•"/>
              <a:defRPr/>
            </a:pPr>
            <a:r>
              <a:rPr lang="en-US" sz="2000" dirty="0" smtClean="0"/>
              <a:t>Use </a:t>
            </a:r>
            <a:r>
              <a:rPr lang="en-US" sz="2000" b="1" dirty="0" smtClean="0">
                <a:solidFill>
                  <a:srgbClr val="C00000"/>
                </a:solidFill>
              </a:rPr>
              <a:t>host </a:t>
            </a:r>
            <a:r>
              <a:rPr lang="en-US" sz="2000" dirty="0" smtClean="0"/>
              <a:t>command</a:t>
            </a:r>
          </a:p>
          <a:p>
            <a:pPr marL="114300" indent="0">
              <a:buNone/>
              <a:defRPr/>
            </a:pPr>
            <a:endParaRPr lang="en-US" sz="2000" dirty="0" smtClean="0"/>
          </a:p>
          <a:p>
            <a:pPr marL="114300" indent="0">
              <a:buNone/>
              <a:defRPr/>
            </a:pPr>
            <a:r>
              <a:rPr lang="en-US" sz="2000" dirty="0" smtClean="0"/>
              <a:t>Type </a:t>
            </a:r>
            <a:r>
              <a:rPr lang="en-US" sz="2000" dirty="0"/>
              <a:t>in Kali</a:t>
            </a:r>
          </a:p>
          <a:p>
            <a:pPr marL="114300" indent="0">
              <a:buNone/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host </a:t>
            </a:r>
            <a:r>
              <a:rPr lang="en-US" sz="2000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target_hostname</a:t>
            </a:r>
            <a:endParaRPr lang="en-US" sz="2000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4300" indent="0">
              <a:buNone/>
              <a:defRPr/>
            </a:pPr>
            <a:r>
              <a:rPr lang="en-US" sz="2000" dirty="0" smtClean="0"/>
              <a:t>Example</a:t>
            </a:r>
            <a:r>
              <a:rPr lang="en-US" sz="2000" dirty="0"/>
              <a:t>: host ns1.dreamhost.com</a:t>
            </a:r>
          </a:p>
          <a:p>
            <a:pPr marL="114300" indent="0">
              <a:buNone/>
              <a:defRPr/>
            </a:pPr>
            <a:r>
              <a:rPr lang="en-US" sz="2000" dirty="0" smtClean="0"/>
              <a:t>Can </a:t>
            </a:r>
            <a:r>
              <a:rPr lang="en-US" sz="2000" dirty="0"/>
              <a:t>also use the command in reverse</a:t>
            </a:r>
          </a:p>
          <a:p>
            <a:pPr marL="114300" indent="0">
              <a:buNone/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host </a:t>
            </a:r>
            <a:r>
              <a:rPr lang="en-US" sz="2000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IP_address</a:t>
            </a:r>
            <a:endParaRPr lang="en-US" sz="2000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charset="0"/>
              <a:buChar char="•"/>
              <a:defRPr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9657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DNS Recon </a:t>
            </a:r>
            <a:r>
              <a:rPr lang="en-US" dirty="0"/>
              <a:t>Tools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1416424" y="2312894"/>
            <a:ext cx="7620000" cy="5029200"/>
          </a:xfrm>
        </p:spPr>
        <p:txBody>
          <a:bodyPr/>
          <a:lstStyle/>
          <a:p>
            <a:pPr marL="114300" indent="0"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host</a:t>
            </a:r>
          </a:p>
          <a:p>
            <a:pPr marL="114300" indent="0">
              <a:buNone/>
            </a:pPr>
            <a:endParaRPr lang="en-US" altLang="en-US" dirty="0" smtClean="0"/>
          </a:p>
          <a:p>
            <a:pPr marL="114300" indent="0">
              <a:buNone/>
            </a:pPr>
            <a:endParaRPr lang="en-US" altLang="en-US" dirty="0" smtClean="0"/>
          </a:p>
        </p:txBody>
      </p:sp>
      <p:pic>
        <p:nvPicPr>
          <p:cNvPr id="389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754" y="3357282"/>
            <a:ext cx="82391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109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6397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DNS Recon </a:t>
            </a:r>
            <a:r>
              <a:rPr lang="en-US" dirty="0"/>
              <a:t>Tools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1183341" y="1752600"/>
            <a:ext cx="8305800" cy="5105400"/>
          </a:xfrm>
        </p:spPr>
        <p:txBody>
          <a:bodyPr/>
          <a:lstStyle/>
          <a:p>
            <a:pPr marL="114300" indent="0">
              <a:buNone/>
              <a:defRPr/>
            </a:pPr>
            <a:r>
              <a:rPr lang="en-US" altLang="en-US" b="1" dirty="0" err="1" smtClean="0">
                <a:solidFill>
                  <a:srgbClr val="C00000"/>
                </a:solidFill>
              </a:rPr>
              <a:t>nslookup</a:t>
            </a:r>
            <a:endParaRPr lang="en-US" altLang="en-US" b="1" dirty="0" smtClean="0">
              <a:solidFill>
                <a:srgbClr val="C00000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altLang="en-US" dirty="0" err="1" smtClean="0"/>
              <a:t>nslookup</a:t>
            </a:r>
            <a:r>
              <a:rPr lang="en-US" altLang="en-US" dirty="0" smtClean="0"/>
              <a:t> is an useful command to find the information about DNS server including IP addresses, MX records etc.</a:t>
            </a:r>
          </a:p>
          <a:p>
            <a:pPr>
              <a:buFont typeface="Arial" charset="0"/>
              <a:buChar char="•"/>
              <a:defRPr/>
            </a:pPr>
            <a:r>
              <a:rPr lang="en-US" altLang="en-US" dirty="0" smtClean="0"/>
              <a:t>Older and limited</a:t>
            </a:r>
          </a:p>
          <a:p>
            <a:pPr>
              <a:buFont typeface="Arial" charset="0"/>
              <a:buChar char="•"/>
              <a:defRPr/>
            </a:pPr>
            <a:endParaRPr lang="en-US" altLang="en-US" dirty="0" smtClean="0"/>
          </a:p>
        </p:txBody>
      </p:sp>
      <p:pic>
        <p:nvPicPr>
          <p:cNvPr id="3994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047" y="3823447"/>
            <a:ext cx="51816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604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715962"/>
          </a:xfrm>
        </p:spPr>
        <p:txBody>
          <a:bodyPr/>
          <a:lstStyle/>
          <a:p>
            <a:pPr>
              <a:defRPr/>
            </a:pPr>
            <a:r>
              <a:rPr lang="en-US" dirty="0"/>
              <a:t>DNS Recon Tools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1416424" y="1783977"/>
            <a:ext cx="9637058" cy="5181600"/>
          </a:xfrm>
        </p:spPr>
        <p:txBody>
          <a:bodyPr/>
          <a:lstStyle/>
          <a:p>
            <a:r>
              <a:rPr lang="en-US" altLang="en-US" dirty="0" smtClean="0"/>
              <a:t>In order to identify the MX server (Mail Servers) belonging to an organization, we can simply ask the DNS server to show us all the MX records available for that domain:</a:t>
            </a:r>
          </a:p>
          <a:p>
            <a:r>
              <a:rPr lang="en-US" altLang="en-US" sz="22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set type = mx </a:t>
            </a:r>
            <a:r>
              <a:rPr lang="en-US" altLang="en-US" dirty="0" smtClean="0"/>
              <a:t>(for mail server records) or “any” for complete records</a:t>
            </a:r>
          </a:p>
          <a:p>
            <a:endParaRPr lang="en-US" altLang="en-US" dirty="0" smtClean="0"/>
          </a:p>
        </p:txBody>
      </p:sp>
      <p:pic>
        <p:nvPicPr>
          <p:cNvPr id="4096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" r="23779"/>
          <a:stretch>
            <a:fillRect/>
          </a:stretch>
        </p:blipFill>
        <p:spPr bwMode="auto">
          <a:xfrm>
            <a:off x="2759915" y="3760695"/>
            <a:ext cx="695007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931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DNS Recon Tools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NS queries: identify all the DNS servers authoritative for a domain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pic>
        <p:nvPicPr>
          <p:cNvPr id="419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42587"/>
          <a:stretch>
            <a:fillRect/>
          </a:stretch>
        </p:blipFill>
        <p:spPr bwMode="auto">
          <a:xfrm>
            <a:off x="2438401" y="2743201"/>
            <a:ext cx="6164263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538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DNS Recon </a:t>
            </a:r>
            <a:r>
              <a:rPr lang="en-US" dirty="0"/>
              <a:t>Tools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1299882" y="1880795"/>
            <a:ext cx="10183906" cy="525780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altLang="en-US" b="1" dirty="0" smtClean="0">
                <a:solidFill>
                  <a:srgbClr val="C00000"/>
                </a:solidFill>
              </a:rPr>
              <a:t>Dig</a:t>
            </a:r>
          </a:p>
          <a:p>
            <a:pPr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altLang="en-US" dirty="0" smtClean="0"/>
              <a:t>When a DNS zone transfer is allowed, you should get a complete listing of all DNS entries that have been made in the DNS server for this domain.</a:t>
            </a:r>
          </a:p>
          <a:p>
            <a:pPr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altLang="en-US" dirty="0" smtClean="0"/>
              <a:t> If the DNS server doesn't allow it, you will get an error indicating that the Zone transfer didn't work.</a:t>
            </a:r>
          </a:p>
          <a:p>
            <a:pPr marL="114300" indent="0">
              <a:spcBef>
                <a:spcPts val="1200"/>
              </a:spcBef>
              <a:buNone/>
              <a:defRPr/>
            </a:pPr>
            <a:r>
              <a:rPr lang="en-US" altLang="en-US" sz="2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#dig @</a:t>
            </a:r>
            <a:r>
              <a:rPr lang="en-US" altLang="en-US" sz="22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target_ip</a:t>
            </a:r>
            <a:endParaRPr lang="en-US" altLang="en-US" sz="22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altLang="en-US" dirty="0" smtClean="0"/>
              <a:t>Example of Zone transfer using dig:</a:t>
            </a:r>
          </a:p>
          <a:p>
            <a:pPr marL="114300" indent="0">
              <a:spcBef>
                <a:spcPts val="1200"/>
              </a:spcBef>
              <a:buNone/>
              <a:defRPr/>
            </a:pPr>
            <a:r>
              <a:rPr lang="en-US" altLang="en-US" sz="22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#dig @192.168.1.23 example.com –t AXFR</a:t>
            </a:r>
          </a:p>
          <a:p>
            <a:pPr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altLang="en-US" dirty="0" smtClean="0">
                <a:sym typeface="Wingdings" pitchFamily="2" charset="2"/>
              </a:rPr>
              <a:t> If zone transfers are allowed, you will be presented with a listing of host and IP address from target server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1266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DNS Recon </a:t>
            </a:r>
            <a:r>
              <a:rPr lang="en-US" dirty="0"/>
              <a:t>Tools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1398493" y="1990165"/>
            <a:ext cx="9206753" cy="5257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altLang="en-US" b="1" dirty="0" smtClean="0">
                <a:solidFill>
                  <a:srgbClr val="C00000"/>
                </a:solidFill>
              </a:rPr>
              <a:t>Fierce</a:t>
            </a:r>
            <a:r>
              <a:rPr lang="en-US" altLang="en-US" dirty="0" smtClean="0">
                <a:solidFill>
                  <a:srgbClr val="C00000"/>
                </a:solidFill>
              </a:rPr>
              <a:t> </a:t>
            </a:r>
            <a:r>
              <a:rPr lang="en-US" altLang="en-US" dirty="0" smtClean="0"/>
              <a:t>–</a:t>
            </a:r>
            <a:r>
              <a:rPr lang="en-US" dirty="0" smtClean="0"/>
              <a:t>Effective method for uncovering additional targets.</a:t>
            </a:r>
          </a:p>
          <a:p>
            <a:pPr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dirty="0" smtClean="0"/>
              <a:t>The </a:t>
            </a:r>
            <a:r>
              <a:rPr lang="en-US" dirty="0"/>
              <a:t>main feature of fierce is that it can be used to locate noncontiguous IP space and hostnames against specified domains</a:t>
            </a:r>
            <a:r>
              <a:rPr lang="en-US" dirty="0" smtClean="0"/>
              <a:t>.</a:t>
            </a:r>
          </a:p>
          <a:p>
            <a:pPr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fierce -h</a:t>
            </a:r>
            <a:endParaRPr 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dirty="0"/>
              <a:t>This will display the usage instructions on your screen.</a:t>
            </a:r>
          </a:p>
          <a:p>
            <a:pPr marL="114300" indent="0">
              <a:spcBef>
                <a:spcPts val="1200"/>
              </a:spcBef>
              <a:buNone/>
              <a:defRPr/>
            </a:pPr>
            <a:r>
              <a:rPr lang="en-US" b="1" dirty="0" smtClean="0"/>
              <a:t>Example: </a:t>
            </a:r>
            <a:r>
              <a:rPr lang="en-US" b="1" dirty="0" smtClean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fierce -</a:t>
            </a:r>
            <a:r>
              <a:rPr lang="en-US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dns</a:t>
            </a:r>
            <a:r>
              <a:rPr lang="en-US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google.com </a:t>
            </a:r>
            <a:endParaRPr lang="en-US" altLang="en-US" dirty="0" smtClean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03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1265</Words>
  <Application>Microsoft Office PowerPoint</Application>
  <PresentationFormat>Widescreen</PresentationFormat>
  <Paragraphs>173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Tw Cen MT</vt:lpstr>
      <vt:lpstr>Wingdings</vt:lpstr>
      <vt:lpstr>Retrospect</vt:lpstr>
      <vt:lpstr>Network Reconnaissance Tools  </vt:lpstr>
      <vt:lpstr>Outline</vt:lpstr>
      <vt:lpstr>Reconnaissance/Footprinting</vt:lpstr>
      <vt:lpstr>Reconnaissance</vt:lpstr>
      <vt:lpstr>Real Example</vt:lpstr>
      <vt:lpstr>Google Hacking</vt:lpstr>
      <vt:lpstr>Google Hacking Example: Searching within a domain</vt:lpstr>
      <vt:lpstr>Example: Searching within a domain</vt:lpstr>
      <vt:lpstr>Example: Finding Vulnerable Servers using Google</vt:lpstr>
      <vt:lpstr>Example: Email Harvesting</vt:lpstr>
      <vt:lpstr>PowerPoint Presentation</vt:lpstr>
      <vt:lpstr>Google Hacking Resources</vt:lpstr>
      <vt:lpstr>Passive Recon Tools</vt:lpstr>
      <vt:lpstr>Recon Tools</vt:lpstr>
      <vt:lpstr>Recon Tools</vt:lpstr>
      <vt:lpstr>Example: the harvester</vt:lpstr>
      <vt:lpstr>Netcraft</vt:lpstr>
      <vt:lpstr>Netcraft</vt:lpstr>
      <vt:lpstr>Whois Reconnaissance</vt:lpstr>
      <vt:lpstr>Whois Reconnaissance</vt:lpstr>
      <vt:lpstr>DNS Reconnaissance</vt:lpstr>
      <vt:lpstr>DNS Reconnaissance</vt:lpstr>
      <vt:lpstr>Forward lookup bruteforce</vt:lpstr>
      <vt:lpstr>DNS Recon Tools</vt:lpstr>
      <vt:lpstr>DNS Recon Tools</vt:lpstr>
      <vt:lpstr>DNS Recon Tools</vt:lpstr>
      <vt:lpstr>DNS Recon Tools</vt:lpstr>
      <vt:lpstr>DNS Recon Tools</vt:lpstr>
      <vt:lpstr>DNS Recon Tools</vt:lpstr>
    </vt:vector>
  </TitlesOfParts>
  <Company>UWB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Geethapriya Thamilarasu</dc:creator>
  <cp:lastModifiedBy>GEETHA THAMILARASU</cp:lastModifiedBy>
  <cp:revision>2</cp:revision>
  <dcterms:created xsi:type="dcterms:W3CDTF">2018-01-25T18:10:56Z</dcterms:created>
  <dcterms:modified xsi:type="dcterms:W3CDTF">2018-01-25T19:24:08Z</dcterms:modified>
</cp:coreProperties>
</file>