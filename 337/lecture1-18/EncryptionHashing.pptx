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257" r:id="rId2"/>
    <p:sldId id="265" r:id="rId3"/>
    <p:sldId id="266" r:id="rId4"/>
    <p:sldId id="267" r:id="rId5"/>
    <p:sldId id="268" r:id="rId6"/>
    <p:sldId id="269" r:id="rId7"/>
    <p:sldId id="272" r:id="rId8"/>
    <p:sldId id="271" r:id="rId9"/>
    <p:sldId id="273" r:id="rId10"/>
    <p:sldId id="274" r:id="rId11"/>
    <p:sldId id="275" r:id="rId12"/>
    <p:sldId id="276" r:id="rId13"/>
    <p:sldId id="277" r:id="rId14"/>
    <p:sldId id="278" r:id="rId15"/>
    <p:sldId id="279" r:id="rId16"/>
    <p:sldId id="281" r:id="rId17"/>
    <p:sldId id="283" r:id="rId18"/>
    <p:sldId id="282"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11" r:id="rId41"/>
    <p:sldId id="312" r:id="rId42"/>
    <p:sldId id="313" r:id="rId43"/>
    <p:sldId id="314" r:id="rId44"/>
    <p:sldId id="315" r:id="rId45"/>
    <p:sldId id="316" r:id="rId46"/>
    <p:sldId id="305" r:id="rId47"/>
    <p:sldId id="308" r:id="rId48"/>
    <p:sldId id="306" r:id="rId49"/>
    <p:sldId id="307" r:id="rId50"/>
    <p:sldId id="317" r:id="rId51"/>
    <p:sldId id="309" r:id="rId52"/>
    <p:sldId id="310"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83" d="100"/>
          <a:sy n="83" d="100"/>
        </p:scale>
        <p:origin x="494" y="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97767D-4339-4101-B208-D2DEFE343BBB}" type="datetimeFigureOut">
              <a:rPr lang="en-US" smtClean="0"/>
              <a:t>1/18/2018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561F8-41DC-481C-B441-1608156E10B7}" type="slidenum">
              <a:rPr lang="en-US" smtClean="0"/>
              <a:t>‹#›</a:t>
            </a:fld>
            <a:endParaRPr lang="en-US"/>
          </a:p>
        </p:txBody>
      </p:sp>
    </p:spTree>
    <p:extLst>
      <p:ext uri="{BB962C8B-B14F-4D97-AF65-F5344CB8AC3E}">
        <p14:creationId xmlns:p14="http://schemas.microsoft.com/office/powerpoint/2010/main" val="1756042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ea typeface="ヒラギノ角ゴ Pro W3" charset="-128"/>
              </a:rPr>
              <a:t>This is a summary of the slides to follow, briefly describing features of each.</a:t>
            </a:r>
          </a:p>
          <a:p>
            <a:endParaRPr lang="en-US" altLang="en-US" smtClean="0">
              <a:ea typeface="ヒラギノ角ゴ Pro W3" charset="-128"/>
            </a:endParaRPr>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00E647B7-FD0C-4D5C-80D9-96CC4969F4AB}" type="slidenum">
              <a:rPr lang="en-US" altLang="en-US" sz="1200">
                <a:solidFill>
                  <a:srgbClr val="000000"/>
                </a:solidFill>
              </a:rPr>
              <a:pPr eaLnBrk="1" hangingPunct="1"/>
              <a:t>14</a:t>
            </a:fld>
            <a:endParaRPr lang="en-US" altLang="en-US" sz="1200">
              <a:solidFill>
                <a:srgbClr val="000000"/>
              </a:solidFill>
            </a:endParaRPr>
          </a:p>
        </p:txBody>
      </p:sp>
    </p:spTree>
    <p:extLst>
      <p:ext uri="{BB962C8B-B14F-4D97-AF65-F5344CB8AC3E}">
        <p14:creationId xmlns:p14="http://schemas.microsoft.com/office/powerpoint/2010/main" val="3191562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80000"/>
              </a:lnSpc>
            </a:pPr>
            <a:r>
              <a:rPr lang="en-US" altLang="en-US" sz="1000" smtClean="0">
                <a:ea typeface="ヒラギノ角ゴ Pro W3" charset="-128"/>
              </a:rPr>
              <a:t>Security + Objective 5.3a DES</a:t>
            </a:r>
          </a:p>
          <a:p>
            <a:pPr>
              <a:lnSpc>
                <a:spcPct val="80000"/>
              </a:lnSpc>
            </a:pPr>
            <a:endParaRPr lang="en-US" altLang="en-US" sz="1000" smtClean="0">
              <a:ea typeface="ヒラギノ角ゴ Pro W3" charset="-128"/>
            </a:endParaRPr>
          </a:p>
          <a:p>
            <a:pPr>
              <a:lnSpc>
                <a:spcPct val="80000"/>
              </a:lnSpc>
            </a:pPr>
            <a:r>
              <a:rPr lang="en-US" altLang="en-US" sz="1000" smtClean="0">
                <a:ea typeface="ヒラギノ角ゴ Pro W3" charset="-128"/>
              </a:rPr>
              <a:t>NBS (Now called NIST) received an algorithm called Lucifer, originally developed by IBM. </a:t>
            </a:r>
          </a:p>
          <a:p>
            <a:pPr>
              <a:lnSpc>
                <a:spcPct val="80000"/>
              </a:lnSpc>
            </a:pPr>
            <a:r>
              <a:rPr lang="en-US" altLang="en-US" sz="1000" smtClean="0">
                <a:ea typeface="ヒラギノ角ゴ Pro W3" charset="-128"/>
              </a:rPr>
              <a:t>The NBS and the NSA worked together to analyze the algorithm</a:t>
            </a:r>
            <a:r>
              <a:rPr lang="ja-JP" altLang="en-US" sz="1000" smtClean="0">
                <a:ea typeface="ヒラギノ角ゴ Pro W3" charset="-128"/>
              </a:rPr>
              <a:t>’</a:t>
            </a:r>
            <a:r>
              <a:rPr lang="en-US" altLang="ja-JP" sz="1000" smtClean="0">
                <a:ea typeface="ヒラギノ角ゴ Pro W3" charset="-128"/>
              </a:rPr>
              <a:t>s security, and eventually DES was adopted as a federal standard in 1976.</a:t>
            </a:r>
          </a:p>
          <a:p>
            <a:pPr>
              <a:lnSpc>
                <a:spcPct val="80000"/>
              </a:lnSpc>
            </a:pPr>
            <a:endParaRPr lang="en-US" altLang="en-US" sz="1000" smtClean="0">
              <a:ea typeface="ヒラギノ角ゴ Pro W3" charset="-128"/>
            </a:endParaRPr>
          </a:p>
          <a:p>
            <a:pPr>
              <a:lnSpc>
                <a:spcPct val="80000"/>
              </a:lnSpc>
            </a:pPr>
            <a:r>
              <a:rPr lang="en-US" altLang="en-US" sz="1000" smtClean="0">
                <a:ea typeface="ヒラギノ角ゴ Pro W3" charset="-128"/>
              </a:rPr>
              <a:t>NBS specified that the DES standard had to be recertified every five years.</a:t>
            </a:r>
          </a:p>
          <a:p>
            <a:pPr>
              <a:lnSpc>
                <a:spcPct val="80000"/>
              </a:lnSpc>
            </a:pPr>
            <a:r>
              <a:rPr lang="en-US" altLang="en-US" sz="1000" smtClean="0">
                <a:ea typeface="ヒラギノ角ゴ Pro W3" charset="-128"/>
              </a:rPr>
              <a:t>Passed without a hitch in 1983, not in 1987. Forced to recertify in 1993.</a:t>
            </a:r>
          </a:p>
          <a:p>
            <a:pPr>
              <a:lnSpc>
                <a:spcPct val="80000"/>
              </a:lnSpc>
            </a:pPr>
            <a:r>
              <a:rPr lang="en-US" altLang="en-US" sz="1000" smtClean="0">
                <a:ea typeface="ヒラギノ角ゴ Pro W3" charset="-128"/>
              </a:rPr>
              <a:t>NIST has now certified the Advanced Encryption Standard (AES) to replace DES.</a:t>
            </a:r>
          </a:p>
          <a:p>
            <a:pPr>
              <a:lnSpc>
                <a:spcPct val="80000"/>
              </a:lnSpc>
            </a:pPr>
            <a:endParaRPr lang="en-US" altLang="en-US" sz="1000" smtClean="0">
              <a:ea typeface="ヒラギノ角ゴ Pro W3" charset="-128"/>
            </a:endParaRPr>
          </a:p>
          <a:p>
            <a:pPr>
              <a:lnSpc>
                <a:spcPct val="80000"/>
              </a:lnSpc>
            </a:pPr>
            <a:r>
              <a:rPr lang="en-US" altLang="en-US" sz="1000" smtClean="0">
                <a:ea typeface="ヒラギノ角ゴ Pro W3" charset="-128"/>
              </a:rPr>
              <a:t>Over the years that DES has been a cryptographic standard, some problems have been encountered. </a:t>
            </a:r>
          </a:p>
          <a:p>
            <a:pPr>
              <a:lnSpc>
                <a:spcPct val="80000"/>
              </a:lnSpc>
            </a:pPr>
            <a:r>
              <a:rPr lang="en-US" altLang="en-US" sz="1000" i="1" smtClean="0">
                <a:ea typeface="ヒラギノ角ゴ Pro W3" charset="-128"/>
              </a:rPr>
              <a:t>Weak keys</a:t>
            </a:r>
            <a:r>
              <a:rPr lang="en-US" altLang="en-US" sz="1000" smtClean="0">
                <a:ea typeface="ヒラギノ角ゴ Pro W3" charset="-128"/>
              </a:rPr>
              <a:t> are keys that are less secure than the majority of keys allowed in the keyspace of the algorithm. </a:t>
            </a:r>
          </a:p>
          <a:p>
            <a:pPr>
              <a:lnSpc>
                <a:spcPct val="80000"/>
              </a:lnSpc>
            </a:pPr>
            <a:r>
              <a:rPr lang="en-US" altLang="en-US" sz="1000" smtClean="0">
                <a:ea typeface="ヒラギノ角ゴ Pro W3" charset="-128"/>
              </a:rPr>
              <a:t>In the case of DES, because of the way the initial key is modified to get the subkey, certain keys are weak keys. </a:t>
            </a:r>
          </a:p>
          <a:p>
            <a:pPr>
              <a:lnSpc>
                <a:spcPct val="80000"/>
              </a:lnSpc>
            </a:pPr>
            <a:r>
              <a:rPr lang="en-US" altLang="en-US" sz="1000" smtClean="0">
                <a:ea typeface="ヒラギノ角ゴ Pro W3" charset="-128"/>
              </a:rPr>
              <a:t>The weak keys equate in binary to having all 1</a:t>
            </a:r>
            <a:r>
              <a:rPr lang="ja-JP" altLang="en-US" sz="1000" smtClean="0">
                <a:ea typeface="ヒラギノ角ゴ Pro W3" charset="-128"/>
              </a:rPr>
              <a:t>’</a:t>
            </a:r>
            <a:r>
              <a:rPr lang="en-US" altLang="ja-JP" sz="1000" smtClean="0">
                <a:ea typeface="ヒラギノ角ゴ Pro W3" charset="-128"/>
              </a:rPr>
              <a:t>s or all 0</a:t>
            </a:r>
            <a:r>
              <a:rPr lang="ja-JP" altLang="en-US" sz="1000" smtClean="0">
                <a:ea typeface="ヒラギノ角ゴ Pro W3" charset="-128"/>
              </a:rPr>
              <a:t>’</a:t>
            </a:r>
            <a:r>
              <a:rPr lang="en-US" altLang="ja-JP" sz="1000" smtClean="0">
                <a:ea typeface="ヒラギノ角ゴ Pro W3" charset="-128"/>
              </a:rPr>
              <a:t>s.</a:t>
            </a:r>
          </a:p>
          <a:p>
            <a:pPr>
              <a:lnSpc>
                <a:spcPct val="80000"/>
              </a:lnSpc>
            </a:pPr>
            <a:endParaRPr lang="en-US" altLang="en-US" sz="1000" smtClean="0">
              <a:ea typeface="ヒラギノ角ゴ Pro W3" charset="-128"/>
            </a:endParaRPr>
          </a:p>
          <a:p>
            <a:pPr>
              <a:lnSpc>
                <a:spcPct val="80000"/>
              </a:lnSpc>
            </a:pPr>
            <a:r>
              <a:rPr lang="en-US" altLang="en-US" sz="1000" smtClean="0">
                <a:ea typeface="ヒラギノ角ゴ Pro W3" charset="-128"/>
              </a:rPr>
              <a:t>Semiweak keys, with which two keys will encrypt plaintext to identical ciphertext, also exist, meaning that either key will decrypt the ciphertext. The total number of possibly weak keys is 64, which is very small relative to the 2</a:t>
            </a:r>
            <a:r>
              <a:rPr lang="en-US" altLang="en-US" sz="1000" baseline="30000" smtClean="0">
                <a:ea typeface="ヒラギノ角ゴ Pro W3" charset="-128"/>
              </a:rPr>
              <a:t>56</a:t>
            </a:r>
            <a:r>
              <a:rPr lang="en-US" altLang="en-US" sz="1000" smtClean="0">
                <a:ea typeface="ヒラギノ角ゴ Pro W3" charset="-128"/>
              </a:rPr>
              <a:t> possible keys in DES.</a:t>
            </a:r>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20BCCD91-2602-42F1-87C6-FE52749EA398}" type="slidenum">
              <a:rPr lang="en-US" altLang="en-US" sz="1200">
                <a:solidFill>
                  <a:srgbClr val="000000"/>
                </a:solidFill>
              </a:rPr>
              <a:pPr eaLnBrk="1" hangingPunct="1"/>
              <a:t>15</a:t>
            </a:fld>
            <a:endParaRPr lang="en-US" altLang="en-US" sz="1200">
              <a:solidFill>
                <a:srgbClr val="000000"/>
              </a:solidFill>
            </a:endParaRPr>
          </a:p>
        </p:txBody>
      </p:sp>
    </p:spTree>
    <p:extLst>
      <p:ext uri="{BB962C8B-B14F-4D97-AF65-F5344CB8AC3E}">
        <p14:creationId xmlns:p14="http://schemas.microsoft.com/office/powerpoint/2010/main" val="2867124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90000"/>
              </a:lnSpc>
            </a:pPr>
            <a:r>
              <a:rPr lang="en-US" altLang="en-US" smtClean="0">
                <a:ea typeface="ヒラギノ角ゴ Pro W3" charset="-128"/>
              </a:rPr>
              <a:t>Security + Objective 5.3b 3DES</a:t>
            </a:r>
          </a:p>
          <a:p>
            <a:pPr>
              <a:lnSpc>
                <a:spcPct val="90000"/>
              </a:lnSpc>
            </a:pPr>
            <a:endParaRPr lang="en-US" altLang="en-US" smtClean="0">
              <a:ea typeface="ヒラギノ角ゴ Pro W3" charset="-128"/>
            </a:endParaRPr>
          </a:p>
          <a:p>
            <a:pPr>
              <a:lnSpc>
                <a:spcPct val="90000"/>
              </a:lnSpc>
            </a:pPr>
            <a:r>
              <a:rPr lang="en-US" altLang="en-US" smtClean="0">
                <a:ea typeface="ヒラギノ角ゴ Pro W3" charset="-128"/>
              </a:rPr>
              <a:t>Multiple encryption can be performed in several different ways.</a:t>
            </a:r>
          </a:p>
          <a:p>
            <a:pPr>
              <a:lnSpc>
                <a:spcPct val="90000"/>
              </a:lnSpc>
            </a:pPr>
            <a:r>
              <a:rPr lang="en-US" altLang="en-US" smtClean="0">
                <a:ea typeface="ヒラギノ角ゴ Pro W3" charset="-128"/>
              </a:rPr>
              <a:t>The simplest method of multiple encryption is just to stack algorithms on top of each other.</a:t>
            </a:r>
          </a:p>
          <a:p>
            <a:pPr>
              <a:lnSpc>
                <a:spcPct val="90000"/>
              </a:lnSpc>
            </a:pPr>
            <a:r>
              <a:rPr lang="en-US" altLang="en-US" smtClean="0">
                <a:ea typeface="ヒラギノ角ゴ Pro W3" charset="-128"/>
              </a:rPr>
              <a:t>	—Taking plaintext, encrypting it with DES, then encrypting the first ciphertext with a different key, and finally encrypting the second ciphertext with a third key. </a:t>
            </a:r>
          </a:p>
          <a:p>
            <a:pPr>
              <a:lnSpc>
                <a:spcPct val="90000"/>
              </a:lnSpc>
            </a:pPr>
            <a:r>
              <a:rPr lang="en-US" altLang="en-US" smtClean="0">
                <a:ea typeface="ヒラギノ角ゴ Pro W3" charset="-128"/>
              </a:rPr>
              <a:t>In reality, this technique is less effective than the technique that 3DES uses, which is to encrypt with one key, then decrypt with a second, and then encrypt with a third.</a:t>
            </a:r>
          </a:p>
          <a:p>
            <a:pPr>
              <a:lnSpc>
                <a:spcPct val="90000"/>
              </a:lnSpc>
            </a:pPr>
            <a:endParaRPr lang="en-US" altLang="en-US" smtClean="0">
              <a:ea typeface="ヒラギノ角ゴ Pro W3" charset="-128"/>
            </a:endParaRPr>
          </a:p>
          <a:p>
            <a:pPr>
              <a:lnSpc>
                <a:spcPct val="90000"/>
              </a:lnSpc>
            </a:pPr>
            <a:r>
              <a:rPr lang="en-US" altLang="en-US" smtClean="0">
                <a:ea typeface="ヒラギノ角ゴ Pro W3" charset="-128"/>
              </a:rPr>
              <a:t>This greatly increases the number of attempts needed to retrieve the key and is a significant enhancement of security. </a:t>
            </a:r>
          </a:p>
          <a:p>
            <a:pPr>
              <a:lnSpc>
                <a:spcPct val="90000"/>
              </a:lnSpc>
            </a:pPr>
            <a:r>
              <a:rPr lang="en-US" altLang="en-US" smtClean="0">
                <a:ea typeface="ヒラギノ角ゴ Pro W3" charset="-128"/>
              </a:rPr>
              <a:t>The additional security comes with a price, however. It can take up to three times longer to compute 3DES than to compute DES. </a:t>
            </a:r>
          </a:p>
          <a:p>
            <a:pPr>
              <a:lnSpc>
                <a:spcPct val="90000"/>
              </a:lnSpc>
            </a:pPr>
            <a:r>
              <a:rPr lang="en-US" altLang="en-US" smtClean="0">
                <a:ea typeface="ヒラギノ角ゴ Pro W3" charset="-128"/>
              </a:rPr>
              <a:t>While this is the case, advances in memory and processing power in today</a:t>
            </a:r>
            <a:r>
              <a:rPr lang="ja-JP" altLang="en-US" smtClean="0">
                <a:ea typeface="ヒラギノ角ゴ Pro W3" charset="-128"/>
              </a:rPr>
              <a:t>’</a:t>
            </a:r>
            <a:r>
              <a:rPr lang="en-US" altLang="ja-JP" smtClean="0">
                <a:ea typeface="ヒラギノ角ゴ Pro W3" charset="-128"/>
              </a:rPr>
              <a:t>s electronics should make this problem irrelevant in all devices except for very small low-power handhelds.</a:t>
            </a:r>
          </a:p>
          <a:p>
            <a:pPr>
              <a:lnSpc>
                <a:spcPct val="90000"/>
              </a:lnSpc>
            </a:pPr>
            <a:endParaRPr lang="en-US" altLang="en-US" smtClean="0">
              <a:ea typeface="ヒラギノ角ゴ Pro W3" charset="-128"/>
            </a:endParaRPr>
          </a:p>
          <a:p>
            <a:pPr>
              <a:lnSpc>
                <a:spcPct val="90000"/>
              </a:lnSpc>
            </a:pPr>
            <a:endParaRPr lang="en-US" altLang="en-US" smtClean="0">
              <a:ea typeface="ヒラギノ角ゴ Pro W3" charset="-128"/>
            </a:endParaRPr>
          </a:p>
        </p:txBody>
      </p:sp>
      <p:sp>
        <p:nvSpPr>
          <p:cNvPr id="491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0C0D4C52-DEB2-498B-8FDC-3BDF50C0B1B3}" type="slidenum">
              <a:rPr lang="en-US" altLang="en-US" sz="1200">
                <a:solidFill>
                  <a:srgbClr val="000000"/>
                </a:solidFill>
              </a:rPr>
              <a:pPr eaLnBrk="1" hangingPunct="1"/>
              <a:t>17</a:t>
            </a:fld>
            <a:endParaRPr lang="en-US" altLang="en-US" sz="1200">
              <a:solidFill>
                <a:srgbClr val="000000"/>
              </a:solidFill>
            </a:endParaRPr>
          </a:p>
        </p:txBody>
      </p:sp>
    </p:spTree>
    <p:extLst>
      <p:ext uri="{BB962C8B-B14F-4D97-AF65-F5344CB8AC3E}">
        <p14:creationId xmlns:p14="http://schemas.microsoft.com/office/powerpoint/2010/main" val="3903052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ea typeface="ヒラギノ角ゴ Pro W3" charset="-128"/>
            </a:endParaRPr>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8F0ADE22-8798-4274-82A9-221DE3570A16}" type="slidenum">
              <a:rPr lang="en-US" altLang="en-US" sz="1200">
                <a:solidFill>
                  <a:srgbClr val="000000"/>
                </a:solidFill>
              </a:rPr>
              <a:pPr eaLnBrk="1" hangingPunct="1"/>
              <a:t>19</a:t>
            </a:fld>
            <a:endParaRPr lang="en-US" altLang="en-US" sz="1200">
              <a:solidFill>
                <a:srgbClr val="000000"/>
              </a:solidFill>
            </a:endParaRPr>
          </a:p>
        </p:txBody>
      </p:sp>
    </p:spTree>
    <p:extLst>
      <p:ext uri="{BB962C8B-B14F-4D97-AF65-F5344CB8AC3E}">
        <p14:creationId xmlns:p14="http://schemas.microsoft.com/office/powerpoint/2010/main" val="3423289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80000"/>
              </a:lnSpc>
            </a:pPr>
            <a:r>
              <a:rPr lang="en-US" altLang="en-US" sz="700" smtClean="0">
                <a:ea typeface="ヒラギノ角ゴ Pro W3" charset="-128"/>
              </a:rPr>
              <a:t>Security + Objective 5.3f AES</a:t>
            </a:r>
          </a:p>
          <a:p>
            <a:pPr>
              <a:lnSpc>
                <a:spcPct val="80000"/>
              </a:lnSpc>
            </a:pPr>
            <a:endParaRPr lang="en-US" altLang="en-US" sz="700" smtClean="0">
              <a:ea typeface="ヒラギノ角ゴ Pro W3" charset="-128"/>
            </a:endParaRPr>
          </a:p>
          <a:p>
            <a:pPr>
              <a:lnSpc>
                <a:spcPct val="80000"/>
              </a:lnSpc>
            </a:pPr>
            <a:r>
              <a:rPr lang="en-US" altLang="en-US" sz="700" smtClean="0">
                <a:ea typeface="ヒラギノ角ゴ Pro W3" charset="-128"/>
              </a:rPr>
              <a:t>Because of the advancement of technology and the progress being made in quickly retrieving DES keys, NIST put out a request for proposals for a new Advanced Encryption Standard (AES). It called for a block cipher using symmetric key cryptography and supporting key sizes of 128, 192, and 256 bits. After evaluation, the NIST had five finalists:</a:t>
            </a:r>
          </a:p>
          <a:p>
            <a:pPr>
              <a:lnSpc>
                <a:spcPct val="80000"/>
              </a:lnSpc>
            </a:pPr>
            <a:r>
              <a:rPr lang="en-US" altLang="en-US" sz="700" b="1" smtClean="0">
                <a:ea typeface="ヒラギノ角ゴ Pro W3" charset="-128"/>
              </a:rPr>
              <a:t>MARS</a:t>
            </a:r>
            <a:r>
              <a:rPr lang="en-US" altLang="en-US" sz="700" smtClean="0">
                <a:ea typeface="ヒラギノ角ゴ Pro W3" charset="-128"/>
              </a:rPr>
              <a:t> IBM</a:t>
            </a:r>
          </a:p>
          <a:p>
            <a:pPr>
              <a:lnSpc>
                <a:spcPct val="80000"/>
              </a:lnSpc>
            </a:pPr>
            <a:r>
              <a:rPr lang="en-US" altLang="en-US" sz="700" b="1" smtClean="0">
                <a:ea typeface="ヒラギノ角ゴ Pro W3" charset="-128"/>
              </a:rPr>
              <a:t>RC6</a:t>
            </a:r>
            <a:r>
              <a:rPr lang="en-US" altLang="en-US" sz="700" smtClean="0">
                <a:ea typeface="ヒラギノ角ゴ Pro W3" charset="-128"/>
              </a:rPr>
              <a:t> RSA</a:t>
            </a:r>
          </a:p>
          <a:p>
            <a:pPr>
              <a:lnSpc>
                <a:spcPct val="80000"/>
              </a:lnSpc>
            </a:pPr>
            <a:r>
              <a:rPr lang="en-US" altLang="en-US" sz="700" b="1" smtClean="0">
                <a:ea typeface="ヒラギノ角ゴ Pro W3" charset="-128"/>
              </a:rPr>
              <a:t>Rijndael</a:t>
            </a:r>
            <a:r>
              <a:rPr lang="en-US" altLang="en-US" sz="700" smtClean="0">
                <a:ea typeface="ヒラギノ角ゴ Pro W3" charset="-128"/>
              </a:rPr>
              <a:t> John Daemen and Vincent Rijmen</a:t>
            </a:r>
          </a:p>
          <a:p>
            <a:pPr>
              <a:lnSpc>
                <a:spcPct val="80000"/>
              </a:lnSpc>
            </a:pPr>
            <a:r>
              <a:rPr lang="en-US" altLang="en-US" sz="700" b="1" smtClean="0">
                <a:ea typeface="ヒラギノ角ゴ Pro W3" charset="-128"/>
              </a:rPr>
              <a:t>Serpent</a:t>
            </a:r>
            <a:r>
              <a:rPr lang="en-US" altLang="en-US" sz="700" smtClean="0">
                <a:ea typeface="ヒラギノ角ゴ Pro W3" charset="-128"/>
              </a:rPr>
              <a:t> Ross Anderson, Eli Biham, and Lars Knudsen</a:t>
            </a:r>
          </a:p>
          <a:p>
            <a:pPr>
              <a:lnSpc>
                <a:spcPct val="80000"/>
              </a:lnSpc>
            </a:pPr>
            <a:r>
              <a:rPr lang="en-US" altLang="en-US" sz="700" b="1" smtClean="0">
                <a:ea typeface="ヒラギノ角ゴ Pro W3" charset="-128"/>
              </a:rPr>
              <a:t>Twofish</a:t>
            </a:r>
            <a:r>
              <a:rPr lang="en-US" altLang="en-US" sz="700" smtClean="0">
                <a:ea typeface="ヒラギノ角ゴ Pro W3" charset="-128"/>
              </a:rPr>
              <a:t> Bruce Schneier, John Kelsey, Doug Whiting, David Wagner, Chris Hall, and Niels Ferguson</a:t>
            </a:r>
          </a:p>
          <a:p>
            <a:pPr>
              <a:lnSpc>
                <a:spcPct val="80000"/>
              </a:lnSpc>
            </a:pPr>
            <a:endParaRPr lang="en-US" altLang="en-US" sz="700" smtClean="0">
              <a:ea typeface="ヒラギノ角ゴ Pro W3" charset="-128"/>
            </a:endParaRPr>
          </a:p>
          <a:p>
            <a:pPr>
              <a:lnSpc>
                <a:spcPct val="80000"/>
              </a:lnSpc>
            </a:pPr>
            <a:r>
              <a:rPr lang="en-US" altLang="en-US" sz="700" smtClean="0">
                <a:ea typeface="ヒラギノ角ゴ Pro W3" charset="-128"/>
              </a:rPr>
              <a:t>In the fall of 2000, NIST picked Rijndael to be the new AES. It was chosen for its overall security as well as its good performance on limited-capacity devices. Rijndael</a:t>
            </a:r>
            <a:r>
              <a:rPr lang="ja-JP" altLang="en-US" sz="700" smtClean="0">
                <a:ea typeface="ヒラギノ角ゴ Pro W3" charset="-128"/>
              </a:rPr>
              <a:t>’</a:t>
            </a:r>
            <a:r>
              <a:rPr lang="en-US" altLang="ja-JP" sz="700" smtClean="0">
                <a:ea typeface="ヒラギノ角ゴ Pro W3" charset="-128"/>
              </a:rPr>
              <a:t>s design was influenced by Square, also written by John Daemen and Vincent Rijmen. Like Square, Rijndael is a block cipher that separates data input into 128-bit blocks. </a:t>
            </a:r>
          </a:p>
          <a:p>
            <a:pPr>
              <a:lnSpc>
                <a:spcPct val="80000"/>
              </a:lnSpc>
            </a:pPr>
            <a:endParaRPr lang="en-US" altLang="en-US" sz="700" smtClean="0">
              <a:ea typeface="ヒラギノ角ゴ Pro W3" charset="-128"/>
            </a:endParaRPr>
          </a:p>
          <a:p>
            <a:pPr>
              <a:lnSpc>
                <a:spcPct val="80000"/>
              </a:lnSpc>
            </a:pPr>
            <a:r>
              <a:rPr lang="en-US" altLang="en-US" sz="700" smtClean="0">
                <a:ea typeface="ヒラギノ角ゴ Pro W3" charset="-128"/>
              </a:rPr>
              <a:t>For a more in-depth description of AES, see the NIST document http://csrc.nist.gov/publications/fips/fips197/fips-197.pdf.</a:t>
            </a:r>
          </a:p>
          <a:p>
            <a:pPr>
              <a:lnSpc>
                <a:spcPct val="80000"/>
              </a:lnSpc>
            </a:pPr>
            <a:endParaRPr lang="en-US" altLang="en-US" sz="700" smtClean="0">
              <a:ea typeface="ヒラギノ角ゴ Pro W3" charset="-128"/>
            </a:endParaRPr>
          </a:p>
        </p:txBody>
      </p:sp>
      <p:sp>
        <p:nvSpPr>
          <p:cNvPr id="563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D924798C-C24F-4EDF-8C46-D0F2BFE9CD8C}" type="slidenum">
              <a:rPr lang="en-US" altLang="en-US" sz="1200">
                <a:solidFill>
                  <a:srgbClr val="000000"/>
                </a:solidFill>
              </a:rPr>
              <a:pPr eaLnBrk="1" hangingPunct="1"/>
              <a:t>21</a:t>
            </a:fld>
            <a:endParaRPr lang="en-US" altLang="en-US" sz="1200">
              <a:solidFill>
                <a:srgbClr val="000000"/>
              </a:solidFill>
            </a:endParaRPr>
          </a:p>
        </p:txBody>
      </p:sp>
    </p:spTree>
    <p:extLst>
      <p:ext uri="{BB962C8B-B14F-4D97-AF65-F5344CB8AC3E}">
        <p14:creationId xmlns:p14="http://schemas.microsoft.com/office/powerpoint/2010/main" val="3513781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ea typeface="ヒラギノ角ゴ Pro W3" charset="-128"/>
            </a:endParaRPr>
          </a:p>
        </p:txBody>
      </p:sp>
      <p:sp>
        <p:nvSpPr>
          <p:cNvPr id="727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B58B6E07-B19C-4A38-BD2A-EA826A49F094}" type="slidenum">
              <a:rPr lang="en-US" altLang="en-US" sz="1200"/>
              <a:pPr eaLnBrk="1" hangingPunct="1"/>
              <a:t>24</a:t>
            </a:fld>
            <a:endParaRPr lang="en-US" altLang="en-US" sz="1200"/>
          </a:p>
        </p:txBody>
      </p:sp>
    </p:spTree>
    <p:extLst>
      <p:ext uri="{BB962C8B-B14F-4D97-AF65-F5344CB8AC3E}">
        <p14:creationId xmlns:p14="http://schemas.microsoft.com/office/powerpoint/2010/main" val="3509074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90000"/>
              </a:lnSpc>
            </a:pPr>
            <a:r>
              <a:rPr lang="en-US" altLang="en-US" sz="1100" smtClean="0">
                <a:ea typeface="ヒラギノ角ゴ Pro W3" charset="-128"/>
              </a:rPr>
              <a:t>Security + Objective 5.3c RSA</a:t>
            </a:r>
          </a:p>
          <a:p>
            <a:pPr>
              <a:lnSpc>
                <a:spcPct val="90000"/>
              </a:lnSpc>
            </a:pPr>
            <a:endParaRPr lang="en-US" altLang="en-US" sz="1100" smtClean="0">
              <a:ea typeface="ヒラギノ角ゴ Pro W3" charset="-128"/>
            </a:endParaRPr>
          </a:p>
          <a:p>
            <a:pPr>
              <a:lnSpc>
                <a:spcPct val="90000"/>
              </a:lnSpc>
            </a:pPr>
            <a:r>
              <a:rPr lang="en-US" altLang="en-US" sz="1100" smtClean="0">
                <a:ea typeface="ヒラギノ角ゴ Pro W3" charset="-128"/>
              </a:rPr>
              <a:t>Considering the effectiveness of RSA</a:t>
            </a:r>
            <a:r>
              <a:rPr lang="ja-JP" altLang="en-US" sz="1100" smtClean="0">
                <a:ea typeface="ヒラギノ角ゴ Pro W3" charset="-128"/>
              </a:rPr>
              <a:t>’</a:t>
            </a:r>
            <a:r>
              <a:rPr lang="en-US" altLang="ja-JP" sz="1100" smtClean="0">
                <a:ea typeface="ヒラギノ角ゴ Pro W3" charset="-128"/>
              </a:rPr>
              <a:t>s security and the ability to have two keys, why are symmetric encryption algorithms needed at all? </a:t>
            </a:r>
          </a:p>
          <a:p>
            <a:pPr>
              <a:lnSpc>
                <a:spcPct val="90000"/>
              </a:lnSpc>
            </a:pPr>
            <a:r>
              <a:rPr lang="en-US" altLang="en-US" sz="1100" smtClean="0">
                <a:ea typeface="ヒラギノ角ゴ Pro W3" charset="-128"/>
              </a:rPr>
              <a:t>The answer is speed. RSA in software can be 100 times slower than DES, and in hardware it can be even slower.</a:t>
            </a:r>
          </a:p>
          <a:p>
            <a:pPr>
              <a:lnSpc>
                <a:spcPct val="90000"/>
              </a:lnSpc>
            </a:pPr>
            <a:r>
              <a:rPr lang="en-US" altLang="en-US" sz="1100" smtClean="0">
                <a:ea typeface="ヒラギノ角ゴ Pro W3" charset="-128"/>
              </a:rPr>
              <a:t>RSA can be used to perform both regular encryption and digital signatures. Digital signatures try to duplicate the functionality of a physical signature on a document using encryption. Typically, RSA and the other public key systems are used in conjunction with symmetric key cryptography. Public key, the slower protocol, is used to exchange the symmetric key (or shared secret), and then the communication uses the faster symmetric key protocol. This process is known as </a:t>
            </a:r>
            <a:r>
              <a:rPr lang="en-US" altLang="en-US" sz="1100" i="1" smtClean="0">
                <a:ea typeface="ヒラギノ角ゴ Pro W3" charset="-128"/>
              </a:rPr>
              <a:t>electronic key exchange</a:t>
            </a:r>
            <a:r>
              <a:rPr lang="en-US" altLang="en-US" sz="1100" smtClean="0">
                <a:ea typeface="ヒラギノ角ゴ Pro W3" charset="-128"/>
              </a:rPr>
              <a:t>.</a:t>
            </a:r>
          </a:p>
          <a:p>
            <a:pPr>
              <a:lnSpc>
                <a:spcPct val="90000"/>
              </a:lnSpc>
            </a:pPr>
            <a:r>
              <a:rPr lang="en-US" altLang="en-US" sz="1100" smtClean="0">
                <a:ea typeface="ヒラギノ角ゴ Pro W3" charset="-128"/>
              </a:rPr>
              <a:t>Since the security of RSA is based upon the supposed difficulty of factoring large numbers, the main weaknesses are in the implementations of the protocol. Until recently, RSA was a patented algorithm, but it was a de facto standard for many years.</a:t>
            </a:r>
          </a:p>
          <a:p>
            <a:pPr>
              <a:lnSpc>
                <a:spcPct val="90000"/>
              </a:lnSpc>
            </a:pPr>
            <a:endParaRPr lang="en-US" altLang="en-US" sz="1100" smtClean="0">
              <a:ea typeface="ヒラギノ角ゴ Pro W3" charset="-128"/>
            </a:endParaRPr>
          </a:p>
        </p:txBody>
      </p:sp>
      <p:sp>
        <p:nvSpPr>
          <p:cNvPr id="788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B6A5A3DA-FF0C-429F-82EE-8ACA236BC365}" type="slidenum">
              <a:rPr lang="en-US" altLang="en-US" sz="1200"/>
              <a:pPr eaLnBrk="1" hangingPunct="1"/>
              <a:t>25</a:t>
            </a:fld>
            <a:endParaRPr lang="en-US" altLang="en-US" sz="1200"/>
          </a:p>
        </p:txBody>
      </p:sp>
    </p:spTree>
    <p:extLst>
      <p:ext uri="{BB962C8B-B14F-4D97-AF65-F5344CB8AC3E}">
        <p14:creationId xmlns:p14="http://schemas.microsoft.com/office/powerpoint/2010/main" val="331327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90000"/>
              </a:lnSpc>
            </a:pPr>
            <a:r>
              <a:rPr lang="en-US" altLang="en-US" sz="1100" smtClean="0">
                <a:ea typeface="ヒラギノ角ゴ Pro W3" charset="-128"/>
              </a:rPr>
              <a:t>Security + Objective 5.4a SSL/TLS</a:t>
            </a:r>
          </a:p>
          <a:p>
            <a:pPr>
              <a:lnSpc>
                <a:spcPct val="90000"/>
              </a:lnSpc>
            </a:pPr>
            <a:endParaRPr lang="en-US" altLang="en-US" sz="1100" smtClean="0">
              <a:ea typeface="ヒラギノ角ゴ Pro W3" charset="-128"/>
            </a:endParaRPr>
          </a:p>
          <a:p>
            <a:pPr>
              <a:lnSpc>
                <a:spcPct val="90000"/>
              </a:lnSpc>
            </a:pPr>
            <a:r>
              <a:rPr lang="en-US" altLang="en-US" sz="1100" smtClean="0">
                <a:ea typeface="ヒラギノ角ゴ Pro W3" charset="-128"/>
              </a:rPr>
              <a:t>Uses large prime numbers to work. Two users agree to two numbers, </a:t>
            </a:r>
            <a:r>
              <a:rPr lang="en-US" altLang="en-US" sz="1100" i="1" smtClean="0">
                <a:ea typeface="ヒラギノ角ゴ Pro W3" charset="-128"/>
              </a:rPr>
              <a:t>P</a:t>
            </a:r>
            <a:r>
              <a:rPr lang="en-US" altLang="en-US" sz="1100" smtClean="0">
                <a:ea typeface="ヒラギノ角ゴ Pro W3" charset="-128"/>
              </a:rPr>
              <a:t> and </a:t>
            </a:r>
            <a:r>
              <a:rPr lang="en-US" altLang="en-US" sz="1100" i="1" smtClean="0">
                <a:ea typeface="ヒラギノ角ゴ Pro W3" charset="-128"/>
              </a:rPr>
              <a:t>G</a:t>
            </a:r>
            <a:r>
              <a:rPr lang="en-US" altLang="en-US" sz="1100" smtClean="0">
                <a:ea typeface="ヒラギノ角ゴ Pro W3" charset="-128"/>
              </a:rPr>
              <a:t>, with </a:t>
            </a:r>
            <a:r>
              <a:rPr lang="en-US" altLang="en-US" sz="1100" i="1" smtClean="0">
                <a:ea typeface="ヒラギノ角ゴ Pro W3" charset="-128"/>
              </a:rPr>
              <a:t>P</a:t>
            </a:r>
            <a:r>
              <a:rPr lang="en-US" altLang="en-US" sz="1100" smtClean="0">
                <a:ea typeface="ヒラギノ角ゴ Pro W3" charset="-128"/>
              </a:rPr>
              <a:t> being a sufficiently large prime number and </a:t>
            </a:r>
            <a:r>
              <a:rPr lang="en-US" altLang="en-US" sz="1100" i="1" smtClean="0">
                <a:ea typeface="ヒラギノ角ゴ Pro W3" charset="-128"/>
              </a:rPr>
              <a:t>G</a:t>
            </a:r>
            <a:r>
              <a:rPr lang="en-US" altLang="en-US" sz="1100" smtClean="0">
                <a:ea typeface="ヒラギノ角ゴ Pro W3" charset="-128"/>
              </a:rPr>
              <a:t> being the generator.</a:t>
            </a:r>
          </a:p>
          <a:p>
            <a:pPr>
              <a:lnSpc>
                <a:spcPct val="90000"/>
              </a:lnSpc>
            </a:pPr>
            <a:r>
              <a:rPr lang="en-US" altLang="en-US" sz="1100" smtClean="0">
                <a:ea typeface="ヒラギノ角ゴ Pro W3" charset="-128"/>
              </a:rPr>
              <a:t>Both users pick a secret number, </a:t>
            </a:r>
            <a:r>
              <a:rPr lang="en-US" altLang="en-US" sz="1100" i="1" smtClean="0">
                <a:ea typeface="ヒラギノ角ゴ Pro W3" charset="-128"/>
              </a:rPr>
              <a:t>a</a:t>
            </a:r>
            <a:r>
              <a:rPr lang="en-US" altLang="en-US" sz="1100" smtClean="0">
                <a:ea typeface="ヒラギノ角ゴ Pro W3" charset="-128"/>
              </a:rPr>
              <a:t> and </a:t>
            </a:r>
            <a:r>
              <a:rPr lang="en-US" altLang="en-US" sz="1100" i="1" smtClean="0">
                <a:ea typeface="ヒラギノ角ゴ Pro W3" charset="-128"/>
              </a:rPr>
              <a:t>b</a:t>
            </a:r>
            <a:r>
              <a:rPr lang="en-US" altLang="en-US" sz="1100" smtClean="0">
                <a:ea typeface="ヒラギノ角ゴ Pro W3" charset="-128"/>
              </a:rPr>
              <a:t>. </a:t>
            </a:r>
          </a:p>
          <a:p>
            <a:pPr>
              <a:lnSpc>
                <a:spcPct val="90000"/>
              </a:lnSpc>
            </a:pPr>
            <a:r>
              <a:rPr lang="en-US" altLang="en-US" sz="1100" smtClean="0">
                <a:ea typeface="ヒラギノ角ゴ Pro W3" charset="-128"/>
              </a:rPr>
              <a:t>Then both users compute their public number:</a:t>
            </a:r>
          </a:p>
          <a:p>
            <a:pPr>
              <a:lnSpc>
                <a:spcPct val="90000"/>
              </a:lnSpc>
            </a:pPr>
            <a:endParaRPr lang="en-US" altLang="en-US" sz="1100" smtClean="0">
              <a:ea typeface="ヒラギノ角ゴ Pro W3" charset="-128"/>
            </a:endParaRPr>
          </a:p>
          <a:p>
            <a:pPr>
              <a:lnSpc>
                <a:spcPct val="90000"/>
              </a:lnSpc>
            </a:pPr>
            <a:r>
              <a:rPr lang="en-US" altLang="en-US" sz="1100" smtClean="0">
                <a:ea typeface="ヒラギノ角ゴ Pro W3" charset="-128"/>
              </a:rPr>
              <a:t>Diffie-Hellman is still in wide use. </a:t>
            </a:r>
          </a:p>
          <a:p>
            <a:pPr>
              <a:lnSpc>
                <a:spcPct val="90000"/>
              </a:lnSpc>
            </a:pPr>
            <a:r>
              <a:rPr lang="en-US" altLang="en-US" sz="1100" smtClean="0">
                <a:ea typeface="ヒラギノ角ゴ Pro W3" charset="-128"/>
              </a:rPr>
              <a:t>It remains very effective because of the nature of what it is protecting—a temporary, automatically generated secret key that is good only for a single communication session.</a:t>
            </a:r>
          </a:p>
          <a:p>
            <a:pPr>
              <a:lnSpc>
                <a:spcPct val="90000"/>
              </a:lnSpc>
            </a:pPr>
            <a:endParaRPr lang="en-US" altLang="en-US" sz="1100" smtClean="0">
              <a:ea typeface="ヒラギノ角ゴ Pro W3" charset="-128"/>
            </a:endParaRPr>
          </a:p>
        </p:txBody>
      </p:sp>
      <p:sp>
        <p:nvSpPr>
          <p:cNvPr id="808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F9ADA8A5-91D1-4E96-8B13-6B7F6C29A97A}" type="slidenum">
              <a:rPr lang="en-US" altLang="en-US" sz="1200"/>
              <a:pPr eaLnBrk="1" hangingPunct="1"/>
              <a:t>26</a:t>
            </a:fld>
            <a:endParaRPr lang="en-US" altLang="en-US" sz="1200"/>
          </a:p>
        </p:txBody>
      </p:sp>
    </p:spTree>
    <p:extLst>
      <p:ext uri="{BB962C8B-B14F-4D97-AF65-F5344CB8AC3E}">
        <p14:creationId xmlns:p14="http://schemas.microsoft.com/office/powerpoint/2010/main" val="1642169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ea typeface="ヒラギノ角ゴ Pro W3" charset="-128"/>
            </a:endParaRPr>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662D8A11-20F1-4287-9BDA-31DFF7211296}" type="slidenum">
              <a:rPr lang="en-US" altLang="en-US" sz="1200">
                <a:solidFill>
                  <a:srgbClr val="000000"/>
                </a:solidFill>
              </a:rPr>
              <a:pPr eaLnBrk="1" hangingPunct="1"/>
              <a:t>33</a:t>
            </a:fld>
            <a:endParaRPr lang="en-US" altLang="en-US" sz="1200">
              <a:solidFill>
                <a:srgbClr val="000000"/>
              </a:solidFill>
            </a:endParaRPr>
          </a:p>
        </p:txBody>
      </p:sp>
    </p:spTree>
    <p:extLst>
      <p:ext uri="{BB962C8B-B14F-4D97-AF65-F5344CB8AC3E}">
        <p14:creationId xmlns:p14="http://schemas.microsoft.com/office/powerpoint/2010/main" val="33828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ea typeface="ヒラギノ角ゴ Pro W3" charset="-128"/>
            </a:endParaRPr>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E357D40C-9787-436D-A7A9-6CBA2240ADE9}" type="slidenum">
              <a:rPr lang="en-US" altLang="en-US" sz="1200">
                <a:solidFill>
                  <a:srgbClr val="000000"/>
                </a:solidFill>
              </a:rPr>
              <a:pPr eaLnBrk="1" hangingPunct="1"/>
              <a:t>34</a:t>
            </a:fld>
            <a:endParaRPr lang="en-US" altLang="en-US" sz="1200">
              <a:solidFill>
                <a:srgbClr val="000000"/>
              </a:solidFill>
            </a:endParaRPr>
          </a:p>
        </p:txBody>
      </p:sp>
    </p:spTree>
    <p:extLst>
      <p:ext uri="{BB962C8B-B14F-4D97-AF65-F5344CB8AC3E}">
        <p14:creationId xmlns:p14="http://schemas.microsoft.com/office/powerpoint/2010/main" val="3506224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ea typeface="ヒラギノ角ゴ Pro W3" charset="-128"/>
            </a:endParaRPr>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01A187C5-E99D-4428-8893-17B5ACFAA4E0}" type="slidenum">
              <a:rPr lang="en-US" altLang="en-US" sz="1200">
                <a:solidFill>
                  <a:srgbClr val="000000"/>
                </a:solidFill>
              </a:rPr>
              <a:pPr eaLnBrk="1" hangingPunct="1"/>
              <a:t>37</a:t>
            </a:fld>
            <a:endParaRPr lang="en-US" altLang="en-US" sz="1200">
              <a:solidFill>
                <a:srgbClr val="000000"/>
              </a:solidFill>
            </a:endParaRPr>
          </a:p>
        </p:txBody>
      </p:sp>
    </p:spTree>
    <p:extLst>
      <p:ext uri="{BB962C8B-B14F-4D97-AF65-F5344CB8AC3E}">
        <p14:creationId xmlns:p14="http://schemas.microsoft.com/office/powerpoint/2010/main" val="2590428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ea typeface="ヒラギノ角ゴ Pro W3" charset="-128"/>
              </a:rPr>
              <a:t>Security + Objective 5.2a SHA</a:t>
            </a:r>
          </a:p>
          <a:p>
            <a:pPr eaLnBrk="1" hangingPunct="1">
              <a:spcBef>
                <a:spcPct val="0"/>
              </a:spcBef>
            </a:pPr>
            <a:endParaRPr lang="en-US" altLang="en-US" smtClean="0">
              <a:ea typeface="ヒラギノ角ゴ Pro W3" charset="-128"/>
            </a:endParaRPr>
          </a:p>
          <a:p>
            <a:pPr eaLnBrk="1" hangingPunct="1">
              <a:spcBef>
                <a:spcPct val="0"/>
              </a:spcBef>
            </a:pPr>
            <a:r>
              <a:rPr lang="en-US" altLang="en-US" smtClean="0">
                <a:ea typeface="ヒラギノ角ゴ Pro W3" charset="-128"/>
              </a:rPr>
              <a:t>These algorithms are included in the SHA standard Federal Information Processing Standards (FIPS) 180-2. </a:t>
            </a:r>
          </a:p>
          <a:p>
            <a:pPr eaLnBrk="1" hangingPunct="1">
              <a:spcBef>
                <a:spcPct val="0"/>
              </a:spcBef>
            </a:pPr>
            <a:r>
              <a:rPr lang="en-US" altLang="en-US" smtClean="0">
                <a:ea typeface="ヒラギノ角ゴ Pro W3" charset="-128"/>
              </a:rPr>
              <a:t>The individual standards are named SHA-1, SHA-256, SHA-384, and SHA-512. The latter three variants are occasionally referred to collectively as SHA-2.</a:t>
            </a:r>
          </a:p>
          <a:p>
            <a:pPr eaLnBrk="1" hangingPunct="1">
              <a:spcBef>
                <a:spcPct val="0"/>
              </a:spcBef>
            </a:pPr>
            <a:endParaRPr lang="en-US" altLang="en-US" smtClean="0">
              <a:ea typeface="ヒラギノ角ゴ Pro W3" charset="-128"/>
            </a:endParaRPr>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B43F1FDC-5C10-4FD4-9926-F5D976DA9685}" type="slidenum">
              <a:rPr lang="en-US" altLang="en-US" sz="1200">
                <a:solidFill>
                  <a:srgbClr val="000000"/>
                </a:solidFill>
              </a:rPr>
              <a:pPr eaLnBrk="1" hangingPunct="1"/>
              <a:t>40</a:t>
            </a:fld>
            <a:endParaRPr lang="en-US" altLang="en-US" sz="1200">
              <a:solidFill>
                <a:srgbClr val="000000"/>
              </a:solidFill>
            </a:endParaRPr>
          </a:p>
        </p:txBody>
      </p:sp>
    </p:spTree>
    <p:extLst>
      <p:ext uri="{BB962C8B-B14F-4D97-AF65-F5344CB8AC3E}">
        <p14:creationId xmlns:p14="http://schemas.microsoft.com/office/powerpoint/2010/main" val="716166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z="1100" smtClean="0">
                <a:ea typeface="ヒラギノ角ゴ Pro W3" charset="-128"/>
              </a:rPr>
              <a:t>Security + Objective 5.2a SHA</a:t>
            </a:r>
          </a:p>
          <a:p>
            <a:pPr eaLnBrk="1" hangingPunct="1">
              <a:spcBef>
                <a:spcPct val="0"/>
              </a:spcBef>
            </a:pPr>
            <a:endParaRPr lang="en-US" altLang="en-US" sz="1100" smtClean="0">
              <a:ea typeface="ヒラギノ角ゴ Pro W3" charset="-128"/>
            </a:endParaRPr>
          </a:p>
        </p:txBody>
      </p:sp>
      <p:sp>
        <p:nvSpPr>
          <p:cNvPr id="450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B5F38FD0-3111-4CBA-B001-0769ECF0C63F}" type="slidenum">
              <a:rPr lang="en-US" altLang="en-US" sz="1200">
                <a:solidFill>
                  <a:srgbClr val="000000"/>
                </a:solidFill>
              </a:rPr>
              <a:pPr eaLnBrk="1" hangingPunct="1"/>
              <a:t>41</a:t>
            </a:fld>
            <a:endParaRPr lang="en-US" altLang="en-US" sz="1200">
              <a:solidFill>
                <a:srgbClr val="000000"/>
              </a:solidFill>
            </a:endParaRPr>
          </a:p>
        </p:txBody>
      </p:sp>
    </p:spTree>
    <p:extLst>
      <p:ext uri="{BB962C8B-B14F-4D97-AF65-F5344CB8AC3E}">
        <p14:creationId xmlns:p14="http://schemas.microsoft.com/office/powerpoint/2010/main" val="1610700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ea typeface="ヒラギノ角ゴ Pro W3" charset="-128"/>
              </a:rPr>
              <a:t>Security + Objective 5.2a SHA</a:t>
            </a:r>
          </a:p>
          <a:p>
            <a:pPr eaLnBrk="1" hangingPunct="1">
              <a:spcBef>
                <a:spcPct val="0"/>
              </a:spcBef>
            </a:pPr>
            <a:endParaRPr lang="en-US" altLang="en-US" smtClean="0">
              <a:ea typeface="ヒラギノ角ゴ Pro W3" charset="-128"/>
            </a:endParaRPr>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A69D8515-3F20-4192-A66F-871D1D5C1040}" type="slidenum">
              <a:rPr lang="en-US" altLang="en-US" sz="1200">
                <a:solidFill>
                  <a:srgbClr val="000000"/>
                </a:solidFill>
              </a:rPr>
              <a:pPr eaLnBrk="1" hangingPunct="1"/>
              <a:t>42</a:t>
            </a:fld>
            <a:endParaRPr lang="en-US" altLang="en-US" sz="1200">
              <a:solidFill>
                <a:srgbClr val="000000"/>
              </a:solidFill>
            </a:endParaRPr>
          </a:p>
        </p:txBody>
      </p:sp>
    </p:spTree>
    <p:extLst>
      <p:ext uri="{BB962C8B-B14F-4D97-AF65-F5344CB8AC3E}">
        <p14:creationId xmlns:p14="http://schemas.microsoft.com/office/powerpoint/2010/main" val="3915404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80000"/>
              </a:lnSpc>
              <a:spcBef>
                <a:spcPct val="0"/>
              </a:spcBef>
            </a:pPr>
            <a:endParaRPr lang="en-US" altLang="en-US" sz="600" smtClean="0">
              <a:ea typeface="ヒラギノ角ゴ Pro W3" charset="-128"/>
            </a:endParaRPr>
          </a:p>
        </p:txBody>
      </p:sp>
      <p:sp>
        <p:nvSpPr>
          <p:cNvPr id="491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77BDBC61-D297-416A-97C1-668E30E1FE06}" type="slidenum">
              <a:rPr lang="en-US" altLang="en-US" sz="1200">
                <a:solidFill>
                  <a:srgbClr val="000000"/>
                </a:solidFill>
              </a:rPr>
              <a:pPr eaLnBrk="1" hangingPunct="1"/>
              <a:t>43</a:t>
            </a:fld>
            <a:endParaRPr lang="en-US" altLang="en-US" sz="1200">
              <a:solidFill>
                <a:srgbClr val="000000"/>
              </a:solidFill>
            </a:endParaRPr>
          </a:p>
        </p:txBody>
      </p:sp>
    </p:spTree>
    <p:extLst>
      <p:ext uri="{BB962C8B-B14F-4D97-AF65-F5344CB8AC3E}">
        <p14:creationId xmlns:p14="http://schemas.microsoft.com/office/powerpoint/2010/main" val="31398389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80000"/>
              </a:lnSpc>
              <a:spcBef>
                <a:spcPct val="0"/>
              </a:spcBef>
            </a:pPr>
            <a:r>
              <a:rPr lang="en-US" altLang="en-US" sz="600" b="1" smtClean="0">
                <a:ea typeface="ヒラギノ角ゴ Pro W3" charset="-128"/>
              </a:rPr>
              <a:t>MD4</a:t>
            </a:r>
          </a:p>
          <a:p>
            <a:pPr eaLnBrk="1" hangingPunct="1">
              <a:lnSpc>
                <a:spcPct val="80000"/>
              </a:lnSpc>
              <a:spcBef>
                <a:spcPct val="0"/>
              </a:spcBef>
            </a:pPr>
            <a:r>
              <a:rPr lang="en-US" altLang="en-US" sz="600" smtClean="0">
                <a:ea typeface="ヒラギノ角ゴ Pro W3" charset="-128"/>
              </a:rPr>
              <a:t>An extended version of MD4 computes the message in parallel and produces two 128-bit outputs—effectively a 256-bit hash. </a:t>
            </a:r>
          </a:p>
          <a:p>
            <a:pPr eaLnBrk="1" hangingPunct="1">
              <a:lnSpc>
                <a:spcPct val="80000"/>
              </a:lnSpc>
              <a:spcBef>
                <a:spcPct val="0"/>
              </a:spcBef>
            </a:pPr>
            <a:r>
              <a:rPr lang="en-US" altLang="en-US" sz="600" smtClean="0">
                <a:ea typeface="ヒラギノ角ゴ Pro W3" charset="-128"/>
              </a:rPr>
              <a:t>Even though a longer hash is produced, security has not been improved because of basic flaws in the algorithm. </a:t>
            </a:r>
          </a:p>
          <a:p>
            <a:pPr eaLnBrk="1" hangingPunct="1">
              <a:lnSpc>
                <a:spcPct val="80000"/>
              </a:lnSpc>
              <a:spcBef>
                <a:spcPct val="0"/>
              </a:spcBef>
            </a:pPr>
            <a:r>
              <a:rPr lang="en-US" altLang="en-US" sz="600" smtClean="0">
                <a:ea typeface="ヒラギノ角ゴ Pro W3" charset="-128"/>
              </a:rPr>
              <a:t>Cryptographer Hans Dobbertin has shown how collisions in MD4 can be found in under a minute using just a PC. </a:t>
            </a:r>
          </a:p>
          <a:p>
            <a:pPr eaLnBrk="1" hangingPunct="1">
              <a:lnSpc>
                <a:spcPct val="80000"/>
              </a:lnSpc>
              <a:spcBef>
                <a:spcPct val="0"/>
              </a:spcBef>
            </a:pPr>
            <a:r>
              <a:rPr lang="en-US" altLang="en-US" sz="600" smtClean="0">
                <a:ea typeface="ヒラギノ角ゴ Pro W3" charset="-128"/>
              </a:rPr>
              <a:t>This vulnerability to collisions applies to 128-bit MD4 as well as 256-bit MD4.</a:t>
            </a:r>
          </a:p>
          <a:p>
            <a:pPr eaLnBrk="1" hangingPunct="1">
              <a:lnSpc>
                <a:spcPct val="80000"/>
              </a:lnSpc>
              <a:spcBef>
                <a:spcPct val="0"/>
              </a:spcBef>
            </a:pPr>
            <a:r>
              <a:rPr lang="en-US" altLang="en-US" sz="600" smtClean="0">
                <a:ea typeface="ヒラギノ角ゴ Pro W3" charset="-128"/>
              </a:rPr>
              <a:t> Most people are moving away from MD4 to MD5 or a robust version of SHA.</a:t>
            </a:r>
          </a:p>
          <a:p>
            <a:pPr eaLnBrk="1" hangingPunct="1">
              <a:lnSpc>
                <a:spcPct val="80000"/>
              </a:lnSpc>
              <a:spcBef>
                <a:spcPct val="0"/>
              </a:spcBef>
            </a:pPr>
            <a:r>
              <a:rPr lang="en-US" altLang="en-US" sz="600" smtClean="0">
                <a:ea typeface="ヒラギノ角ゴ Pro W3" charset="-128"/>
              </a:rPr>
              <a:t>Security+ objective 5.2b MD5</a:t>
            </a:r>
          </a:p>
          <a:p>
            <a:pPr eaLnBrk="1" hangingPunct="1">
              <a:lnSpc>
                <a:spcPct val="80000"/>
              </a:lnSpc>
              <a:spcBef>
                <a:spcPct val="0"/>
              </a:spcBef>
            </a:pPr>
            <a:endParaRPr lang="en-US" altLang="en-US" sz="600" smtClean="0">
              <a:ea typeface="ヒラギノ角ゴ Pro W3" charset="-128"/>
            </a:endParaRPr>
          </a:p>
          <a:p>
            <a:pPr eaLnBrk="1" hangingPunct="1">
              <a:lnSpc>
                <a:spcPct val="80000"/>
              </a:lnSpc>
              <a:spcBef>
                <a:spcPct val="0"/>
              </a:spcBef>
            </a:pPr>
            <a:endParaRPr lang="en-US" altLang="en-US" sz="600" smtClean="0">
              <a:ea typeface="ヒラギノ角ゴ Pro W3" charset="-128"/>
            </a:endParaRPr>
          </a:p>
        </p:txBody>
      </p:sp>
      <p:sp>
        <p:nvSpPr>
          <p:cNvPr id="512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4C0C9E67-E589-4404-88B1-531FB1CDDE8C}" type="slidenum">
              <a:rPr lang="en-US" altLang="en-US" sz="1200">
                <a:solidFill>
                  <a:srgbClr val="000000"/>
                </a:solidFill>
              </a:rPr>
              <a:pPr eaLnBrk="1" hangingPunct="1"/>
              <a:t>44</a:t>
            </a:fld>
            <a:endParaRPr lang="en-US" altLang="en-US" sz="1200">
              <a:solidFill>
                <a:srgbClr val="000000"/>
              </a:solidFill>
            </a:endParaRPr>
          </a:p>
        </p:txBody>
      </p:sp>
    </p:spTree>
    <p:extLst>
      <p:ext uri="{BB962C8B-B14F-4D97-AF65-F5344CB8AC3E}">
        <p14:creationId xmlns:p14="http://schemas.microsoft.com/office/powerpoint/2010/main" val="4121745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90000"/>
              </a:lnSpc>
              <a:spcBef>
                <a:spcPct val="0"/>
              </a:spcBef>
            </a:pPr>
            <a:r>
              <a:rPr lang="en-US" altLang="en-US" sz="1000" smtClean="0">
                <a:ea typeface="ヒラギノ角ゴ Pro W3" charset="-128"/>
              </a:rPr>
              <a:t>Security + Objective 5.2 MD5</a:t>
            </a:r>
          </a:p>
          <a:p>
            <a:pPr eaLnBrk="1" hangingPunct="1">
              <a:lnSpc>
                <a:spcPct val="90000"/>
              </a:lnSpc>
              <a:spcBef>
                <a:spcPct val="0"/>
              </a:spcBef>
            </a:pPr>
            <a:endParaRPr lang="en-US" altLang="en-US" sz="1000" smtClean="0">
              <a:ea typeface="ヒラギノ角ゴ Pro W3" charset="-128"/>
            </a:endParaRPr>
          </a:p>
          <a:p>
            <a:pPr eaLnBrk="1" hangingPunct="1">
              <a:lnSpc>
                <a:spcPct val="90000"/>
              </a:lnSpc>
              <a:spcBef>
                <a:spcPct val="0"/>
              </a:spcBef>
            </a:pPr>
            <a:r>
              <a:rPr lang="en-US" altLang="en-US" sz="1000" smtClean="0">
                <a:ea typeface="ヒラギノ角ゴ Pro W3" charset="-128"/>
              </a:rPr>
              <a:t>MD5 creates a 128-bit hash of a message of any length. </a:t>
            </a:r>
          </a:p>
          <a:p>
            <a:pPr eaLnBrk="1" hangingPunct="1">
              <a:lnSpc>
                <a:spcPct val="90000"/>
              </a:lnSpc>
              <a:spcBef>
                <a:spcPct val="0"/>
              </a:spcBef>
            </a:pPr>
            <a:r>
              <a:rPr lang="en-US" altLang="en-US" sz="1000" smtClean="0">
                <a:ea typeface="ヒラギノ角ゴ Pro W3" charset="-128"/>
              </a:rPr>
              <a:t>Like MD4, it segments the message into 512-bit blocks and then into sixteen 32-bit words. </a:t>
            </a:r>
          </a:p>
          <a:p>
            <a:pPr eaLnBrk="1" hangingPunct="1">
              <a:lnSpc>
                <a:spcPct val="90000"/>
              </a:lnSpc>
              <a:spcBef>
                <a:spcPct val="0"/>
              </a:spcBef>
            </a:pPr>
            <a:r>
              <a:rPr lang="en-US" altLang="en-US" sz="1000" smtClean="0">
                <a:ea typeface="ヒラギノ角ゴ Pro W3" charset="-128"/>
              </a:rPr>
              <a:t>First, the original message is padded to be 64 bits short of a multiple of 512 bits. </a:t>
            </a:r>
          </a:p>
          <a:p>
            <a:pPr eaLnBrk="1" hangingPunct="1">
              <a:lnSpc>
                <a:spcPct val="90000"/>
              </a:lnSpc>
              <a:spcBef>
                <a:spcPct val="0"/>
              </a:spcBef>
            </a:pPr>
            <a:r>
              <a:rPr lang="en-US" altLang="en-US" sz="1000" smtClean="0">
                <a:ea typeface="ヒラギノ角ゴ Pro W3" charset="-128"/>
              </a:rPr>
              <a:t>Then a 64-bit representation of the original length of the message is added to the padded value to bring the entire message up to a 512-bit multiple.</a:t>
            </a:r>
          </a:p>
          <a:p>
            <a:pPr eaLnBrk="1" hangingPunct="1">
              <a:lnSpc>
                <a:spcPct val="90000"/>
              </a:lnSpc>
              <a:spcBef>
                <a:spcPct val="0"/>
              </a:spcBef>
            </a:pPr>
            <a:r>
              <a:rPr lang="en-US" altLang="en-US" sz="1000" smtClean="0">
                <a:ea typeface="ヒラギノ角ゴ Pro W3" charset="-128"/>
              </a:rPr>
              <a:t>After padding is complete, four 32-bit variables, </a:t>
            </a:r>
            <a:r>
              <a:rPr lang="en-US" altLang="en-US" sz="1000" i="1" smtClean="0">
                <a:ea typeface="ヒラギノ角ゴ Pro W3" charset="-128"/>
              </a:rPr>
              <a:t>A</a:t>
            </a:r>
            <a:r>
              <a:rPr lang="en-US" altLang="en-US" sz="1000" smtClean="0">
                <a:ea typeface="ヒラギノ角ゴ Pro W3" charset="-128"/>
              </a:rPr>
              <a:t>, </a:t>
            </a:r>
            <a:r>
              <a:rPr lang="en-US" altLang="en-US" sz="1000" i="1" smtClean="0">
                <a:ea typeface="ヒラギノ角ゴ Pro W3" charset="-128"/>
              </a:rPr>
              <a:t>B</a:t>
            </a:r>
            <a:r>
              <a:rPr lang="en-US" altLang="en-US" sz="1000" smtClean="0">
                <a:ea typeface="ヒラギノ角ゴ Pro W3" charset="-128"/>
              </a:rPr>
              <a:t>, </a:t>
            </a:r>
            <a:r>
              <a:rPr lang="en-US" altLang="en-US" sz="1000" i="1" smtClean="0">
                <a:ea typeface="ヒラギノ角ゴ Pro W3" charset="-128"/>
              </a:rPr>
              <a:t>C</a:t>
            </a:r>
            <a:r>
              <a:rPr lang="en-US" altLang="en-US" sz="1000" smtClean="0">
                <a:ea typeface="ヒラギノ角ゴ Pro W3" charset="-128"/>
              </a:rPr>
              <a:t>, and </a:t>
            </a:r>
            <a:r>
              <a:rPr lang="en-US" altLang="en-US" sz="1000" i="1" smtClean="0">
                <a:ea typeface="ヒラギノ角ゴ Pro W3" charset="-128"/>
              </a:rPr>
              <a:t>D</a:t>
            </a:r>
            <a:r>
              <a:rPr lang="en-US" altLang="en-US" sz="1000" smtClean="0">
                <a:ea typeface="ヒラギノ角ゴ Pro W3" charset="-128"/>
              </a:rPr>
              <a:t>, are initialized. </a:t>
            </a:r>
            <a:r>
              <a:rPr lang="en-US" altLang="en-US" sz="1000" i="1" smtClean="0">
                <a:ea typeface="ヒラギノ角ゴ Pro W3" charset="-128"/>
              </a:rPr>
              <a:t>A</a:t>
            </a:r>
            <a:r>
              <a:rPr lang="en-US" altLang="en-US" sz="1000" smtClean="0">
                <a:ea typeface="ヒラギノ角ゴ Pro W3" charset="-128"/>
              </a:rPr>
              <a:t>, </a:t>
            </a:r>
            <a:r>
              <a:rPr lang="en-US" altLang="en-US" sz="1000" i="1" smtClean="0">
                <a:ea typeface="ヒラギノ角ゴ Pro W3" charset="-128"/>
              </a:rPr>
              <a:t>B</a:t>
            </a:r>
            <a:r>
              <a:rPr lang="en-US" altLang="en-US" sz="1000" smtClean="0">
                <a:ea typeface="ヒラギノ角ゴ Pro W3" charset="-128"/>
              </a:rPr>
              <a:t>, </a:t>
            </a:r>
            <a:r>
              <a:rPr lang="en-US" altLang="en-US" sz="1000" i="1" smtClean="0">
                <a:ea typeface="ヒラギノ角ゴ Pro W3" charset="-128"/>
              </a:rPr>
              <a:t>C</a:t>
            </a:r>
            <a:r>
              <a:rPr lang="en-US" altLang="en-US" sz="1000" smtClean="0">
                <a:ea typeface="ヒラギノ角ゴ Pro W3" charset="-128"/>
              </a:rPr>
              <a:t>, and </a:t>
            </a:r>
            <a:r>
              <a:rPr lang="en-US" altLang="en-US" sz="1000" i="1" smtClean="0">
                <a:ea typeface="ヒラギノ角ゴ Pro W3" charset="-128"/>
              </a:rPr>
              <a:t>D</a:t>
            </a:r>
            <a:r>
              <a:rPr lang="en-US" altLang="en-US" sz="1000" smtClean="0">
                <a:ea typeface="ヒラギノ角ゴ Pro W3" charset="-128"/>
              </a:rPr>
              <a:t> are copied into </a:t>
            </a:r>
            <a:r>
              <a:rPr lang="en-US" altLang="en-US" sz="1000" i="1" smtClean="0">
                <a:ea typeface="ヒラギノ角ゴ Pro W3" charset="-128"/>
              </a:rPr>
              <a:t>a</a:t>
            </a:r>
            <a:r>
              <a:rPr lang="en-US" altLang="en-US" sz="1000" smtClean="0">
                <a:ea typeface="ヒラギノ角ゴ Pro W3" charset="-128"/>
              </a:rPr>
              <a:t>, </a:t>
            </a:r>
            <a:r>
              <a:rPr lang="en-US" altLang="en-US" sz="1000" i="1" smtClean="0">
                <a:ea typeface="ヒラギノ角ゴ Pro W3" charset="-128"/>
              </a:rPr>
              <a:t>b</a:t>
            </a:r>
            <a:r>
              <a:rPr lang="en-US" altLang="en-US" sz="1000" smtClean="0">
                <a:ea typeface="ヒラギノ角ゴ Pro W3" charset="-128"/>
              </a:rPr>
              <a:t>, </a:t>
            </a:r>
            <a:r>
              <a:rPr lang="en-US" altLang="en-US" sz="1000" i="1" smtClean="0">
                <a:ea typeface="ヒラギノ角ゴ Pro W3" charset="-128"/>
              </a:rPr>
              <a:t>c</a:t>
            </a:r>
            <a:r>
              <a:rPr lang="en-US" altLang="en-US" sz="1000" smtClean="0">
                <a:ea typeface="ヒラギノ角ゴ Pro W3" charset="-128"/>
              </a:rPr>
              <a:t>, and </a:t>
            </a:r>
            <a:r>
              <a:rPr lang="en-US" altLang="en-US" sz="1000" i="1" smtClean="0">
                <a:ea typeface="ヒラギノ角ゴ Pro W3" charset="-128"/>
              </a:rPr>
              <a:t>d</a:t>
            </a:r>
            <a:r>
              <a:rPr lang="en-US" altLang="en-US" sz="1000" smtClean="0">
                <a:ea typeface="ヒラギノ角ゴ Pro W3" charset="-128"/>
              </a:rPr>
              <a:t>, and then the main function begins. This has four rounds, each using a different nonlinear function 16 times. These functions operate on three of </a:t>
            </a:r>
            <a:r>
              <a:rPr lang="en-US" altLang="en-US" sz="1000" i="1" smtClean="0">
                <a:ea typeface="ヒラギノ角ゴ Pro W3" charset="-128"/>
              </a:rPr>
              <a:t>a</a:t>
            </a:r>
            <a:r>
              <a:rPr lang="en-US" altLang="en-US" sz="1000" smtClean="0">
                <a:ea typeface="ヒラギノ角ゴ Pro W3" charset="-128"/>
              </a:rPr>
              <a:t>, </a:t>
            </a:r>
            <a:r>
              <a:rPr lang="en-US" altLang="en-US" sz="1000" i="1" smtClean="0">
                <a:ea typeface="ヒラギノ角ゴ Pro W3" charset="-128"/>
              </a:rPr>
              <a:t>b</a:t>
            </a:r>
            <a:r>
              <a:rPr lang="en-US" altLang="en-US" sz="1000" smtClean="0">
                <a:ea typeface="ヒラギノ角ゴ Pro W3" charset="-128"/>
              </a:rPr>
              <a:t>, </a:t>
            </a:r>
            <a:r>
              <a:rPr lang="en-US" altLang="en-US" sz="1000" i="1" smtClean="0">
                <a:ea typeface="ヒラギノ角ゴ Pro W3" charset="-128"/>
              </a:rPr>
              <a:t>c</a:t>
            </a:r>
            <a:r>
              <a:rPr lang="en-US" altLang="en-US" sz="1000" smtClean="0">
                <a:ea typeface="ヒラギノ角ゴ Pro W3" charset="-128"/>
              </a:rPr>
              <a:t>, and </a:t>
            </a:r>
            <a:r>
              <a:rPr lang="en-US" altLang="en-US" sz="1000" i="1" smtClean="0">
                <a:ea typeface="ヒラギノ角ゴ Pro W3" charset="-128"/>
              </a:rPr>
              <a:t>d</a:t>
            </a:r>
            <a:r>
              <a:rPr lang="en-US" altLang="en-US" sz="1000" smtClean="0">
                <a:ea typeface="ヒラギノ角ゴ Pro W3" charset="-128"/>
              </a:rPr>
              <a:t>, adding the result to the fourth variable, the fourth variable being a sub-block of the text and a constant, and then rotating the result of that addition to the right a variable number of bits, specified by the round of the algorithm. After adding the result of this operation to one of </a:t>
            </a:r>
            <a:r>
              <a:rPr lang="en-US" altLang="en-US" sz="1000" i="1" smtClean="0">
                <a:ea typeface="ヒラギノ角ゴ Pro W3" charset="-128"/>
              </a:rPr>
              <a:t>a</a:t>
            </a:r>
            <a:r>
              <a:rPr lang="en-US" altLang="en-US" sz="1000" smtClean="0">
                <a:ea typeface="ヒラギノ角ゴ Pro W3" charset="-128"/>
              </a:rPr>
              <a:t>,</a:t>
            </a:r>
            <a:r>
              <a:rPr lang="en-US" altLang="en-US" sz="1000" i="1" smtClean="0">
                <a:ea typeface="ヒラギノ角ゴ Pro W3" charset="-128"/>
              </a:rPr>
              <a:t> b</a:t>
            </a:r>
            <a:r>
              <a:rPr lang="en-US" altLang="en-US" sz="1000" smtClean="0">
                <a:ea typeface="ヒラギノ角ゴ Pro W3" charset="-128"/>
              </a:rPr>
              <a:t>,</a:t>
            </a:r>
            <a:r>
              <a:rPr lang="en-US" altLang="en-US" sz="1000" i="1" smtClean="0">
                <a:ea typeface="ヒラギノ角ゴ Pro W3" charset="-128"/>
              </a:rPr>
              <a:t> c</a:t>
            </a:r>
            <a:r>
              <a:rPr lang="en-US" altLang="en-US" sz="1000" smtClean="0">
                <a:ea typeface="ヒラギノ角ゴ Pro W3" charset="-128"/>
              </a:rPr>
              <a:t>,</a:t>
            </a:r>
            <a:r>
              <a:rPr lang="en-US" altLang="en-US" sz="1000" i="1" smtClean="0">
                <a:ea typeface="ヒラギノ角ゴ Pro W3" charset="-128"/>
              </a:rPr>
              <a:t> </a:t>
            </a:r>
            <a:r>
              <a:rPr lang="en-US" altLang="en-US" sz="1000" smtClean="0">
                <a:ea typeface="ヒラギノ角ゴ Pro W3" charset="-128"/>
              </a:rPr>
              <a:t>and</a:t>
            </a:r>
            <a:r>
              <a:rPr lang="en-US" altLang="en-US" sz="1000" i="1" smtClean="0">
                <a:ea typeface="ヒラギノ角ゴ Pro W3" charset="-128"/>
              </a:rPr>
              <a:t> d</a:t>
            </a:r>
            <a:r>
              <a:rPr lang="en-US" altLang="en-US" sz="1000" smtClean="0">
                <a:ea typeface="ヒラギノ角ゴ Pro W3" charset="-128"/>
              </a:rPr>
              <a:t>, that sum replaces one of </a:t>
            </a:r>
            <a:r>
              <a:rPr lang="en-US" altLang="en-US" sz="1000" i="1" smtClean="0">
                <a:ea typeface="ヒラギノ角ゴ Pro W3" charset="-128"/>
              </a:rPr>
              <a:t>a</a:t>
            </a:r>
            <a:r>
              <a:rPr lang="en-US" altLang="en-US" sz="1000" smtClean="0">
                <a:ea typeface="ヒラギノ角ゴ Pro W3" charset="-128"/>
              </a:rPr>
              <a:t>, </a:t>
            </a:r>
            <a:r>
              <a:rPr lang="en-US" altLang="en-US" sz="1000" i="1" smtClean="0">
                <a:ea typeface="ヒラギノ角ゴ Pro W3" charset="-128"/>
              </a:rPr>
              <a:t>b</a:t>
            </a:r>
            <a:r>
              <a:rPr lang="en-US" altLang="en-US" sz="1000" smtClean="0">
                <a:ea typeface="ヒラギノ角ゴ Pro W3" charset="-128"/>
              </a:rPr>
              <a:t>, </a:t>
            </a:r>
            <a:r>
              <a:rPr lang="en-US" altLang="en-US" sz="1000" i="1" smtClean="0">
                <a:ea typeface="ヒラギノ角ゴ Pro W3" charset="-128"/>
              </a:rPr>
              <a:t>c</a:t>
            </a:r>
            <a:r>
              <a:rPr lang="en-US" altLang="en-US" sz="1000" smtClean="0">
                <a:ea typeface="ヒラギノ角ゴ Pro W3" charset="-128"/>
              </a:rPr>
              <a:t>, and</a:t>
            </a:r>
            <a:r>
              <a:rPr lang="en-US" altLang="en-US" sz="1000" i="1" smtClean="0">
                <a:ea typeface="ヒラギノ角ゴ Pro W3" charset="-128"/>
              </a:rPr>
              <a:t> d</a:t>
            </a:r>
            <a:r>
              <a:rPr lang="en-US" altLang="en-US" sz="1000" smtClean="0">
                <a:ea typeface="ヒラギノ角ゴ Pro W3" charset="-128"/>
              </a:rPr>
              <a:t>. After the four rounds are completed, </a:t>
            </a:r>
            <a:r>
              <a:rPr lang="en-US" altLang="en-US" sz="1000" i="1" smtClean="0">
                <a:ea typeface="ヒラギノ角ゴ Pro W3" charset="-128"/>
              </a:rPr>
              <a:t>a</a:t>
            </a:r>
            <a:r>
              <a:rPr lang="en-US" altLang="en-US" sz="1000" smtClean="0">
                <a:ea typeface="ヒラギノ角ゴ Pro W3" charset="-128"/>
              </a:rPr>
              <a:t>, </a:t>
            </a:r>
            <a:r>
              <a:rPr lang="en-US" altLang="en-US" sz="1000" i="1" smtClean="0">
                <a:ea typeface="ヒラギノ角ゴ Pro W3" charset="-128"/>
              </a:rPr>
              <a:t>b</a:t>
            </a:r>
            <a:r>
              <a:rPr lang="en-US" altLang="en-US" sz="1000" smtClean="0">
                <a:ea typeface="ヒラギノ角ゴ Pro W3" charset="-128"/>
              </a:rPr>
              <a:t>, </a:t>
            </a:r>
            <a:r>
              <a:rPr lang="en-US" altLang="en-US" sz="1000" i="1" smtClean="0">
                <a:ea typeface="ヒラギノ角ゴ Pro W3" charset="-128"/>
              </a:rPr>
              <a:t>c</a:t>
            </a:r>
            <a:r>
              <a:rPr lang="en-US" altLang="en-US" sz="1000" smtClean="0">
                <a:ea typeface="ヒラギノ角ゴ Pro W3" charset="-128"/>
              </a:rPr>
              <a:t>, and </a:t>
            </a:r>
            <a:r>
              <a:rPr lang="en-US" altLang="en-US" sz="1000" i="1" smtClean="0">
                <a:ea typeface="ヒラギノ角ゴ Pro W3" charset="-128"/>
              </a:rPr>
              <a:t>d</a:t>
            </a:r>
            <a:r>
              <a:rPr lang="en-US" altLang="en-US" sz="1000" smtClean="0">
                <a:ea typeface="ヒラギノ角ゴ Pro W3" charset="-128"/>
              </a:rPr>
              <a:t> are added to </a:t>
            </a:r>
            <a:r>
              <a:rPr lang="en-US" altLang="en-US" sz="1000" i="1" smtClean="0">
                <a:ea typeface="ヒラギノ角ゴ Pro W3" charset="-128"/>
              </a:rPr>
              <a:t>A</a:t>
            </a:r>
            <a:r>
              <a:rPr lang="en-US" altLang="en-US" sz="1000" smtClean="0">
                <a:ea typeface="ヒラギノ角ゴ Pro W3" charset="-128"/>
              </a:rPr>
              <a:t>, </a:t>
            </a:r>
            <a:r>
              <a:rPr lang="en-US" altLang="en-US" sz="1000" i="1" smtClean="0">
                <a:ea typeface="ヒラギノ角ゴ Pro W3" charset="-128"/>
              </a:rPr>
              <a:t>B</a:t>
            </a:r>
            <a:r>
              <a:rPr lang="en-US" altLang="en-US" sz="1000" smtClean="0">
                <a:ea typeface="ヒラギノ角ゴ Pro W3" charset="-128"/>
              </a:rPr>
              <a:t>, </a:t>
            </a:r>
            <a:r>
              <a:rPr lang="en-US" altLang="en-US" sz="1000" i="1" smtClean="0">
                <a:ea typeface="ヒラギノ角ゴ Pro W3" charset="-128"/>
              </a:rPr>
              <a:t>C</a:t>
            </a:r>
            <a:r>
              <a:rPr lang="en-US" altLang="en-US" sz="1000" smtClean="0">
                <a:ea typeface="ヒラギノ角ゴ Pro W3" charset="-128"/>
              </a:rPr>
              <a:t>, and</a:t>
            </a:r>
            <a:r>
              <a:rPr lang="en-US" altLang="en-US" sz="1000" i="1" smtClean="0">
                <a:ea typeface="ヒラギノ角ゴ Pro W3" charset="-128"/>
              </a:rPr>
              <a:t> D</a:t>
            </a:r>
            <a:r>
              <a:rPr lang="en-US" altLang="en-US" sz="1000" smtClean="0">
                <a:ea typeface="ヒラギノ角ゴ Pro W3" charset="-128"/>
              </a:rPr>
              <a:t>, and the algorithm moves on to the next block. After all blocks are completed, </a:t>
            </a:r>
            <a:r>
              <a:rPr lang="en-US" altLang="en-US" sz="1000" i="1" smtClean="0">
                <a:ea typeface="ヒラギノ角ゴ Pro W3" charset="-128"/>
              </a:rPr>
              <a:t>A</a:t>
            </a:r>
            <a:r>
              <a:rPr lang="en-US" altLang="en-US" sz="1000" smtClean="0">
                <a:ea typeface="ヒラギノ角ゴ Pro W3" charset="-128"/>
              </a:rPr>
              <a:t>, </a:t>
            </a:r>
            <a:r>
              <a:rPr lang="en-US" altLang="en-US" sz="1000" i="1" smtClean="0">
                <a:ea typeface="ヒラギノ角ゴ Pro W3" charset="-128"/>
              </a:rPr>
              <a:t>B</a:t>
            </a:r>
            <a:r>
              <a:rPr lang="en-US" altLang="en-US" sz="1000" smtClean="0">
                <a:ea typeface="ヒラギノ角ゴ Pro W3" charset="-128"/>
              </a:rPr>
              <a:t>, </a:t>
            </a:r>
            <a:r>
              <a:rPr lang="en-US" altLang="en-US" sz="1000" i="1" smtClean="0">
                <a:ea typeface="ヒラギノ角ゴ Pro W3" charset="-128"/>
              </a:rPr>
              <a:t>C</a:t>
            </a:r>
            <a:r>
              <a:rPr lang="en-US" altLang="en-US" sz="1000" smtClean="0">
                <a:ea typeface="ヒラギノ角ゴ Pro W3" charset="-128"/>
              </a:rPr>
              <a:t>, and</a:t>
            </a:r>
            <a:r>
              <a:rPr lang="en-US" altLang="en-US" sz="1000" i="1" smtClean="0">
                <a:ea typeface="ヒラギノ角ゴ Pro W3" charset="-128"/>
              </a:rPr>
              <a:t> D</a:t>
            </a:r>
            <a:r>
              <a:rPr lang="en-US" altLang="en-US" sz="1000" smtClean="0">
                <a:ea typeface="ヒラギノ角ゴ Pro W3" charset="-128"/>
              </a:rPr>
              <a:t> are concatenated to form the final output of 128 bits.</a:t>
            </a:r>
          </a:p>
          <a:p>
            <a:pPr eaLnBrk="1" hangingPunct="1">
              <a:lnSpc>
                <a:spcPct val="90000"/>
              </a:lnSpc>
              <a:spcBef>
                <a:spcPct val="0"/>
              </a:spcBef>
            </a:pPr>
            <a:endParaRPr lang="en-US" altLang="en-US" sz="1000" smtClean="0">
              <a:ea typeface="ヒラギノ角ゴ Pro W3" charset="-128"/>
            </a:endParaRPr>
          </a:p>
          <a:p>
            <a:pPr eaLnBrk="1" hangingPunct="1">
              <a:lnSpc>
                <a:spcPct val="90000"/>
              </a:lnSpc>
              <a:spcBef>
                <a:spcPct val="0"/>
              </a:spcBef>
            </a:pPr>
            <a:endParaRPr lang="en-US" altLang="en-US" sz="1000" smtClean="0">
              <a:ea typeface="ヒラギノ角ゴ Pro W3" charset="-128"/>
            </a:endParaRPr>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1F0712F8-24C1-470C-98B7-899A7BFF2279}" type="slidenum">
              <a:rPr lang="en-US" altLang="en-US" sz="1200">
                <a:solidFill>
                  <a:srgbClr val="000000"/>
                </a:solidFill>
              </a:rPr>
              <a:pPr eaLnBrk="1" hangingPunct="1"/>
              <a:t>45</a:t>
            </a:fld>
            <a:endParaRPr lang="en-US" altLang="en-US" sz="1200">
              <a:solidFill>
                <a:srgbClr val="000000"/>
              </a:solidFill>
            </a:endParaRPr>
          </a:p>
        </p:txBody>
      </p:sp>
    </p:spTree>
    <p:extLst>
      <p:ext uri="{BB962C8B-B14F-4D97-AF65-F5344CB8AC3E}">
        <p14:creationId xmlns:p14="http://schemas.microsoft.com/office/powerpoint/2010/main" val="618478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latin typeface="Arial" panose="020B0604020202020204" pitchFamily="34" charset="0"/>
                <a:ea typeface="ヒラギノ角ゴ Pro W3" charset="-128"/>
              </a:rPr>
              <a:t>Security + Objective 5.1g Non-repudiation</a:t>
            </a:r>
          </a:p>
          <a:p>
            <a:pPr eaLnBrk="1" hangingPunct="1"/>
            <a:r>
              <a:rPr lang="en-US" altLang="en-US" smtClean="0">
                <a:latin typeface="Arial" panose="020B0604020202020204" pitchFamily="34" charset="0"/>
                <a:ea typeface="ヒラギノ角ゴ Pro W3" charset="-128"/>
              </a:rPr>
              <a:t>An item of some confusion, the concept of nonrepudiation is actually fairly simple. Nonrepudiation means that the message sender cannot later deny that they sent the message. This is important in electronic exchanges of data, because of the lack of face-to-face meetings. Nonrepudiation is based upon public key cryptography and the principle of only you knowing your private key. The presence of a message signed by you, using your private key, which nobody else should know, is an example of nonrepudiation. When a third party can check your signature using your public key, that disproves any claim that you were not the one who actually sent the message. Nonrepudiation is tied to asymmetric cryptography and cannot be implemented with symmetric algorithms.</a:t>
            </a:r>
          </a:p>
          <a:p>
            <a:pPr eaLnBrk="1" hangingPunct="1"/>
            <a:endParaRPr lang="en-US" altLang="en-US" smtClean="0">
              <a:latin typeface="Arial" panose="020B0604020202020204" pitchFamily="34" charset="0"/>
              <a:ea typeface="ヒラギノ角ゴ Pro W3" charset="-128"/>
            </a:endParaRPr>
          </a:p>
        </p:txBody>
      </p:sp>
      <p:sp>
        <p:nvSpPr>
          <p:cNvPr id="614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5EFE68D2-9616-4B0C-80C4-15DFEE40E0C0}" type="slidenum">
              <a:rPr lang="en-US" altLang="en-US" sz="1200">
                <a:latin typeface="Calibri" panose="020F0502020204030204" pitchFamily="34" charset="0"/>
              </a:rPr>
              <a:pPr eaLnBrk="1" hangingPunct="1"/>
              <a:t>47</a:t>
            </a:fld>
            <a:endParaRPr lang="en-US" altLang="en-US" sz="1200">
              <a:latin typeface="Calibri" panose="020F0502020204030204" pitchFamily="34" charset="0"/>
            </a:endParaRPr>
          </a:p>
        </p:txBody>
      </p:sp>
    </p:spTree>
    <p:extLst>
      <p:ext uri="{BB962C8B-B14F-4D97-AF65-F5344CB8AC3E}">
        <p14:creationId xmlns:p14="http://schemas.microsoft.com/office/powerpoint/2010/main" val="921286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37273721-8CB1-B64E-BBBD-B209776E3A47}" type="slidenum">
              <a:rPr lang="en-AU">
                <a:latin typeface="Arial" pitchFamily="-110" charset="0"/>
              </a:rPr>
              <a:pPr/>
              <a:t>50</a:t>
            </a:fld>
            <a:endParaRPr lang="en-AU">
              <a:latin typeface="Arial" pitchFamily="-110"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pitchFamily="-108" charset="0"/>
                <a:ea typeface="ＭＳ Ｐゴシック" pitchFamily="33" charset="-128"/>
                <a:cs typeface="ＭＳ Ｐゴシック" pitchFamily="33" charset="-128"/>
              </a:rPr>
              <a:t> Figure 2.7 is a generic model of the process of making and using digital signatures.</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All of the digital signature schemes in FIPS 186-4 have this structure. Suppose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 Bob wants to send a message to Alice. Although it is not important that the message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be kept secret, he wants Alice to be certain that the message is indeed from him.</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For this purpose, Bob uses a secure hash function, such as SHA-512, to generate a</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hash value for the message. That hash value, together with Bob’s private key, serve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as input to a digital signature generation algorithm that produces a short block that</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functions as a digital signature. Bob sends the message with the signature attached.</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When Alice receives the message plus signature, she (1) calculates a hash value for</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the message; (2) provides the hash value and Bob’s public key as inputs to a digital</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signature verification algorithm. If the algorithm returns the result that the signature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is valid, Alice is assured that the message must have been signed by Bob. No one else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 has Bob’s private key, and therefore no one else could have created a signature that</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could be verified for this message with Bob’s public key. In addition, it is impossible to</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alter the message without access to Bob’s private key, so the message is authenticated</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both in terms of source and in terms of data integrity.</a:t>
            </a:r>
          </a:p>
          <a:p>
            <a:endParaRPr lang="en-US" sz="1200" kern="1200" dirty="0" smtClean="0">
              <a:solidFill>
                <a:schemeClr val="tx1"/>
              </a:solidFill>
              <a:effectLst/>
              <a:latin typeface="Arial" pitchFamily="-108" charset="0"/>
              <a:ea typeface="ＭＳ Ｐゴシック" pitchFamily="33" charset="-128"/>
              <a:cs typeface="ＭＳ Ｐゴシック" pitchFamily="33" charset="-128"/>
            </a:endParaRP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The digital signature does not provide confidentiality. That is, the message being</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sent is safe from alteration, but not safe from eavesdropping. This is obvious in the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case of a signature based on a portion of the message, because the rest of the message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is transmitted in the clear. Even in the case of complete encryption, there is no</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protection of confidentiality because any observer can decrypt the message by using</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the sender’s public key.</a:t>
            </a:r>
          </a:p>
          <a:p>
            <a:endParaRPr lang="en-US" dirty="0" smtClean="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41516021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ea typeface="ヒラギノ角ゴ Pro W3" charset="-128"/>
            </a:endParaRPr>
          </a:p>
        </p:txBody>
      </p:sp>
      <p:sp>
        <p:nvSpPr>
          <p:cNvPr id="399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MS PGothic" panose="020B0600070205080204" pitchFamily="34" charset="-128"/>
              </a:defRPr>
            </a:lvl1pPr>
            <a:lvl2pPr marL="742950" indent="-285750" defTabSz="912813" eaLnBrk="0" hangingPunct="0">
              <a:defRPr sz="2400">
                <a:solidFill>
                  <a:schemeClr val="tx1"/>
                </a:solidFill>
                <a:latin typeface="Arial" panose="020B0604020202020204" pitchFamily="34" charset="0"/>
                <a:ea typeface="MS PGothic"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MS PGothic"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MS PGothic"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A560D32D-151F-4BF0-BA9B-A5C11F3031DD}" type="slidenum">
              <a:rPr lang="en-US" altLang="en-US" sz="1200">
                <a:solidFill>
                  <a:srgbClr val="000000"/>
                </a:solidFill>
              </a:rPr>
              <a:pPr eaLnBrk="1" hangingPunct="1"/>
              <a:t>51</a:t>
            </a:fld>
            <a:endParaRPr lang="en-US" altLang="en-US" sz="1200">
              <a:solidFill>
                <a:srgbClr val="000000"/>
              </a:solidFill>
            </a:endParaRPr>
          </a:p>
        </p:txBody>
      </p:sp>
    </p:spTree>
    <p:extLst>
      <p:ext uri="{BB962C8B-B14F-4D97-AF65-F5344CB8AC3E}">
        <p14:creationId xmlns:p14="http://schemas.microsoft.com/office/powerpoint/2010/main" val="687354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74F62F1-22C1-4045-9A09-9CF772C9FABC}" type="datetimeFigureOut">
              <a:rPr lang="en-US" smtClean="0"/>
              <a:t>1/18/2018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DA94F1-4CA2-41F2-9841-1A83E01B735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0134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b="1">
                <a:latin typeface="Tw Cen MT" panose="020B0602020104020603"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a:defRPr sz="2400">
                <a:solidFill>
                  <a:schemeClr val="tx1"/>
                </a:solidFill>
                <a:latin typeface="Tw Cen MT" panose="020B0602020104020603" pitchFamily="34" charset="0"/>
              </a:defRPr>
            </a:lvl1pPr>
            <a:lvl2pPr>
              <a:defRPr sz="2400">
                <a:solidFill>
                  <a:schemeClr val="tx1"/>
                </a:solidFill>
                <a:latin typeface="Tw Cen MT" panose="020B0602020104020603" pitchFamily="34" charset="0"/>
              </a:defRPr>
            </a:lvl2pPr>
            <a:lvl3pPr>
              <a:defRPr sz="2400">
                <a:solidFill>
                  <a:schemeClr val="tx1"/>
                </a:solidFill>
                <a:latin typeface="Tw Cen MT" panose="020B0602020104020603" pitchFamily="34" charset="0"/>
              </a:defRPr>
            </a:lvl3pPr>
            <a:lvl4pPr>
              <a:defRPr sz="2400">
                <a:solidFill>
                  <a:schemeClr val="tx1"/>
                </a:solidFill>
                <a:latin typeface="Tw Cen MT" panose="020B0602020104020603" pitchFamily="34" charset="0"/>
              </a:defRPr>
            </a:lvl4pPr>
            <a:lvl5pPr>
              <a:defRPr sz="2400">
                <a:solidFill>
                  <a:schemeClr val="tx1"/>
                </a:solidFill>
                <a:latin typeface="Tw Cen MT" panose="020B0602020104020603" pitchFamily="34" charset="0"/>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74F62F1-22C1-4045-9A09-9CF772C9FABC}" type="datetimeFigureOut">
              <a:rPr lang="en-US" smtClean="0"/>
              <a:t>1/18/2018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DA94F1-4CA2-41F2-9841-1A83E01B735E}" type="slidenum">
              <a:rPr lang="en-US" smtClean="0"/>
              <a:t>‹#›</a:t>
            </a:fld>
            <a:endParaRPr lang="en-US"/>
          </a:p>
        </p:txBody>
      </p:sp>
    </p:spTree>
    <p:extLst>
      <p:ext uri="{BB962C8B-B14F-4D97-AF65-F5344CB8AC3E}">
        <p14:creationId xmlns:p14="http://schemas.microsoft.com/office/powerpoint/2010/main" val="4138539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74F62F1-22C1-4045-9A09-9CF772C9FABC}" type="datetimeFigureOut">
              <a:rPr lang="en-US" smtClean="0"/>
              <a:t>1/18/2018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DA94F1-4CA2-41F2-9841-1A83E01B735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285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74F62F1-22C1-4045-9A09-9CF772C9FABC}" type="datetimeFigureOut">
              <a:rPr lang="en-US" smtClean="0"/>
              <a:t>1/18/2018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DA94F1-4CA2-41F2-9841-1A83E01B735E}" type="slidenum">
              <a:rPr lang="en-US" smtClean="0"/>
              <a:t>‹#›</a:t>
            </a:fld>
            <a:endParaRPr lang="en-US"/>
          </a:p>
        </p:txBody>
      </p:sp>
    </p:spTree>
    <p:extLst>
      <p:ext uri="{BB962C8B-B14F-4D97-AF65-F5344CB8AC3E}">
        <p14:creationId xmlns:p14="http://schemas.microsoft.com/office/powerpoint/2010/main" val="750483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74F62F1-22C1-4045-9A09-9CF772C9FABC}" type="datetimeFigureOut">
              <a:rPr lang="en-US" smtClean="0"/>
              <a:t>1/18/2018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DA94F1-4CA2-41F2-9841-1A83E01B735E}" type="slidenum">
              <a:rPr lang="en-US" smtClean="0"/>
              <a:t>‹#›</a:t>
            </a:fld>
            <a:endParaRPr lang="en-US"/>
          </a:p>
        </p:txBody>
      </p:sp>
    </p:spTree>
    <p:extLst>
      <p:ext uri="{BB962C8B-B14F-4D97-AF65-F5344CB8AC3E}">
        <p14:creationId xmlns:p14="http://schemas.microsoft.com/office/powerpoint/2010/main" val="266797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5DA94F1-4CA2-41F2-9841-1A83E01B735E}" type="slidenum">
              <a:rPr lang="en-US" smtClean="0"/>
              <a:t>‹#›</a:t>
            </a:fld>
            <a:endParaRPr lang="en-US"/>
          </a:p>
        </p:txBody>
      </p:sp>
    </p:spTree>
    <p:extLst>
      <p:ext uri="{BB962C8B-B14F-4D97-AF65-F5344CB8AC3E}">
        <p14:creationId xmlns:p14="http://schemas.microsoft.com/office/powerpoint/2010/main" val="1838745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74F62F1-22C1-4045-9A09-9CF772C9FABC}" type="datetimeFigureOut">
              <a:rPr lang="en-US" smtClean="0"/>
              <a:t>1/18/2018</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5DA94F1-4CA2-41F2-9841-1A83E01B735E}" type="slidenum">
              <a:rPr lang="en-US" smtClean="0"/>
              <a:t>‹#›</a:t>
            </a:fld>
            <a:endParaRPr lang="en-US"/>
          </a:p>
        </p:txBody>
      </p:sp>
    </p:spTree>
    <p:extLst>
      <p:ext uri="{BB962C8B-B14F-4D97-AF65-F5344CB8AC3E}">
        <p14:creationId xmlns:p14="http://schemas.microsoft.com/office/powerpoint/2010/main" val="28267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74F62F1-22C1-4045-9A09-9CF772C9FABC}" type="datetimeFigureOut">
              <a:rPr lang="en-US" smtClean="0"/>
              <a:t>1/18/2018</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5DA94F1-4CA2-41F2-9841-1A83E01B735E}" type="slidenum">
              <a:rPr lang="en-US" smtClean="0"/>
              <a:t>‹#›</a:t>
            </a:fld>
            <a:endParaRPr lang="en-US"/>
          </a:p>
        </p:txBody>
      </p:sp>
    </p:spTree>
    <p:extLst>
      <p:ext uri="{BB962C8B-B14F-4D97-AF65-F5344CB8AC3E}">
        <p14:creationId xmlns:p14="http://schemas.microsoft.com/office/powerpoint/2010/main" val="2320045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74F62F1-22C1-4045-9A09-9CF772C9FABC}" type="datetimeFigureOut">
              <a:rPr lang="en-US" smtClean="0"/>
              <a:t>1/18/2018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DA94F1-4CA2-41F2-9841-1A83E01B735E}" type="slidenum">
              <a:rPr lang="en-US" smtClean="0"/>
              <a:t>‹#›</a:t>
            </a:fld>
            <a:endParaRPr lang="en-US"/>
          </a:p>
        </p:txBody>
      </p:sp>
    </p:spTree>
    <p:extLst>
      <p:ext uri="{BB962C8B-B14F-4D97-AF65-F5344CB8AC3E}">
        <p14:creationId xmlns:p14="http://schemas.microsoft.com/office/powerpoint/2010/main" val="1271202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4F62F1-22C1-4045-9A09-9CF772C9FABC}" type="datetimeFigureOut">
              <a:rPr lang="en-US" smtClean="0"/>
              <a:t>1/18/2018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DA94F1-4CA2-41F2-9841-1A83E01B735E}" type="slidenum">
              <a:rPr lang="en-US" smtClean="0"/>
              <a:t>‹#›</a:t>
            </a:fld>
            <a:endParaRPr lang="en-US"/>
          </a:p>
        </p:txBody>
      </p:sp>
    </p:spTree>
    <p:extLst>
      <p:ext uri="{BB962C8B-B14F-4D97-AF65-F5344CB8AC3E}">
        <p14:creationId xmlns:p14="http://schemas.microsoft.com/office/powerpoint/2010/main" val="112009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4F62F1-22C1-4045-9A09-9CF772C9FABC}" type="datetimeFigureOut">
              <a:rPr lang="en-US" smtClean="0"/>
              <a:t>1/18/2018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DA94F1-4CA2-41F2-9841-1A83E01B735E}" type="slidenum">
              <a:rPr lang="en-US" smtClean="0"/>
              <a:t>‹#›</a:t>
            </a:fld>
            <a:endParaRPr lang="en-US"/>
          </a:p>
        </p:txBody>
      </p:sp>
    </p:spTree>
    <p:extLst>
      <p:ext uri="{BB962C8B-B14F-4D97-AF65-F5344CB8AC3E}">
        <p14:creationId xmlns:p14="http://schemas.microsoft.com/office/powerpoint/2010/main" val="403481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74F62F1-22C1-4045-9A09-9CF772C9FABC}" type="datetimeFigureOut">
              <a:rPr lang="en-US" smtClean="0"/>
              <a:t>1/18/2018</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5DA94F1-4CA2-41F2-9841-1A83E01B735E}"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44739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p:txBody>
          <a:bodyPr>
            <a:normAutofit fontScale="90000"/>
          </a:bodyPr>
          <a:lstStyle/>
          <a:p>
            <a:pPr eaLnBrk="1" hangingPunct="1"/>
            <a:r>
              <a:rPr lang="en-US" altLang="en-US" dirty="0" smtClean="0">
                <a:latin typeface="Tw Cen MT" panose="020B0602020104020603" pitchFamily="34" charset="0"/>
              </a:rPr>
              <a:t>Cryptography: Encryption Algorithms,</a:t>
            </a:r>
            <a:br>
              <a:rPr lang="en-US" altLang="en-US" dirty="0" smtClean="0">
                <a:latin typeface="Tw Cen MT" panose="020B0602020104020603" pitchFamily="34" charset="0"/>
              </a:rPr>
            </a:br>
            <a:r>
              <a:rPr lang="en-US" altLang="en-US" dirty="0" smtClean="0">
                <a:latin typeface="Tw Cen MT" panose="020B0602020104020603" pitchFamily="34" charset="0"/>
              </a:rPr>
              <a:t>Hashing and Digital Signatures</a:t>
            </a:r>
            <a:endParaRPr lang="en-US" altLang="en-US" dirty="0" smtClean="0">
              <a:latin typeface="Tw Cen MT" panose="020B0602020104020603" pitchFamily="34" charset="0"/>
            </a:endParaRPr>
          </a:p>
        </p:txBody>
      </p:sp>
      <p:sp>
        <p:nvSpPr>
          <p:cNvPr id="2" name="Subtitle 1"/>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641379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p:cNvSpPr>
            <a:spLocks noGrp="1"/>
          </p:cNvSpPr>
          <p:nvPr>
            <p:ph type="title"/>
          </p:nvPr>
        </p:nvSpPr>
        <p:spPr/>
        <p:txBody>
          <a:bodyPr/>
          <a:lstStyle/>
          <a:p>
            <a:r>
              <a:rPr lang="en-US" altLang="en-US" sz="3200"/>
              <a:t>Symmetric and Asymmetric Cryptography Overview</a:t>
            </a:r>
          </a:p>
        </p:txBody>
      </p:sp>
      <p:sp>
        <p:nvSpPr>
          <p:cNvPr id="13314" name="Content Placeholder 2"/>
          <p:cNvSpPr>
            <a:spLocks noGrp="1"/>
          </p:cNvSpPr>
          <p:nvPr>
            <p:ph idx="1"/>
          </p:nvPr>
        </p:nvSpPr>
        <p:spPr/>
        <p:txBody>
          <a:bodyPr/>
          <a:lstStyle/>
          <a:p>
            <a:r>
              <a:rPr lang="en-US" altLang="en-US" dirty="0"/>
              <a:t>Modern cryptographic methods use a key to control encryption and decryption </a:t>
            </a:r>
          </a:p>
          <a:p>
            <a:r>
              <a:rPr lang="en-US" altLang="en-US" dirty="0"/>
              <a:t>Two classes of key -based encryption algorithms </a:t>
            </a:r>
          </a:p>
          <a:p>
            <a:pPr lvl="1"/>
            <a:r>
              <a:rPr lang="en-US" altLang="en-US" dirty="0"/>
              <a:t>symmetric (secret-key)</a:t>
            </a:r>
          </a:p>
          <a:p>
            <a:pPr lvl="1"/>
            <a:r>
              <a:rPr lang="en-US" altLang="en-US" dirty="0"/>
              <a:t>asymmetric (public-key) </a:t>
            </a:r>
          </a:p>
          <a:p>
            <a:r>
              <a:rPr lang="en-US" altLang="en-US" dirty="0"/>
              <a:t>Symmetric:</a:t>
            </a:r>
          </a:p>
          <a:p>
            <a:pPr lvl="1"/>
            <a:r>
              <a:rPr lang="en-US" altLang="en-US" dirty="0"/>
              <a:t>Same key used for both encryption and decryption </a:t>
            </a:r>
          </a:p>
          <a:p>
            <a:r>
              <a:rPr lang="en-US" altLang="en-US" dirty="0"/>
              <a:t>Asymmetric:</a:t>
            </a:r>
          </a:p>
          <a:p>
            <a:pPr lvl="1"/>
            <a:r>
              <a:rPr lang="en-US" altLang="en-US" dirty="0"/>
              <a:t>Different keys are used for encryption and decryption. </a:t>
            </a:r>
          </a:p>
          <a:p>
            <a:endParaRPr lang="en-US" altLang="en-US" dirty="0"/>
          </a:p>
        </p:txBody>
      </p:sp>
    </p:spTree>
    <p:extLst>
      <p:ext uri="{BB962C8B-B14F-4D97-AF65-F5344CB8AC3E}">
        <p14:creationId xmlns:p14="http://schemas.microsoft.com/office/powerpoint/2010/main" val="2795168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title"/>
          </p:nvPr>
        </p:nvSpPr>
        <p:spPr/>
        <p:txBody>
          <a:bodyPr/>
          <a:lstStyle/>
          <a:p>
            <a:r>
              <a:rPr lang="en-US" altLang="en-US" smtClean="0">
                <a:latin typeface="Times New Roman" panose="02020603050405020304" pitchFamily="18" charset="0"/>
                <a:cs typeface="Times New Roman" panose="02020603050405020304" pitchFamily="18" charset="0"/>
              </a:rPr>
              <a:t>Symmetric Cryptography</a:t>
            </a:r>
            <a:endParaRPr lang="en-US" altLang="en-US" smtClean="0"/>
          </a:p>
        </p:txBody>
      </p:sp>
      <p:sp>
        <p:nvSpPr>
          <p:cNvPr id="14338" name="Content Placeholder 2"/>
          <p:cNvSpPr>
            <a:spLocks noGrp="1"/>
          </p:cNvSpPr>
          <p:nvPr>
            <p:ph idx="1"/>
          </p:nvPr>
        </p:nvSpPr>
        <p:spPr/>
        <p:txBody>
          <a:bodyPr/>
          <a:lstStyle/>
          <a:p>
            <a:r>
              <a:rPr lang="en-US" altLang="en-US" sz="2800"/>
              <a:t>Also known as secret key or private key encryption</a:t>
            </a:r>
          </a:p>
          <a:p>
            <a:r>
              <a:rPr lang="en-US" altLang="en-US" sz="2800"/>
              <a:t>Requires sender, receiver know shared secret key</a:t>
            </a:r>
          </a:p>
          <a:p>
            <a:r>
              <a:rPr lang="en-US" altLang="en-US" sz="2800"/>
              <a:t>Problem : Key distribution</a:t>
            </a:r>
          </a:p>
          <a:p>
            <a:r>
              <a:rPr lang="en-US" altLang="en-US" sz="2800"/>
              <a:t>how to agree on key in first place (particularly if never “met”)?</a:t>
            </a:r>
          </a:p>
          <a:p>
            <a:r>
              <a:rPr lang="en-US" altLang="en-US" sz="2800"/>
              <a:t>How to securely transmit the keys ?</a:t>
            </a:r>
          </a:p>
          <a:p>
            <a:endParaRPr lang="en-US" altLang="en-US" sz="2800"/>
          </a:p>
        </p:txBody>
      </p:sp>
    </p:spTree>
    <p:extLst>
      <p:ext uri="{BB962C8B-B14F-4D97-AF65-F5344CB8AC3E}">
        <p14:creationId xmlns:p14="http://schemas.microsoft.com/office/powerpoint/2010/main" val="3522271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US" altLang="en-US" smtClean="0">
                <a:latin typeface="Times New Roman" panose="02020603050405020304" pitchFamily="18" charset="0"/>
                <a:cs typeface="Times New Roman" panose="02020603050405020304" pitchFamily="18" charset="0"/>
              </a:rPr>
              <a:t>Asymmetric Cryptography</a:t>
            </a:r>
            <a:endParaRPr lang="en-US" altLang="en-US" smtClean="0"/>
          </a:p>
        </p:txBody>
      </p:sp>
      <p:sp>
        <p:nvSpPr>
          <p:cNvPr id="15362" name="Content Placeholder 2"/>
          <p:cNvSpPr>
            <a:spLocks noGrp="1"/>
          </p:cNvSpPr>
          <p:nvPr>
            <p:ph idx="1"/>
          </p:nvPr>
        </p:nvSpPr>
        <p:spPr>
          <a:xfrm>
            <a:off x="1234550" y="1937892"/>
            <a:ext cx="10468454" cy="4114800"/>
          </a:xfrm>
        </p:spPr>
        <p:txBody>
          <a:bodyPr/>
          <a:lstStyle/>
          <a:p>
            <a:r>
              <a:rPr lang="en-US" altLang="en-US" dirty="0"/>
              <a:t>Most significant new development in cryptography in the last 300-400 years </a:t>
            </a:r>
          </a:p>
          <a:p>
            <a:r>
              <a:rPr lang="en-US" altLang="en-US" dirty="0"/>
              <a:t>The encryption key is public, decryption key is kept secret (or private)</a:t>
            </a:r>
          </a:p>
          <a:p>
            <a:pPr lvl="1"/>
            <a:r>
              <a:rPr lang="en-US" altLang="en-US" dirty="0"/>
              <a:t>anyone can encrypt a message but only the one who knows the corresponding private key can decrypt it </a:t>
            </a:r>
          </a:p>
          <a:p>
            <a:endParaRPr lang="en-US" altLang="en-US" dirty="0"/>
          </a:p>
        </p:txBody>
      </p:sp>
    </p:spTree>
    <p:extLst>
      <p:ext uri="{BB962C8B-B14F-4D97-AF65-F5344CB8AC3E}">
        <p14:creationId xmlns:p14="http://schemas.microsoft.com/office/powerpoint/2010/main" val="3928802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altLang="en-US" dirty="0" smtClean="0"/>
              <a:t>Symmetric Encryption Methods</a:t>
            </a:r>
          </a:p>
        </p:txBody>
      </p:sp>
      <p:sp>
        <p:nvSpPr>
          <p:cNvPr id="18434" name="Content Placeholder 2"/>
          <p:cNvSpPr>
            <a:spLocks noGrp="1"/>
          </p:cNvSpPr>
          <p:nvPr>
            <p:ph idx="1"/>
          </p:nvPr>
        </p:nvSpPr>
        <p:spPr>
          <a:xfrm>
            <a:off x="1039391" y="1973594"/>
            <a:ext cx="10828074" cy="4749548"/>
          </a:xfrm>
        </p:spPr>
        <p:txBody>
          <a:bodyPr>
            <a:normAutofit/>
          </a:bodyPr>
          <a:lstStyle/>
          <a:p>
            <a:pPr>
              <a:lnSpc>
                <a:spcPct val="114000"/>
              </a:lnSpc>
              <a:spcBef>
                <a:spcPts val="600"/>
              </a:spcBef>
              <a:spcAft>
                <a:spcPts val="600"/>
              </a:spcAft>
              <a:buFont typeface="Wingdings" charset="0"/>
              <a:buChar char="n"/>
              <a:defRPr/>
            </a:pPr>
            <a:r>
              <a:rPr lang="en-US" dirty="0">
                <a:ea typeface="ＭＳ Ｐゴシック" charset="0"/>
              </a:rPr>
              <a:t>Symmetric ciphers can be divided into </a:t>
            </a:r>
            <a:r>
              <a:rPr lang="en-US" dirty="0">
                <a:latin typeface="Times New Roman" charset="0"/>
                <a:ea typeface="ＭＳ Ｐゴシック" charset="0"/>
                <a:cs typeface="Times New Roman" charset="0"/>
              </a:rPr>
              <a:t>two methods of encryption</a:t>
            </a:r>
          </a:p>
          <a:p>
            <a:pPr lvl="1">
              <a:lnSpc>
                <a:spcPct val="114000"/>
              </a:lnSpc>
              <a:spcBef>
                <a:spcPts val="600"/>
              </a:spcBef>
              <a:spcAft>
                <a:spcPts val="600"/>
              </a:spcAft>
              <a:buFont typeface="Wingdings" charset="0"/>
              <a:buChar char="n"/>
              <a:defRPr/>
            </a:pPr>
            <a:r>
              <a:rPr lang="en-US" sz="2000" dirty="0">
                <a:ea typeface="ＭＳ Ｐゴシック" charset="0"/>
              </a:rPr>
              <a:t> </a:t>
            </a:r>
            <a:r>
              <a:rPr lang="en-US" b="1" dirty="0">
                <a:ea typeface="ＭＳ Ｐゴシック" charset="0"/>
              </a:rPr>
              <a:t>stream ciphers </a:t>
            </a:r>
            <a:r>
              <a:rPr lang="en-US" dirty="0">
                <a:ea typeface="ＭＳ Ｐゴシック" charset="0"/>
              </a:rPr>
              <a:t>and</a:t>
            </a:r>
          </a:p>
          <a:p>
            <a:pPr lvl="1">
              <a:lnSpc>
                <a:spcPct val="114000"/>
              </a:lnSpc>
              <a:spcBef>
                <a:spcPts val="600"/>
              </a:spcBef>
              <a:spcAft>
                <a:spcPts val="600"/>
              </a:spcAft>
              <a:buFont typeface="Wingdings" charset="0"/>
              <a:buChar char="n"/>
              <a:defRPr/>
            </a:pPr>
            <a:r>
              <a:rPr lang="en-US" dirty="0">
                <a:ea typeface="ＭＳ Ｐゴシック" charset="0"/>
              </a:rPr>
              <a:t> </a:t>
            </a:r>
            <a:r>
              <a:rPr lang="en-US" b="1" dirty="0">
                <a:ea typeface="ＭＳ Ｐゴシック" charset="0"/>
              </a:rPr>
              <a:t>block ciphers </a:t>
            </a:r>
            <a:endParaRPr lang="en-US" dirty="0">
              <a:ea typeface="ＭＳ Ｐゴシック" charset="0"/>
            </a:endParaRPr>
          </a:p>
          <a:p>
            <a:pPr>
              <a:lnSpc>
                <a:spcPct val="114000"/>
              </a:lnSpc>
              <a:spcBef>
                <a:spcPts val="600"/>
              </a:spcBef>
              <a:spcAft>
                <a:spcPts val="600"/>
              </a:spcAft>
              <a:buFont typeface="Wingdings" charset="0"/>
              <a:buChar char="n"/>
              <a:defRPr/>
            </a:pPr>
            <a:r>
              <a:rPr lang="en-US" dirty="0" smtClean="0">
                <a:latin typeface="Times New Roman" charset="0"/>
                <a:ea typeface="ＭＳ Ｐゴシック" charset="0"/>
                <a:cs typeface="Times New Roman" charset="0"/>
              </a:rPr>
              <a:t>Stream </a:t>
            </a:r>
            <a:r>
              <a:rPr lang="en-US" dirty="0">
                <a:latin typeface="Times New Roman" charset="0"/>
                <a:ea typeface="ＭＳ Ｐゴシック" charset="0"/>
                <a:cs typeface="Times New Roman" charset="0"/>
              </a:rPr>
              <a:t>Cipher</a:t>
            </a:r>
          </a:p>
          <a:p>
            <a:pPr lvl="1">
              <a:lnSpc>
                <a:spcPct val="114000"/>
              </a:lnSpc>
              <a:spcBef>
                <a:spcPts val="600"/>
              </a:spcBef>
              <a:spcAft>
                <a:spcPts val="600"/>
              </a:spcAft>
              <a:buFont typeface="Wingdings" charset="0"/>
              <a:buChar char="n"/>
              <a:defRPr/>
            </a:pPr>
            <a:r>
              <a:rPr lang="en-US" dirty="0">
                <a:ea typeface="ＭＳ Ｐゴシック" charset="0"/>
              </a:rPr>
              <a:t>can encrypt a single bit of plaintext at a time </a:t>
            </a:r>
          </a:p>
          <a:p>
            <a:pPr>
              <a:lnSpc>
                <a:spcPct val="114000"/>
              </a:lnSpc>
              <a:spcBef>
                <a:spcPts val="600"/>
              </a:spcBef>
              <a:spcAft>
                <a:spcPts val="600"/>
              </a:spcAft>
              <a:buFont typeface="Wingdings" charset="0"/>
              <a:buChar char="n"/>
              <a:defRPr/>
            </a:pPr>
            <a:r>
              <a:rPr lang="en-US" dirty="0" smtClean="0">
                <a:ea typeface="ＭＳ Ｐゴシック" charset="0"/>
              </a:rPr>
              <a:t>Block </a:t>
            </a:r>
            <a:r>
              <a:rPr lang="en-US" dirty="0">
                <a:ea typeface="ＭＳ Ｐゴシック" charset="0"/>
              </a:rPr>
              <a:t>ciphers </a:t>
            </a:r>
          </a:p>
          <a:p>
            <a:pPr lvl="1">
              <a:lnSpc>
                <a:spcPct val="114000"/>
              </a:lnSpc>
              <a:spcBef>
                <a:spcPts val="600"/>
              </a:spcBef>
              <a:spcAft>
                <a:spcPts val="600"/>
              </a:spcAft>
              <a:buFont typeface="Wingdings" charset="0"/>
              <a:buChar char="n"/>
              <a:defRPr/>
            </a:pPr>
            <a:r>
              <a:rPr lang="en-US" dirty="0">
                <a:ea typeface="ＭＳ Ｐゴシック" charset="0"/>
              </a:rPr>
              <a:t>take a number of bits and encrypt them as a single unit </a:t>
            </a:r>
          </a:p>
          <a:p>
            <a:pPr>
              <a:lnSpc>
                <a:spcPct val="114000"/>
              </a:lnSpc>
              <a:spcBef>
                <a:spcPts val="600"/>
              </a:spcBef>
              <a:spcAft>
                <a:spcPts val="600"/>
              </a:spcAft>
              <a:buFont typeface="Wingdings" charset="0"/>
              <a:buChar char="n"/>
              <a:defRPr/>
            </a:pPr>
            <a:endParaRPr lang="en-US" dirty="0">
              <a:latin typeface="Times New Roman" charset="0"/>
              <a:ea typeface="ＭＳ Ｐゴシック" charset="0"/>
              <a:cs typeface="Times New Roman" charset="0"/>
            </a:endParaRPr>
          </a:p>
          <a:p>
            <a:pPr>
              <a:lnSpc>
                <a:spcPct val="114000"/>
              </a:lnSpc>
              <a:spcBef>
                <a:spcPts val="600"/>
              </a:spcBef>
              <a:spcAft>
                <a:spcPts val="600"/>
              </a:spcAft>
              <a:buFont typeface="Wingdings" charset="0"/>
              <a:buChar char="n"/>
              <a:defRPr/>
            </a:pPr>
            <a:endParaRPr lang="en-US" dirty="0">
              <a:latin typeface="Times New Roman" charset="0"/>
              <a:ea typeface="ＭＳ Ｐゴシック" charset="0"/>
              <a:cs typeface="Times New Roman" charset="0"/>
            </a:endParaRPr>
          </a:p>
          <a:p>
            <a:pPr>
              <a:lnSpc>
                <a:spcPct val="114000"/>
              </a:lnSpc>
              <a:spcBef>
                <a:spcPts val="600"/>
              </a:spcBef>
              <a:spcAft>
                <a:spcPts val="600"/>
              </a:spcAft>
              <a:buFont typeface="Wingdings" charset="0"/>
              <a:buChar char="n"/>
              <a:defRPr/>
            </a:pPr>
            <a:endParaRPr lang="en-US" dirty="0">
              <a:latin typeface="Times New Roman" charset="0"/>
              <a:ea typeface="ＭＳ Ｐゴシック" charset="0"/>
              <a:cs typeface="Times New Roman" charset="0"/>
            </a:endParaRPr>
          </a:p>
        </p:txBody>
      </p:sp>
    </p:spTree>
    <p:extLst>
      <p:ext uri="{BB962C8B-B14F-4D97-AF65-F5344CB8AC3E}">
        <p14:creationId xmlns:p14="http://schemas.microsoft.com/office/powerpoint/2010/main" val="9310983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1097280" y="286604"/>
            <a:ext cx="10058400" cy="1173806"/>
          </a:xfrm>
        </p:spPr>
        <p:txBody>
          <a:bodyPr/>
          <a:lstStyle/>
          <a:p>
            <a:r>
              <a:rPr lang="en-US" altLang="en-US" dirty="0" smtClean="0"/>
              <a:t>Stream Cipher</a:t>
            </a:r>
          </a:p>
        </p:txBody>
      </p:sp>
      <p:sp>
        <p:nvSpPr>
          <p:cNvPr id="21506" name="Content Placeholder 2"/>
          <p:cNvSpPr>
            <a:spLocks noGrp="1"/>
          </p:cNvSpPr>
          <p:nvPr>
            <p:ph idx="1"/>
          </p:nvPr>
        </p:nvSpPr>
        <p:spPr>
          <a:xfrm>
            <a:off x="855194" y="1585399"/>
            <a:ext cx="10657036" cy="4841715"/>
          </a:xfrm>
        </p:spPr>
        <p:txBody>
          <a:bodyPr>
            <a:noAutofit/>
          </a:bodyPr>
          <a:lstStyle/>
          <a:p>
            <a:pPr>
              <a:lnSpc>
                <a:spcPct val="124000"/>
              </a:lnSpc>
              <a:spcBef>
                <a:spcPts val="300"/>
              </a:spcBef>
              <a:spcAft>
                <a:spcPts val="600"/>
              </a:spcAft>
            </a:pPr>
            <a:r>
              <a:rPr lang="en-US" altLang="en-US" dirty="0"/>
              <a:t>Stream Cipher: Each bit of the data is sequentially encrypted using one bit of the key</a:t>
            </a:r>
          </a:p>
          <a:p>
            <a:pPr>
              <a:lnSpc>
                <a:spcPct val="124000"/>
              </a:lnSpc>
              <a:spcBef>
                <a:spcPts val="300"/>
              </a:spcBef>
              <a:spcAft>
                <a:spcPts val="600"/>
              </a:spcAft>
            </a:pPr>
            <a:r>
              <a:rPr lang="en-US" altLang="en-US" dirty="0" smtClean="0"/>
              <a:t>Key: a </a:t>
            </a:r>
            <a:r>
              <a:rPr lang="en-US" altLang="en-US" dirty="0"/>
              <a:t>random bit string of length n</a:t>
            </a:r>
          </a:p>
          <a:p>
            <a:pPr>
              <a:lnSpc>
                <a:spcPct val="124000"/>
              </a:lnSpc>
              <a:spcBef>
                <a:spcPts val="300"/>
              </a:spcBef>
              <a:spcAft>
                <a:spcPts val="600"/>
              </a:spcAft>
            </a:pPr>
            <a:r>
              <a:rPr lang="en-US" altLang="en-US" dirty="0"/>
              <a:t>Stream ciphers: </a:t>
            </a:r>
          </a:p>
          <a:p>
            <a:pPr lvl="1">
              <a:lnSpc>
                <a:spcPct val="124000"/>
              </a:lnSpc>
              <a:spcBef>
                <a:spcPts val="300"/>
              </a:spcBef>
              <a:spcAft>
                <a:spcPts val="600"/>
              </a:spcAft>
            </a:pPr>
            <a:r>
              <a:rPr lang="en-US" altLang="en-US" dirty="0" smtClean="0"/>
              <a:t>Use </a:t>
            </a:r>
            <a:r>
              <a:rPr lang="en-US" altLang="en-US" dirty="0"/>
              <a:t>Pseudo Random Number Generator</a:t>
            </a:r>
          </a:p>
          <a:p>
            <a:pPr lvl="1">
              <a:lnSpc>
                <a:spcPct val="124000"/>
              </a:lnSpc>
              <a:spcBef>
                <a:spcPts val="300"/>
              </a:spcBef>
              <a:spcAft>
                <a:spcPts val="600"/>
              </a:spcAft>
            </a:pPr>
            <a:r>
              <a:rPr lang="en-US" altLang="en-US" dirty="0"/>
              <a:t>PRNG: {0,1}</a:t>
            </a:r>
            <a:r>
              <a:rPr lang="en-US" altLang="en-US" baseline="30000" dirty="0"/>
              <a:t>s</a:t>
            </a:r>
            <a:r>
              <a:rPr lang="en-US" altLang="en-US" dirty="0"/>
              <a:t> </a:t>
            </a:r>
            <a:r>
              <a:rPr lang="en-US" altLang="en-US" dirty="0">
                <a:sym typeface="Symbol" panose="05050102010706020507" pitchFamily="18" charset="2"/>
              </a:rPr>
              <a:t> {0,1}</a:t>
            </a:r>
            <a:r>
              <a:rPr lang="en-US" altLang="en-US" baseline="30000" dirty="0">
                <a:sym typeface="Symbol" panose="05050102010706020507" pitchFamily="18" charset="2"/>
              </a:rPr>
              <a:t>n</a:t>
            </a:r>
          </a:p>
          <a:p>
            <a:pPr lvl="2">
              <a:lnSpc>
                <a:spcPct val="124000"/>
              </a:lnSpc>
              <a:spcBef>
                <a:spcPts val="300"/>
              </a:spcBef>
              <a:spcAft>
                <a:spcPts val="600"/>
              </a:spcAft>
            </a:pPr>
            <a:r>
              <a:rPr lang="en-US" altLang="en-US" dirty="0" smtClean="0">
                <a:sym typeface="Symbol" panose="05050102010706020507" pitchFamily="18" charset="2"/>
              </a:rPr>
              <a:t>expand a short (e.g., 128-bit) random seed into a long (e.g., 10</a:t>
            </a:r>
            <a:r>
              <a:rPr lang="en-US" altLang="en-US" baseline="30000" dirty="0" smtClean="0">
                <a:sym typeface="Symbol" panose="05050102010706020507" pitchFamily="18" charset="2"/>
              </a:rPr>
              <a:t>6 </a:t>
            </a:r>
            <a:r>
              <a:rPr lang="en-US" altLang="en-US" dirty="0" smtClean="0">
                <a:sym typeface="Symbol" panose="05050102010706020507" pitchFamily="18" charset="2"/>
              </a:rPr>
              <a:t>bit) string that </a:t>
            </a:r>
            <a:r>
              <a:rPr lang="ja-JP" altLang="en-US" dirty="0" smtClean="0">
                <a:sym typeface="Symbol" panose="05050102010706020507" pitchFamily="18" charset="2"/>
              </a:rPr>
              <a:t>“</a:t>
            </a:r>
            <a:r>
              <a:rPr lang="en-US" altLang="ja-JP" dirty="0" smtClean="0">
                <a:sym typeface="Symbol" panose="05050102010706020507" pitchFamily="18" charset="2"/>
              </a:rPr>
              <a:t>looks random</a:t>
            </a:r>
            <a:r>
              <a:rPr lang="ja-JP" altLang="en-US" dirty="0" smtClean="0">
                <a:sym typeface="Symbol" panose="05050102010706020507" pitchFamily="18" charset="2"/>
              </a:rPr>
              <a:t>”</a:t>
            </a:r>
            <a:endParaRPr lang="en-US" altLang="ja-JP" dirty="0" smtClean="0">
              <a:sym typeface="Symbol" panose="05050102010706020507" pitchFamily="18" charset="2"/>
            </a:endParaRPr>
          </a:p>
          <a:p>
            <a:pPr lvl="1">
              <a:lnSpc>
                <a:spcPct val="124000"/>
              </a:lnSpc>
              <a:spcBef>
                <a:spcPts val="300"/>
              </a:spcBef>
              <a:spcAft>
                <a:spcPts val="600"/>
              </a:spcAft>
            </a:pPr>
            <a:r>
              <a:rPr lang="en-US" altLang="en-US" dirty="0"/>
              <a:t>Secret key is the seed</a:t>
            </a:r>
          </a:p>
          <a:p>
            <a:pPr lvl="1">
              <a:lnSpc>
                <a:spcPct val="124000"/>
              </a:lnSpc>
              <a:spcBef>
                <a:spcPts val="300"/>
              </a:spcBef>
              <a:spcAft>
                <a:spcPts val="600"/>
              </a:spcAft>
            </a:pPr>
            <a:r>
              <a:rPr lang="en-US" altLang="en-US" dirty="0" err="1"/>
              <a:t>E</a:t>
            </a:r>
            <a:r>
              <a:rPr lang="en-US" altLang="en-US" baseline="-25000" dirty="0" err="1"/>
              <a:t>seed</a:t>
            </a:r>
            <a:r>
              <a:rPr lang="en-US" altLang="en-US" dirty="0"/>
              <a:t>[M] = M </a:t>
            </a:r>
            <a:r>
              <a:rPr lang="en-US" altLang="en-US" dirty="0">
                <a:sym typeface="Symbol" panose="05050102010706020507" pitchFamily="18" charset="2"/>
              </a:rPr>
              <a:t> PRNG(seed)</a:t>
            </a:r>
          </a:p>
          <a:p>
            <a:pPr>
              <a:lnSpc>
                <a:spcPct val="124000"/>
              </a:lnSpc>
              <a:spcBef>
                <a:spcPts val="300"/>
              </a:spcBef>
              <a:spcAft>
                <a:spcPts val="600"/>
              </a:spcAft>
            </a:pPr>
            <a:endParaRPr lang="en-US" altLang="en-US" dirty="0"/>
          </a:p>
        </p:txBody>
      </p:sp>
    </p:spTree>
    <p:extLst>
      <p:ext uri="{BB962C8B-B14F-4D97-AF65-F5344CB8AC3E}">
        <p14:creationId xmlns:p14="http://schemas.microsoft.com/office/powerpoint/2010/main" val="37237505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1057810" y="253711"/>
            <a:ext cx="10058400" cy="1180384"/>
          </a:xfrm>
        </p:spPr>
        <p:txBody>
          <a:bodyPr/>
          <a:lstStyle/>
          <a:p>
            <a:r>
              <a:rPr lang="en-US" altLang="en-US" dirty="0" smtClean="0"/>
              <a:t>Stream Cipher</a:t>
            </a:r>
          </a:p>
        </p:txBody>
      </p:sp>
      <p:pic>
        <p:nvPicPr>
          <p:cNvPr id="22530"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rot="10800000" flipH="1" flipV="1">
            <a:off x="2696110" y="1826608"/>
            <a:ext cx="6781800" cy="4221163"/>
          </a:xfrm>
          <a:noFill/>
        </p:spPr>
      </p:pic>
    </p:spTree>
    <p:extLst>
      <p:ext uri="{BB962C8B-B14F-4D97-AF65-F5344CB8AC3E}">
        <p14:creationId xmlns:p14="http://schemas.microsoft.com/office/powerpoint/2010/main" val="39515490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r>
              <a:rPr lang="en-US" altLang="en-US" dirty="0" smtClean="0"/>
              <a:t>Example</a:t>
            </a:r>
            <a:endParaRPr lang="en-US" altLang="en-US" dirty="0" smtClean="0"/>
          </a:p>
        </p:txBody>
      </p:sp>
      <p:sp>
        <p:nvSpPr>
          <p:cNvPr id="20482" name="Content Placeholder 2"/>
          <p:cNvSpPr>
            <a:spLocks noGrp="1"/>
          </p:cNvSpPr>
          <p:nvPr>
            <p:ph idx="1"/>
          </p:nvPr>
        </p:nvSpPr>
        <p:spPr>
          <a:xfrm>
            <a:off x="964285" y="2487611"/>
            <a:ext cx="9015173" cy="3909223"/>
          </a:xfrm>
        </p:spPr>
        <p:txBody>
          <a:bodyPr>
            <a:normAutofit/>
          </a:bodyPr>
          <a:lstStyle/>
          <a:p>
            <a:r>
              <a:rPr lang="en-US" altLang="en-US" dirty="0"/>
              <a:t>Suppose A wishes to send a message M=0110111, and suppose they have previously established a shared secret key:</a:t>
            </a:r>
          </a:p>
          <a:p>
            <a:pPr algn="ctr">
              <a:buFont typeface="Wingdings" panose="05000000000000000000" pitchFamily="2" charset="2"/>
              <a:buNone/>
            </a:pPr>
            <a:r>
              <a:rPr lang="en-US" altLang="en-US" dirty="0"/>
              <a:t>K =1011011</a:t>
            </a:r>
          </a:p>
          <a:p>
            <a:r>
              <a:rPr lang="en-US" altLang="en-US" dirty="0"/>
              <a:t>The cipher text is formed by exclusive-</a:t>
            </a:r>
            <a:r>
              <a:rPr lang="en-US" altLang="en-US" dirty="0" err="1"/>
              <a:t>oring</a:t>
            </a:r>
            <a:r>
              <a:rPr lang="en-US" altLang="en-US" dirty="0"/>
              <a:t> the message with the key:</a:t>
            </a:r>
          </a:p>
          <a:p>
            <a:pPr algn="ctr">
              <a:buFont typeface="Wingdings" panose="05000000000000000000" pitchFamily="2" charset="2"/>
              <a:buNone/>
            </a:pPr>
            <a:r>
              <a:rPr lang="en-US" altLang="en-US" dirty="0"/>
              <a:t>C = M </a:t>
            </a:r>
            <a:r>
              <a:rPr lang="en-US" altLang="en-US" dirty="0">
                <a:sym typeface="Symbol" panose="05050102010706020507" pitchFamily="18" charset="2"/>
              </a:rPr>
              <a:t></a:t>
            </a:r>
            <a:r>
              <a:rPr lang="en-US" altLang="en-US" dirty="0"/>
              <a:t> K = 1101100</a:t>
            </a:r>
          </a:p>
          <a:p>
            <a:r>
              <a:rPr lang="en-US" altLang="en-US" dirty="0"/>
              <a:t>Decryption is trivial: the message could be obtained by the same process, i.e. by addition of K to C</a:t>
            </a:r>
          </a:p>
          <a:p>
            <a:pPr algn="ctr">
              <a:buFont typeface="Wingdings" panose="05000000000000000000" pitchFamily="2" charset="2"/>
              <a:buNone/>
            </a:pPr>
            <a:r>
              <a:rPr lang="en-US" altLang="en-US" dirty="0"/>
              <a:t>M = C </a:t>
            </a:r>
            <a:r>
              <a:rPr lang="en-US" altLang="en-US" dirty="0">
                <a:sym typeface="Symbol" panose="05050102010706020507" pitchFamily="18" charset="2"/>
              </a:rPr>
              <a:t></a:t>
            </a:r>
            <a:r>
              <a:rPr lang="en-US" altLang="en-US" dirty="0"/>
              <a:t>K = 0110111</a:t>
            </a:r>
          </a:p>
        </p:txBody>
      </p:sp>
      <p:graphicFrame>
        <p:nvGraphicFramePr>
          <p:cNvPr id="4" name="Table 3"/>
          <p:cNvGraphicFramePr>
            <a:graphicFrameLocks noGrp="1"/>
          </p:cNvGraphicFramePr>
          <p:nvPr>
            <p:extLst>
              <p:ext uri="{D42A27DB-BD31-4B8C-83A1-F6EECF244321}">
                <p14:modId xmlns:p14="http://schemas.microsoft.com/office/powerpoint/2010/main" val="3311233983"/>
              </p:ext>
            </p:extLst>
          </p:nvPr>
        </p:nvGraphicFramePr>
        <p:xfrm>
          <a:off x="9836378" y="1881504"/>
          <a:ext cx="2133600" cy="2035175"/>
        </p:xfrm>
        <a:graphic>
          <a:graphicData uri="http://schemas.openxmlformats.org/drawingml/2006/table">
            <a:tbl>
              <a:tblPr firstRow="1" bandRow="1">
                <a:tableStyleId>{00A15C55-8517-42AA-B614-E9B94910E393}</a:tableStyleId>
              </a:tblPr>
              <a:tblGrid>
                <a:gridCol w="7112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711200">
                  <a:extLst>
                    <a:ext uri="{9D8B030D-6E8A-4147-A177-3AD203B41FA5}">
                      <a16:colId xmlns:a16="http://schemas.microsoft.com/office/drawing/2014/main" val="20002"/>
                    </a:ext>
                  </a:extLst>
                </a:gridCol>
              </a:tblGrid>
              <a:tr h="572075">
                <a:tc>
                  <a:txBody>
                    <a:bodyPr/>
                    <a:lstStyle/>
                    <a:p>
                      <a:endParaRPr lang="en-US" sz="1800" dirty="0"/>
                    </a:p>
                  </a:txBody>
                  <a:tcPr marT="45722" marB="45722"/>
                </a:tc>
                <a:tc>
                  <a:txBody>
                    <a:bodyPr/>
                    <a:lstStyle/>
                    <a:p>
                      <a:endParaRPr lang="en-US" sz="1800" dirty="0"/>
                    </a:p>
                  </a:txBody>
                  <a:tcPr marT="45722" marB="45722"/>
                </a:tc>
                <a:tc>
                  <a:txBody>
                    <a:bodyPr/>
                    <a:lstStyle/>
                    <a:p>
                      <a:r>
                        <a:rPr lang="en-US" sz="1800" dirty="0" smtClean="0"/>
                        <a:t>XOR</a:t>
                      </a:r>
                      <a:endParaRPr lang="en-US" sz="1800" dirty="0"/>
                    </a:p>
                  </a:txBody>
                  <a:tcPr marT="45722" marB="45722"/>
                </a:tc>
                <a:extLst>
                  <a:ext uri="{0D108BD9-81ED-4DB2-BD59-A6C34878D82A}">
                    <a16:rowId xmlns:a16="http://schemas.microsoft.com/office/drawing/2014/main" val="10000"/>
                  </a:ext>
                </a:extLst>
              </a:tr>
              <a:tr h="365775">
                <a:tc>
                  <a:txBody>
                    <a:bodyPr/>
                    <a:lstStyle/>
                    <a:p>
                      <a:r>
                        <a:rPr lang="en-US" sz="1800" dirty="0" smtClean="0"/>
                        <a:t>0</a:t>
                      </a:r>
                      <a:endParaRPr lang="en-US" sz="1800" dirty="0"/>
                    </a:p>
                  </a:txBody>
                  <a:tcPr marT="45722" marB="45722"/>
                </a:tc>
                <a:tc>
                  <a:txBody>
                    <a:bodyPr/>
                    <a:lstStyle/>
                    <a:p>
                      <a:r>
                        <a:rPr lang="en-US" sz="1800" dirty="0" smtClean="0"/>
                        <a:t>0</a:t>
                      </a:r>
                      <a:endParaRPr lang="en-US" sz="1800" dirty="0"/>
                    </a:p>
                  </a:txBody>
                  <a:tcPr marT="45722" marB="45722"/>
                </a:tc>
                <a:tc>
                  <a:txBody>
                    <a:bodyPr/>
                    <a:lstStyle/>
                    <a:p>
                      <a:r>
                        <a:rPr lang="en-US" sz="1800" dirty="0" smtClean="0"/>
                        <a:t>0</a:t>
                      </a:r>
                      <a:endParaRPr lang="en-US" sz="1800" dirty="0"/>
                    </a:p>
                  </a:txBody>
                  <a:tcPr marT="45722" marB="45722"/>
                </a:tc>
                <a:extLst>
                  <a:ext uri="{0D108BD9-81ED-4DB2-BD59-A6C34878D82A}">
                    <a16:rowId xmlns:a16="http://schemas.microsoft.com/office/drawing/2014/main" val="10001"/>
                  </a:ext>
                </a:extLst>
              </a:tr>
              <a:tr h="365775">
                <a:tc>
                  <a:txBody>
                    <a:bodyPr/>
                    <a:lstStyle/>
                    <a:p>
                      <a:r>
                        <a:rPr lang="en-US" sz="1800" dirty="0" smtClean="0"/>
                        <a:t>0</a:t>
                      </a:r>
                      <a:endParaRPr lang="en-US" sz="1800" dirty="0"/>
                    </a:p>
                  </a:txBody>
                  <a:tcPr marT="45722" marB="45722"/>
                </a:tc>
                <a:tc>
                  <a:txBody>
                    <a:bodyPr/>
                    <a:lstStyle/>
                    <a:p>
                      <a:r>
                        <a:rPr lang="en-US" sz="1800" dirty="0" smtClean="0"/>
                        <a:t>1</a:t>
                      </a:r>
                      <a:endParaRPr lang="en-US" sz="1800" dirty="0"/>
                    </a:p>
                  </a:txBody>
                  <a:tcPr marT="45722" marB="45722"/>
                </a:tc>
                <a:tc>
                  <a:txBody>
                    <a:bodyPr/>
                    <a:lstStyle/>
                    <a:p>
                      <a:r>
                        <a:rPr lang="en-US" sz="1800" dirty="0" smtClean="0"/>
                        <a:t>1</a:t>
                      </a:r>
                      <a:endParaRPr lang="en-US" sz="1800" dirty="0"/>
                    </a:p>
                  </a:txBody>
                  <a:tcPr marT="45722" marB="45722"/>
                </a:tc>
                <a:extLst>
                  <a:ext uri="{0D108BD9-81ED-4DB2-BD59-A6C34878D82A}">
                    <a16:rowId xmlns:a16="http://schemas.microsoft.com/office/drawing/2014/main" val="10002"/>
                  </a:ext>
                </a:extLst>
              </a:tr>
              <a:tr h="365775">
                <a:tc>
                  <a:txBody>
                    <a:bodyPr/>
                    <a:lstStyle/>
                    <a:p>
                      <a:r>
                        <a:rPr lang="en-US" sz="1800" dirty="0" smtClean="0"/>
                        <a:t>1</a:t>
                      </a:r>
                      <a:endParaRPr lang="en-US" sz="1800" dirty="0"/>
                    </a:p>
                  </a:txBody>
                  <a:tcPr marT="45722" marB="45722"/>
                </a:tc>
                <a:tc>
                  <a:txBody>
                    <a:bodyPr/>
                    <a:lstStyle/>
                    <a:p>
                      <a:r>
                        <a:rPr lang="en-US" sz="1800" dirty="0" smtClean="0"/>
                        <a:t>0</a:t>
                      </a:r>
                      <a:endParaRPr lang="en-US" sz="1800" dirty="0"/>
                    </a:p>
                  </a:txBody>
                  <a:tcPr marT="45722" marB="45722"/>
                </a:tc>
                <a:tc>
                  <a:txBody>
                    <a:bodyPr/>
                    <a:lstStyle/>
                    <a:p>
                      <a:r>
                        <a:rPr lang="en-US" sz="1800" dirty="0" smtClean="0"/>
                        <a:t>1</a:t>
                      </a:r>
                      <a:endParaRPr lang="en-US" sz="1800" dirty="0"/>
                    </a:p>
                  </a:txBody>
                  <a:tcPr marT="45722" marB="45722"/>
                </a:tc>
                <a:extLst>
                  <a:ext uri="{0D108BD9-81ED-4DB2-BD59-A6C34878D82A}">
                    <a16:rowId xmlns:a16="http://schemas.microsoft.com/office/drawing/2014/main" val="10003"/>
                  </a:ext>
                </a:extLst>
              </a:tr>
              <a:tr h="365775">
                <a:tc>
                  <a:txBody>
                    <a:bodyPr/>
                    <a:lstStyle/>
                    <a:p>
                      <a:r>
                        <a:rPr lang="en-US" sz="1800" dirty="0" smtClean="0"/>
                        <a:t>1</a:t>
                      </a:r>
                      <a:endParaRPr lang="en-US" sz="1800" dirty="0"/>
                    </a:p>
                  </a:txBody>
                  <a:tcPr marT="45722" marB="45722"/>
                </a:tc>
                <a:tc>
                  <a:txBody>
                    <a:bodyPr/>
                    <a:lstStyle/>
                    <a:p>
                      <a:r>
                        <a:rPr lang="en-US" sz="1800" dirty="0" smtClean="0"/>
                        <a:t>1</a:t>
                      </a:r>
                      <a:endParaRPr lang="en-US" sz="1800" dirty="0"/>
                    </a:p>
                  </a:txBody>
                  <a:tcPr marT="45722" marB="45722"/>
                </a:tc>
                <a:tc>
                  <a:txBody>
                    <a:bodyPr/>
                    <a:lstStyle/>
                    <a:p>
                      <a:r>
                        <a:rPr lang="en-US" sz="1800" dirty="0" smtClean="0"/>
                        <a:t>0</a:t>
                      </a:r>
                      <a:endParaRPr lang="en-US" sz="1800" dirty="0"/>
                    </a:p>
                  </a:txBody>
                  <a:tcPr marT="45722" marB="45722"/>
                </a:tc>
                <a:extLst>
                  <a:ext uri="{0D108BD9-81ED-4DB2-BD59-A6C34878D82A}">
                    <a16:rowId xmlns:a16="http://schemas.microsoft.com/office/drawing/2014/main" val="10004"/>
                  </a:ext>
                </a:extLst>
              </a:tr>
            </a:tbl>
          </a:graphicData>
        </a:graphic>
      </p:graphicFrame>
      <p:sp>
        <p:nvSpPr>
          <p:cNvPr id="20509" name="TextBox 4"/>
          <p:cNvSpPr txBox="1">
            <a:spLocks noChangeArrowheads="1"/>
          </p:cNvSpPr>
          <p:nvPr/>
        </p:nvSpPr>
        <p:spPr bwMode="auto">
          <a:xfrm>
            <a:off x="1338708" y="1881504"/>
            <a:ext cx="4540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dirty="0">
                <a:solidFill>
                  <a:srgbClr val="000000"/>
                </a:solidFill>
              </a:rPr>
              <a:t>Let + denote the XOR operation</a:t>
            </a:r>
          </a:p>
        </p:txBody>
      </p:sp>
    </p:spTree>
    <p:extLst>
      <p:ext uri="{BB962C8B-B14F-4D97-AF65-F5344CB8AC3E}">
        <p14:creationId xmlns:p14="http://schemas.microsoft.com/office/powerpoint/2010/main" val="31998501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044653" y="589211"/>
            <a:ext cx="10058400" cy="765944"/>
          </a:xfrm>
        </p:spPr>
        <p:txBody>
          <a:bodyPr>
            <a:noAutofit/>
          </a:bodyPr>
          <a:lstStyle/>
          <a:p>
            <a:r>
              <a:rPr lang="en-US" altLang="en-US" sz="4400" dirty="0"/>
              <a:t>Fundamental Weaknesses of Stream Ciphers</a:t>
            </a:r>
          </a:p>
        </p:txBody>
      </p:sp>
      <p:sp>
        <p:nvSpPr>
          <p:cNvPr id="23554" name="Rectangle 3"/>
          <p:cNvSpPr>
            <a:spLocks noGrp="1" noChangeArrowheads="1"/>
          </p:cNvSpPr>
          <p:nvPr>
            <p:ph type="body" idx="1"/>
          </p:nvPr>
        </p:nvSpPr>
        <p:spPr/>
        <p:txBody>
          <a:bodyPr/>
          <a:lstStyle/>
          <a:p>
            <a:r>
              <a:rPr lang="en-US" altLang="en-US" dirty="0"/>
              <a:t>Does not have perfect secrecy</a:t>
            </a:r>
          </a:p>
          <a:p>
            <a:pPr lvl="1"/>
            <a:r>
              <a:rPr lang="en-US" altLang="en-US" dirty="0"/>
              <a:t>security depends on PRNG</a:t>
            </a:r>
          </a:p>
          <a:p>
            <a:r>
              <a:rPr lang="en-US" altLang="en-US" dirty="0"/>
              <a:t>If the same stream is used twice ever, then easy to break.</a:t>
            </a:r>
          </a:p>
        </p:txBody>
      </p:sp>
    </p:spTree>
    <p:extLst>
      <p:ext uri="{BB962C8B-B14F-4D97-AF65-F5344CB8AC3E}">
        <p14:creationId xmlns:p14="http://schemas.microsoft.com/office/powerpoint/2010/main" val="26896439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a:xfrm>
            <a:off x="1056384" y="345436"/>
            <a:ext cx="10058400" cy="749940"/>
          </a:xfrm>
        </p:spPr>
        <p:txBody>
          <a:bodyPr/>
          <a:lstStyle/>
          <a:p>
            <a:r>
              <a:rPr lang="en-US" altLang="en-US" dirty="0" smtClean="0"/>
              <a:t>Block Cipher</a:t>
            </a:r>
          </a:p>
        </p:txBody>
      </p:sp>
      <p:sp>
        <p:nvSpPr>
          <p:cNvPr id="24578" name="Content Placeholder 2"/>
          <p:cNvSpPr>
            <a:spLocks noGrp="1"/>
          </p:cNvSpPr>
          <p:nvPr>
            <p:ph idx="1"/>
          </p:nvPr>
        </p:nvSpPr>
        <p:spPr>
          <a:xfrm>
            <a:off x="1257026" y="1793716"/>
            <a:ext cx="10465714" cy="4143375"/>
          </a:xfrm>
        </p:spPr>
        <p:txBody>
          <a:bodyPr/>
          <a:lstStyle/>
          <a:p>
            <a:r>
              <a:rPr lang="en-US" altLang="en-US" dirty="0"/>
              <a:t>Block ciphers encrypt data in chunks of a specific size.</a:t>
            </a:r>
          </a:p>
          <a:p>
            <a:r>
              <a:rPr lang="en-US" altLang="en-US" dirty="0"/>
              <a:t> A block cipher specification identifies </a:t>
            </a:r>
          </a:p>
          <a:p>
            <a:pPr lvl="1"/>
            <a:r>
              <a:rPr lang="en-US" altLang="en-US" dirty="0"/>
              <a:t>how much data should be encrypted on each pass (called a block)</a:t>
            </a:r>
          </a:p>
          <a:p>
            <a:pPr lvl="1"/>
            <a:r>
              <a:rPr lang="en-US" altLang="en-US" dirty="0"/>
              <a:t>what size key should be applied to each block</a:t>
            </a:r>
          </a:p>
          <a:p>
            <a:r>
              <a:rPr lang="en-US" altLang="en-US" dirty="0"/>
              <a:t>1-to-1 mapping is used to map k-bit block of plaintext to k-bit block of </a:t>
            </a:r>
            <a:r>
              <a:rPr lang="en-US" altLang="en-US" dirty="0" err="1"/>
              <a:t>ciphertext</a:t>
            </a:r>
            <a:endParaRPr lang="en-US" altLang="en-US" dirty="0"/>
          </a:p>
          <a:p>
            <a:pPr>
              <a:buFont typeface="ZapfDingbats" pitchFamily="82" charset="2"/>
              <a:buNone/>
            </a:pPr>
            <a:r>
              <a:rPr lang="en-US" altLang="en-US" u="sng" dirty="0">
                <a:solidFill>
                  <a:srgbClr val="C00000"/>
                </a:solidFill>
              </a:rPr>
              <a:t>Example with k=3:</a:t>
            </a:r>
          </a:p>
          <a:p>
            <a:pPr>
              <a:buFont typeface="ZapfDingbats" pitchFamily="82" charset="2"/>
              <a:buNone/>
            </a:pPr>
            <a:endParaRPr lang="en-US" altLang="en-US" u="sng" dirty="0">
              <a:solidFill>
                <a:srgbClr val="FF0000"/>
              </a:solidFill>
            </a:endParaRPr>
          </a:p>
          <a:p>
            <a:pPr lvl="1"/>
            <a:endParaRPr lang="en-US" altLang="en-US" dirty="0"/>
          </a:p>
        </p:txBody>
      </p:sp>
      <p:sp>
        <p:nvSpPr>
          <p:cNvPr id="24579" name="Text Box 4"/>
          <p:cNvSpPr txBox="1">
            <a:spLocks noChangeArrowheads="1"/>
          </p:cNvSpPr>
          <p:nvPr/>
        </p:nvSpPr>
        <p:spPr bwMode="auto">
          <a:xfrm>
            <a:off x="6019800" y="4419600"/>
            <a:ext cx="16637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2000" u="sng">
                <a:solidFill>
                  <a:srgbClr val="000000"/>
                </a:solidFill>
              </a:rPr>
              <a:t>input</a:t>
            </a:r>
            <a:r>
              <a:rPr lang="en-US" altLang="en-US" sz="2000">
                <a:solidFill>
                  <a:srgbClr val="000000"/>
                </a:solidFill>
              </a:rPr>
              <a:t>   </a:t>
            </a:r>
            <a:r>
              <a:rPr lang="en-US" altLang="en-US" sz="2000" u="sng">
                <a:solidFill>
                  <a:srgbClr val="000000"/>
                </a:solidFill>
              </a:rPr>
              <a:t>output</a:t>
            </a:r>
          </a:p>
          <a:p>
            <a:pPr eaLnBrk="1" hangingPunct="1"/>
            <a:r>
              <a:rPr lang="en-US" altLang="en-US" sz="2000">
                <a:solidFill>
                  <a:srgbClr val="000000"/>
                </a:solidFill>
              </a:rPr>
              <a:t>000      110</a:t>
            </a:r>
          </a:p>
          <a:p>
            <a:pPr eaLnBrk="1" hangingPunct="1"/>
            <a:r>
              <a:rPr lang="en-US" altLang="en-US" sz="2000">
                <a:solidFill>
                  <a:srgbClr val="000000"/>
                </a:solidFill>
              </a:rPr>
              <a:t>001       111</a:t>
            </a:r>
          </a:p>
          <a:p>
            <a:pPr eaLnBrk="1" hangingPunct="1"/>
            <a:r>
              <a:rPr lang="en-US" altLang="en-US" sz="2000">
                <a:solidFill>
                  <a:srgbClr val="000000"/>
                </a:solidFill>
              </a:rPr>
              <a:t>010       101</a:t>
            </a:r>
          </a:p>
          <a:p>
            <a:pPr eaLnBrk="1" hangingPunct="1"/>
            <a:r>
              <a:rPr lang="en-US" altLang="en-US" sz="2000">
                <a:solidFill>
                  <a:srgbClr val="000000"/>
                </a:solidFill>
              </a:rPr>
              <a:t>011       100</a:t>
            </a:r>
          </a:p>
          <a:p>
            <a:pPr eaLnBrk="1" hangingPunct="1"/>
            <a:endParaRPr lang="en-US" altLang="en-US" sz="2000">
              <a:solidFill>
                <a:srgbClr val="000000"/>
              </a:solidFill>
            </a:endParaRPr>
          </a:p>
        </p:txBody>
      </p:sp>
      <p:sp>
        <p:nvSpPr>
          <p:cNvPr id="24580" name="Text Box 5"/>
          <p:cNvSpPr txBox="1">
            <a:spLocks noChangeArrowheads="1"/>
          </p:cNvSpPr>
          <p:nvPr/>
        </p:nvSpPr>
        <p:spPr bwMode="auto">
          <a:xfrm>
            <a:off x="8153400" y="4411925"/>
            <a:ext cx="16637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2000" u="sng" dirty="0">
                <a:solidFill>
                  <a:srgbClr val="000000"/>
                </a:solidFill>
              </a:rPr>
              <a:t>input</a:t>
            </a:r>
            <a:r>
              <a:rPr lang="en-US" altLang="en-US" sz="2000" dirty="0">
                <a:solidFill>
                  <a:srgbClr val="000000"/>
                </a:solidFill>
              </a:rPr>
              <a:t>   </a:t>
            </a:r>
            <a:r>
              <a:rPr lang="en-US" altLang="en-US" sz="2000" u="sng" dirty="0">
                <a:solidFill>
                  <a:srgbClr val="000000"/>
                </a:solidFill>
              </a:rPr>
              <a:t>output</a:t>
            </a:r>
          </a:p>
          <a:p>
            <a:pPr eaLnBrk="1" hangingPunct="1"/>
            <a:r>
              <a:rPr lang="en-US" altLang="en-US" sz="2000" dirty="0">
                <a:solidFill>
                  <a:srgbClr val="000000"/>
                </a:solidFill>
              </a:rPr>
              <a:t>100      011</a:t>
            </a:r>
          </a:p>
          <a:p>
            <a:pPr eaLnBrk="1" hangingPunct="1"/>
            <a:r>
              <a:rPr lang="en-US" altLang="en-US" sz="2000" dirty="0">
                <a:solidFill>
                  <a:srgbClr val="000000"/>
                </a:solidFill>
              </a:rPr>
              <a:t>101       010</a:t>
            </a:r>
          </a:p>
          <a:p>
            <a:pPr eaLnBrk="1" hangingPunct="1"/>
            <a:r>
              <a:rPr lang="en-US" altLang="en-US" sz="2000" dirty="0">
                <a:solidFill>
                  <a:srgbClr val="000000"/>
                </a:solidFill>
              </a:rPr>
              <a:t>110       000</a:t>
            </a:r>
          </a:p>
          <a:p>
            <a:pPr eaLnBrk="1" hangingPunct="1"/>
            <a:r>
              <a:rPr lang="en-US" altLang="en-US" sz="2000" dirty="0">
                <a:solidFill>
                  <a:srgbClr val="000000"/>
                </a:solidFill>
              </a:rPr>
              <a:t>111       001</a:t>
            </a:r>
          </a:p>
          <a:p>
            <a:pPr eaLnBrk="1" hangingPunct="1"/>
            <a:endParaRPr lang="en-US" altLang="en-US" sz="2000" dirty="0">
              <a:solidFill>
                <a:srgbClr val="000000"/>
              </a:solidFill>
            </a:endParaRPr>
          </a:p>
        </p:txBody>
      </p:sp>
      <p:sp>
        <p:nvSpPr>
          <p:cNvPr id="24581" name="Rectangle 6"/>
          <p:cNvSpPr>
            <a:spLocks noChangeArrowheads="1"/>
          </p:cNvSpPr>
          <p:nvPr/>
        </p:nvSpPr>
        <p:spPr bwMode="auto">
          <a:xfrm>
            <a:off x="963612" y="4927372"/>
            <a:ext cx="49418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2000" dirty="0">
                <a:solidFill>
                  <a:srgbClr val="C00000"/>
                </a:solidFill>
              </a:rPr>
              <a:t>What is the </a:t>
            </a:r>
            <a:r>
              <a:rPr lang="en-US" altLang="en-US" sz="2000" dirty="0" err="1">
                <a:solidFill>
                  <a:srgbClr val="C00000"/>
                </a:solidFill>
              </a:rPr>
              <a:t>ciphertext</a:t>
            </a:r>
            <a:r>
              <a:rPr lang="en-US" altLang="en-US" sz="2000" dirty="0">
                <a:solidFill>
                  <a:srgbClr val="C00000"/>
                </a:solidFill>
              </a:rPr>
              <a:t> for 010110001111 ?</a:t>
            </a:r>
          </a:p>
          <a:p>
            <a:pPr eaLnBrk="1" hangingPunct="1"/>
            <a:r>
              <a:rPr lang="en-US" altLang="en-US" sz="2000" dirty="0">
                <a:solidFill>
                  <a:srgbClr val="0000FF"/>
                </a:solidFill>
              </a:rPr>
              <a:t>Solution:  101 000 111 001</a:t>
            </a:r>
          </a:p>
        </p:txBody>
      </p:sp>
      <p:sp>
        <p:nvSpPr>
          <p:cNvPr id="24582" name="Rectangle 6"/>
          <p:cNvSpPr>
            <a:spLocks noChangeArrowheads="1"/>
          </p:cNvSpPr>
          <p:nvPr/>
        </p:nvSpPr>
        <p:spPr bwMode="auto">
          <a:xfrm>
            <a:off x="5943600" y="4495800"/>
            <a:ext cx="1752600" cy="1524000"/>
          </a:xfrm>
          <a:prstGeom prst="rect">
            <a:avLst/>
          </a:prstGeom>
          <a:noFill/>
          <a:ln w="2857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a:solidFill>
                <a:srgbClr val="000000"/>
              </a:solidFill>
              <a:latin typeface="Tahoma" panose="020B0604030504040204" pitchFamily="34" charset="0"/>
            </a:endParaRPr>
          </a:p>
        </p:txBody>
      </p:sp>
      <p:sp>
        <p:nvSpPr>
          <p:cNvPr id="24583" name="Rectangle 7"/>
          <p:cNvSpPr>
            <a:spLocks noChangeArrowheads="1"/>
          </p:cNvSpPr>
          <p:nvPr/>
        </p:nvSpPr>
        <p:spPr bwMode="auto">
          <a:xfrm>
            <a:off x="8153400" y="4419600"/>
            <a:ext cx="1676400" cy="1600200"/>
          </a:xfrm>
          <a:prstGeom prst="rect">
            <a:avLst/>
          </a:prstGeom>
          <a:noFill/>
          <a:ln w="2857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a:solidFill>
                <a:srgbClr val="000000"/>
              </a:solidFill>
              <a:latin typeface="Tahoma" panose="020B0604030504040204" pitchFamily="34" charset="0"/>
            </a:endParaRPr>
          </a:p>
        </p:txBody>
      </p:sp>
    </p:spTree>
    <p:extLst>
      <p:ext uri="{BB962C8B-B14F-4D97-AF65-F5344CB8AC3E}">
        <p14:creationId xmlns:p14="http://schemas.microsoft.com/office/powerpoint/2010/main" val="40657722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1097280" y="286603"/>
            <a:ext cx="10058400" cy="1325109"/>
          </a:xfrm>
        </p:spPr>
        <p:txBody>
          <a:bodyPr/>
          <a:lstStyle/>
          <a:p>
            <a:r>
              <a:rPr lang="en-US" altLang="en-US" dirty="0" smtClean="0"/>
              <a:t>Block Cipher: Example</a:t>
            </a:r>
          </a:p>
        </p:txBody>
      </p:sp>
      <p:sp>
        <p:nvSpPr>
          <p:cNvPr id="25602" name="Content Placeholder 2"/>
          <p:cNvSpPr>
            <a:spLocks noGrp="1"/>
          </p:cNvSpPr>
          <p:nvPr>
            <p:ph idx="1"/>
          </p:nvPr>
        </p:nvSpPr>
        <p:spPr>
          <a:xfrm>
            <a:off x="1537705" y="2157789"/>
            <a:ext cx="8421688" cy="4114800"/>
          </a:xfrm>
        </p:spPr>
        <p:txBody>
          <a:bodyPr/>
          <a:lstStyle/>
          <a:p>
            <a:r>
              <a:rPr lang="en-US" altLang="en-US" i="1" dirty="0"/>
              <a:t> </a:t>
            </a:r>
            <a:r>
              <a:rPr lang="en-US" altLang="en-US" i="1" dirty="0" smtClean="0"/>
              <a:t>plaintext</a:t>
            </a:r>
            <a:r>
              <a:rPr lang="en-US" altLang="en-US" i="1" dirty="0"/>
              <a:t>:</a:t>
            </a:r>
            <a:r>
              <a:rPr lang="en-US" altLang="en-US" dirty="0"/>
              <a:t> The only thing we have to fear is fear itself</a:t>
            </a:r>
          </a:p>
          <a:p>
            <a:r>
              <a:rPr lang="en-US" altLang="en-US" i="1" dirty="0"/>
              <a:t> </a:t>
            </a:r>
            <a:r>
              <a:rPr lang="en-US" altLang="en-US" i="1" dirty="0" smtClean="0"/>
              <a:t>plaintext </a:t>
            </a:r>
            <a:r>
              <a:rPr lang="en-US" altLang="en-US" i="1" dirty="0"/>
              <a:t>blocks:</a:t>
            </a:r>
            <a:r>
              <a:rPr lang="en-US" altLang="en-US" dirty="0"/>
              <a:t> </a:t>
            </a:r>
            <a:r>
              <a:rPr lang="en-US" altLang="en-US" dirty="0" err="1"/>
              <a:t>Theonlyt</a:t>
            </a:r>
            <a:r>
              <a:rPr lang="en-US" altLang="en-US" dirty="0"/>
              <a:t> </a:t>
            </a:r>
            <a:r>
              <a:rPr lang="en-US" altLang="en-US" dirty="0" err="1"/>
              <a:t>hingweha</a:t>
            </a:r>
            <a:r>
              <a:rPr lang="en-US" altLang="en-US" dirty="0"/>
              <a:t> </a:t>
            </a:r>
            <a:r>
              <a:rPr lang="en-US" altLang="en-US" dirty="0" err="1"/>
              <a:t>vetofear</a:t>
            </a:r>
            <a:r>
              <a:rPr lang="en-US" altLang="en-US" dirty="0"/>
              <a:t> </a:t>
            </a:r>
            <a:r>
              <a:rPr lang="en-US" altLang="en-US" dirty="0" err="1"/>
              <a:t>isfearit</a:t>
            </a:r>
            <a:r>
              <a:rPr lang="en-US" altLang="en-US" dirty="0"/>
              <a:t> </a:t>
            </a:r>
            <a:r>
              <a:rPr lang="en-US" altLang="en-US" dirty="0" err="1"/>
              <a:t>selfXend</a:t>
            </a:r>
            <a:endParaRPr lang="en-US" altLang="en-US" dirty="0"/>
          </a:p>
          <a:p>
            <a:r>
              <a:rPr lang="en-US" altLang="en-US" i="1" dirty="0"/>
              <a:t> </a:t>
            </a:r>
            <a:r>
              <a:rPr lang="en-US" altLang="en-US" i="1" dirty="0" err="1"/>
              <a:t>ciphertext</a:t>
            </a:r>
            <a:r>
              <a:rPr lang="en-US" altLang="en-US" i="1" dirty="0"/>
              <a:t> blocks:</a:t>
            </a:r>
            <a:r>
              <a:rPr lang="en-US" altLang="en-US" dirty="0"/>
              <a:t> </a:t>
            </a:r>
            <a:r>
              <a:rPr lang="en-US" altLang="en-US" dirty="0" err="1"/>
              <a:t>tylnoehT</a:t>
            </a:r>
            <a:r>
              <a:rPr lang="en-US" altLang="en-US" dirty="0"/>
              <a:t> </a:t>
            </a:r>
            <a:r>
              <a:rPr lang="en-US" altLang="en-US" dirty="0" err="1"/>
              <a:t>ahewgnih</a:t>
            </a:r>
            <a:r>
              <a:rPr lang="en-US" altLang="en-US" dirty="0"/>
              <a:t> </a:t>
            </a:r>
            <a:r>
              <a:rPr lang="en-US" altLang="en-US" dirty="0" err="1"/>
              <a:t>raefotev</a:t>
            </a:r>
            <a:r>
              <a:rPr lang="en-US" altLang="en-US" dirty="0"/>
              <a:t> </a:t>
            </a:r>
            <a:r>
              <a:rPr lang="en-US" altLang="en-US" dirty="0" err="1"/>
              <a:t>tiraefsi</a:t>
            </a:r>
            <a:r>
              <a:rPr lang="en-US" altLang="en-US" dirty="0"/>
              <a:t> </a:t>
            </a:r>
            <a:r>
              <a:rPr lang="en-US" altLang="en-US" dirty="0" err="1"/>
              <a:t>dneXfles</a:t>
            </a:r>
            <a:endParaRPr lang="en-US" altLang="en-US" dirty="0"/>
          </a:p>
          <a:p>
            <a:r>
              <a:rPr lang="en-US" altLang="en-US" i="1" dirty="0"/>
              <a:t> </a:t>
            </a:r>
            <a:r>
              <a:rPr lang="en-US" altLang="en-US" i="1" dirty="0" err="1"/>
              <a:t>ciphertext</a:t>
            </a:r>
            <a:r>
              <a:rPr lang="en-US" altLang="en-US" i="1" dirty="0"/>
              <a:t>:</a:t>
            </a:r>
            <a:r>
              <a:rPr lang="en-US" altLang="en-US" dirty="0"/>
              <a:t> </a:t>
            </a:r>
            <a:r>
              <a:rPr lang="en-US" altLang="en-US" dirty="0" err="1"/>
              <a:t>tylnoehTahewgnihraefotevtiraefsidneXfles</a:t>
            </a:r>
            <a:endParaRPr lang="en-US" altLang="en-US" dirty="0"/>
          </a:p>
          <a:p>
            <a:pPr>
              <a:buFont typeface="Wingdings" panose="05000000000000000000" pitchFamily="2" charset="2"/>
              <a:buNone/>
            </a:pPr>
            <a:endParaRPr lang="en-US" altLang="en-US" dirty="0"/>
          </a:p>
          <a:p>
            <a:pPr>
              <a:buFont typeface="Wingdings" panose="05000000000000000000" pitchFamily="2" charset="2"/>
              <a:buNone/>
            </a:pPr>
            <a:r>
              <a:rPr lang="en-US" altLang="en-US" dirty="0"/>
              <a:t>5 blocks</a:t>
            </a:r>
          </a:p>
          <a:p>
            <a:pPr>
              <a:buFont typeface="Wingdings" panose="05000000000000000000" pitchFamily="2" charset="2"/>
              <a:buNone/>
            </a:pPr>
            <a:r>
              <a:rPr lang="en-US" altLang="en-US" dirty="0"/>
              <a:t>Key size: 8 characters in each block</a:t>
            </a:r>
          </a:p>
        </p:txBody>
      </p:sp>
    </p:spTree>
    <p:extLst>
      <p:ext uri="{BB962C8B-B14F-4D97-AF65-F5344CB8AC3E}">
        <p14:creationId xmlns:p14="http://schemas.microsoft.com/office/powerpoint/2010/main" val="36221188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1097280" y="286604"/>
            <a:ext cx="10058400" cy="1206698"/>
          </a:xfrm>
        </p:spPr>
        <p:txBody>
          <a:bodyPr/>
          <a:lstStyle/>
          <a:p>
            <a:r>
              <a:rPr lang="en-US" altLang="en-US" dirty="0" smtClean="0"/>
              <a:t>Block Cipher</a:t>
            </a:r>
          </a:p>
        </p:txBody>
      </p:sp>
      <p:sp>
        <p:nvSpPr>
          <p:cNvPr id="26626" name="Content Placeholder 2"/>
          <p:cNvSpPr>
            <a:spLocks noGrp="1"/>
          </p:cNvSpPr>
          <p:nvPr>
            <p:ph idx="1"/>
          </p:nvPr>
        </p:nvSpPr>
        <p:spPr>
          <a:xfrm>
            <a:off x="756518" y="1832089"/>
            <a:ext cx="5986360" cy="4713435"/>
          </a:xfrm>
        </p:spPr>
        <p:txBody>
          <a:bodyPr/>
          <a:lstStyle/>
          <a:p>
            <a:pPr>
              <a:lnSpc>
                <a:spcPct val="114000"/>
              </a:lnSpc>
              <a:buFont typeface="Wingdings" panose="05000000000000000000" pitchFamily="2" charset="2"/>
              <a:buChar char="v"/>
            </a:pPr>
            <a:r>
              <a:rPr lang="en-US" altLang="en-US" sz="2200" dirty="0"/>
              <a:t>An initialization vector (IV) is added to the beginning of the data to ensure that all blocks can be properly ciphered. </a:t>
            </a:r>
          </a:p>
          <a:p>
            <a:pPr>
              <a:lnSpc>
                <a:spcPct val="114000"/>
              </a:lnSpc>
              <a:buFont typeface="Wingdings" panose="05000000000000000000" pitchFamily="2" charset="2"/>
              <a:buChar char="v"/>
            </a:pPr>
            <a:r>
              <a:rPr lang="en-US" altLang="en-US" sz="2200" dirty="0"/>
              <a:t>The IV is simply a random character string to ensure that two identical messages will not create the same </a:t>
            </a:r>
            <a:r>
              <a:rPr lang="en-US" altLang="en-US" sz="2200" dirty="0" err="1"/>
              <a:t>ciphertext</a:t>
            </a:r>
            <a:r>
              <a:rPr lang="en-US" altLang="en-US" sz="2200" dirty="0"/>
              <a:t>.</a:t>
            </a:r>
          </a:p>
          <a:p>
            <a:pPr>
              <a:lnSpc>
                <a:spcPct val="114000"/>
              </a:lnSpc>
              <a:buFont typeface="Wingdings" panose="05000000000000000000" pitchFamily="2" charset="2"/>
              <a:buChar char="v"/>
            </a:pPr>
            <a:r>
              <a:rPr lang="en-US" altLang="en-US" sz="2200" dirty="0"/>
              <a:t> To create your first block of </a:t>
            </a:r>
            <a:r>
              <a:rPr lang="en-US" altLang="en-US" sz="2200" dirty="0" err="1"/>
              <a:t>ciphertext</a:t>
            </a:r>
            <a:r>
              <a:rPr lang="en-US" altLang="en-US" sz="2200" dirty="0"/>
              <a:t> (CT1), you mathematically combine the crypto key, the first block of data (DB1), and the initialization vector (IV).</a:t>
            </a:r>
          </a:p>
        </p:txBody>
      </p:sp>
      <p:pic>
        <p:nvPicPr>
          <p:cNvPr id="266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1648" y="2124828"/>
            <a:ext cx="5299637" cy="3253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10618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defRPr/>
            </a:pPr>
            <a:r>
              <a:rPr lang="en-US" dirty="0" smtClean="0">
                <a:ea typeface="ＭＳ Ｐゴシック" charset="0"/>
              </a:rPr>
              <a:t>Symmetric encryption algorithms</a:t>
            </a:r>
            <a:endParaRPr lang="en-US" dirty="0">
              <a:ea typeface="ＭＳ Ｐゴシック" charset="0"/>
            </a:endParaRPr>
          </a:p>
        </p:txBody>
      </p:sp>
      <p:sp>
        <p:nvSpPr>
          <p:cNvPr id="100354" name="Text Placeholder 4"/>
          <p:cNvSpPr>
            <a:spLocks noGrp="1"/>
          </p:cNvSpPr>
          <p:nvPr>
            <p:ph type="body" idx="1"/>
          </p:nvPr>
        </p:nvSpPr>
        <p:spPr/>
        <p:txBody>
          <a:bodyPr/>
          <a:lstStyle/>
          <a:p>
            <a:endParaRPr lang="en-US" altLang="en-US" smtClean="0"/>
          </a:p>
        </p:txBody>
      </p:sp>
    </p:spTree>
    <p:extLst>
      <p:ext uri="{BB962C8B-B14F-4D97-AF65-F5344CB8AC3E}">
        <p14:creationId xmlns:p14="http://schemas.microsoft.com/office/powerpoint/2010/main" val="987657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1428613" y="895762"/>
            <a:ext cx="8229600" cy="563563"/>
          </a:xfrm>
        </p:spPr>
        <p:txBody>
          <a:bodyPr>
            <a:normAutofit fontScale="90000"/>
          </a:bodyPr>
          <a:lstStyle/>
          <a:p>
            <a:r>
              <a:rPr lang="en-US" altLang="en-US" dirty="0" smtClean="0">
                <a:ea typeface="ヒラギノ角ゴ Pro W3" charset="-128"/>
              </a:rPr>
              <a:t>Popular Symmetric Encryption Algorithms</a:t>
            </a:r>
          </a:p>
        </p:txBody>
      </p:sp>
      <p:sp>
        <p:nvSpPr>
          <p:cNvPr id="27650" name="Content Placeholder 2"/>
          <p:cNvSpPr>
            <a:spLocks noGrp="1"/>
          </p:cNvSpPr>
          <p:nvPr>
            <p:ph idx="1"/>
          </p:nvPr>
        </p:nvSpPr>
        <p:spPr>
          <a:xfrm>
            <a:off x="1704907" y="2028895"/>
            <a:ext cx="8229600" cy="4373563"/>
          </a:xfrm>
        </p:spPr>
        <p:txBody>
          <a:bodyPr/>
          <a:lstStyle/>
          <a:p>
            <a:r>
              <a:rPr lang="en-US" altLang="en-US" dirty="0" smtClean="0">
                <a:ea typeface="ヒラギノ角ゴ Pro W3" charset="-128"/>
              </a:rPr>
              <a:t>DES</a:t>
            </a:r>
          </a:p>
          <a:p>
            <a:r>
              <a:rPr lang="en-US" altLang="en-US" dirty="0" smtClean="0">
                <a:ea typeface="ヒラギノ角ゴ Pro W3" charset="-128"/>
              </a:rPr>
              <a:t>3DES</a:t>
            </a:r>
          </a:p>
          <a:p>
            <a:r>
              <a:rPr lang="en-US" altLang="en-US" dirty="0" smtClean="0">
                <a:ea typeface="ヒラギノ角ゴ Pro W3" charset="-128"/>
              </a:rPr>
              <a:t>AES</a:t>
            </a:r>
          </a:p>
          <a:p>
            <a:r>
              <a:rPr lang="en-US" altLang="en-US" dirty="0" smtClean="0">
                <a:ea typeface="ヒラギノ角ゴ Pro W3" charset="-128"/>
              </a:rPr>
              <a:t>IDEA</a:t>
            </a:r>
          </a:p>
          <a:p>
            <a:r>
              <a:rPr lang="en-US" altLang="en-US" dirty="0" smtClean="0">
                <a:ea typeface="ヒラギノ角ゴ Pro W3" charset="-128"/>
              </a:rPr>
              <a:t>CAST</a:t>
            </a:r>
          </a:p>
          <a:p>
            <a:r>
              <a:rPr lang="en-US" altLang="en-US" dirty="0" err="1" smtClean="0">
                <a:ea typeface="ヒラギノ角ゴ Pro W3" charset="-128"/>
              </a:rPr>
              <a:t>Rivest</a:t>
            </a:r>
            <a:endParaRPr lang="en-US" altLang="en-US" dirty="0" smtClean="0">
              <a:ea typeface="ヒラギノ角ゴ Pro W3" charset="-128"/>
            </a:endParaRPr>
          </a:p>
          <a:p>
            <a:r>
              <a:rPr lang="en-US" altLang="en-US" dirty="0" smtClean="0">
                <a:ea typeface="ヒラギノ角ゴ Pro W3" charset="-128"/>
              </a:rPr>
              <a:t>Blowfish</a:t>
            </a:r>
          </a:p>
          <a:p>
            <a:r>
              <a:rPr lang="en-US" altLang="en-US" dirty="0" smtClean="0">
                <a:ea typeface="ヒラギノ角ゴ Pro W3" charset="-128"/>
              </a:rPr>
              <a:t>IDEA</a:t>
            </a:r>
          </a:p>
        </p:txBody>
      </p:sp>
    </p:spTree>
    <p:extLst>
      <p:ext uri="{BB962C8B-B14F-4D97-AF65-F5344CB8AC3E}">
        <p14:creationId xmlns:p14="http://schemas.microsoft.com/office/powerpoint/2010/main" val="3292509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a:xfrm>
            <a:off x="1402299" y="593155"/>
            <a:ext cx="8229600" cy="563563"/>
          </a:xfrm>
        </p:spPr>
        <p:txBody>
          <a:bodyPr>
            <a:normAutofit fontScale="90000"/>
          </a:bodyPr>
          <a:lstStyle/>
          <a:p>
            <a:r>
              <a:rPr lang="en-US" altLang="en-US" dirty="0" smtClean="0">
                <a:ea typeface="ヒラギノ角ゴ Pro W3" charset="-128"/>
              </a:rPr>
              <a:t>Data Encryption Standard (DES)</a:t>
            </a:r>
          </a:p>
        </p:txBody>
      </p:sp>
      <p:sp>
        <p:nvSpPr>
          <p:cNvPr id="29698" name="Content Placeholder 2"/>
          <p:cNvSpPr>
            <a:spLocks noGrp="1"/>
          </p:cNvSpPr>
          <p:nvPr>
            <p:ph idx="1"/>
          </p:nvPr>
        </p:nvSpPr>
        <p:spPr>
          <a:xfrm>
            <a:off x="1058028" y="1756437"/>
            <a:ext cx="10888377" cy="4946969"/>
          </a:xfrm>
        </p:spPr>
        <p:txBody>
          <a:bodyPr>
            <a:noAutofit/>
          </a:bodyPr>
          <a:lstStyle/>
          <a:p>
            <a:r>
              <a:rPr lang="en-US" altLang="en-US" sz="2200" dirty="0" smtClean="0"/>
              <a:t>The </a:t>
            </a:r>
            <a:r>
              <a:rPr lang="en-US" altLang="en-US" sz="2200" dirty="0"/>
              <a:t>Data Encryption Standard (DES) is a symmetric-key block cipher published by the National Institute of Standards and Technology (NIST</a:t>
            </a:r>
            <a:r>
              <a:rPr lang="en-US" altLang="en-US" sz="2200" dirty="0" smtClean="0"/>
              <a:t>)</a:t>
            </a:r>
          </a:p>
          <a:p>
            <a:r>
              <a:rPr lang="en-US" altLang="en-US" sz="2200" dirty="0">
                <a:ea typeface="ヒラギノ角ゴ Pro W3" charset="-128"/>
              </a:rPr>
              <a:t>Developed in 1973, adopted as a federal standard in 1976</a:t>
            </a:r>
          </a:p>
          <a:p>
            <a:r>
              <a:rPr lang="en-US" altLang="en-US" sz="2200" dirty="0" smtClean="0"/>
              <a:t>Widely </a:t>
            </a:r>
            <a:r>
              <a:rPr lang="en-US" altLang="en-US" sz="2200" dirty="0"/>
              <a:t>used symmetric algorithm </a:t>
            </a:r>
          </a:p>
          <a:p>
            <a:pPr lvl="1"/>
            <a:r>
              <a:rPr lang="en-US" altLang="en-US" sz="2200" dirty="0" smtClean="0">
                <a:ea typeface="ヒラギノ角ゴ Pro W3" charset="-128"/>
              </a:rPr>
              <a:t>Block </a:t>
            </a:r>
            <a:r>
              <a:rPr lang="en-US" altLang="en-US" sz="2200" dirty="0">
                <a:ea typeface="ヒラギノ角ゴ Pro W3" charset="-128"/>
              </a:rPr>
              <a:t>cipher</a:t>
            </a:r>
          </a:p>
          <a:p>
            <a:pPr lvl="1"/>
            <a:r>
              <a:rPr lang="en-US" altLang="en-US" sz="2200" dirty="0">
                <a:ea typeface="ヒラギノ角ゴ Pro W3" charset="-128"/>
              </a:rPr>
              <a:t>The block size is 64 bits—64 bits of  plaintext gives you 64 bits of </a:t>
            </a:r>
            <a:r>
              <a:rPr lang="en-US" altLang="en-US" sz="2200" dirty="0" err="1">
                <a:ea typeface="ヒラギノ角ゴ Pro W3" charset="-128"/>
              </a:rPr>
              <a:t>ciphertext</a:t>
            </a:r>
            <a:r>
              <a:rPr lang="en-US" altLang="en-US" sz="2200" dirty="0">
                <a:ea typeface="ヒラギノ角ゴ Pro W3" charset="-128"/>
              </a:rPr>
              <a:t>.</a:t>
            </a:r>
          </a:p>
          <a:p>
            <a:pPr lvl="1"/>
            <a:r>
              <a:rPr lang="en-US" altLang="en-US" sz="2200" dirty="0">
                <a:ea typeface="ヒラギノ角ゴ Pro W3" charset="-128"/>
              </a:rPr>
              <a:t>56-bit key length</a:t>
            </a:r>
          </a:p>
          <a:p>
            <a:pPr lvl="1"/>
            <a:r>
              <a:rPr lang="en-US" altLang="en-US" sz="2200" dirty="0">
                <a:ea typeface="ヒラギノ角ゴ Pro W3" charset="-128"/>
              </a:rPr>
              <a:t>Performs a substitution and permutation (a form of transposition) based on the key 16 times on every 64 bit block.</a:t>
            </a:r>
          </a:p>
          <a:p>
            <a:r>
              <a:rPr lang="en-US" altLang="en-US" sz="2200" dirty="0">
                <a:ea typeface="ヒラギノ角ゴ Pro W3" charset="-128"/>
              </a:rPr>
              <a:t>While DES has been a common business standard for 20 years, modern computing power has made the key breakable</a:t>
            </a:r>
            <a:r>
              <a:rPr lang="en-US" altLang="en-US" sz="2200" dirty="0" smtClean="0">
                <a:ea typeface="ヒラギノ角ゴ Pro W3" charset="-128"/>
              </a:rPr>
              <a:t>.</a:t>
            </a:r>
          </a:p>
          <a:p>
            <a:r>
              <a:rPr lang="en-US" altLang="en-US" sz="2200" dirty="0"/>
              <a:t>Challenge first broken in 1997, took 14000 PCs four months, in 1998 in under a day </a:t>
            </a:r>
          </a:p>
          <a:p>
            <a:endParaRPr lang="en-US" altLang="en-US" sz="2200" dirty="0">
              <a:ea typeface="ヒラギノ角ゴ Pro W3" charset="-128"/>
            </a:endParaRPr>
          </a:p>
          <a:p>
            <a:pPr lvl="1"/>
            <a:endParaRPr lang="en-US" altLang="en-US" sz="2200" dirty="0">
              <a:ea typeface="ヒラギノ角ゴ Pro W3" charset="-128"/>
            </a:endParaRPr>
          </a:p>
          <a:p>
            <a:pPr lvl="1"/>
            <a:endParaRPr lang="en-US" altLang="en-US" sz="2200" dirty="0">
              <a:ea typeface="ヒラギノ角ゴ Pro W3" charset="-128"/>
            </a:endParaRPr>
          </a:p>
          <a:p>
            <a:pPr lvl="1"/>
            <a:endParaRPr lang="en-US" altLang="en-US" sz="2200" dirty="0">
              <a:ea typeface="ヒラギノ角ゴ Pro W3" charset="-128"/>
            </a:endParaRPr>
          </a:p>
          <a:p>
            <a:endParaRPr lang="en-US" altLang="en-US" sz="2200" dirty="0">
              <a:ea typeface="ヒラギノ角ゴ Pro W3" charset="-128"/>
            </a:endParaRPr>
          </a:p>
          <a:p>
            <a:endParaRPr lang="en-US" altLang="en-US" sz="2200" dirty="0" smtClean="0">
              <a:ea typeface="ヒラギノ角ゴ Pro W3" charset="-128"/>
            </a:endParaRPr>
          </a:p>
        </p:txBody>
      </p:sp>
    </p:spTree>
    <p:extLst>
      <p:ext uri="{BB962C8B-B14F-4D97-AF65-F5344CB8AC3E}">
        <p14:creationId xmlns:p14="http://schemas.microsoft.com/office/powerpoint/2010/main" val="3585427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defRPr/>
            </a:pPr>
            <a:r>
              <a:rPr lang="en-US" sz="4000" dirty="0">
                <a:solidFill>
                  <a:srgbClr val="000090"/>
                </a:solidFill>
                <a:effectLst>
                  <a:outerShdw blurRad="38100" dist="38100" dir="2700000" algn="tl">
                    <a:srgbClr val="C0C0C0"/>
                  </a:outerShdw>
                </a:effectLst>
                <a:ea typeface="ＭＳ Ｐゴシック" charset="0"/>
              </a:rPr>
              <a:t>Data Encryption Standard (DES)</a:t>
            </a:r>
            <a:endParaRPr lang="en-US" sz="3600" dirty="0">
              <a:solidFill>
                <a:srgbClr val="000090"/>
              </a:solidFill>
              <a:ea typeface="ＭＳ Ｐゴシック" charset="0"/>
            </a:endParaRPr>
          </a:p>
        </p:txBody>
      </p:sp>
      <p:pic>
        <p:nvPicPr>
          <p:cNvPr id="32770"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2057401"/>
            <a:ext cx="8391525"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Rectangle 4"/>
          <p:cNvSpPr>
            <a:spLocks noChangeArrowheads="1"/>
          </p:cNvSpPr>
          <p:nvPr/>
        </p:nvSpPr>
        <p:spPr bwMode="auto">
          <a:xfrm>
            <a:off x="4495801" y="5410200"/>
            <a:ext cx="3698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b="1" i="1">
                <a:solidFill>
                  <a:srgbClr val="002060"/>
                </a:solidFill>
                <a:latin typeface="Times New Roman" panose="02020603050405020304" pitchFamily="18" charset="0"/>
              </a:rPr>
              <a:t>Encryption and decryption with DES</a:t>
            </a:r>
            <a:endParaRPr lang="en-US" altLang="en-US" sz="1800" b="1">
              <a:solidFill>
                <a:srgbClr val="002060"/>
              </a:solidFill>
            </a:endParaRPr>
          </a:p>
        </p:txBody>
      </p:sp>
    </p:spTree>
    <p:extLst>
      <p:ext uri="{BB962C8B-B14F-4D97-AF65-F5344CB8AC3E}">
        <p14:creationId xmlns:p14="http://schemas.microsoft.com/office/powerpoint/2010/main" val="3174813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a:xfrm>
            <a:off x="2990987" y="619469"/>
            <a:ext cx="5486400" cy="563563"/>
          </a:xfrm>
        </p:spPr>
        <p:txBody>
          <a:bodyPr>
            <a:normAutofit fontScale="90000"/>
          </a:bodyPr>
          <a:lstStyle/>
          <a:p>
            <a:r>
              <a:rPr lang="en-US" altLang="en-US" dirty="0" smtClean="0">
                <a:solidFill>
                  <a:schemeClr val="tx1"/>
                </a:solidFill>
                <a:ea typeface="ヒラギノ角ゴ Pro W3" charset="-128"/>
              </a:rPr>
              <a:t>Triple DES (3DES)</a:t>
            </a:r>
            <a:endParaRPr lang="en-US" altLang="en-US" dirty="0" smtClean="0">
              <a:solidFill>
                <a:schemeClr val="tx1"/>
              </a:solidFill>
              <a:ea typeface="ヒラギノ角ゴ Pro W3" charset="-128"/>
            </a:endParaRPr>
          </a:p>
        </p:txBody>
      </p:sp>
      <p:sp>
        <p:nvSpPr>
          <p:cNvPr id="48130" name="Content Placeholder 2"/>
          <p:cNvSpPr>
            <a:spLocks noGrp="1"/>
          </p:cNvSpPr>
          <p:nvPr>
            <p:ph idx="1"/>
          </p:nvPr>
        </p:nvSpPr>
        <p:spPr>
          <a:xfrm>
            <a:off x="1446155" y="2133053"/>
            <a:ext cx="8839200" cy="4373563"/>
          </a:xfrm>
        </p:spPr>
        <p:txBody>
          <a:bodyPr/>
          <a:lstStyle/>
          <a:p>
            <a:pPr>
              <a:lnSpc>
                <a:spcPct val="150000"/>
              </a:lnSpc>
              <a:buFont typeface="Wingdings" panose="05000000000000000000" pitchFamily="2" charset="2"/>
              <a:buChar char="§"/>
            </a:pPr>
            <a:r>
              <a:rPr lang="en-US" altLang="en-US" dirty="0">
                <a:ea typeface="ヒラギノ角ゴ Pro W3" charset="-128"/>
              </a:rPr>
              <a:t>Triple DES (3DES) is a variant of DES.</a:t>
            </a:r>
          </a:p>
          <a:p>
            <a:pPr lvl="1">
              <a:lnSpc>
                <a:spcPct val="150000"/>
              </a:lnSpc>
              <a:buFont typeface="Wingdings" panose="05000000000000000000" pitchFamily="2" charset="2"/>
              <a:buChar char="§"/>
            </a:pPr>
            <a:r>
              <a:rPr lang="en-US" altLang="en-US" dirty="0" smtClean="0">
                <a:ea typeface="ヒラギノ角ゴ Pro W3" charset="-128"/>
              </a:rPr>
              <a:t>Depending on the variant, it uses either two or three keys.</a:t>
            </a:r>
          </a:p>
          <a:p>
            <a:pPr lvl="1">
              <a:lnSpc>
                <a:spcPct val="150000"/>
              </a:lnSpc>
              <a:buFont typeface="Wingdings" panose="05000000000000000000" pitchFamily="2" charset="2"/>
              <a:buChar char="§"/>
            </a:pPr>
            <a:r>
              <a:rPr lang="en-US" altLang="en-US" dirty="0" smtClean="0">
                <a:ea typeface="ヒラギノ角ゴ Pro W3" charset="-128"/>
              </a:rPr>
              <a:t>Multiple encryption – goes through the DES algorithm three times.</a:t>
            </a:r>
          </a:p>
          <a:p>
            <a:pPr>
              <a:lnSpc>
                <a:spcPct val="150000"/>
              </a:lnSpc>
              <a:buFont typeface="Wingdings" panose="05000000000000000000" pitchFamily="2" charset="2"/>
              <a:buChar char="§"/>
            </a:pPr>
            <a:r>
              <a:rPr lang="en-US" altLang="en-US" dirty="0">
                <a:ea typeface="ヒラギノ角ゴ Pro W3" charset="-128"/>
              </a:rPr>
              <a:t>3DES is stronger than DES but has similar weakness. </a:t>
            </a:r>
          </a:p>
          <a:p>
            <a:pPr>
              <a:lnSpc>
                <a:spcPct val="150000"/>
              </a:lnSpc>
              <a:buFont typeface="Wingdings" panose="05000000000000000000" pitchFamily="2" charset="2"/>
              <a:buChar char="§"/>
            </a:pPr>
            <a:r>
              <a:rPr lang="en-US" altLang="en-US" dirty="0">
                <a:ea typeface="ヒラギノ角ゴ Pro W3" charset="-128"/>
              </a:rPr>
              <a:t>The longer key length makes it more resistant to brute force attacks.</a:t>
            </a:r>
          </a:p>
          <a:p>
            <a:pPr>
              <a:lnSpc>
                <a:spcPct val="150000"/>
              </a:lnSpc>
              <a:buFont typeface="Wingdings" panose="05000000000000000000" pitchFamily="2" charset="2"/>
              <a:buChar char="§"/>
            </a:pPr>
            <a:r>
              <a:rPr lang="en-US" altLang="en-US" dirty="0">
                <a:ea typeface="ヒラギノ角ゴ Pro W3" charset="-128"/>
              </a:rPr>
              <a:t>3DES is a good interim step before the new encryption standard, AES.</a:t>
            </a:r>
          </a:p>
          <a:p>
            <a:pPr>
              <a:lnSpc>
                <a:spcPct val="150000"/>
              </a:lnSpc>
              <a:buFont typeface="Wingdings" panose="05000000000000000000" pitchFamily="2" charset="2"/>
              <a:buChar char="§"/>
            </a:pPr>
            <a:endParaRPr lang="en-US" altLang="en-US" sz="2800" dirty="0">
              <a:ea typeface="ヒラギノ角ゴ Pro W3" charset="-128"/>
            </a:endParaRPr>
          </a:p>
          <a:p>
            <a:pPr lvl="1">
              <a:lnSpc>
                <a:spcPct val="150000"/>
              </a:lnSpc>
              <a:buFont typeface="Wingdings" panose="05000000000000000000" pitchFamily="2" charset="2"/>
              <a:buChar char="§"/>
            </a:pPr>
            <a:endParaRPr lang="en-US" altLang="en-US" dirty="0">
              <a:ea typeface="ヒラギノ角ゴ Pro W3" charset="-128"/>
            </a:endParaRPr>
          </a:p>
          <a:p>
            <a:pPr lvl="1">
              <a:lnSpc>
                <a:spcPct val="150000"/>
              </a:lnSpc>
              <a:buFont typeface="Wingdings" panose="05000000000000000000" pitchFamily="2" charset="2"/>
              <a:buChar char="§"/>
            </a:pPr>
            <a:endParaRPr lang="en-US" altLang="en-US" dirty="0">
              <a:ea typeface="ヒラギノ角ゴ Pro W3" charset="-128"/>
            </a:endParaRPr>
          </a:p>
          <a:p>
            <a:pPr lvl="1">
              <a:lnSpc>
                <a:spcPct val="150000"/>
              </a:lnSpc>
              <a:buFont typeface="Wingdings" panose="05000000000000000000" pitchFamily="2" charset="2"/>
              <a:buChar char="§"/>
            </a:pPr>
            <a:endParaRPr lang="en-US" altLang="en-US" dirty="0" smtClean="0">
              <a:ea typeface="ヒラギノ角ゴ Pro W3" charset="-128"/>
            </a:endParaRPr>
          </a:p>
        </p:txBody>
      </p:sp>
    </p:spTree>
    <p:extLst>
      <p:ext uri="{BB962C8B-B14F-4D97-AF65-F5344CB8AC3E}">
        <p14:creationId xmlns:p14="http://schemas.microsoft.com/office/powerpoint/2010/main" val="2599810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itle 1"/>
          <p:cNvSpPr>
            <a:spLocks noGrp="1"/>
          </p:cNvSpPr>
          <p:nvPr>
            <p:ph type="title"/>
          </p:nvPr>
        </p:nvSpPr>
        <p:spPr/>
        <p:txBody>
          <a:bodyPr/>
          <a:lstStyle/>
          <a:p>
            <a:r>
              <a:rPr lang="en-US" altLang="en-US" dirty="0" smtClean="0">
                <a:solidFill>
                  <a:schemeClr val="tx1"/>
                </a:solidFill>
              </a:rPr>
              <a:t>Triple DES: 3-DES</a:t>
            </a:r>
          </a:p>
        </p:txBody>
      </p:sp>
      <p:sp>
        <p:nvSpPr>
          <p:cNvPr id="3" name="Content Placeholder 2"/>
          <p:cNvSpPr>
            <a:spLocks noGrp="1"/>
          </p:cNvSpPr>
          <p:nvPr>
            <p:ph idx="1"/>
          </p:nvPr>
        </p:nvSpPr>
        <p:spPr>
          <a:xfrm>
            <a:off x="1215692" y="1996440"/>
            <a:ext cx="10678086" cy="4529350"/>
          </a:xfrm>
        </p:spPr>
        <p:txBody>
          <a:bodyPr>
            <a:normAutofit/>
          </a:bodyPr>
          <a:lstStyle/>
          <a:p>
            <a:pPr>
              <a:lnSpc>
                <a:spcPct val="114000"/>
              </a:lnSpc>
              <a:spcBef>
                <a:spcPts val="300"/>
              </a:spcBef>
              <a:defRPr/>
            </a:pPr>
            <a:r>
              <a:rPr lang="en-US" dirty="0"/>
              <a:t>The major criticism of DES regards its key length. </a:t>
            </a:r>
          </a:p>
          <a:p>
            <a:pPr lvl="1">
              <a:lnSpc>
                <a:spcPct val="114000"/>
              </a:lnSpc>
              <a:spcBef>
                <a:spcPts val="300"/>
              </a:spcBef>
              <a:defRPr/>
            </a:pPr>
            <a:r>
              <a:rPr lang="en-US" dirty="0">
                <a:ea typeface="ＭＳ Ｐゴシック" charset="0"/>
              </a:rPr>
              <a:t>This means that we can use double or triple DES to increase the key size.</a:t>
            </a:r>
          </a:p>
          <a:p>
            <a:pPr>
              <a:lnSpc>
                <a:spcPct val="114000"/>
              </a:lnSpc>
              <a:spcBef>
                <a:spcPts val="300"/>
              </a:spcBef>
              <a:defRPr/>
            </a:pPr>
            <a:r>
              <a:rPr lang="en-US" b="1" dirty="0"/>
              <a:t>Triple DES</a:t>
            </a:r>
            <a:r>
              <a:rPr lang="en-US" dirty="0"/>
              <a:t> (</a:t>
            </a:r>
            <a:r>
              <a:rPr lang="en-US" b="1" dirty="0"/>
              <a:t>3DES</a:t>
            </a:r>
            <a:r>
              <a:rPr lang="en-US" dirty="0"/>
              <a:t>) is the block cipher, which applies the Data Encryption Standard (DES) cipher algorithm three times to each data block.</a:t>
            </a:r>
          </a:p>
          <a:p>
            <a:pPr>
              <a:lnSpc>
                <a:spcPct val="114000"/>
              </a:lnSpc>
              <a:spcBef>
                <a:spcPts val="300"/>
              </a:spcBef>
              <a:defRPr/>
            </a:pPr>
            <a:r>
              <a:rPr lang="en-US" b="1" dirty="0"/>
              <a:t>Triple DES</a:t>
            </a:r>
            <a:r>
              <a:rPr lang="en-US" dirty="0"/>
              <a:t> (</a:t>
            </a:r>
            <a:r>
              <a:rPr lang="en-US" b="1" dirty="0"/>
              <a:t>3DES</a:t>
            </a:r>
            <a:r>
              <a:rPr lang="en-US" dirty="0"/>
              <a:t>) with two </a:t>
            </a:r>
            <a:r>
              <a:rPr lang="en-US" dirty="0" smtClean="0"/>
              <a:t>keys</a:t>
            </a:r>
          </a:p>
          <a:p>
            <a:pPr marL="342900" lvl="1" indent="-342900">
              <a:lnSpc>
                <a:spcPct val="114000"/>
              </a:lnSpc>
              <a:spcBef>
                <a:spcPts val="300"/>
              </a:spcBef>
              <a:buClr>
                <a:schemeClr val="folHlink"/>
              </a:buClr>
              <a:buSzPct val="60000"/>
              <a:buNone/>
              <a:defRPr/>
            </a:pPr>
            <a:r>
              <a:rPr lang="en-US" dirty="0" smtClean="0">
                <a:latin typeface="Courier New" pitchFamily="49" charset="0"/>
                <a:ea typeface="ＭＳ Ｐゴシック" charset="0"/>
              </a:rPr>
              <a:t>		</a:t>
            </a:r>
            <a:r>
              <a:rPr lang="en-US" b="1" dirty="0" smtClean="0">
                <a:solidFill>
                  <a:srgbClr val="C00000"/>
                </a:solidFill>
                <a:latin typeface="Courier New" pitchFamily="49" charset="0"/>
                <a:ea typeface="ＭＳ Ｐゴシック" charset="0"/>
              </a:rPr>
              <a:t>C = E</a:t>
            </a:r>
            <a:r>
              <a:rPr lang="en-US" b="1" baseline="-25000" dirty="0" smtClean="0">
                <a:solidFill>
                  <a:srgbClr val="C00000"/>
                </a:solidFill>
                <a:latin typeface="Courier New" pitchFamily="49" charset="0"/>
                <a:ea typeface="ＭＳ Ｐゴシック" charset="0"/>
              </a:rPr>
              <a:t>K1</a:t>
            </a:r>
            <a:r>
              <a:rPr lang="en-US" b="1" dirty="0" smtClean="0">
                <a:solidFill>
                  <a:srgbClr val="C00000"/>
                </a:solidFill>
                <a:latin typeface="Courier New" pitchFamily="49" charset="0"/>
                <a:ea typeface="ＭＳ Ｐゴシック" charset="0"/>
              </a:rPr>
              <a:t>(D</a:t>
            </a:r>
            <a:r>
              <a:rPr lang="en-US" b="1" baseline="-25000" dirty="0" smtClean="0">
                <a:solidFill>
                  <a:srgbClr val="C00000"/>
                </a:solidFill>
                <a:latin typeface="Courier New" pitchFamily="49" charset="0"/>
                <a:ea typeface="ＭＳ Ｐゴシック" charset="0"/>
              </a:rPr>
              <a:t>K2</a:t>
            </a:r>
            <a:r>
              <a:rPr lang="en-US" b="1" dirty="0" smtClean="0">
                <a:solidFill>
                  <a:srgbClr val="C00000"/>
                </a:solidFill>
                <a:latin typeface="Courier New" pitchFamily="49" charset="0"/>
                <a:ea typeface="ＭＳ Ｐゴシック" charset="0"/>
              </a:rPr>
              <a:t>(E</a:t>
            </a:r>
            <a:r>
              <a:rPr lang="en-US" b="1" baseline="-25000" dirty="0" smtClean="0">
                <a:solidFill>
                  <a:srgbClr val="C00000"/>
                </a:solidFill>
                <a:latin typeface="Courier New" pitchFamily="49" charset="0"/>
                <a:ea typeface="ＭＳ Ｐゴシック" charset="0"/>
              </a:rPr>
              <a:t>K1</a:t>
            </a:r>
            <a:r>
              <a:rPr lang="en-US" b="1" dirty="0" smtClean="0">
                <a:solidFill>
                  <a:srgbClr val="C00000"/>
                </a:solidFill>
                <a:latin typeface="Courier New" pitchFamily="49" charset="0"/>
                <a:ea typeface="ＭＳ Ｐゴシック" charset="0"/>
              </a:rPr>
              <a:t>(P</a:t>
            </a:r>
            <a:r>
              <a:rPr lang="en-US" b="1" dirty="0" smtClean="0">
                <a:solidFill>
                  <a:srgbClr val="C00000"/>
                </a:solidFill>
                <a:latin typeface="Courier New" pitchFamily="49" charset="0"/>
                <a:ea typeface="ＭＳ Ｐゴシック" charset="0"/>
              </a:rPr>
              <a:t>)))</a:t>
            </a:r>
            <a:endParaRPr lang="en-US" b="1" dirty="0" smtClean="0">
              <a:solidFill>
                <a:srgbClr val="C00000"/>
              </a:solidFill>
              <a:latin typeface="Courier New" pitchFamily="49" charset="0"/>
              <a:ea typeface="ＭＳ Ｐゴシック" charset="0"/>
            </a:endParaRPr>
          </a:p>
          <a:p>
            <a:pPr marL="342900" lvl="1" indent="-342900">
              <a:lnSpc>
                <a:spcPct val="114000"/>
              </a:lnSpc>
              <a:spcBef>
                <a:spcPts val="300"/>
              </a:spcBef>
              <a:buClr>
                <a:schemeClr val="folHlink"/>
              </a:buClr>
              <a:buSzPct val="60000"/>
              <a:defRPr/>
            </a:pPr>
            <a:endParaRPr lang="en-US" b="1" dirty="0" smtClean="0">
              <a:ea typeface="ＭＳ Ｐゴシック" charset="0"/>
            </a:endParaRPr>
          </a:p>
          <a:p>
            <a:pPr marL="0" lvl="1" indent="0">
              <a:lnSpc>
                <a:spcPct val="114000"/>
              </a:lnSpc>
              <a:spcBef>
                <a:spcPts val="300"/>
              </a:spcBef>
              <a:buClr>
                <a:schemeClr val="folHlink"/>
              </a:buClr>
              <a:buSzPct val="60000"/>
              <a:buNone/>
              <a:defRPr/>
            </a:pPr>
            <a:r>
              <a:rPr lang="en-US" b="1" dirty="0" smtClean="0">
                <a:ea typeface="ＭＳ Ｐゴシック" charset="0"/>
              </a:rPr>
              <a:t>Triple </a:t>
            </a:r>
            <a:r>
              <a:rPr lang="en-US" b="1" dirty="0" smtClean="0">
                <a:ea typeface="ＭＳ Ｐゴシック" charset="0"/>
              </a:rPr>
              <a:t>DES</a:t>
            </a:r>
            <a:r>
              <a:rPr lang="en-US" dirty="0" smtClean="0">
                <a:ea typeface="ＭＳ Ｐゴシック" charset="0"/>
              </a:rPr>
              <a:t> (</a:t>
            </a:r>
            <a:r>
              <a:rPr lang="en-US" b="1" dirty="0" smtClean="0">
                <a:ea typeface="ＭＳ Ｐゴシック" charset="0"/>
              </a:rPr>
              <a:t>3DES</a:t>
            </a:r>
            <a:r>
              <a:rPr lang="en-US" dirty="0" smtClean="0">
                <a:ea typeface="ＭＳ Ｐゴシック" charset="0"/>
              </a:rPr>
              <a:t>) with three keys</a:t>
            </a:r>
          </a:p>
          <a:p>
            <a:pPr marL="342900" lvl="1" indent="-342900">
              <a:lnSpc>
                <a:spcPct val="114000"/>
              </a:lnSpc>
              <a:spcBef>
                <a:spcPts val="300"/>
              </a:spcBef>
              <a:buClr>
                <a:schemeClr val="folHlink"/>
              </a:buClr>
              <a:buSzPct val="60000"/>
              <a:buNone/>
              <a:defRPr/>
            </a:pPr>
            <a:r>
              <a:rPr lang="en-US" dirty="0" smtClean="0">
                <a:latin typeface="Courier New" pitchFamily="49" charset="0"/>
                <a:ea typeface="ＭＳ Ｐゴシック" charset="0"/>
              </a:rPr>
              <a:t>		</a:t>
            </a:r>
            <a:r>
              <a:rPr lang="en-US" b="1" dirty="0" smtClean="0">
                <a:solidFill>
                  <a:srgbClr val="C00000"/>
                </a:solidFill>
                <a:latin typeface="Courier New" pitchFamily="49" charset="0"/>
                <a:ea typeface="ＭＳ Ｐゴシック" charset="0"/>
              </a:rPr>
              <a:t>C = E</a:t>
            </a:r>
            <a:r>
              <a:rPr lang="en-US" b="1" baseline="-25000" dirty="0" smtClean="0">
                <a:solidFill>
                  <a:srgbClr val="C00000"/>
                </a:solidFill>
                <a:latin typeface="Courier New" pitchFamily="49" charset="0"/>
                <a:ea typeface="ＭＳ Ｐゴシック" charset="0"/>
              </a:rPr>
              <a:t>K3</a:t>
            </a:r>
            <a:r>
              <a:rPr lang="en-US" b="1" dirty="0" smtClean="0">
                <a:solidFill>
                  <a:srgbClr val="C00000"/>
                </a:solidFill>
                <a:latin typeface="Courier New" pitchFamily="49" charset="0"/>
                <a:ea typeface="ＭＳ Ｐゴシック" charset="0"/>
              </a:rPr>
              <a:t>(D</a:t>
            </a:r>
            <a:r>
              <a:rPr lang="en-US" b="1" baseline="-25000" dirty="0" smtClean="0">
                <a:solidFill>
                  <a:srgbClr val="C00000"/>
                </a:solidFill>
                <a:latin typeface="Courier New" pitchFamily="49" charset="0"/>
                <a:ea typeface="ＭＳ Ｐゴシック" charset="0"/>
              </a:rPr>
              <a:t>K2</a:t>
            </a:r>
            <a:r>
              <a:rPr lang="en-US" b="1" dirty="0" smtClean="0">
                <a:solidFill>
                  <a:srgbClr val="C00000"/>
                </a:solidFill>
                <a:latin typeface="Courier New" pitchFamily="49" charset="0"/>
                <a:ea typeface="ＭＳ Ｐゴシック" charset="0"/>
              </a:rPr>
              <a:t>(E</a:t>
            </a:r>
            <a:r>
              <a:rPr lang="en-US" b="1" baseline="-25000" dirty="0" smtClean="0">
                <a:solidFill>
                  <a:srgbClr val="C00000"/>
                </a:solidFill>
                <a:latin typeface="Courier New" pitchFamily="49" charset="0"/>
                <a:ea typeface="ＭＳ Ｐゴシック" charset="0"/>
              </a:rPr>
              <a:t>K1</a:t>
            </a:r>
            <a:r>
              <a:rPr lang="en-US" b="1" dirty="0" smtClean="0">
                <a:solidFill>
                  <a:srgbClr val="C00000"/>
                </a:solidFill>
                <a:latin typeface="Courier New" pitchFamily="49" charset="0"/>
                <a:ea typeface="ＭＳ Ｐゴシック" charset="0"/>
              </a:rPr>
              <a:t>(P)))</a:t>
            </a:r>
            <a:endParaRPr lang="en-US" b="1" dirty="0" smtClean="0">
              <a:solidFill>
                <a:srgbClr val="C00000"/>
              </a:solidFill>
              <a:ea typeface="ＭＳ Ｐゴシック" charset="0"/>
            </a:endParaRPr>
          </a:p>
          <a:p>
            <a:pPr>
              <a:lnSpc>
                <a:spcPct val="114000"/>
              </a:lnSpc>
              <a:spcBef>
                <a:spcPts val="300"/>
              </a:spcBef>
              <a:defRPr/>
            </a:pPr>
            <a:endParaRPr lang="en-US" dirty="0"/>
          </a:p>
          <a:p>
            <a:pPr>
              <a:lnSpc>
                <a:spcPct val="114000"/>
              </a:lnSpc>
              <a:spcBef>
                <a:spcPts val="300"/>
              </a:spcBef>
              <a:defRPr/>
            </a:pPr>
            <a:endParaRPr lang="en-US" dirty="0">
              <a:ea typeface="+mn-ea"/>
            </a:endParaRPr>
          </a:p>
        </p:txBody>
      </p:sp>
    </p:spTree>
    <p:extLst>
      <p:ext uri="{BB962C8B-B14F-4D97-AF65-F5344CB8AC3E}">
        <p14:creationId xmlns:p14="http://schemas.microsoft.com/office/powerpoint/2010/main" val="1567824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a:xfrm>
            <a:off x="2025604" y="849713"/>
            <a:ext cx="6248400" cy="563563"/>
          </a:xfrm>
        </p:spPr>
        <p:txBody>
          <a:bodyPr>
            <a:normAutofit fontScale="90000"/>
          </a:bodyPr>
          <a:lstStyle/>
          <a:p>
            <a:r>
              <a:rPr lang="en-US" altLang="en-US" dirty="0" smtClean="0">
                <a:solidFill>
                  <a:schemeClr val="tx1"/>
                </a:solidFill>
                <a:ea typeface="ヒラギノ角ゴ Pro W3" charset="-128"/>
              </a:rPr>
              <a:t>3 DES </a:t>
            </a:r>
            <a:r>
              <a:rPr lang="en-US" altLang="en-US" b="0" dirty="0" smtClean="0">
                <a:solidFill>
                  <a:schemeClr val="tx1"/>
                </a:solidFill>
                <a:ea typeface="ヒラギノ角ゴ Pro W3" charset="-128"/>
              </a:rPr>
              <a:t>(</a:t>
            </a:r>
            <a:r>
              <a:rPr lang="en-US" altLang="en-US" b="0" i="1" dirty="0" smtClean="0">
                <a:solidFill>
                  <a:schemeClr val="tx1"/>
                </a:solidFill>
                <a:ea typeface="ヒラギノ角ゴ Pro W3" charset="-128"/>
              </a:rPr>
              <a:t>with three different keys</a:t>
            </a:r>
            <a:r>
              <a:rPr lang="en-US" altLang="en-US" b="0" dirty="0" smtClean="0">
                <a:solidFill>
                  <a:schemeClr val="tx1"/>
                </a:solidFill>
                <a:ea typeface="ヒラギノ角ゴ Pro W3" charset="-128"/>
              </a:rPr>
              <a:t>)</a:t>
            </a:r>
          </a:p>
        </p:txBody>
      </p:sp>
      <p:pic>
        <p:nvPicPr>
          <p:cNvPr id="52226" name="Content Placeholder 3" descr="F05-08.jpg"/>
          <p:cNvPicPr>
            <a:picLocks noGrp="1" noChangeAspect="1"/>
          </p:cNvPicPr>
          <p:nvPr>
            <p:ph idx="1"/>
          </p:nvPr>
        </p:nvPicPr>
        <p:blipFill>
          <a:blip r:embed="rId3" cstate="print">
            <a:extLst>
              <a:ext uri="{28A0092B-C50C-407E-A947-70E740481C1C}">
                <a14:useLocalDpi xmlns:a14="http://schemas.microsoft.com/office/drawing/2010/main" val="0"/>
              </a:ext>
            </a:extLst>
          </a:blip>
          <a:srcRect l="-38564" r="-38564"/>
          <a:stretch>
            <a:fillRect/>
          </a:stretch>
        </p:blipFill>
        <p:spPr>
          <a:xfrm>
            <a:off x="1097280" y="1845733"/>
            <a:ext cx="9836049" cy="4535331"/>
          </a:xfrm>
        </p:spPr>
      </p:pic>
    </p:spTree>
    <p:extLst>
      <p:ext uri="{BB962C8B-B14F-4D97-AF65-F5344CB8AC3E}">
        <p14:creationId xmlns:p14="http://schemas.microsoft.com/office/powerpoint/2010/main" val="523677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Number Placeholder 3"/>
          <p:cNvSpPr>
            <a:spLocks noGrp="1"/>
          </p:cNvSpPr>
          <p:nvPr>
            <p:ph type="sldNum" sz="quarter" idx="4294967295"/>
          </p:nvPr>
        </p:nvSpPr>
        <p:spPr bwMode="auto">
          <a:xfrm>
            <a:off x="9829800" y="6400800"/>
            <a:ext cx="4572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B8835A00-1F4F-42D9-B891-3E9F847CED57}" type="slidenum">
              <a:rPr lang="en-US" altLang="en-US" sz="1800">
                <a:solidFill>
                  <a:srgbClr val="000000"/>
                </a:solidFill>
                <a:latin typeface="Tahoma" panose="020B0604030504040204" pitchFamily="34" charset="0"/>
              </a:rPr>
              <a:pPr eaLnBrk="1" hangingPunct="1"/>
              <a:t>20</a:t>
            </a:fld>
            <a:endParaRPr lang="en-US" altLang="en-US" sz="1800">
              <a:solidFill>
                <a:srgbClr val="000000"/>
              </a:solidFill>
              <a:latin typeface="Tahoma" panose="020B0604030504040204" pitchFamily="34" charset="0"/>
            </a:endParaRPr>
          </a:p>
        </p:txBody>
      </p:sp>
      <p:sp>
        <p:nvSpPr>
          <p:cNvPr id="54274" name="Rectangle 2"/>
          <p:cNvSpPr>
            <a:spLocks noGrp="1" noChangeArrowheads="1"/>
          </p:cNvSpPr>
          <p:nvPr>
            <p:ph type="title"/>
          </p:nvPr>
        </p:nvSpPr>
        <p:spPr>
          <a:xfrm>
            <a:off x="1981749" y="241757"/>
            <a:ext cx="7750175" cy="1143000"/>
          </a:xfrm>
        </p:spPr>
        <p:txBody>
          <a:bodyPr/>
          <a:lstStyle/>
          <a:p>
            <a:r>
              <a:rPr lang="en-US" altLang="en-US" sz="3600" dirty="0"/>
              <a:t>AES (</a:t>
            </a:r>
            <a:r>
              <a:rPr lang="en-US" altLang="en-US" sz="3600" dirty="0" err="1"/>
              <a:t>Rijndael</a:t>
            </a:r>
            <a:r>
              <a:rPr lang="en-US" altLang="en-US" sz="3600" dirty="0"/>
              <a:t>) : Advanced Encryption Standard</a:t>
            </a:r>
          </a:p>
        </p:txBody>
      </p:sp>
      <p:sp>
        <p:nvSpPr>
          <p:cNvPr id="54275" name="Rectangle 3"/>
          <p:cNvSpPr>
            <a:spLocks noGrp="1" noChangeArrowheads="1"/>
          </p:cNvSpPr>
          <p:nvPr>
            <p:ph type="body" idx="1"/>
          </p:nvPr>
        </p:nvSpPr>
        <p:spPr>
          <a:xfrm>
            <a:off x="1205493" y="1859500"/>
            <a:ext cx="9727835" cy="4114800"/>
          </a:xfrm>
        </p:spPr>
        <p:txBody>
          <a:bodyPr>
            <a:noAutofit/>
          </a:bodyPr>
          <a:lstStyle/>
          <a:p>
            <a:pPr>
              <a:buFont typeface="Wingdings" panose="05000000000000000000" pitchFamily="2" charset="2"/>
              <a:buChar char="§"/>
            </a:pPr>
            <a:r>
              <a:rPr lang="en-US" altLang="en-US" dirty="0" smtClean="0"/>
              <a:t>(</a:t>
            </a:r>
            <a:r>
              <a:rPr lang="en-US" altLang="en-US" dirty="0"/>
              <a:t>Nov. 2001) symmetric-key NIST standard, replacing DES</a:t>
            </a:r>
          </a:p>
          <a:p>
            <a:pPr>
              <a:buFont typeface="Wingdings" panose="05000000000000000000" pitchFamily="2" charset="2"/>
              <a:buChar char="§"/>
            </a:pPr>
            <a:r>
              <a:rPr lang="en-US" altLang="en-US" dirty="0"/>
              <a:t>Designed by Belgian cryptographers </a:t>
            </a:r>
            <a:r>
              <a:rPr lang="en-US" altLang="en-US" dirty="0" err="1"/>
              <a:t>Rijmen</a:t>
            </a:r>
            <a:r>
              <a:rPr lang="en-US" altLang="en-US" dirty="0"/>
              <a:t> and </a:t>
            </a:r>
            <a:r>
              <a:rPr lang="en-US" altLang="en-US" dirty="0" err="1"/>
              <a:t>Daemen</a:t>
            </a:r>
            <a:r>
              <a:rPr lang="en-US" altLang="en-US" dirty="0"/>
              <a:t> </a:t>
            </a:r>
          </a:p>
          <a:p>
            <a:pPr>
              <a:buFont typeface="Wingdings" panose="05000000000000000000" pitchFamily="2" charset="2"/>
              <a:buChar char="§"/>
            </a:pPr>
            <a:r>
              <a:rPr lang="en-US" altLang="en-US" dirty="0"/>
              <a:t>processes data in 128 bit blocks</a:t>
            </a:r>
          </a:p>
          <a:p>
            <a:pPr>
              <a:buFont typeface="Wingdings" panose="05000000000000000000" pitchFamily="2" charset="2"/>
              <a:buChar char="§"/>
            </a:pPr>
            <a:r>
              <a:rPr lang="en-US" altLang="en-US" dirty="0"/>
              <a:t>128, 192, or 256 bit keys</a:t>
            </a:r>
          </a:p>
          <a:p>
            <a:pPr>
              <a:buFont typeface="Wingdings" panose="05000000000000000000" pitchFamily="2" charset="2"/>
              <a:buChar char="§"/>
            </a:pPr>
            <a:r>
              <a:rPr lang="en-US" altLang="en-US" dirty="0"/>
              <a:t>brute force decryption (try each key) taking 1 sec on DES, takes 149 trillion years for AES</a:t>
            </a:r>
          </a:p>
          <a:p>
            <a:pPr>
              <a:buFont typeface="Wingdings" panose="05000000000000000000" pitchFamily="2" charset="2"/>
              <a:buChar char="§"/>
            </a:pPr>
            <a:r>
              <a:rPr lang="en-US" altLang="en-US" dirty="0"/>
              <a:t>Can operate over a variable-length block using variable-length keys </a:t>
            </a:r>
          </a:p>
          <a:p>
            <a:pPr>
              <a:buFont typeface="Wingdings" panose="05000000000000000000" pitchFamily="2" charset="2"/>
              <a:buChar char="§"/>
            </a:pPr>
            <a:r>
              <a:rPr lang="en-US" altLang="en-US" dirty="0"/>
              <a:t>Iterated block cipher </a:t>
            </a:r>
          </a:p>
          <a:p>
            <a:pPr lvl="1">
              <a:buFont typeface="Wingdings" panose="05000000000000000000" pitchFamily="2" charset="2"/>
              <a:buChar char="§"/>
            </a:pPr>
            <a:r>
              <a:rPr lang="en-US" altLang="en-US" dirty="0"/>
              <a:t>meaning that the initial input block and cipher key undergoes multiple rounds of transformation before producing the output </a:t>
            </a:r>
          </a:p>
          <a:p>
            <a:pPr>
              <a:buFont typeface="Wingdings" panose="05000000000000000000" pitchFamily="2" charset="2"/>
              <a:buChar char="§"/>
            </a:pPr>
            <a:endParaRPr lang="en-US" altLang="en-US" dirty="0"/>
          </a:p>
        </p:txBody>
      </p:sp>
    </p:spTree>
    <p:extLst>
      <p:ext uri="{BB962C8B-B14F-4D97-AF65-F5344CB8AC3E}">
        <p14:creationId xmlns:p14="http://schemas.microsoft.com/office/powerpoint/2010/main" val="23070990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a:xfrm>
            <a:off x="1731768" y="902340"/>
            <a:ext cx="7848600" cy="563563"/>
          </a:xfrm>
        </p:spPr>
        <p:txBody>
          <a:bodyPr>
            <a:normAutofit fontScale="90000"/>
          </a:bodyPr>
          <a:lstStyle/>
          <a:p>
            <a:r>
              <a:rPr lang="en-US" altLang="en-US" smtClean="0">
                <a:ea typeface="ヒラギノ角ゴ Pro W3" charset="-128"/>
              </a:rPr>
              <a:t>AES (</a:t>
            </a:r>
            <a:r>
              <a:rPr lang="en-US" altLang="en-US" smtClean="0">
                <a:latin typeface="Tahoma" panose="020B0604030504040204" pitchFamily="34" charset="0"/>
                <a:ea typeface="ヒラギノ角ゴ Pro W3" charset="-128"/>
              </a:rPr>
              <a:t>Advanced Encryption Standard)</a:t>
            </a:r>
            <a:endParaRPr lang="en-US" altLang="en-US" smtClean="0">
              <a:ea typeface="ヒラギノ角ゴ Pro W3" charset="-128"/>
            </a:endParaRPr>
          </a:p>
        </p:txBody>
      </p:sp>
      <p:sp>
        <p:nvSpPr>
          <p:cNvPr id="55298" name="Content Placeholder 2"/>
          <p:cNvSpPr>
            <a:spLocks noGrp="1"/>
          </p:cNvSpPr>
          <p:nvPr>
            <p:ph idx="1"/>
          </p:nvPr>
        </p:nvSpPr>
        <p:spPr>
          <a:xfrm>
            <a:off x="1599651" y="2002581"/>
            <a:ext cx="9544187" cy="4373563"/>
          </a:xfrm>
        </p:spPr>
        <p:txBody>
          <a:bodyPr/>
          <a:lstStyle/>
          <a:p>
            <a:r>
              <a:rPr lang="en-US" altLang="en-US" dirty="0">
                <a:ea typeface="ヒラギノ角ゴ Pro W3" charset="-128"/>
              </a:rPr>
              <a:t>AES is a block cipher that separates data input into 128-bit blocks. </a:t>
            </a:r>
          </a:p>
          <a:p>
            <a:pPr lvl="1"/>
            <a:r>
              <a:rPr lang="en-US" altLang="en-US" dirty="0" smtClean="0">
                <a:ea typeface="ヒラギノ角ゴ Pro W3" charset="-128"/>
              </a:rPr>
              <a:t>Can also be configured to use blocks of 192 or 256 bits.</a:t>
            </a:r>
          </a:p>
          <a:p>
            <a:r>
              <a:rPr lang="en-US" altLang="en-US" dirty="0">
                <a:ea typeface="ヒラギノ角ゴ Pro W3" charset="-128"/>
              </a:rPr>
              <a:t>AES can have key sizes of 128, 192, and 256 bits, with the size of the key affecting the number of rounds used in the algorithm</a:t>
            </a:r>
            <a:r>
              <a:rPr lang="en-US" altLang="en-US" sz="2800" dirty="0">
                <a:ea typeface="ヒラギノ角ゴ Pro W3" charset="-128"/>
              </a:rPr>
              <a:t>. </a:t>
            </a:r>
          </a:p>
          <a:p>
            <a:pPr lvl="1"/>
            <a:r>
              <a:rPr lang="en-US" altLang="en-US" dirty="0" smtClean="0">
                <a:ea typeface="ヒラギノ角ゴ Pro W3" charset="-128"/>
              </a:rPr>
              <a:t>Longer key versions are known as AES-192 and AES-256, respectively.</a:t>
            </a:r>
          </a:p>
          <a:p>
            <a:r>
              <a:rPr lang="en-US" altLang="en-US" dirty="0" smtClean="0">
                <a:ea typeface="ヒラギノ角ゴ Pro W3" charset="-128"/>
              </a:rPr>
              <a:t>No efficient attacks currently exist against AES.</a:t>
            </a:r>
          </a:p>
        </p:txBody>
      </p:sp>
    </p:spTree>
    <p:extLst>
      <p:ext uri="{BB962C8B-B14F-4D97-AF65-F5344CB8AC3E}">
        <p14:creationId xmlns:p14="http://schemas.microsoft.com/office/powerpoint/2010/main" val="387800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a:xfrm>
            <a:off x="1097280" y="286603"/>
            <a:ext cx="10058400" cy="1094865"/>
          </a:xfrm>
        </p:spPr>
        <p:txBody>
          <a:bodyPr/>
          <a:lstStyle/>
          <a:p>
            <a:r>
              <a:rPr lang="en-US" altLang="en-US" sz="4400" dirty="0"/>
              <a:t>3-DES or AES ??</a:t>
            </a:r>
          </a:p>
        </p:txBody>
      </p:sp>
      <p:pic>
        <p:nvPicPr>
          <p:cNvPr id="593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73530" y="1668780"/>
            <a:ext cx="9105900" cy="3810000"/>
          </a:xfrm>
          <a:noFill/>
        </p:spPr>
      </p:pic>
      <p:sp>
        <p:nvSpPr>
          <p:cNvPr id="59395" name="Rectangle 4"/>
          <p:cNvSpPr>
            <a:spLocks noChangeArrowheads="1"/>
          </p:cNvSpPr>
          <p:nvPr/>
        </p:nvSpPr>
        <p:spPr bwMode="auto">
          <a:xfrm>
            <a:off x="2362200" y="5410200"/>
            <a:ext cx="7543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2000">
                <a:solidFill>
                  <a:srgbClr val="000000"/>
                </a:solidFill>
              </a:rPr>
              <a:t> </a:t>
            </a:r>
            <a:r>
              <a:rPr lang="en-US" altLang="en-US" sz="2000" i="1">
                <a:solidFill>
                  <a:srgbClr val="002060"/>
                </a:solidFill>
              </a:rPr>
              <a:t>AES can encrypt data much faster than Triple-DES, a DES enhancement which essentially encrypts a message or document three times.</a:t>
            </a:r>
            <a:endParaRPr lang="en-US" altLang="en-US" sz="2000">
              <a:solidFill>
                <a:srgbClr val="002060"/>
              </a:solidFill>
            </a:endParaRPr>
          </a:p>
        </p:txBody>
      </p:sp>
      <p:sp>
        <p:nvSpPr>
          <p:cNvPr id="59396" name="Rectangle 5"/>
          <p:cNvSpPr>
            <a:spLocks noChangeArrowheads="1"/>
          </p:cNvSpPr>
          <p:nvPr/>
        </p:nvSpPr>
        <p:spPr bwMode="auto">
          <a:xfrm>
            <a:off x="2133600" y="6248401"/>
            <a:ext cx="769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800">
              <a:solidFill>
                <a:srgbClr val="000000"/>
              </a:solidFill>
            </a:endParaRPr>
          </a:p>
          <a:p>
            <a:pPr eaLnBrk="1" hangingPunct="1"/>
            <a:r>
              <a:rPr lang="en-US" altLang="en-US" sz="1800">
                <a:solidFill>
                  <a:srgbClr val="000000"/>
                </a:solidFill>
              </a:rPr>
              <a:t> </a:t>
            </a:r>
            <a:r>
              <a:rPr lang="en-US" altLang="en-US" sz="1400" baseline="30000">
                <a:solidFill>
                  <a:srgbClr val="000000"/>
                </a:solidFill>
              </a:rPr>
              <a:t>1 </a:t>
            </a:r>
            <a:r>
              <a:rPr lang="en-US" altLang="en-US" sz="1400">
                <a:solidFill>
                  <a:srgbClr val="000000"/>
                </a:solidFill>
              </a:rPr>
              <a:t>Source: NetworkWorldFusion, Resource Links/Encyclopedia </a:t>
            </a:r>
            <a:endParaRPr lang="en-US" altLang="en-US" sz="1800">
              <a:solidFill>
                <a:srgbClr val="000000"/>
              </a:solidFill>
            </a:endParaRPr>
          </a:p>
        </p:txBody>
      </p:sp>
    </p:spTree>
    <p:extLst>
      <p:ext uri="{BB962C8B-B14F-4D97-AF65-F5344CB8AC3E}">
        <p14:creationId xmlns:p14="http://schemas.microsoft.com/office/powerpoint/2010/main" val="689100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r>
              <a:rPr lang="en-US" altLang="en-US" smtClean="0"/>
              <a:t>Other secret Key Algorithms</a:t>
            </a:r>
          </a:p>
        </p:txBody>
      </p:sp>
      <p:sp>
        <p:nvSpPr>
          <p:cNvPr id="60418" name="Content Placeholder 2"/>
          <p:cNvSpPr>
            <a:spLocks noGrp="1"/>
          </p:cNvSpPr>
          <p:nvPr>
            <p:ph idx="1"/>
          </p:nvPr>
        </p:nvSpPr>
        <p:spPr>
          <a:xfrm>
            <a:off x="1390787" y="1737360"/>
            <a:ext cx="9595170" cy="4114800"/>
          </a:xfrm>
        </p:spPr>
        <p:txBody>
          <a:bodyPr>
            <a:noAutofit/>
          </a:bodyPr>
          <a:lstStyle/>
          <a:p>
            <a:r>
              <a:rPr lang="en-US" altLang="en-US" i="1" dirty="0"/>
              <a:t>CAST</a:t>
            </a:r>
          </a:p>
          <a:p>
            <a:r>
              <a:rPr lang="en-US" altLang="en-US" i="1" dirty="0"/>
              <a:t>International Data Encryption Algorithm (IDEA) </a:t>
            </a:r>
            <a:endParaRPr lang="en-US" altLang="en-US" dirty="0"/>
          </a:p>
          <a:p>
            <a:pPr lvl="1"/>
            <a:r>
              <a:rPr lang="en-US" altLang="en-US" dirty="0"/>
              <a:t>DES-like 64-bit block cipher using 128-bit keys </a:t>
            </a:r>
          </a:p>
          <a:p>
            <a:r>
              <a:rPr lang="en-US" altLang="en-US" i="1" dirty="0"/>
              <a:t>RC5</a:t>
            </a:r>
          </a:p>
          <a:p>
            <a:pPr lvl="1"/>
            <a:r>
              <a:rPr lang="en-US" altLang="en-US" dirty="0"/>
              <a:t> a block-cipher supporting a variety of block sizes, key sizes, and number of encryption passes over the data </a:t>
            </a:r>
          </a:p>
          <a:p>
            <a:r>
              <a:rPr lang="en-US" altLang="en-US" i="1" dirty="0"/>
              <a:t>Blowfish</a:t>
            </a:r>
          </a:p>
          <a:p>
            <a:pPr lvl="1"/>
            <a:r>
              <a:rPr lang="en-US" altLang="en-US" dirty="0"/>
              <a:t>symmetric 64-bit block cipher. Key lengths can vary from 32 to 448 bits in length </a:t>
            </a:r>
          </a:p>
          <a:p>
            <a:r>
              <a:rPr lang="en-US" altLang="en-US" i="1" dirty="0" err="1"/>
              <a:t>Twofish</a:t>
            </a:r>
            <a:endParaRPr lang="en-US" altLang="en-US" i="1" dirty="0"/>
          </a:p>
          <a:p>
            <a:pPr lvl="1"/>
            <a:r>
              <a:rPr lang="en-US" altLang="en-US" dirty="0"/>
              <a:t>128-bit block cipher using 128-, 192-, or 256-bit keys </a:t>
            </a:r>
          </a:p>
          <a:p>
            <a:endParaRPr lang="en-US" altLang="en-US" dirty="0"/>
          </a:p>
        </p:txBody>
      </p:sp>
    </p:spTree>
    <p:extLst>
      <p:ext uri="{BB962C8B-B14F-4D97-AF65-F5344CB8AC3E}">
        <p14:creationId xmlns:p14="http://schemas.microsoft.com/office/powerpoint/2010/main" val="2548884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a:xfrm>
            <a:off x="3352800" y="1066801"/>
            <a:ext cx="5486400" cy="563563"/>
          </a:xfrm>
        </p:spPr>
        <p:txBody>
          <a:bodyPr>
            <a:normAutofit fontScale="90000"/>
          </a:bodyPr>
          <a:lstStyle/>
          <a:p>
            <a:r>
              <a:rPr lang="en-US" altLang="en-US" smtClean="0">
                <a:ea typeface="ヒラギノ角ゴ Pro W3" charset="-128"/>
              </a:rPr>
              <a:t>Asymmetric Encryption</a:t>
            </a:r>
          </a:p>
        </p:txBody>
      </p:sp>
      <p:sp>
        <p:nvSpPr>
          <p:cNvPr id="71682" name="Content Placeholder 2"/>
          <p:cNvSpPr>
            <a:spLocks noGrp="1"/>
          </p:cNvSpPr>
          <p:nvPr>
            <p:ph idx="1"/>
          </p:nvPr>
        </p:nvSpPr>
        <p:spPr/>
        <p:txBody>
          <a:bodyPr/>
          <a:lstStyle/>
          <a:p>
            <a:r>
              <a:rPr lang="en-US" altLang="en-US" smtClean="0">
                <a:ea typeface="ヒラギノ角ゴ Pro W3" charset="-128"/>
              </a:rPr>
              <a:t>Asymmetric encryption</a:t>
            </a:r>
          </a:p>
          <a:p>
            <a:r>
              <a:rPr lang="en-US" altLang="en-US" smtClean="0">
                <a:ea typeface="ヒラギノ角ゴ Pro W3" charset="-128"/>
              </a:rPr>
              <a:t>RSA</a:t>
            </a:r>
          </a:p>
          <a:p>
            <a:r>
              <a:rPr lang="en-US" altLang="en-US" smtClean="0">
                <a:ea typeface="ヒラギノ角ゴ Pro W3" charset="-128"/>
              </a:rPr>
              <a:t>Diffie-Hellman</a:t>
            </a:r>
          </a:p>
          <a:p>
            <a:r>
              <a:rPr lang="en-US" altLang="en-US" smtClean="0">
                <a:ea typeface="ヒラギノ角ゴ Pro W3" charset="-128"/>
              </a:rPr>
              <a:t>ElGamal</a:t>
            </a:r>
          </a:p>
          <a:p>
            <a:r>
              <a:rPr lang="en-US" altLang="en-US" smtClean="0">
                <a:ea typeface="ヒラギノ角ゴ Pro W3" charset="-128"/>
              </a:rPr>
              <a:t>ECC</a:t>
            </a:r>
          </a:p>
        </p:txBody>
      </p:sp>
    </p:spTree>
    <p:extLst>
      <p:ext uri="{BB962C8B-B14F-4D97-AF65-F5344CB8AC3E}">
        <p14:creationId xmlns:p14="http://schemas.microsoft.com/office/powerpoint/2010/main" val="3894894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p:cNvSpPr>
            <a:spLocks noGrp="1"/>
          </p:cNvSpPr>
          <p:nvPr>
            <p:ph type="title"/>
          </p:nvPr>
        </p:nvSpPr>
        <p:spPr>
          <a:xfrm>
            <a:off x="2194999" y="718145"/>
            <a:ext cx="5486400" cy="563563"/>
          </a:xfrm>
        </p:spPr>
        <p:txBody>
          <a:bodyPr>
            <a:normAutofit fontScale="90000"/>
          </a:bodyPr>
          <a:lstStyle/>
          <a:p>
            <a:r>
              <a:rPr lang="en-US" altLang="en-US" dirty="0" smtClean="0">
                <a:ea typeface="ヒラギノ角ゴ Pro W3" charset="-128"/>
              </a:rPr>
              <a:t>RSA</a:t>
            </a:r>
          </a:p>
        </p:txBody>
      </p:sp>
      <p:sp>
        <p:nvSpPr>
          <p:cNvPr id="77826" name="Content Placeholder 2"/>
          <p:cNvSpPr>
            <a:spLocks noGrp="1"/>
          </p:cNvSpPr>
          <p:nvPr>
            <p:ph idx="1"/>
          </p:nvPr>
        </p:nvSpPr>
        <p:spPr>
          <a:xfrm>
            <a:off x="1230164" y="1929122"/>
            <a:ext cx="10597830" cy="4525963"/>
          </a:xfrm>
        </p:spPr>
        <p:txBody>
          <a:bodyPr/>
          <a:lstStyle/>
          <a:p>
            <a:r>
              <a:rPr lang="en-US" altLang="en-US" dirty="0">
                <a:ea typeface="ヒラギノ角ゴ Pro W3" charset="-128"/>
              </a:rPr>
              <a:t>Ron </a:t>
            </a:r>
            <a:r>
              <a:rPr lang="en-US" altLang="en-US" dirty="0" err="1">
                <a:ea typeface="ヒラギノ角ゴ Pro W3" charset="-128"/>
              </a:rPr>
              <a:t>Rivest</a:t>
            </a:r>
            <a:r>
              <a:rPr lang="en-US" altLang="en-US" dirty="0">
                <a:ea typeface="ヒラギノ角ゴ Pro W3" charset="-128"/>
              </a:rPr>
              <a:t>, </a:t>
            </a:r>
            <a:r>
              <a:rPr lang="en-US" altLang="en-US" dirty="0" err="1">
                <a:ea typeface="ヒラギノ角ゴ Pro W3" charset="-128"/>
              </a:rPr>
              <a:t>Adi</a:t>
            </a:r>
            <a:r>
              <a:rPr lang="en-US" altLang="en-US" dirty="0">
                <a:ea typeface="ヒラギノ角ゴ Pro W3" charset="-128"/>
              </a:rPr>
              <a:t> Shamir, and Leonard </a:t>
            </a:r>
            <a:r>
              <a:rPr lang="en-US" altLang="en-US" dirty="0" err="1">
                <a:ea typeface="ヒラギノ角ゴ Pro W3" charset="-128"/>
              </a:rPr>
              <a:t>Adleman</a:t>
            </a:r>
            <a:r>
              <a:rPr lang="en-US" altLang="en-US" dirty="0">
                <a:ea typeface="ヒラギノ角ゴ Pro W3" charset="-128"/>
              </a:rPr>
              <a:t> (RSA)</a:t>
            </a:r>
          </a:p>
          <a:p>
            <a:r>
              <a:rPr lang="en-US" altLang="en-US" dirty="0">
                <a:ea typeface="ヒラギノ角ゴ Pro W3" charset="-128"/>
              </a:rPr>
              <a:t>One of the first public key cryptosystems invented.</a:t>
            </a:r>
          </a:p>
          <a:p>
            <a:pPr lvl="1"/>
            <a:r>
              <a:rPr lang="en-US" altLang="en-US" sz="2000" dirty="0">
                <a:ea typeface="ヒラギノ角ゴ Pro W3" charset="-128"/>
              </a:rPr>
              <a:t>Published in 1997</a:t>
            </a:r>
          </a:p>
          <a:p>
            <a:pPr lvl="1"/>
            <a:r>
              <a:rPr lang="en-US" altLang="en-US" sz="2000" dirty="0">
                <a:ea typeface="ヒラギノ角ゴ Pro W3" charset="-128"/>
              </a:rPr>
              <a:t>Used for encryption and digital signatures</a:t>
            </a:r>
          </a:p>
          <a:p>
            <a:pPr lvl="1"/>
            <a:r>
              <a:rPr lang="en-US" altLang="en-US" sz="2000" dirty="0">
                <a:ea typeface="ヒラギノ角ゴ Pro W3" charset="-128"/>
              </a:rPr>
              <a:t>Uses the product of two very large prime numbers (between 100 and 200 digits long and of equal length)</a:t>
            </a:r>
          </a:p>
          <a:p>
            <a:r>
              <a:rPr lang="en-US" altLang="en-US" dirty="0">
                <a:ea typeface="ヒラギノ角ゴ Pro W3" charset="-128"/>
              </a:rPr>
              <a:t>While a simple algorithm, it has withstood the test of more than 20 years of analysis.</a:t>
            </a:r>
          </a:p>
          <a:p>
            <a:r>
              <a:rPr lang="en-US" altLang="en-US" dirty="0">
                <a:ea typeface="ヒラギノ角ゴ Pro W3" charset="-128"/>
              </a:rPr>
              <a:t>Does not replace symmetric encryption because RSA is 100 times slower than DES!</a:t>
            </a:r>
          </a:p>
          <a:p>
            <a:r>
              <a:rPr lang="en-US" altLang="en-US" dirty="0">
                <a:ea typeface="ヒラギノ角ゴ Pro W3" charset="-128"/>
              </a:rPr>
              <a:t>Asymmetric encryption is used to exchange symmetric keys.</a:t>
            </a:r>
          </a:p>
          <a:p>
            <a:endParaRPr lang="en-US" altLang="en-US" dirty="0">
              <a:ea typeface="ヒラギノ角ゴ Pro W3" charset="-128"/>
            </a:endParaRPr>
          </a:p>
          <a:p>
            <a:endParaRPr lang="en-US" altLang="en-US" dirty="0">
              <a:ea typeface="ヒラギノ角ゴ Pro W3" charset="-128"/>
            </a:endParaRPr>
          </a:p>
        </p:txBody>
      </p:sp>
    </p:spTree>
    <p:extLst>
      <p:ext uri="{BB962C8B-B14F-4D97-AF65-F5344CB8AC3E}">
        <p14:creationId xmlns:p14="http://schemas.microsoft.com/office/powerpoint/2010/main" val="2320035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p:cNvSpPr>
            <a:spLocks noGrp="1"/>
          </p:cNvSpPr>
          <p:nvPr>
            <p:ph type="title"/>
          </p:nvPr>
        </p:nvSpPr>
        <p:spPr>
          <a:xfrm>
            <a:off x="1905549" y="744458"/>
            <a:ext cx="5486400" cy="563563"/>
          </a:xfrm>
        </p:spPr>
        <p:txBody>
          <a:bodyPr>
            <a:normAutofit fontScale="90000"/>
          </a:bodyPr>
          <a:lstStyle/>
          <a:p>
            <a:r>
              <a:rPr lang="en-US" altLang="en-US" dirty="0" err="1" smtClean="0">
                <a:ea typeface="ヒラギノ角ゴ Pro W3" charset="-128"/>
              </a:rPr>
              <a:t>Diffie</a:t>
            </a:r>
            <a:r>
              <a:rPr lang="en-US" altLang="en-US" dirty="0" smtClean="0">
                <a:ea typeface="ヒラギノ角ゴ Pro W3" charset="-128"/>
              </a:rPr>
              <a:t>-Hellman</a:t>
            </a:r>
          </a:p>
        </p:txBody>
      </p:sp>
      <p:sp>
        <p:nvSpPr>
          <p:cNvPr id="79874" name="Content Placeholder 2"/>
          <p:cNvSpPr>
            <a:spLocks noGrp="1"/>
          </p:cNvSpPr>
          <p:nvPr>
            <p:ph idx="1"/>
          </p:nvPr>
        </p:nvSpPr>
        <p:spPr>
          <a:xfrm>
            <a:off x="1526193" y="2067269"/>
            <a:ext cx="9841312" cy="4525963"/>
          </a:xfrm>
        </p:spPr>
        <p:txBody>
          <a:bodyPr/>
          <a:lstStyle/>
          <a:p>
            <a:r>
              <a:rPr lang="en-US" altLang="en-US" dirty="0">
                <a:ea typeface="ヒラギノ角ゴ Pro W3" charset="-128"/>
              </a:rPr>
              <a:t>Created in 1976 by Whitfield </a:t>
            </a:r>
            <a:r>
              <a:rPr lang="en-US" altLang="en-US" dirty="0" err="1">
                <a:ea typeface="ヒラギノ角ゴ Pro W3" charset="-128"/>
              </a:rPr>
              <a:t>Diffie</a:t>
            </a:r>
            <a:r>
              <a:rPr lang="en-US" altLang="en-US" dirty="0">
                <a:ea typeface="ヒラギノ角ゴ Pro W3" charset="-128"/>
              </a:rPr>
              <a:t> and Martin Hellman</a:t>
            </a:r>
          </a:p>
          <a:p>
            <a:r>
              <a:rPr lang="en-US" altLang="en-US" dirty="0">
                <a:ea typeface="ヒラギノ角ゴ Pro W3" charset="-128"/>
              </a:rPr>
              <a:t>The protocol is one of the most common encryption protocols in use today. </a:t>
            </a:r>
          </a:p>
          <a:p>
            <a:r>
              <a:rPr lang="en-US" altLang="en-US" dirty="0">
                <a:ea typeface="ヒラギノ角ゴ Pro W3" charset="-128"/>
              </a:rPr>
              <a:t>Used for:</a:t>
            </a:r>
          </a:p>
          <a:p>
            <a:pPr lvl="1"/>
            <a:r>
              <a:rPr lang="en-US" altLang="en-US" sz="2000" dirty="0">
                <a:ea typeface="ヒラギノ角ゴ Pro W3" charset="-128"/>
              </a:rPr>
              <a:t>Electronic key exchange method of the Secure Sockets Layer (SSL) protocol</a:t>
            </a:r>
          </a:p>
          <a:p>
            <a:pPr lvl="1"/>
            <a:r>
              <a:rPr lang="en-US" altLang="en-US" sz="2000" dirty="0">
                <a:ea typeface="ヒラギノ角ゴ Pro W3" charset="-128"/>
              </a:rPr>
              <a:t>TLS, SSH, and IPsec protocols</a:t>
            </a:r>
          </a:p>
          <a:p>
            <a:pPr lvl="1"/>
            <a:r>
              <a:rPr lang="en-US" altLang="en-US" sz="2000" dirty="0">
                <a:ea typeface="ヒラギノ角ゴ Pro W3" charset="-128"/>
              </a:rPr>
              <a:t>Enables the sharing of a secret key between two people who have not contacted each other before.</a:t>
            </a:r>
          </a:p>
          <a:p>
            <a:r>
              <a:rPr lang="en-US" altLang="en-US" dirty="0" err="1">
                <a:ea typeface="ヒラギノ角ゴ Pro W3" charset="-128"/>
              </a:rPr>
              <a:t>Diffie</a:t>
            </a:r>
            <a:r>
              <a:rPr lang="en-US" altLang="en-US" dirty="0">
                <a:ea typeface="ヒラギノ角ゴ Pro W3" charset="-128"/>
              </a:rPr>
              <a:t>-Hellman is still in wide use. </a:t>
            </a:r>
          </a:p>
          <a:p>
            <a:endParaRPr lang="en-US" altLang="en-US" dirty="0">
              <a:ea typeface="ヒラギノ角ゴ Pro W3" charset="-128"/>
            </a:endParaRPr>
          </a:p>
          <a:p>
            <a:endParaRPr lang="en-US" altLang="en-US" dirty="0">
              <a:ea typeface="ヒラギノ角ゴ Pro W3" charset="-128"/>
            </a:endParaRPr>
          </a:p>
        </p:txBody>
      </p:sp>
    </p:spTree>
    <p:extLst>
      <p:ext uri="{BB962C8B-B14F-4D97-AF65-F5344CB8AC3E}">
        <p14:creationId xmlns:p14="http://schemas.microsoft.com/office/powerpoint/2010/main" val="2841471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altLang="en-US" smtClean="0"/>
              <a:t>Introduction to Hash Functions</a:t>
            </a:r>
          </a:p>
        </p:txBody>
      </p:sp>
      <p:sp>
        <p:nvSpPr>
          <p:cNvPr id="21506" name="Content Placeholder 2"/>
          <p:cNvSpPr>
            <a:spLocks noGrp="1"/>
          </p:cNvSpPr>
          <p:nvPr>
            <p:ph idx="1"/>
          </p:nvPr>
        </p:nvSpPr>
        <p:spPr>
          <a:xfrm>
            <a:off x="1663141" y="2037710"/>
            <a:ext cx="9072836" cy="4114800"/>
          </a:xfrm>
        </p:spPr>
        <p:txBody>
          <a:bodyPr/>
          <a:lstStyle/>
          <a:p>
            <a:pPr>
              <a:lnSpc>
                <a:spcPct val="114000"/>
              </a:lnSpc>
            </a:pPr>
            <a:r>
              <a:rPr lang="en-US" altLang="en-US" dirty="0" smtClean="0"/>
              <a:t>Hash functions are mathematical computations that take in a relatively arbitrary amount of data as input and produce an output of fixed size. </a:t>
            </a:r>
          </a:p>
          <a:p>
            <a:pPr>
              <a:lnSpc>
                <a:spcPct val="114000"/>
              </a:lnSpc>
            </a:pPr>
            <a:r>
              <a:rPr lang="en-US" altLang="en-US" dirty="0" smtClean="0"/>
              <a:t>The output is always the same when given the same input. </a:t>
            </a:r>
          </a:p>
          <a:p>
            <a:pPr>
              <a:lnSpc>
                <a:spcPct val="114000"/>
              </a:lnSpc>
            </a:pPr>
            <a:r>
              <a:rPr lang="en-US" altLang="en-US" dirty="0" smtClean="0"/>
              <a:t>The inputs to a hash function are typically called messages, and the outputs are often referred to as message digests.</a:t>
            </a:r>
          </a:p>
        </p:txBody>
      </p:sp>
    </p:spTree>
    <p:extLst>
      <p:ext uri="{BB962C8B-B14F-4D97-AF65-F5344CB8AC3E}">
        <p14:creationId xmlns:p14="http://schemas.microsoft.com/office/powerpoint/2010/main" val="3342046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r>
              <a:rPr lang="en-US" altLang="en-US" smtClean="0"/>
              <a:t>Example of Hash Function</a:t>
            </a:r>
          </a:p>
        </p:txBody>
      </p:sp>
      <p:sp>
        <p:nvSpPr>
          <p:cNvPr id="22530" name="Content Placeholder 2"/>
          <p:cNvSpPr>
            <a:spLocks noGrp="1"/>
          </p:cNvSpPr>
          <p:nvPr>
            <p:ph idx="1"/>
          </p:nvPr>
        </p:nvSpPr>
        <p:spPr>
          <a:xfrm>
            <a:off x="1323722" y="2118250"/>
            <a:ext cx="9366205" cy="4383419"/>
          </a:xfrm>
        </p:spPr>
        <p:txBody>
          <a:bodyPr/>
          <a:lstStyle/>
          <a:p>
            <a:r>
              <a:rPr lang="en-US" altLang="en-US" dirty="0" smtClean="0"/>
              <a:t>An example of a simple hash function would be the following:</a:t>
            </a:r>
          </a:p>
          <a:p>
            <a:r>
              <a:rPr lang="en-US" altLang="en-US" i="1" dirty="0" smtClean="0"/>
              <a:t>Hash function H accepts messages of any length, and outputs a fixed length digest of one-bit. </a:t>
            </a:r>
          </a:p>
          <a:p>
            <a:r>
              <a:rPr lang="en-US" altLang="en-US" i="1" dirty="0" smtClean="0"/>
              <a:t>H returns 0 as the message digest if the input has an even number of characters, and returns 1 if the output has an odd number of characters</a:t>
            </a:r>
            <a:endParaRPr lang="en-US" altLang="en-US" dirty="0" smtClean="0"/>
          </a:p>
        </p:txBody>
      </p:sp>
    </p:spTree>
    <p:extLst>
      <p:ext uri="{BB962C8B-B14F-4D97-AF65-F5344CB8AC3E}">
        <p14:creationId xmlns:p14="http://schemas.microsoft.com/office/powerpoint/2010/main" val="329395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US" altLang="en-US" smtClean="0"/>
              <a:t>Hash Functions Example</a:t>
            </a:r>
          </a:p>
        </p:txBody>
      </p:sp>
      <p:sp>
        <p:nvSpPr>
          <p:cNvPr id="23554" name="Content Placeholder 2"/>
          <p:cNvSpPr>
            <a:spLocks noGrp="1"/>
          </p:cNvSpPr>
          <p:nvPr>
            <p:ph idx="1"/>
          </p:nvPr>
        </p:nvSpPr>
        <p:spPr>
          <a:xfrm>
            <a:off x="1644946" y="2039379"/>
            <a:ext cx="9209441" cy="4340225"/>
          </a:xfrm>
        </p:spPr>
        <p:txBody>
          <a:bodyPr/>
          <a:lstStyle/>
          <a:p>
            <a:r>
              <a:rPr lang="en-US" altLang="en-US" dirty="0" smtClean="0"/>
              <a:t>In the example function, knowing that the output is 1 does not reveal any information about the input other than it has an odd number of digits. </a:t>
            </a:r>
          </a:p>
          <a:p>
            <a:r>
              <a:rPr lang="en-US" altLang="en-US" dirty="0" smtClean="0"/>
              <a:t>For example, if an attacker was given the fact that a message has a digest of </a:t>
            </a:r>
            <a:r>
              <a:rPr lang="ja-JP" altLang="en-US" dirty="0" smtClean="0"/>
              <a:t>“</a:t>
            </a:r>
            <a:r>
              <a:rPr lang="en-US" altLang="ja-JP" dirty="0" smtClean="0"/>
              <a:t>1</a:t>
            </a:r>
            <a:r>
              <a:rPr lang="ja-JP" altLang="en-US" dirty="0" smtClean="0"/>
              <a:t>”</a:t>
            </a:r>
            <a:r>
              <a:rPr lang="en-US" altLang="ja-JP" dirty="0" smtClean="0"/>
              <a:t>, the original message could have been </a:t>
            </a:r>
            <a:r>
              <a:rPr lang="ja-JP" altLang="en-US" dirty="0" smtClean="0"/>
              <a:t>“</a:t>
            </a:r>
            <a:r>
              <a:rPr lang="en-US" altLang="ja-JP" dirty="0" smtClean="0"/>
              <a:t>102</a:t>
            </a:r>
            <a:r>
              <a:rPr lang="ja-JP" altLang="en-US" dirty="0" smtClean="0"/>
              <a:t>”</a:t>
            </a:r>
            <a:r>
              <a:rPr lang="en-US" altLang="ja-JP" dirty="0" smtClean="0"/>
              <a:t>, </a:t>
            </a:r>
            <a:r>
              <a:rPr lang="ja-JP" altLang="en-US" dirty="0" smtClean="0"/>
              <a:t>“</a:t>
            </a:r>
            <a:r>
              <a:rPr lang="en-US" altLang="ja-JP" dirty="0" smtClean="0"/>
              <a:t>xqpr3</a:t>
            </a:r>
            <a:r>
              <a:rPr lang="ja-JP" altLang="en-US" dirty="0" smtClean="0"/>
              <a:t>”</a:t>
            </a:r>
            <a:r>
              <a:rPr lang="en-US" altLang="ja-JP" dirty="0" smtClean="0"/>
              <a:t>, or any input of odd length. </a:t>
            </a:r>
          </a:p>
          <a:p>
            <a:r>
              <a:rPr lang="en-US" altLang="en-US" dirty="0" smtClean="0"/>
              <a:t>The attacker has no way of determining what the original message was by being given the digest.</a:t>
            </a:r>
          </a:p>
          <a:p>
            <a:r>
              <a:rPr lang="en-US" altLang="en-US" dirty="0" smtClean="0"/>
              <a:t> This property makes this </a:t>
            </a:r>
            <a:r>
              <a:rPr lang="en-US" altLang="en-US" dirty="0" smtClean="0">
                <a:solidFill>
                  <a:srgbClr val="800000"/>
                </a:solidFill>
              </a:rPr>
              <a:t>hash functions a one-way function</a:t>
            </a:r>
            <a:r>
              <a:rPr lang="en-US" altLang="en-US" dirty="0" smtClean="0"/>
              <a:t>, meaning that it is difficult, if not impossible to deduce the input for a given output.</a:t>
            </a:r>
          </a:p>
        </p:txBody>
      </p:sp>
    </p:spTree>
    <p:extLst>
      <p:ext uri="{BB962C8B-B14F-4D97-AF65-F5344CB8AC3E}">
        <p14:creationId xmlns:p14="http://schemas.microsoft.com/office/powerpoint/2010/main" val="26906774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a:xfrm>
            <a:off x="2674939" y="152401"/>
            <a:ext cx="7793037" cy="925513"/>
          </a:xfrm>
        </p:spPr>
        <p:txBody>
          <a:bodyPr/>
          <a:lstStyle/>
          <a:p>
            <a:r>
              <a:rPr lang="en-US" altLang="en-US" smtClean="0"/>
              <a:t>Cryptographic Hash</a:t>
            </a:r>
          </a:p>
        </p:txBody>
      </p:sp>
      <p:sp>
        <p:nvSpPr>
          <p:cNvPr id="24578" name="Content Placeholder 2"/>
          <p:cNvSpPr>
            <a:spLocks noGrp="1"/>
          </p:cNvSpPr>
          <p:nvPr>
            <p:ph idx="1"/>
          </p:nvPr>
        </p:nvSpPr>
        <p:spPr>
          <a:xfrm>
            <a:off x="1574913" y="1894037"/>
            <a:ext cx="9542611" cy="4371975"/>
          </a:xfrm>
        </p:spPr>
        <p:txBody>
          <a:bodyPr>
            <a:normAutofit/>
          </a:bodyPr>
          <a:lstStyle/>
          <a:p>
            <a:r>
              <a:rPr lang="en-US" altLang="en-US" dirty="0" smtClean="0"/>
              <a:t>A "hash" (also called a "digest", and informally a "checksum") is a kind of "signature" for a stream of data that represents the contents.</a:t>
            </a:r>
          </a:p>
          <a:p>
            <a:r>
              <a:rPr lang="en-US" altLang="en-US" dirty="0" smtClean="0"/>
              <a:t>Cryptographic hash functions have another property that most hash functions do not; </a:t>
            </a:r>
            <a:r>
              <a:rPr lang="en-US" altLang="en-US" b="1" dirty="0" smtClean="0">
                <a:solidFill>
                  <a:srgbClr val="800000"/>
                </a:solidFill>
              </a:rPr>
              <a:t>the property that it is very difficult to find two different messages that produce the same message digest.</a:t>
            </a:r>
          </a:p>
          <a:p>
            <a:r>
              <a:rPr lang="en-US" altLang="en-US" dirty="0" smtClean="0"/>
              <a:t>Example: md5sum program in UNIX</a:t>
            </a:r>
          </a:p>
          <a:p>
            <a:r>
              <a:rPr lang="en-US" altLang="en-US" b="1" dirty="0" smtClean="0"/>
              <a:t>md5sum</a:t>
            </a:r>
            <a:r>
              <a:rPr lang="en-US" altLang="en-US" dirty="0" smtClean="0"/>
              <a:t> program : reads a stream of data and produces a fixed, 128-bit number that summarizes that stream using the popular "MD5" method. </a:t>
            </a:r>
          </a:p>
          <a:p>
            <a:r>
              <a:rPr lang="en-US" altLang="en-US" dirty="0" smtClean="0"/>
              <a:t>In the example (see next slide) : the "streams of data" are "files" (two of which we see directly, plus one that's too large to display).</a:t>
            </a:r>
          </a:p>
        </p:txBody>
      </p:sp>
    </p:spTree>
    <p:extLst>
      <p:ext uri="{BB962C8B-B14F-4D97-AF65-F5344CB8AC3E}">
        <p14:creationId xmlns:p14="http://schemas.microsoft.com/office/powerpoint/2010/main" val="20044094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1097280" y="286604"/>
            <a:ext cx="10058400" cy="1081708"/>
          </a:xfrm>
        </p:spPr>
        <p:txBody>
          <a:bodyPr/>
          <a:lstStyle/>
          <a:p>
            <a:r>
              <a:rPr lang="en-US" altLang="en-US" dirty="0" smtClean="0"/>
              <a:t>Cryptographic Hash</a:t>
            </a:r>
          </a:p>
        </p:txBody>
      </p:sp>
      <p:sp>
        <p:nvSpPr>
          <p:cNvPr id="25602" name="Content Placeholder 2"/>
          <p:cNvSpPr>
            <a:spLocks noGrp="1"/>
          </p:cNvSpPr>
          <p:nvPr>
            <p:ph idx="1"/>
          </p:nvPr>
        </p:nvSpPr>
        <p:spPr>
          <a:xfrm>
            <a:off x="1097280" y="1737360"/>
            <a:ext cx="10364296" cy="4924425"/>
          </a:xfrm>
        </p:spPr>
        <p:txBody>
          <a:bodyPr>
            <a:noAutofit/>
          </a:bodyPr>
          <a:lstStyle/>
          <a:p>
            <a:r>
              <a:rPr lang="en-US" altLang="en-US" sz="2200" dirty="0"/>
              <a:t>$ </a:t>
            </a:r>
            <a:r>
              <a:rPr lang="en-US" altLang="en-US" sz="2200" b="1" dirty="0"/>
              <a:t>cat </a:t>
            </a:r>
            <a:r>
              <a:rPr lang="en-US" altLang="en-US" sz="2200" b="1" dirty="0" err="1"/>
              <a:t>smallfile</a:t>
            </a:r>
            <a:r>
              <a:rPr lang="en-US" altLang="en-US" sz="2200" dirty="0"/>
              <a:t> This is a very small file with a few characters</a:t>
            </a:r>
          </a:p>
          <a:p>
            <a:r>
              <a:rPr lang="en-US" altLang="en-US" sz="2200" dirty="0"/>
              <a:t> $ </a:t>
            </a:r>
            <a:r>
              <a:rPr lang="en-US" altLang="en-US" sz="2200" b="1" dirty="0"/>
              <a:t>cat </a:t>
            </a:r>
            <a:r>
              <a:rPr lang="en-US" altLang="en-US" sz="2200" b="1" dirty="0" err="1"/>
              <a:t>bigfile</a:t>
            </a:r>
            <a:r>
              <a:rPr lang="en-US" altLang="en-US" sz="2200" dirty="0"/>
              <a:t> This is a larger file that contains more characters. This demonstrates that no matter how big the input stream is, the generated hash is the same size (but of course, not the same value). If two files have a different hash, they surely contain different data. </a:t>
            </a:r>
          </a:p>
          <a:p>
            <a:r>
              <a:rPr lang="en-US" altLang="en-US" sz="2200" dirty="0"/>
              <a:t>$ </a:t>
            </a:r>
            <a:r>
              <a:rPr lang="en-US" altLang="en-US" sz="2200" b="1" dirty="0"/>
              <a:t>ls -l empty-file </a:t>
            </a:r>
            <a:r>
              <a:rPr lang="en-US" altLang="en-US" sz="2200" b="1" dirty="0" err="1"/>
              <a:t>smallfile</a:t>
            </a:r>
            <a:r>
              <a:rPr lang="en-US" altLang="en-US" sz="2200" b="1" dirty="0"/>
              <a:t> </a:t>
            </a:r>
            <a:r>
              <a:rPr lang="en-US" altLang="en-US" sz="2200" b="1" dirty="0" err="1"/>
              <a:t>bigfile</a:t>
            </a:r>
            <a:r>
              <a:rPr lang="en-US" altLang="en-US" sz="2200" b="1" dirty="0"/>
              <a:t> </a:t>
            </a:r>
            <a:r>
              <a:rPr lang="en-US" altLang="en-US" sz="2200" b="1" dirty="0" err="1"/>
              <a:t>linux</a:t>
            </a:r>
            <a:r>
              <a:rPr lang="en-US" altLang="en-US" sz="2200" b="1" dirty="0"/>
              <a:t>-kernel</a:t>
            </a:r>
            <a:r>
              <a:rPr lang="en-US" altLang="en-US" sz="2200" dirty="0"/>
              <a:t> </a:t>
            </a:r>
            <a:endParaRPr lang="en-US" altLang="en-US" sz="2200" dirty="0" smtClean="0"/>
          </a:p>
          <a:p>
            <a:pPr>
              <a:spcBef>
                <a:spcPts val="0"/>
              </a:spcBef>
            </a:pPr>
            <a:r>
              <a:rPr lang="en-US" altLang="en-US" sz="1800" dirty="0" smtClean="0"/>
              <a:t>-</a:t>
            </a:r>
            <a:r>
              <a:rPr lang="en-US" altLang="en-US" sz="1800" dirty="0" err="1"/>
              <a:t>rw</a:t>
            </a:r>
            <a:r>
              <a:rPr lang="en-US" altLang="en-US" sz="1800" dirty="0"/>
              <a:t>-</a:t>
            </a:r>
            <a:r>
              <a:rPr lang="en-US" altLang="en-US" sz="1800" dirty="0" err="1"/>
              <a:t>rw</a:t>
            </a:r>
            <a:r>
              <a:rPr lang="en-US" altLang="en-US" sz="1800" dirty="0"/>
              <a:t>-r-- 1 </a:t>
            </a:r>
            <a:r>
              <a:rPr lang="en-US" altLang="en-US" sz="1800" dirty="0" err="1"/>
              <a:t>steve</a:t>
            </a:r>
            <a:r>
              <a:rPr lang="en-US" altLang="en-US" sz="1800" dirty="0"/>
              <a:t> </a:t>
            </a:r>
            <a:r>
              <a:rPr lang="en-US" altLang="en-US" sz="1800" dirty="0" err="1"/>
              <a:t>steve</a:t>
            </a:r>
            <a:r>
              <a:rPr lang="en-US" altLang="en-US" sz="1800" dirty="0"/>
              <a:t> 0 2004-08-20 08:58 empty-file </a:t>
            </a:r>
            <a:endParaRPr lang="en-US" altLang="en-US" sz="1800" dirty="0" smtClean="0"/>
          </a:p>
          <a:p>
            <a:pPr>
              <a:spcBef>
                <a:spcPts val="0"/>
              </a:spcBef>
            </a:pPr>
            <a:r>
              <a:rPr lang="en-US" altLang="en-US" sz="1800" dirty="0" smtClean="0"/>
              <a:t>-</a:t>
            </a:r>
            <a:r>
              <a:rPr lang="en-US" altLang="en-US" sz="1800" dirty="0" err="1"/>
              <a:t>rw</a:t>
            </a:r>
            <a:r>
              <a:rPr lang="en-US" altLang="en-US" sz="1800" dirty="0"/>
              <a:t>-</a:t>
            </a:r>
            <a:r>
              <a:rPr lang="en-US" altLang="en-US" sz="1800" dirty="0" err="1"/>
              <a:t>rw</a:t>
            </a:r>
            <a:r>
              <a:rPr lang="en-US" altLang="en-US" sz="1800" dirty="0"/>
              <a:t>-r-- 1 </a:t>
            </a:r>
            <a:r>
              <a:rPr lang="en-US" altLang="en-US" sz="1800" dirty="0" err="1"/>
              <a:t>steve</a:t>
            </a:r>
            <a:r>
              <a:rPr lang="en-US" altLang="en-US" sz="1800" dirty="0"/>
              <a:t> </a:t>
            </a:r>
            <a:r>
              <a:rPr lang="en-US" altLang="en-US" sz="1800" dirty="0" err="1"/>
              <a:t>steve</a:t>
            </a:r>
            <a:r>
              <a:rPr lang="en-US" altLang="en-US" sz="1800" dirty="0"/>
              <a:t> 48 2004-08-20 08:48 </a:t>
            </a:r>
            <a:r>
              <a:rPr lang="en-US" altLang="en-US" sz="1800" dirty="0" err="1"/>
              <a:t>smallfile</a:t>
            </a:r>
            <a:r>
              <a:rPr lang="en-US" altLang="en-US" sz="1800" dirty="0"/>
              <a:t> </a:t>
            </a:r>
            <a:endParaRPr lang="en-US" altLang="en-US" sz="1800" dirty="0" smtClean="0"/>
          </a:p>
          <a:p>
            <a:pPr>
              <a:spcBef>
                <a:spcPts val="0"/>
              </a:spcBef>
            </a:pPr>
            <a:r>
              <a:rPr lang="en-US" altLang="en-US" sz="1800" dirty="0" smtClean="0"/>
              <a:t>-</a:t>
            </a:r>
            <a:r>
              <a:rPr lang="en-US" altLang="en-US" sz="1800" dirty="0" err="1"/>
              <a:t>rw</a:t>
            </a:r>
            <a:r>
              <a:rPr lang="en-US" altLang="en-US" sz="1800" dirty="0"/>
              <a:t>-</a:t>
            </a:r>
            <a:r>
              <a:rPr lang="en-US" altLang="en-US" sz="1800" dirty="0" err="1"/>
              <a:t>rw</a:t>
            </a:r>
            <a:r>
              <a:rPr lang="en-US" altLang="en-US" sz="1800" dirty="0"/>
              <a:t>-r-- 1 </a:t>
            </a:r>
            <a:r>
              <a:rPr lang="en-US" altLang="en-US" sz="1800" dirty="0" err="1"/>
              <a:t>steve</a:t>
            </a:r>
            <a:r>
              <a:rPr lang="en-US" altLang="en-US" sz="1800" dirty="0"/>
              <a:t> </a:t>
            </a:r>
            <a:r>
              <a:rPr lang="en-US" altLang="en-US" sz="1800" dirty="0" err="1"/>
              <a:t>steve</a:t>
            </a:r>
            <a:r>
              <a:rPr lang="en-US" altLang="en-US" sz="1800" dirty="0"/>
              <a:t> 260 2004-08-20 08:48 </a:t>
            </a:r>
            <a:r>
              <a:rPr lang="en-US" altLang="en-US" sz="1800" dirty="0" err="1"/>
              <a:t>bigfile</a:t>
            </a:r>
            <a:r>
              <a:rPr lang="en-US" altLang="en-US" sz="1800" dirty="0"/>
              <a:t> </a:t>
            </a:r>
            <a:endParaRPr lang="en-US" altLang="en-US" sz="1800" dirty="0" smtClean="0"/>
          </a:p>
          <a:p>
            <a:pPr>
              <a:spcBef>
                <a:spcPts val="0"/>
              </a:spcBef>
            </a:pPr>
            <a:r>
              <a:rPr lang="en-US" altLang="en-US" sz="1800" dirty="0" smtClean="0"/>
              <a:t>-</a:t>
            </a:r>
            <a:r>
              <a:rPr lang="en-US" altLang="en-US" sz="1800" dirty="0" err="1"/>
              <a:t>rw</a:t>
            </a:r>
            <a:r>
              <a:rPr lang="en-US" altLang="en-US" sz="1800" dirty="0"/>
              <a:t>-r--r-- 1 root </a:t>
            </a:r>
            <a:r>
              <a:rPr lang="en-US" altLang="en-US" sz="1800" dirty="0" err="1"/>
              <a:t>root</a:t>
            </a:r>
            <a:r>
              <a:rPr lang="en-US" altLang="en-US" sz="1800" dirty="0"/>
              <a:t> 1122363 2003-02-27 07:12 </a:t>
            </a:r>
            <a:r>
              <a:rPr lang="en-US" altLang="en-US" sz="1800" dirty="0" err="1"/>
              <a:t>linux</a:t>
            </a:r>
            <a:r>
              <a:rPr lang="en-US" altLang="en-US" sz="1800" dirty="0"/>
              <a:t>-kernel </a:t>
            </a:r>
          </a:p>
          <a:p>
            <a:pPr>
              <a:spcBef>
                <a:spcPts val="600"/>
              </a:spcBef>
            </a:pPr>
            <a:r>
              <a:rPr lang="en-US" altLang="en-US" sz="2200" dirty="0"/>
              <a:t>$ </a:t>
            </a:r>
            <a:r>
              <a:rPr lang="en-US" altLang="en-US" sz="2200" b="1" dirty="0"/>
              <a:t>md5sum empty-file </a:t>
            </a:r>
            <a:r>
              <a:rPr lang="en-US" altLang="en-US" sz="2200" b="1" dirty="0" err="1"/>
              <a:t>smallfile</a:t>
            </a:r>
            <a:r>
              <a:rPr lang="en-US" altLang="en-US" sz="2200" b="1" dirty="0"/>
              <a:t> </a:t>
            </a:r>
            <a:r>
              <a:rPr lang="en-US" altLang="en-US" sz="2200" b="1" dirty="0" err="1"/>
              <a:t>bigfile</a:t>
            </a:r>
            <a:r>
              <a:rPr lang="en-US" altLang="en-US" sz="2200" b="1" dirty="0"/>
              <a:t> </a:t>
            </a:r>
            <a:r>
              <a:rPr lang="en-US" altLang="en-US" sz="2200" b="1" dirty="0" err="1"/>
              <a:t>linux</a:t>
            </a:r>
            <a:r>
              <a:rPr lang="en-US" altLang="en-US" sz="2200" b="1" dirty="0"/>
              <a:t>-kernel</a:t>
            </a:r>
            <a:r>
              <a:rPr lang="en-US" altLang="en-US" sz="2200" dirty="0"/>
              <a:t> d41d8cd98f00b204e9800998ecf8427e empty-file 75cdbfeb70a06d42210938da88c42991 </a:t>
            </a:r>
            <a:r>
              <a:rPr lang="en-US" altLang="en-US" sz="2200" dirty="0" err="1"/>
              <a:t>smallfile</a:t>
            </a:r>
            <a:r>
              <a:rPr lang="en-US" altLang="en-US" sz="2200" dirty="0"/>
              <a:t> 6e0b7a1676ec0279139b3f39bd65e41a </a:t>
            </a:r>
            <a:r>
              <a:rPr lang="en-US" altLang="en-US" sz="2200" dirty="0" err="1"/>
              <a:t>bigfile</a:t>
            </a:r>
            <a:r>
              <a:rPr lang="en-US" altLang="en-US" sz="2200" dirty="0"/>
              <a:t> </a:t>
            </a:r>
            <a:endParaRPr lang="en-US" altLang="en-US" sz="2200" dirty="0" smtClean="0"/>
          </a:p>
          <a:p>
            <a:pPr>
              <a:spcBef>
                <a:spcPts val="600"/>
              </a:spcBef>
            </a:pPr>
            <a:r>
              <a:rPr lang="en-US" altLang="en-US" sz="2200" dirty="0" smtClean="0"/>
              <a:t>c74c812e4d2839fa9acf0aa0c915e022 </a:t>
            </a:r>
            <a:r>
              <a:rPr lang="en-US" altLang="en-US" sz="2200" dirty="0" err="1"/>
              <a:t>linux</a:t>
            </a:r>
            <a:r>
              <a:rPr lang="en-US" altLang="en-US" sz="2200" dirty="0"/>
              <a:t>-kernel</a:t>
            </a:r>
          </a:p>
          <a:p>
            <a:r>
              <a:rPr lang="en-US" altLang="en-US" sz="2200" dirty="0" smtClean="0">
                <a:solidFill>
                  <a:schemeClr val="bg1"/>
                </a:solidFill>
              </a:rPr>
              <a:t>This </a:t>
            </a:r>
            <a:r>
              <a:rPr lang="en-US" altLang="en-US" sz="2200" dirty="0">
                <a:solidFill>
                  <a:schemeClr val="bg1"/>
                </a:solidFill>
              </a:rPr>
              <a:t>shows that </a:t>
            </a:r>
            <a:r>
              <a:rPr lang="en-US" altLang="en-US" sz="2200" i="1" dirty="0">
                <a:solidFill>
                  <a:schemeClr val="bg1"/>
                </a:solidFill>
              </a:rPr>
              <a:t>all</a:t>
            </a:r>
            <a:r>
              <a:rPr lang="en-US" altLang="en-US" sz="2200" dirty="0">
                <a:solidFill>
                  <a:schemeClr val="bg1"/>
                </a:solidFill>
              </a:rPr>
              <a:t> input streams yield hashes of the same length</a:t>
            </a:r>
          </a:p>
        </p:txBody>
      </p:sp>
    </p:spTree>
    <p:extLst>
      <p:ext uri="{BB962C8B-B14F-4D97-AF65-F5344CB8AC3E}">
        <p14:creationId xmlns:p14="http://schemas.microsoft.com/office/powerpoint/2010/main" val="8261713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1097280" y="286604"/>
            <a:ext cx="10058400" cy="1246168"/>
          </a:xfrm>
        </p:spPr>
        <p:txBody>
          <a:bodyPr/>
          <a:lstStyle/>
          <a:p>
            <a:r>
              <a:rPr lang="en-US" altLang="en-US" dirty="0" smtClean="0"/>
              <a:t>Cryptographic Hash</a:t>
            </a:r>
          </a:p>
        </p:txBody>
      </p:sp>
      <p:sp>
        <p:nvSpPr>
          <p:cNvPr id="26626" name="Content Placeholder 2"/>
          <p:cNvSpPr>
            <a:spLocks noGrp="1"/>
          </p:cNvSpPr>
          <p:nvPr>
            <p:ph idx="1"/>
          </p:nvPr>
        </p:nvSpPr>
        <p:spPr>
          <a:xfrm>
            <a:off x="1097280" y="1651183"/>
            <a:ext cx="9801453" cy="4361936"/>
          </a:xfrm>
        </p:spPr>
        <p:txBody>
          <a:bodyPr>
            <a:noAutofit/>
          </a:bodyPr>
          <a:lstStyle/>
          <a:p>
            <a:r>
              <a:rPr lang="en-US" altLang="en-US" b="1" dirty="0" smtClean="0">
                <a:solidFill>
                  <a:srgbClr val="800000"/>
                </a:solidFill>
              </a:rPr>
              <a:t>Avalanche effect</a:t>
            </a:r>
            <a:r>
              <a:rPr lang="en-US" altLang="en-US" dirty="0" smtClean="0"/>
              <a:t>: is the term used when even very small changes to the input yields sweeping changes in the value of the hash.</a:t>
            </a:r>
          </a:p>
          <a:p>
            <a:r>
              <a:rPr lang="en-US" altLang="en-US" dirty="0"/>
              <a:t>Example:</a:t>
            </a:r>
          </a:p>
          <a:p>
            <a:pPr lvl="1"/>
            <a:r>
              <a:rPr lang="en-US" altLang="en-US" dirty="0"/>
              <a:t>T -&gt; (in ASCII) 0x54 -&gt; (in Binary) 0 1 </a:t>
            </a:r>
            <a:r>
              <a:rPr lang="en-US" altLang="en-US" b="1" dirty="0">
                <a:solidFill>
                  <a:srgbClr val="C00000"/>
                </a:solidFill>
              </a:rPr>
              <a:t>0</a:t>
            </a:r>
            <a:r>
              <a:rPr lang="en-US" altLang="en-US" dirty="0"/>
              <a:t> 1 0 1 0 0 </a:t>
            </a:r>
          </a:p>
          <a:p>
            <a:pPr lvl="1"/>
            <a:r>
              <a:rPr lang="en-US" altLang="en-US" dirty="0"/>
              <a:t>t -&gt; (in ASCII) 0x74 -&gt; (in Binary)  0 1 </a:t>
            </a:r>
            <a:r>
              <a:rPr lang="en-US" altLang="en-US" b="1" dirty="0">
                <a:solidFill>
                  <a:srgbClr val="C00000"/>
                </a:solidFill>
              </a:rPr>
              <a:t>1</a:t>
            </a:r>
            <a:r>
              <a:rPr lang="en-US" altLang="en-US" dirty="0"/>
              <a:t> 1 0 1 0 0 </a:t>
            </a:r>
          </a:p>
          <a:p>
            <a:r>
              <a:rPr lang="en-US" altLang="en-US" dirty="0"/>
              <a:t>This single bit of change in the input produces a very large change in the output: (See difference between file1 and 2 below)</a:t>
            </a:r>
          </a:p>
          <a:p>
            <a:r>
              <a:rPr lang="en-US" altLang="en-US" dirty="0" smtClean="0"/>
              <a:t>$ </a:t>
            </a:r>
            <a:r>
              <a:rPr lang="en-US" altLang="en-US" b="1" dirty="0" smtClean="0"/>
              <a:t>cat file1</a:t>
            </a:r>
            <a:r>
              <a:rPr lang="en-US" altLang="en-US" dirty="0" smtClean="0"/>
              <a:t> </a:t>
            </a:r>
            <a:r>
              <a:rPr lang="en-US" altLang="en-US" b="1" dirty="0" smtClean="0">
                <a:solidFill>
                  <a:srgbClr val="C00000"/>
                </a:solidFill>
              </a:rPr>
              <a:t>T</a:t>
            </a:r>
            <a:r>
              <a:rPr lang="en-US" altLang="en-US" dirty="0" smtClean="0"/>
              <a:t>his is a very small file with a few characters </a:t>
            </a:r>
          </a:p>
          <a:p>
            <a:r>
              <a:rPr lang="en-US" altLang="en-US" dirty="0" smtClean="0"/>
              <a:t>$ </a:t>
            </a:r>
            <a:r>
              <a:rPr lang="en-US" altLang="en-US" b="1" dirty="0" smtClean="0"/>
              <a:t>cat file2</a:t>
            </a:r>
            <a:r>
              <a:rPr lang="en-US" altLang="en-US" dirty="0" smtClean="0"/>
              <a:t> </a:t>
            </a:r>
            <a:r>
              <a:rPr lang="en-US" altLang="en-US" b="1" dirty="0" smtClean="0">
                <a:solidFill>
                  <a:srgbClr val="C00000"/>
                </a:solidFill>
              </a:rPr>
              <a:t>t</a:t>
            </a:r>
            <a:r>
              <a:rPr lang="en-US" altLang="en-US" dirty="0" smtClean="0"/>
              <a:t>his is a very small file with a few characters</a:t>
            </a:r>
          </a:p>
          <a:p>
            <a:r>
              <a:rPr lang="en-US" altLang="en-US" dirty="0" smtClean="0"/>
              <a:t> $ </a:t>
            </a:r>
            <a:r>
              <a:rPr lang="en-US" altLang="en-US" b="1" dirty="0" smtClean="0"/>
              <a:t>md5sum file?</a:t>
            </a:r>
          </a:p>
          <a:p>
            <a:pPr lvl="1">
              <a:buFont typeface="Wingdings" panose="05000000000000000000" pitchFamily="2" charset="2"/>
              <a:buNone/>
            </a:pPr>
            <a:r>
              <a:rPr lang="en-US" altLang="en-US" sz="2000" dirty="0" smtClean="0"/>
              <a:t>    </a:t>
            </a:r>
            <a:r>
              <a:rPr lang="en-US" altLang="en-US" sz="2000" dirty="0" smtClean="0">
                <a:solidFill>
                  <a:srgbClr val="C00000"/>
                </a:solidFill>
              </a:rPr>
              <a:t>75cdbfeb70a06d42210938da88c42991  file1  </a:t>
            </a:r>
            <a:endParaRPr lang="en-US" altLang="en-US" sz="2000" dirty="0" smtClean="0">
              <a:solidFill>
                <a:srgbClr val="C00000"/>
              </a:solidFill>
            </a:endParaRPr>
          </a:p>
          <a:p>
            <a:pPr lvl="1">
              <a:buFont typeface="Wingdings" panose="05000000000000000000" pitchFamily="2" charset="2"/>
              <a:buNone/>
            </a:pPr>
            <a:r>
              <a:rPr lang="en-US" altLang="en-US" sz="2000" dirty="0">
                <a:solidFill>
                  <a:srgbClr val="C00000"/>
                </a:solidFill>
              </a:rPr>
              <a:t> </a:t>
            </a:r>
            <a:r>
              <a:rPr lang="en-US" altLang="en-US" sz="2000" dirty="0" smtClean="0">
                <a:solidFill>
                  <a:srgbClr val="C00000"/>
                </a:solidFill>
              </a:rPr>
              <a:t>   </a:t>
            </a:r>
            <a:r>
              <a:rPr lang="en-US" altLang="en-US" sz="2000" dirty="0" smtClean="0">
                <a:solidFill>
                  <a:schemeClr val="bg1"/>
                </a:solidFill>
              </a:rPr>
              <a:t>6fbe37f1eea0f802bd792ea885cd03e2    </a:t>
            </a:r>
            <a:r>
              <a:rPr lang="en-US" altLang="en-US" sz="2000" dirty="0" smtClean="0">
                <a:solidFill>
                  <a:schemeClr val="bg1"/>
                </a:solidFill>
              </a:rPr>
              <a:t>file2</a:t>
            </a:r>
          </a:p>
        </p:txBody>
      </p:sp>
    </p:spTree>
    <p:extLst>
      <p:ext uri="{BB962C8B-B14F-4D97-AF65-F5344CB8AC3E}">
        <p14:creationId xmlns:p14="http://schemas.microsoft.com/office/powerpoint/2010/main" val="2820757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3352800" y="1066801"/>
            <a:ext cx="5486400" cy="563563"/>
          </a:xfrm>
        </p:spPr>
        <p:txBody>
          <a:bodyPr>
            <a:normAutofit fontScale="90000"/>
          </a:bodyPr>
          <a:lstStyle/>
          <a:p>
            <a:r>
              <a:rPr lang="en-US" altLang="en-US" smtClean="0">
                <a:ea typeface="ヒラギノ角ゴ Pro W3" charset="-128"/>
              </a:rPr>
              <a:t>Hashing Functions</a:t>
            </a:r>
          </a:p>
        </p:txBody>
      </p:sp>
      <p:sp>
        <p:nvSpPr>
          <p:cNvPr id="27650" name="Content Placeholder 2"/>
          <p:cNvSpPr>
            <a:spLocks noGrp="1"/>
          </p:cNvSpPr>
          <p:nvPr>
            <p:ph idx="1"/>
          </p:nvPr>
        </p:nvSpPr>
        <p:spPr>
          <a:xfrm>
            <a:off x="1356249" y="2081521"/>
            <a:ext cx="9794167" cy="5105400"/>
          </a:xfrm>
        </p:spPr>
        <p:txBody>
          <a:bodyPr/>
          <a:lstStyle/>
          <a:p>
            <a:r>
              <a:rPr lang="en-US" altLang="en-US" dirty="0" smtClean="0">
                <a:ea typeface="ヒラギノ角ゴ Pro W3" charset="-128"/>
              </a:rPr>
              <a:t>A </a:t>
            </a:r>
            <a:r>
              <a:rPr lang="en-US" altLang="en-US" i="1" dirty="0">
                <a:ea typeface="ヒラギノ角ゴ Pro W3" charset="-128"/>
              </a:rPr>
              <a:t>hashing function</a:t>
            </a:r>
            <a:r>
              <a:rPr lang="en-US" altLang="en-US" dirty="0">
                <a:ea typeface="ヒラギノ角ゴ Pro W3" charset="-128"/>
              </a:rPr>
              <a:t> is a special mathematical function that performs </a:t>
            </a:r>
            <a:r>
              <a:rPr lang="en-US" altLang="en-US" i="1" dirty="0">
                <a:ea typeface="ヒラギノ角ゴ Pro W3" charset="-128"/>
              </a:rPr>
              <a:t>one-way encryption.</a:t>
            </a:r>
          </a:p>
          <a:p>
            <a:r>
              <a:rPr lang="en-US" altLang="en-US" dirty="0">
                <a:ea typeface="ヒラギノ角ゴ Pro W3" charset="-128"/>
              </a:rPr>
              <a:t>Once the algorithm is processed, there is no feasible way to use the </a:t>
            </a:r>
            <a:r>
              <a:rPr lang="en-US" altLang="en-US" dirty="0" err="1">
                <a:ea typeface="ヒラギノ角ゴ Pro W3" charset="-128"/>
              </a:rPr>
              <a:t>ciphertext</a:t>
            </a:r>
            <a:r>
              <a:rPr lang="en-US" altLang="en-US" dirty="0">
                <a:ea typeface="ヒラギノ角ゴ Pro W3" charset="-128"/>
              </a:rPr>
              <a:t> to retrieve the plaintext.</a:t>
            </a:r>
          </a:p>
          <a:p>
            <a:r>
              <a:rPr lang="en-US" altLang="en-US" dirty="0">
                <a:ea typeface="ヒラギノ角ゴ Pro W3" charset="-128"/>
              </a:rPr>
              <a:t>There is no feasible way to generate two different plaintexts that compute to the same </a:t>
            </a:r>
            <a:r>
              <a:rPr lang="en-US" altLang="en-US" u="sng" dirty="0">
                <a:ea typeface="ヒラギノ角ゴ Pro W3" charset="-128"/>
              </a:rPr>
              <a:t>hash</a:t>
            </a:r>
            <a:r>
              <a:rPr lang="en-US" altLang="en-US" dirty="0">
                <a:ea typeface="ヒラギノ角ゴ Pro W3" charset="-128"/>
              </a:rPr>
              <a:t> value. </a:t>
            </a:r>
          </a:p>
          <a:p>
            <a:r>
              <a:rPr lang="en-US" altLang="en-US" dirty="0">
                <a:ea typeface="ヒラギノ角ゴ Pro W3" charset="-128"/>
              </a:rPr>
              <a:t>Two popular hash algorithms are the Secure Hash Algorithm (SHA) series and Message Digest (MD) hash of varying versions (MD2, MD4, MD5).</a:t>
            </a:r>
          </a:p>
        </p:txBody>
      </p:sp>
    </p:spTree>
    <p:extLst>
      <p:ext uri="{BB962C8B-B14F-4D97-AF65-F5344CB8AC3E}">
        <p14:creationId xmlns:p14="http://schemas.microsoft.com/office/powerpoint/2010/main" val="259854386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a:xfrm>
            <a:off x="3352800" y="1066801"/>
            <a:ext cx="5486400" cy="563563"/>
          </a:xfrm>
        </p:spPr>
        <p:txBody>
          <a:bodyPr>
            <a:normAutofit fontScale="90000"/>
          </a:bodyPr>
          <a:lstStyle/>
          <a:p>
            <a:r>
              <a:rPr lang="en-US" altLang="en-US" smtClean="0">
                <a:ea typeface="ヒラギノ角ゴ Pro W3" charset="-128"/>
              </a:rPr>
              <a:t>Hash Function</a:t>
            </a:r>
          </a:p>
        </p:txBody>
      </p:sp>
      <p:pic>
        <p:nvPicPr>
          <p:cNvPr id="29698" name="Content Placeholder 3" descr="I05-02.jpg"/>
          <p:cNvPicPr>
            <a:picLocks noGrp="1" noChangeAspect="1"/>
          </p:cNvPicPr>
          <p:nvPr>
            <p:ph idx="1"/>
          </p:nvPr>
        </p:nvPicPr>
        <p:blipFill>
          <a:blip r:embed="rId3">
            <a:extLst>
              <a:ext uri="{28A0092B-C50C-407E-A947-70E740481C1C}">
                <a14:useLocalDpi xmlns:a14="http://schemas.microsoft.com/office/drawing/2010/main" val="0"/>
              </a:ext>
            </a:extLst>
          </a:blip>
          <a:srcRect t="-78757" b="-78757"/>
          <a:stretch>
            <a:fillRect/>
          </a:stretch>
        </p:blipFill>
        <p:spPr/>
      </p:pic>
    </p:spTree>
    <p:extLst>
      <p:ext uri="{BB962C8B-B14F-4D97-AF65-F5344CB8AC3E}">
        <p14:creationId xmlns:p14="http://schemas.microsoft.com/office/powerpoint/2010/main" val="1699134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a:xfrm>
            <a:off x="2473325" y="152400"/>
            <a:ext cx="7994650" cy="1143000"/>
          </a:xfrm>
        </p:spPr>
        <p:txBody>
          <a:bodyPr/>
          <a:lstStyle/>
          <a:p>
            <a:r>
              <a:rPr lang="en-US" altLang="en-US" sz="3600"/>
              <a:t>Difference between Hashing and  Encryption</a:t>
            </a:r>
          </a:p>
        </p:txBody>
      </p:sp>
      <p:pic>
        <p:nvPicPr>
          <p:cNvPr id="31746" name="Content Placeholder 3" descr="crypto-hash-1.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562600" y="1363664"/>
            <a:ext cx="4800600" cy="5494337"/>
          </a:xfrm>
        </p:spPr>
      </p:pic>
      <p:sp>
        <p:nvSpPr>
          <p:cNvPr id="31747" name="Rectangle 3"/>
          <p:cNvSpPr>
            <a:spLocks noChangeArrowheads="1"/>
          </p:cNvSpPr>
          <p:nvPr/>
        </p:nvSpPr>
        <p:spPr bwMode="auto">
          <a:xfrm>
            <a:off x="1905000" y="1752601"/>
            <a:ext cx="3657600" cy="432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lnSpc>
                <a:spcPct val="114000"/>
              </a:lnSpc>
              <a:buClr>
                <a:srgbClr val="382971"/>
              </a:buClr>
              <a:buSzPct val="117000"/>
              <a:buFont typeface="Wingdings" panose="05000000000000000000" pitchFamily="2" charset="2"/>
              <a:buChar char="§"/>
            </a:pPr>
            <a:r>
              <a:rPr lang="en-US" altLang="en-US" sz="2200" b="1">
                <a:solidFill>
                  <a:srgbClr val="C00000"/>
                </a:solidFill>
                <a:latin typeface="Tahoma" panose="020B0604030504040204" pitchFamily="34" charset="0"/>
                <a:cs typeface="Arial" panose="020B0604020202020204" pitchFamily="34" charset="0"/>
              </a:rPr>
              <a:t>Encryption</a:t>
            </a:r>
            <a:r>
              <a:rPr lang="en-US" altLang="en-US" sz="2200">
                <a:solidFill>
                  <a:srgbClr val="000000"/>
                </a:solidFill>
                <a:latin typeface="Tahoma" panose="020B0604030504040204" pitchFamily="34" charset="0"/>
                <a:cs typeface="Arial" panose="020B0604020202020204" pitchFamily="34" charset="0"/>
              </a:rPr>
              <a:t> transforms data from a cleartext to ciphertext </a:t>
            </a:r>
            <a:r>
              <a:rPr lang="en-US" altLang="en-US" sz="2200" b="1">
                <a:solidFill>
                  <a:srgbClr val="000000"/>
                </a:solidFill>
                <a:latin typeface="Tahoma" panose="020B0604030504040204" pitchFamily="34" charset="0"/>
                <a:cs typeface="Arial" panose="020B0604020202020204" pitchFamily="34" charset="0"/>
              </a:rPr>
              <a:t>and back</a:t>
            </a:r>
            <a:r>
              <a:rPr lang="en-US" altLang="en-US" sz="2200">
                <a:solidFill>
                  <a:srgbClr val="000000"/>
                </a:solidFill>
                <a:latin typeface="Tahoma" panose="020B0604030504040204" pitchFamily="34" charset="0"/>
                <a:cs typeface="Arial" panose="020B0604020202020204" pitchFamily="34" charset="0"/>
              </a:rPr>
              <a:t> (given the right keys),</a:t>
            </a:r>
          </a:p>
          <a:p>
            <a:pPr eaLnBrk="1" hangingPunct="1">
              <a:lnSpc>
                <a:spcPct val="114000"/>
              </a:lnSpc>
              <a:buClr>
                <a:srgbClr val="382971"/>
              </a:buClr>
              <a:buSzPct val="117000"/>
              <a:buFont typeface="Wingdings" panose="05000000000000000000" pitchFamily="2" charset="2"/>
              <a:buChar char="§"/>
            </a:pPr>
            <a:r>
              <a:rPr lang="en-US" altLang="en-US" sz="2200">
                <a:solidFill>
                  <a:srgbClr val="000000"/>
                </a:solidFill>
                <a:latin typeface="Tahoma" panose="020B0604030504040204" pitchFamily="34" charset="0"/>
                <a:cs typeface="Arial" panose="020B0604020202020204" pitchFamily="34" charset="0"/>
              </a:rPr>
              <a:t>the two texts should </a:t>
            </a:r>
            <a:r>
              <a:rPr lang="en-US" altLang="en-US" sz="2200">
                <a:solidFill>
                  <a:srgbClr val="C00000"/>
                </a:solidFill>
                <a:latin typeface="Tahoma" panose="020B0604030504040204" pitchFamily="34" charset="0"/>
                <a:cs typeface="Arial" panose="020B0604020202020204" pitchFamily="34" charset="0"/>
              </a:rPr>
              <a:t>roughly correspond to each other in size</a:t>
            </a:r>
            <a:r>
              <a:rPr lang="en-US" altLang="en-US" sz="2200">
                <a:solidFill>
                  <a:srgbClr val="000000"/>
                </a:solidFill>
                <a:latin typeface="Tahoma" panose="020B0604030504040204" pitchFamily="34" charset="0"/>
                <a:cs typeface="Arial" panose="020B0604020202020204" pitchFamily="34" charset="0"/>
              </a:rPr>
              <a:t>: </a:t>
            </a:r>
          </a:p>
          <a:p>
            <a:pPr lvl="1" eaLnBrk="1" hangingPunct="1">
              <a:lnSpc>
                <a:spcPct val="114000"/>
              </a:lnSpc>
              <a:buClr>
                <a:srgbClr val="382971"/>
              </a:buClr>
              <a:buSzPct val="117000"/>
              <a:buFont typeface="Wingdings" panose="05000000000000000000" pitchFamily="2" charset="2"/>
              <a:buChar char="§"/>
            </a:pPr>
            <a:r>
              <a:rPr lang="en-US" altLang="en-US" sz="2200">
                <a:solidFill>
                  <a:srgbClr val="000000"/>
                </a:solidFill>
                <a:latin typeface="Tahoma" panose="020B0604030504040204" pitchFamily="34" charset="0"/>
                <a:cs typeface="Arial" panose="020B0604020202020204" pitchFamily="34" charset="0"/>
              </a:rPr>
              <a:t>big cleartext yields big ciphertext, and so on. </a:t>
            </a:r>
          </a:p>
          <a:p>
            <a:pPr eaLnBrk="1" hangingPunct="1">
              <a:lnSpc>
                <a:spcPct val="114000"/>
              </a:lnSpc>
              <a:buClr>
                <a:srgbClr val="382971"/>
              </a:buClr>
              <a:buSzPct val="117000"/>
              <a:buFont typeface="Wingdings" panose="05000000000000000000" pitchFamily="2" charset="2"/>
              <a:buChar char="§"/>
            </a:pPr>
            <a:r>
              <a:rPr lang="en-US" altLang="en-US" sz="2200">
                <a:solidFill>
                  <a:srgbClr val="000000"/>
                </a:solidFill>
                <a:latin typeface="Tahoma" panose="020B0604030504040204" pitchFamily="34" charset="0"/>
                <a:cs typeface="Arial" panose="020B0604020202020204" pitchFamily="34" charset="0"/>
              </a:rPr>
              <a:t>"Encryption" is a </a:t>
            </a:r>
            <a:r>
              <a:rPr lang="en-US" altLang="en-US" sz="2200" b="1">
                <a:solidFill>
                  <a:srgbClr val="C00000"/>
                </a:solidFill>
                <a:latin typeface="Tahoma" panose="020B0604030504040204" pitchFamily="34" charset="0"/>
                <a:cs typeface="Arial" panose="020B0604020202020204" pitchFamily="34" charset="0"/>
              </a:rPr>
              <a:t>two-way</a:t>
            </a:r>
            <a:r>
              <a:rPr lang="en-US" altLang="en-US" sz="2200">
                <a:solidFill>
                  <a:srgbClr val="000000"/>
                </a:solidFill>
                <a:latin typeface="Tahoma" panose="020B0604030504040204" pitchFamily="34" charset="0"/>
                <a:cs typeface="Arial" panose="020B0604020202020204" pitchFamily="34" charset="0"/>
              </a:rPr>
              <a:t> operation.</a:t>
            </a:r>
          </a:p>
        </p:txBody>
      </p:sp>
    </p:spTree>
    <p:extLst>
      <p:ext uri="{BB962C8B-B14F-4D97-AF65-F5344CB8AC3E}">
        <p14:creationId xmlns:p14="http://schemas.microsoft.com/office/powerpoint/2010/main" val="195041250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US" altLang="en-US" smtClean="0"/>
              <a:t>Hashing vs. Encryption</a:t>
            </a:r>
          </a:p>
        </p:txBody>
      </p:sp>
      <p:pic>
        <p:nvPicPr>
          <p:cNvPr id="32770" name="Content Placeholder 3" descr="crypto-hash-2.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715000" y="1219200"/>
            <a:ext cx="4648200" cy="5638800"/>
          </a:xfrm>
        </p:spPr>
      </p:pic>
      <p:sp>
        <p:nvSpPr>
          <p:cNvPr id="32771" name="Rectangle 3"/>
          <p:cNvSpPr>
            <a:spLocks noChangeArrowheads="1"/>
          </p:cNvSpPr>
          <p:nvPr/>
        </p:nvSpPr>
        <p:spPr bwMode="auto">
          <a:xfrm>
            <a:off x="1981200" y="1752600"/>
            <a:ext cx="3505200" cy="394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lnSpc>
                <a:spcPct val="114000"/>
              </a:lnSpc>
              <a:buClr>
                <a:srgbClr val="382971"/>
              </a:buClr>
              <a:buSzPct val="125000"/>
              <a:buFont typeface="Wingdings" panose="05000000000000000000" pitchFamily="2" charset="2"/>
              <a:buChar char="§"/>
            </a:pPr>
            <a:r>
              <a:rPr lang="en-US" altLang="en-US" sz="2200">
                <a:solidFill>
                  <a:srgbClr val="000000"/>
                </a:solidFill>
                <a:latin typeface="Tahoma" panose="020B0604030504040204" pitchFamily="34" charset="0"/>
                <a:cs typeface="Arial" panose="020B0604020202020204" pitchFamily="34" charset="0"/>
              </a:rPr>
              <a:t>Hashes, on the other hand, compile a stream of data into a small </a:t>
            </a:r>
            <a:r>
              <a:rPr lang="en-US" altLang="en-US" sz="2200" b="1">
                <a:solidFill>
                  <a:srgbClr val="000000"/>
                </a:solidFill>
                <a:latin typeface="Tahoma" panose="020B0604030504040204" pitchFamily="34" charset="0"/>
                <a:cs typeface="Arial" panose="020B0604020202020204" pitchFamily="34" charset="0"/>
              </a:rPr>
              <a:t>digest</a:t>
            </a:r>
            <a:r>
              <a:rPr lang="en-US" altLang="en-US" sz="2200">
                <a:solidFill>
                  <a:srgbClr val="000000"/>
                </a:solidFill>
                <a:latin typeface="Tahoma" panose="020B0604030504040204" pitchFamily="34" charset="0"/>
                <a:cs typeface="Arial" panose="020B0604020202020204" pitchFamily="34" charset="0"/>
              </a:rPr>
              <a:t> </a:t>
            </a:r>
          </a:p>
          <a:p>
            <a:pPr eaLnBrk="1" hangingPunct="1">
              <a:lnSpc>
                <a:spcPct val="114000"/>
              </a:lnSpc>
              <a:buClr>
                <a:srgbClr val="382971"/>
              </a:buClr>
              <a:buSzPct val="125000"/>
              <a:buFont typeface="Wingdings" panose="05000000000000000000" pitchFamily="2" charset="2"/>
              <a:buChar char="§"/>
            </a:pPr>
            <a:r>
              <a:rPr lang="en-US" altLang="en-US" sz="2200">
                <a:solidFill>
                  <a:srgbClr val="000000"/>
                </a:solidFill>
                <a:latin typeface="Tahoma" panose="020B0604030504040204" pitchFamily="34" charset="0"/>
                <a:cs typeface="Arial" panose="020B0604020202020204" pitchFamily="34" charset="0"/>
              </a:rPr>
              <a:t> Hashes are strictly a </a:t>
            </a:r>
            <a:r>
              <a:rPr lang="en-US" altLang="en-US" sz="2200" b="1">
                <a:solidFill>
                  <a:srgbClr val="C00000"/>
                </a:solidFill>
                <a:latin typeface="Tahoma" panose="020B0604030504040204" pitchFamily="34" charset="0"/>
                <a:cs typeface="Arial" panose="020B0604020202020204" pitchFamily="34" charset="0"/>
              </a:rPr>
              <a:t>one way operation</a:t>
            </a:r>
            <a:r>
              <a:rPr lang="en-US" altLang="en-US" sz="2200">
                <a:solidFill>
                  <a:srgbClr val="C00000"/>
                </a:solidFill>
                <a:latin typeface="Tahoma" panose="020B0604030504040204" pitchFamily="34" charset="0"/>
                <a:cs typeface="Arial" panose="020B0604020202020204" pitchFamily="34" charset="0"/>
              </a:rPr>
              <a:t>. </a:t>
            </a:r>
          </a:p>
          <a:p>
            <a:pPr eaLnBrk="1" hangingPunct="1">
              <a:lnSpc>
                <a:spcPct val="114000"/>
              </a:lnSpc>
              <a:buClr>
                <a:srgbClr val="382971"/>
              </a:buClr>
              <a:buSzPct val="125000"/>
              <a:buFont typeface="Wingdings" panose="05000000000000000000" pitchFamily="2" charset="2"/>
              <a:buChar char="§"/>
            </a:pPr>
            <a:r>
              <a:rPr lang="en-US" altLang="en-US" sz="2200">
                <a:solidFill>
                  <a:srgbClr val="000000"/>
                </a:solidFill>
                <a:latin typeface="Tahoma" panose="020B0604030504040204" pitchFamily="34" charset="0"/>
                <a:cs typeface="Arial" panose="020B0604020202020204" pitchFamily="34" charset="0"/>
              </a:rPr>
              <a:t>All hashes of the same type – (this example shows the "MD5</a:t>
            </a:r>
            <a:r>
              <a:rPr lang="ja-JP" altLang="en-US" sz="2200">
                <a:solidFill>
                  <a:srgbClr val="000000"/>
                </a:solidFill>
                <a:latin typeface="Tahoma" panose="020B0604030504040204" pitchFamily="34" charset="0"/>
                <a:cs typeface="Arial" panose="020B0604020202020204" pitchFamily="34" charset="0"/>
              </a:rPr>
              <a:t>“</a:t>
            </a:r>
            <a:r>
              <a:rPr lang="en-US" altLang="ja-JP" sz="2200">
                <a:solidFill>
                  <a:srgbClr val="000000"/>
                </a:solidFill>
                <a:latin typeface="Tahoma" panose="020B0604030504040204" pitchFamily="34" charset="0"/>
                <a:cs typeface="Arial" panose="020B0604020202020204" pitchFamily="34" charset="0"/>
              </a:rPr>
              <a:t>) </a:t>
            </a:r>
            <a:r>
              <a:rPr lang="en-US" altLang="ja-JP" sz="2200">
                <a:solidFill>
                  <a:srgbClr val="C00000"/>
                </a:solidFill>
                <a:latin typeface="Tahoma" panose="020B0604030504040204" pitchFamily="34" charset="0"/>
                <a:cs typeface="Arial" panose="020B0604020202020204" pitchFamily="34" charset="0"/>
              </a:rPr>
              <a:t>- have the same size </a:t>
            </a:r>
            <a:r>
              <a:rPr lang="en-US" altLang="ja-JP" sz="2200">
                <a:solidFill>
                  <a:srgbClr val="000000"/>
                </a:solidFill>
                <a:latin typeface="Tahoma" panose="020B0604030504040204" pitchFamily="34" charset="0"/>
                <a:cs typeface="Arial" panose="020B0604020202020204" pitchFamily="34" charset="0"/>
              </a:rPr>
              <a:t>no matter how big the inputs are.</a:t>
            </a:r>
            <a:endParaRPr lang="en-US" altLang="en-US" sz="2200">
              <a:solidFill>
                <a:srgbClr val="000000"/>
              </a:solidFill>
              <a:latin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01687051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1309105" y="605214"/>
            <a:ext cx="8888538" cy="762000"/>
          </a:xfrm>
        </p:spPr>
        <p:txBody>
          <a:bodyPr>
            <a:normAutofit fontScale="90000"/>
          </a:bodyPr>
          <a:lstStyle/>
          <a:p>
            <a:r>
              <a:rPr lang="en-US" altLang="en-US" dirty="0" smtClean="0">
                <a:ea typeface="ヒラギノ角ゴ Pro W3" charset="-128"/>
              </a:rPr>
              <a:t>Common Uses of Hashing Functions</a:t>
            </a:r>
          </a:p>
        </p:txBody>
      </p:sp>
      <p:sp>
        <p:nvSpPr>
          <p:cNvPr id="33794" name="Content Placeholder 2"/>
          <p:cNvSpPr>
            <a:spLocks noGrp="1"/>
          </p:cNvSpPr>
          <p:nvPr>
            <p:ph idx="1"/>
          </p:nvPr>
        </p:nvSpPr>
        <p:spPr>
          <a:xfrm>
            <a:off x="1191790" y="1755341"/>
            <a:ext cx="10813822" cy="4724400"/>
          </a:xfrm>
        </p:spPr>
        <p:txBody>
          <a:bodyPr>
            <a:normAutofit/>
          </a:bodyPr>
          <a:lstStyle/>
          <a:p>
            <a:pPr>
              <a:lnSpc>
                <a:spcPct val="90000"/>
              </a:lnSpc>
            </a:pPr>
            <a:r>
              <a:rPr lang="en-US" altLang="en-US" dirty="0">
                <a:ea typeface="ヒラギノ角ゴ Pro W3" charset="-128"/>
              </a:rPr>
              <a:t>Hashing functions are used to </a:t>
            </a:r>
          </a:p>
          <a:p>
            <a:pPr lvl="1">
              <a:lnSpc>
                <a:spcPct val="90000"/>
              </a:lnSpc>
            </a:pPr>
            <a:r>
              <a:rPr lang="en-US" altLang="en-US" sz="2000" dirty="0">
                <a:ea typeface="ヒラギノ角ゴ Pro W3" charset="-128"/>
              </a:rPr>
              <a:t>Store computer passwords </a:t>
            </a:r>
          </a:p>
          <a:p>
            <a:pPr lvl="1">
              <a:lnSpc>
                <a:spcPct val="90000"/>
              </a:lnSpc>
            </a:pPr>
            <a:r>
              <a:rPr lang="en-US" altLang="en-US" sz="2000" dirty="0">
                <a:ea typeface="ヒラギノ角ゴ Pro W3" charset="-128"/>
              </a:rPr>
              <a:t>Ensure message integrity</a:t>
            </a:r>
          </a:p>
          <a:p>
            <a:pPr>
              <a:lnSpc>
                <a:spcPct val="90000"/>
              </a:lnSpc>
            </a:pPr>
            <a:r>
              <a:rPr lang="en-US" altLang="en-US" dirty="0">
                <a:ea typeface="ヒラギノ角ゴ Pro W3" charset="-128"/>
              </a:rPr>
              <a:t>Hashing produces a unique value that corresponds to the data entered.</a:t>
            </a:r>
          </a:p>
          <a:p>
            <a:pPr>
              <a:lnSpc>
                <a:spcPct val="90000"/>
              </a:lnSpc>
            </a:pPr>
            <a:r>
              <a:rPr lang="en-US" altLang="en-US" dirty="0">
                <a:ea typeface="ヒラギノ角ゴ Pro W3" charset="-128"/>
              </a:rPr>
              <a:t>The hash value is also reproducible by anyone else running the same algorithm against the same data. </a:t>
            </a:r>
          </a:p>
          <a:p>
            <a:pPr>
              <a:lnSpc>
                <a:spcPct val="90000"/>
              </a:lnSpc>
            </a:pPr>
            <a:r>
              <a:rPr lang="en-US" altLang="en-US" dirty="0">
                <a:ea typeface="ヒラギノ角ゴ Pro W3" charset="-128"/>
              </a:rPr>
              <a:t>This means you can</a:t>
            </a:r>
          </a:p>
          <a:p>
            <a:pPr lvl="1">
              <a:lnSpc>
                <a:spcPct val="90000"/>
              </a:lnSpc>
            </a:pPr>
            <a:r>
              <a:rPr lang="en-US" altLang="en-US" sz="2000" dirty="0">
                <a:ea typeface="ヒラギノ角ゴ Pro W3" charset="-128"/>
              </a:rPr>
              <a:t>Create a file.</a:t>
            </a:r>
          </a:p>
          <a:p>
            <a:pPr lvl="1">
              <a:lnSpc>
                <a:spcPct val="90000"/>
              </a:lnSpc>
            </a:pPr>
            <a:r>
              <a:rPr lang="en-US" altLang="en-US" sz="2000" dirty="0">
                <a:ea typeface="ヒラギノ角ゴ Pro W3" charset="-128"/>
              </a:rPr>
              <a:t>Get its hash value.</a:t>
            </a:r>
          </a:p>
          <a:p>
            <a:pPr lvl="1">
              <a:lnSpc>
                <a:spcPct val="90000"/>
              </a:lnSpc>
            </a:pPr>
            <a:r>
              <a:rPr lang="en-US" altLang="en-US" sz="2000" dirty="0">
                <a:ea typeface="ヒラギノ角ゴ Pro W3" charset="-128"/>
              </a:rPr>
              <a:t>Send the file and the hash to someone.</a:t>
            </a:r>
          </a:p>
          <a:p>
            <a:pPr lvl="1">
              <a:lnSpc>
                <a:spcPct val="90000"/>
              </a:lnSpc>
            </a:pPr>
            <a:r>
              <a:rPr lang="en-US" altLang="en-US" sz="2000" dirty="0">
                <a:ea typeface="ヒラギノ角ゴ Pro W3" charset="-128"/>
              </a:rPr>
              <a:t>They can run the file and get its hash value as well.</a:t>
            </a:r>
          </a:p>
          <a:p>
            <a:pPr lvl="1">
              <a:lnSpc>
                <a:spcPct val="90000"/>
              </a:lnSpc>
            </a:pPr>
            <a:r>
              <a:rPr lang="en-US" altLang="en-US" sz="2000" dirty="0">
                <a:ea typeface="ヒラギノ角ゴ Pro W3" charset="-128"/>
              </a:rPr>
              <a:t>If the hashes match, the file is in complete tact.</a:t>
            </a:r>
          </a:p>
        </p:txBody>
      </p:sp>
    </p:spTree>
    <p:extLst>
      <p:ext uri="{BB962C8B-B14F-4D97-AF65-F5344CB8AC3E}">
        <p14:creationId xmlns:p14="http://schemas.microsoft.com/office/powerpoint/2010/main" val="12931070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r>
              <a:rPr lang="en-US" altLang="en-US" smtClean="0"/>
              <a:t>Hashing passwords</a:t>
            </a:r>
          </a:p>
        </p:txBody>
      </p:sp>
      <p:pic>
        <p:nvPicPr>
          <p:cNvPr id="35842" name="Content Placeholder 3" descr="password-hash-1.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778626" y="1844675"/>
            <a:ext cx="3889375" cy="3733800"/>
          </a:xfrm>
        </p:spPr>
      </p:pic>
      <p:sp>
        <p:nvSpPr>
          <p:cNvPr id="35843" name="Rectangle 5"/>
          <p:cNvSpPr>
            <a:spLocks noChangeArrowheads="1"/>
          </p:cNvSpPr>
          <p:nvPr/>
        </p:nvSpPr>
        <p:spPr bwMode="auto">
          <a:xfrm>
            <a:off x="1021080" y="1844675"/>
            <a:ext cx="5105400" cy="461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17400" tIns="76176" anchor="ct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indent="-457200" eaLnBrk="0" hangingPunct="0">
              <a:defRPr sz="2400">
                <a:solidFill>
                  <a:schemeClr val="tx1"/>
                </a:solidFill>
                <a:latin typeface="Arial" panose="020B0604020202020204" pitchFamily="34" charset="0"/>
                <a:ea typeface="MS PGothic" panose="020B0600070205080204" pitchFamily="34" charset="-128"/>
              </a:defRPr>
            </a:lvl2pPr>
            <a:lvl3pPr indent="-4572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lvl="1">
              <a:lnSpc>
                <a:spcPct val="114000"/>
              </a:lnSpc>
              <a:buClr>
                <a:srgbClr val="382971"/>
              </a:buClr>
              <a:buSzPct val="125000"/>
              <a:buFont typeface="Wingdings" panose="05000000000000000000" pitchFamily="2" charset="2"/>
              <a:buChar char="§"/>
            </a:pPr>
            <a:r>
              <a:rPr lang="en-US" altLang="en-US" sz="2000" dirty="0">
                <a:solidFill>
                  <a:srgbClr val="000000"/>
                </a:solidFill>
                <a:latin typeface="Tahoma" panose="020B0604030504040204" pitchFamily="34" charset="0"/>
                <a:cs typeface="Arial" panose="020B0604020202020204" pitchFamily="34" charset="0"/>
              </a:rPr>
              <a:t>Bad idea for computer systems to  store passwords in clear text</a:t>
            </a:r>
          </a:p>
          <a:p>
            <a:pPr lvl="2">
              <a:lnSpc>
                <a:spcPct val="114000"/>
              </a:lnSpc>
              <a:buClr>
                <a:srgbClr val="382971"/>
              </a:buClr>
              <a:buSzPct val="125000"/>
              <a:buFont typeface="Wingdings" panose="05000000000000000000" pitchFamily="2" charset="2"/>
              <a:buChar char="§"/>
            </a:pPr>
            <a:r>
              <a:rPr lang="en-US" altLang="en-US" sz="2000" dirty="0">
                <a:solidFill>
                  <a:srgbClr val="000000"/>
                </a:solidFill>
                <a:latin typeface="Tahoma" panose="020B0604030504040204" pitchFamily="34" charset="0"/>
                <a:cs typeface="Arial" panose="020B0604020202020204" pitchFamily="34" charset="0"/>
              </a:rPr>
              <a:t>Can be easily compromised</a:t>
            </a:r>
          </a:p>
          <a:p>
            <a:pPr lvl="1">
              <a:lnSpc>
                <a:spcPct val="114000"/>
              </a:lnSpc>
              <a:buClr>
                <a:srgbClr val="382971"/>
              </a:buClr>
              <a:buSzPct val="125000"/>
              <a:buFont typeface="Wingdings" panose="05000000000000000000" pitchFamily="2" charset="2"/>
              <a:buChar char="§"/>
            </a:pPr>
            <a:r>
              <a:rPr lang="en-US" altLang="en-US" sz="2000" dirty="0">
                <a:solidFill>
                  <a:srgbClr val="000000"/>
                </a:solidFill>
                <a:latin typeface="Tahoma" panose="020B0604030504040204" pitchFamily="34" charset="0"/>
                <a:cs typeface="Arial" panose="020B0604020202020204" pitchFamily="34" charset="0"/>
              </a:rPr>
              <a:t>A more secure way is to store a </a:t>
            </a:r>
            <a:r>
              <a:rPr lang="en-US" altLang="en-US" sz="2000" b="1" dirty="0">
                <a:solidFill>
                  <a:srgbClr val="000000"/>
                </a:solidFill>
                <a:latin typeface="Tahoma" panose="020B0604030504040204" pitchFamily="34" charset="0"/>
                <a:cs typeface="Arial" panose="020B0604020202020204" pitchFamily="34" charset="0"/>
              </a:rPr>
              <a:t>hash of the password</a:t>
            </a:r>
            <a:r>
              <a:rPr lang="en-US" altLang="en-US" sz="2000" dirty="0">
                <a:solidFill>
                  <a:srgbClr val="000000"/>
                </a:solidFill>
                <a:latin typeface="Tahoma" panose="020B0604030504040204" pitchFamily="34" charset="0"/>
                <a:cs typeface="Arial" panose="020B0604020202020204" pitchFamily="34" charset="0"/>
              </a:rPr>
              <a:t>, rather than the password itself.</a:t>
            </a:r>
          </a:p>
          <a:p>
            <a:pPr lvl="1">
              <a:lnSpc>
                <a:spcPct val="114000"/>
              </a:lnSpc>
              <a:buClr>
                <a:srgbClr val="382971"/>
              </a:buClr>
              <a:buSzPct val="125000"/>
              <a:buFont typeface="Wingdings" panose="05000000000000000000" pitchFamily="2" charset="2"/>
              <a:buChar char="§"/>
            </a:pPr>
            <a:r>
              <a:rPr lang="en-US" altLang="en-US" sz="2000" dirty="0">
                <a:solidFill>
                  <a:srgbClr val="000000"/>
                </a:solidFill>
                <a:latin typeface="Tahoma" panose="020B0604030504040204" pitchFamily="34" charset="0"/>
                <a:cs typeface="Arial" panose="020B0604020202020204" pitchFamily="34" charset="0"/>
              </a:rPr>
              <a:t> Since these hashes are </a:t>
            </a:r>
            <a:r>
              <a:rPr lang="en-US" altLang="en-US" sz="2000" b="1" dirty="0">
                <a:solidFill>
                  <a:srgbClr val="000000"/>
                </a:solidFill>
                <a:latin typeface="Tahoma" panose="020B0604030504040204" pitchFamily="34" charset="0"/>
                <a:cs typeface="Arial" panose="020B0604020202020204" pitchFamily="34" charset="0"/>
              </a:rPr>
              <a:t>not reversible</a:t>
            </a:r>
            <a:r>
              <a:rPr lang="en-US" altLang="en-US" sz="2000" dirty="0">
                <a:solidFill>
                  <a:srgbClr val="000000"/>
                </a:solidFill>
                <a:latin typeface="Tahoma" panose="020B0604030504040204" pitchFamily="34" charset="0"/>
                <a:cs typeface="Arial" panose="020B0604020202020204" pitchFamily="34" charset="0"/>
              </a:rPr>
              <a:t>, there is no way to find</a:t>
            </a:r>
          </a:p>
          <a:p>
            <a:pPr lvl="1">
              <a:lnSpc>
                <a:spcPct val="114000"/>
              </a:lnSpc>
              <a:buClr>
                <a:srgbClr val="382971"/>
              </a:buClr>
              <a:buSzPct val="125000"/>
            </a:pPr>
            <a:r>
              <a:rPr lang="en-US" altLang="en-US" sz="2000" dirty="0">
                <a:solidFill>
                  <a:srgbClr val="000000"/>
                </a:solidFill>
                <a:latin typeface="Tahoma" panose="020B0604030504040204" pitchFamily="34" charset="0"/>
                <a:cs typeface="Arial" panose="020B0604020202020204" pitchFamily="34" charset="0"/>
              </a:rPr>
              <a:t> out for sure "what password produced this hash?" </a:t>
            </a:r>
          </a:p>
          <a:p>
            <a:pPr lvl="1">
              <a:lnSpc>
                <a:spcPct val="114000"/>
              </a:lnSpc>
              <a:buClr>
                <a:srgbClr val="382971"/>
              </a:buClr>
              <a:buSzPct val="125000"/>
              <a:buFont typeface="Wingdings" panose="05000000000000000000" pitchFamily="2" charset="2"/>
              <a:buChar char="§"/>
            </a:pPr>
            <a:r>
              <a:rPr lang="en-US" altLang="en-US" sz="2000" dirty="0">
                <a:solidFill>
                  <a:srgbClr val="000000"/>
                </a:solidFill>
                <a:latin typeface="Tahoma" panose="020B0604030504040204" pitchFamily="34" charset="0"/>
                <a:cs typeface="Arial" panose="020B0604020202020204" pitchFamily="34" charset="0"/>
              </a:rPr>
              <a:t>The consequence of a compromise is much lower.</a:t>
            </a:r>
          </a:p>
          <a:p>
            <a:endParaRPr lang="en-US" altLang="en-US" sz="1800" dirty="0">
              <a:solidFill>
                <a:srgbClr val="000000"/>
              </a:solidFill>
              <a:cs typeface="Arial" panose="020B0604020202020204" pitchFamily="34" charset="0"/>
            </a:endParaRPr>
          </a:p>
        </p:txBody>
      </p:sp>
    </p:spTree>
    <p:extLst>
      <p:ext uri="{BB962C8B-B14F-4D97-AF65-F5344CB8AC3E}">
        <p14:creationId xmlns:p14="http://schemas.microsoft.com/office/powerpoint/2010/main" val="553871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a:xfrm>
            <a:off x="1097280" y="286603"/>
            <a:ext cx="10058400" cy="1008797"/>
          </a:xfrm>
        </p:spPr>
        <p:txBody>
          <a:bodyPr/>
          <a:lstStyle/>
          <a:p>
            <a:r>
              <a:rPr lang="en-US" altLang="en-US" sz="3600" dirty="0"/>
              <a:t>Testing a proposed password against the stored hash</a:t>
            </a:r>
          </a:p>
        </p:txBody>
      </p:sp>
      <p:pic>
        <p:nvPicPr>
          <p:cNvPr id="36866" name="Content Placeholder 3" descr="password-hash-2.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063751" y="1295400"/>
            <a:ext cx="8189913" cy="5480050"/>
          </a:xfrm>
        </p:spPr>
      </p:pic>
    </p:spTree>
    <p:extLst>
      <p:ext uri="{BB962C8B-B14F-4D97-AF65-F5344CB8AC3E}">
        <p14:creationId xmlns:p14="http://schemas.microsoft.com/office/powerpoint/2010/main" val="104446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a:xfrm>
            <a:off x="3352800" y="1143001"/>
            <a:ext cx="5486400" cy="563563"/>
          </a:xfrm>
        </p:spPr>
        <p:txBody>
          <a:bodyPr>
            <a:normAutofit fontScale="90000"/>
          </a:bodyPr>
          <a:lstStyle/>
          <a:p>
            <a:r>
              <a:rPr lang="en-US" altLang="en-US" smtClean="0">
                <a:ea typeface="ヒラギノ角ゴ Pro W3" charset="-128"/>
              </a:rPr>
              <a:t>SHA</a:t>
            </a:r>
          </a:p>
        </p:txBody>
      </p:sp>
      <p:sp>
        <p:nvSpPr>
          <p:cNvPr id="41986" name="Content Placeholder 2"/>
          <p:cNvSpPr>
            <a:spLocks noGrp="1"/>
          </p:cNvSpPr>
          <p:nvPr>
            <p:ph idx="1"/>
          </p:nvPr>
        </p:nvSpPr>
        <p:spPr>
          <a:xfrm>
            <a:off x="964834" y="1897325"/>
            <a:ext cx="10262331" cy="4648200"/>
          </a:xfrm>
        </p:spPr>
        <p:txBody>
          <a:bodyPr/>
          <a:lstStyle/>
          <a:p>
            <a:r>
              <a:rPr lang="en-US" altLang="en-US" dirty="0" smtClean="0">
                <a:ea typeface="ヒラギノ角ゴ Pro W3" charset="-128"/>
              </a:rPr>
              <a:t>SHA stands for secure hash algorithm.</a:t>
            </a:r>
          </a:p>
          <a:p>
            <a:r>
              <a:rPr lang="en-US" altLang="en-US" dirty="0" smtClean="0">
                <a:ea typeface="ヒラギノ角ゴ Pro W3" charset="-128"/>
              </a:rPr>
              <a:t>Refers to four hash algorithms published by the National Institute of Standards and Technology (NIST) and the National Security Agency (NSA).</a:t>
            </a:r>
          </a:p>
          <a:p>
            <a:pPr lvl="1"/>
            <a:r>
              <a:rPr lang="en-US" altLang="en-US" dirty="0" smtClean="0">
                <a:ea typeface="ヒラギノ角ゴ Pro W3" charset="-128"/>
              </a:rPr>
              <a:t>Federal Information Processing Standards (FIPS) </a:t>
            </a:r>
            <a:br>
              <a:rPr lang="en-US" altLang="en-US" dirty="0" smtClean="0">
                <a:ea typeface="ヒラギノ角ゴ Pro W3" charset="-128"/>
              </a:rPr>
            </a:br>
            <a:r>
              <a:rPr lang="en-US" altLang="en-US" dirty="0" smtClean="0">
                <a:ea typeface="ヒラギノ角ゴ Pro W3" charset="-128"/>
              </a:rPr>
              <a:t>180-2</a:t>
            </a:r>
          </a:p>
          <a:p>
            <a:r>
              <a:rPr lang="en-US" altLang="en-US" dirty="0" smtClean="0">
                <a:ea typeface="ヒラギノ角ゴ Pro W3" charset="-128"/>
              </a:rPr>
              <a:t>Applies compression function to data input.</a:t>
            </a:r>
          </a:p>
          <a:p>
            <a:pPr lvl="1"/>
            <a:r>
              <a:rPr lang="en-US" altLang="en-US" dirty="0" smtClean="0">
                <a:ea typeface="ヒラギノ角ゴ Pro W3" charset="-128"/>
              </a:rPr>
              <a:t>Accepts up to 2</a:t>
            </a:r>
            <a:r>
              <a:rPr lang="en-US" altLang="en-US" baseline="30000" dirty="0" smtClean="0">
                <a:ea typeface="ヒラギノ角ゴ Pro W3" charset="-128"/>
              </a:rPr>
              <a:t>64</a:t>
            </a:r>
            <a:r>
              <a:rPr lang="en-US" altLang="en-US" dirty="0" smtClean="0">
                <a:ea typeface="ヒラギノ角ゴ Pro W3" charset="-128"/>
              </a:rPr>
              <a:t> bits or less and then compresses it down to a smaller number of bits</a:t>
            </a:r>
          </a:p>
          <a:p>
            <a:pPr lvl="2"/>
            <a:r>
              <a:rPr lang="en-US" altLang="en-US" dirty="0" smtClean="0">
                <a:ea typeface="ヒラギノ角ゴ Pro W3" charset="-128"/>
              </a:rPr>
              <a:t>i.e. – 160 bits for SHA-1</a:t>
            </a:r>
          </a:p>
        </p:txBody>
      </p:sp>
    </p:spTree>
    <p:extLst>
      <p:ext uri="{BB962C8B-B14F-4D97-AF65-F5344CB8AC3E}">
        <p14:creationId xmlns:p14="http://schemas.microsoft.com/office/powerpoint/2010/main" val="2766521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a:xfrm>
            <a:off x="3352800" y="1066801"/>
            <a:ext cx="5486400" cy="563563"/>
          </a:xfrm>
        </p:spPr>
        <p:txBody>
          <a:bodyPr>
            <a:normAutofit fontScale="90000"/>
          </a:bodyPr>
          <a:lstStyle/>
          <a:p>
            <a:r>
              <a:rPr lang="en-US" altLang="en-US" smtClean="0">
                <a:ea typeface="ヒラギノ角ゴ Pro W3" charset="-128"/>
              </a:rPr>
              <a:t>Block Method</a:t>
            </a:r>
          </a:p>
        </p:txBody>
      </p:sp>
      <p:sp>
        <p:nvSpPr>
          <p:cNvPr id="44034" name="Content Placeholder 2"/>
          <p:cNvSpPr>
            <a:spLocks noGrp="1"/>
          </p:cNvSpPr>
          <p:nvPr>
            <p:ph idx="1"/>
          </p:nvPr>
        </p:nvSpPr>
        <p:spPr/>
        <p:txBody>
          <a:bodyPr/>
          <a:lstStyle/>
          <a:p>
            <a:r>
              <a:rPr lang="en-US" altLang="en-US" sz="2800">
                <a:ea typeface="ヒラギノ角ゴ Pro W3" charset="-128"/>
              </a:rPr>
              <a:t>Most algorithms use block mode to process data to create the hash.</a:t>
            </a:r>
          </a:p>
          <a:p>
            <a:r>
              <a:rPr lang="en-US" altLang="en-US" sz="2800">
                <a:ea typeface="ヒラギノ角ゴ Pro W3" charset="-128"/>
              </a:rPr>
              <a:t>They break the data into sets of bits (blocks) such as 512.</a:t>
            </a:r>
          </a:p>
          <a:p>
            <a:r>
              <a:rPr lang="en-US" altLang="en-US" sz="2800">
                <a:ea typeface="ヒラギノ角ゴ Pro W3" charset="-128"/>
              </a:rPr>
              <a:t>If a file were 1400 bits long, it would create three blocks</a:t>
            </a:r>
            <a:r>
              <a:rPr lang="en-US" altLang="en-US" smtClean="0">
                <a:ea typeface="ヒラギノ角ゴ Pro W3" charset="-128"/>
              </a:rPr>
              <a:t> </a:t>
            </a:r>
            <a:r>
              <a:rPr lang="en-US" altLang="en-US" sz="2800">
                <a:ea typeface="ヒラギノ角ゴ Pro W3" charset="-128"/>
              </a:rPr>
              <a:t>with the third one being padded with zeros.</a:t>
            </a:r>
          </a:p>
          <a:p>
            <a:pPr lvl="1"/>
            <a:r>
              <a:rPr lang="en-US" altLang="en-US">
                <a:ea typeface="ヒラギノ角ゴ Pro W3" charset="-128"/>
              </a:rPr>
              <a:t>2x512 is 1024, the third block would be 376 bits of the message and 136 bits of zeros. </a:t>
            </a:r>
          </a:p>
        </p:txBody>
      </p:sp>
    </p:spTree>
    <p:extLst>
      <p:ext uri="{BB962C8B-B14F-4D97-AF65-F5344CB8AC3E}">
        <p14:creationId xmlns:p14="http://schemas.microsoft.com/office/powerpoint/2010/main" val="5823389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a:xfrm>
            <a:off x="3657600" y="990601"/>
            <a:ext cx="5486400" cy="563563"/>
          </a:xfrm>
        </p:spPr>
        <p:txBody>
          <a:bodyPr>
            <a:normAutofit fontScale="90000"/>
          </a:bodyPr>
          <a:lstStyle/>
          <a:p>
            <a:r>
              <a:rPr lang="en-US" altLang="en-US" smtClean="0">
                <a:ea typeface="ヒラギノ角ゴ Pro W3" charset="-128"/>
              </a:rPr>
              <a:t>Four Variants of SHA</a:t>
            </a:r>
          </a:p>
        </p:txBody>
      </p:sp>
      <p:sp>
        <p:nvSpPr>
          <p:cNvPr id="46082" name="Content Placeholder 2"/>
          <p:cNvSpPr>
            <a:spLocks noGrp="1"/>
          </p:cNvSpPr>
          <p:nvPr>
            <p:ph idx="1"/>
          </p:nvPr>
        </p:nvSpPr>
        <p:spPr>
          <a:xfrm>
            <a:off x="1436836" y="1905000"/>
            <a:ext cx="10075394" cy="4953000"/>
          </a:xfrm>
        </p:spPr>
        <p:txBody>
          <a:bodyPr/>
          <a:lstStyle/>
          <a:p>
            <a:r>
              <a:rPr lang="en-US" altLang="en-US" sz="2800" dirty="0">
                <a:ea typeface="ヒラギノ角ゴ Pro W3" charset="-128"/>
              </a:rPr>
              <a:t>SHA-1, SHA-256, SHA-384, SHA-512</a:t>
            </a:r>
          </a:p>
          <a:p>
            <a:r>
              <a:rPr lang="en-US" altLang="en-US" sz="2800" dirty="0">
                <a:ea typeface="ヒラギノ角ゴ Pro W3" charset="-128"/>
              </a:rPr>
              <a:t>SHA-1 was one of the more secure hash functions.</a:t>
            </a:r>
          </a:p>
          <a:p>
            <a:pPr lvl="1"/>
            <a:r>
              <a:rPr lang="en-US" altLang="en-US" dirty="0">
                <a:ea typeface="ヒラギノ角ゴ Pro W3" charset="-128"/>
              </a:rPr>
              <a:t>But it has been found to be vulnerable to a collision attack. </a:t>
            </a:r>
          </a:p>
          <a:p>
            <a:r>
              <a:rPr lang="en-US" altLang="en-US" sz="2800" dirty="0">
                <a:ea typeface="ヒラギノ角ゴ Pro W3" charset="-128"/>
              </a:rPr>
              <a:t>These longer versions are referred to as SHA-2.</a:t>
            </a:r>
          </a:p>
          <a:p>
            <a:pPr lvl="1"/>
            <a:r>
              <a:rPr lang="en-US" altLang="en-US" dirty="0">
                <a:ea typeface="ヒラギノ角ゴ Pro W3" charset="-128"/>
              </a:rPr>
              <a:t>SHA-256, SHA-384, and SHA-512</a:t>
            </a:r>
          </a:p>
          <a:p>
            <a:pPr lvl="1"/>
            <a:r>
              <a:rPr lang="en-US" altLang="en-US" dirty="0">
                <a:ea typeface="ヒラギノ角ゴ Pro W3" charset="-128"/>
              </a:rPr>
              <a:t>All have longer hash results, and are more difficult to attack successfully. </a:t>
            </a:r>
          </a:p>
          <a:p>
            <a:r>
              <a:rPr lang="en-US" altLang="en-US" sz="2800" dirty="0">
                <a:ea typeface="ヒラギノ角ゴ Pro W3" charset="-128"/>
              </a:rPr>
              <a:t>SHA-2 does require more processing power to compute the hash.</a:t>
            </a:r>
          </a:p>
          <a:p>
            <a:endParaRPr lang="en-US" altLang="en-US" dirty="0" smtClean="0">
              <a:ea typeface="ヒラギノ角ゴ Pro W3" charset="-128"/>
            </a:endParaRPr>
          </a:p>
          <a:p>
            <a:endParaRPr lang="en-US" altLang="en-US" dirty="0" smtClean="0">
              <a:ea typeface="ヒラギノ角ゴ Pro W3" charset="-128"/>
            </a:endParaRPr>
          </a:p>
        </p:txBody>
      </p:sp>
    </p:spTree>
    <p:extLst>
      <p:ext uri="{BB962C8B-B14F-4D97-AF65-F5344CB8AC3E}">
        <p14:creationId xmlns:p14="http://schemas.microsoft.com/office/powerpoint/2010/main" val="28138993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a:xfrm>
            <a:off x="3124200" y="1066801"/>
            <a:ext cx="5486400" cy="563563"/>
          </a:xfrm>
        </p:spPr>
        <p:txBody>
          <a:bodyPr>
            <a:normAutofit fontScale="90000"/>
          </a:bodyPr>
          <a:lstStyle/>
          <a:p>
            <a:r>
              <a:rPr lang="en-US" altLang="en-US" smtClean="0">
                <a:ea typeface="ヒラギノ角ゴ Pro W3" charset="-128"/>
              </a:rPr>
              <a:t>Message Digest</a:t>
            </a:r>
          </a:p>
        </p:txBody>
      </p:sp>
      <p:sp>
        <p:nvSpPr>
          <p:cNvPr id="48130" name="Content Placeholder 2"/>
          <p:cNvSpPr>
            <a:spLocks noGrp="1"/>
          </p:cNvSpPr>
          <p:nvPr>
            <p:ph idx="1"/>
          </p:nvPr>
        </p:nvSpPr>
        <p:spPr>
          <a:xfrm>
            <a:off x="1197272" y="1828801"/>
            <a:ext cx="10157076" cy="4525963"/>
          </a:xfrm>
        </p:spPr>
        <p:txBody>
          <a:bodyPr>
            <a:normAutofit/>
          </a:bodyPr>
          <a:lstStyle/>
          <a:p>
            <a:pPr>
              <a:lnSpc>
                <a:spcPct val="114000"/>
              </a:lnSpc>
            </a:pPr>
            <a:r>
              <a:rPr lang="en-US" altLang="en-US" dirty="0">
                <a:ea typeface="ヒラギノ角ゴ Pro W3" charset="-128"/>
              </a:rPr>
              <a:t>Message digest (MD) is the generic version of one of several algorithms that are designed to create a message digest or hash from data input into the algorithm. </a:t>
            </a:r>
          </a:p>
          <a:p>
            <a:pPr>
              <a:lnSpc>
                <a:spcPct val="114000"/>
              </a:lnSpc>
            </a:pPr>
            <a:r>
              <a:rPr lang="en-US" altLang="en-US" dirty="0">
                <a:ea typeface="ヒラギノ角ゴ Pro W3" charset="-128"/>
              </a:rPr>
              <a:t>MD algorithms work in the same manner as SHA: </a:t>
            </a:r>
          </a:p>
          <a:p>
            <a:pPr lvl="1">
              <a:lnSpc>
                <a:spcPct val="114000"/>
              </a:lnSpc>
            </a:pPr>
            <a:r>
              <a:rPr lang="en-US" altLang="en-US" dirty="0" smtClean="0">
                <a:ea typeface="ヒラギノ角ゴ Pro W3" charset="-128"/>
              </a:rPr>
              <a:t>They use a secure method to compress the file and generate a computed output of a specified number of bits. </a:t>
            </a:r>
          </a:p>
          <a:p>
            <a:pPr>
              <a:lnSpc>
                <a:spcPct val="114000"/>
              </a:lnSpc>
            </a:pPr>
            <a:r>
              <a:rPr lang="en-US" altLang="en-US" dirty="0">
                <a:ea typeface="ヒラギノ角ゴ Pro W3" charset="-128"/>
              </a:rPr>
              <a:t>The MD algorithms were all developed by Ronald L. </a:t>
            </a:r>
            <a:r>
              <a:rPr lang="en-US" altLang="en-US" dirty="0" err="1">
                <a:ea typeface="ヒラギノ角ゴ Pro W3" charset="-128"/>
              </a:rPr>
              <a:t>Rivest</a:t>
            </a:r>
            <a:r>
              <a:rPr lang="en-US" altLang="en-US" dirty="0">
                <a:ea typeface="ヒラギノ角ゴ Pro W3" charset="-128"/>
              </a:rPr>
              <a:t> of MIT.</a:t>
            </a:r>
          </a:p>
          <a:p>
            <a:pPr lvl="1">
              <a:lnSpc>
                <a:spcPct val="114000"/>
              </a:lnSpc>
            </a:pPr>
            <a:r>
              <a:rPr lang="en-US" altLang="en-US" dirty="0">
                <a:ea typeface="ヒラギノ角ゴ Pro W3" charset="-128"/>
              </a:rPr>
              <a:t>MD2</a:t>
            </a:r>
          </a:p>
          <a:p>
            <a:pPr lvl="1">
              <a:lnSpc>
                <a:spcPct val="114000"/>
              </a:lnSpc>
            </a:pPr>
            <a:r>
              <a:rPr lang="en-US" altLang="en-US" dirty="0">
                <a:ea typeface="ヒラギノ角ゴ Pro W3" charset="-128"/>
              </a:rPr>
              <a:t>MD4</a:t>
            </a:r>
          </a:p>
          <a:p>
            <a:pPr lvl="1">
              <a:lnSpc>
                <a:spcPct val="114000"/>
              </a:lnSpc>
            </a:pPr>
            <a:r>
              <a:rPr lang="en-US" altLang="en-US" dirty="0">
                <a:ea typeface="ヒラギノ角ゴ Pro W3" charset="-128"/>
              </a:rPr>
              <a:t>MD5</a:t>
            </a:r>
          </a:p>
        </p:txBody>
      </p:sp>
    </p:spTree>
    <p:extLst>
      <p:ext uri="{BB962C8B-B14F-4D97-AF65-F5344CB8AC3E}">
        <p14:creationId xmlns:p14="http://schemas.microsoft.com/office/powerpoint/2010/main" val="81011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a:xfrm>
            <a:off x="3352800" y="1066801"/>
            <a:ext cx="5486400" cy="563563"/>
          </a:xfrm>
        </p:spPr>
        <p:txBody>
          <a:bodyPr>
            <a:normAutofit fontScale="90000"/>
          </a:bodyPr>
          <a:lstStyle/>
          <a:p>
            <a:r>
              <a:rPr lang="en-US" altLang="en-US" dirty="0" smtClean="0">
                <a:ea typeface="ヒラギノ角ゴ Pro W3" charset="-128"/>
              </a:rPr>
              <a:t>MD2 and MD4</a:t>
            </a:r>
          </a:p>
        </p:txBody>
      </p:sp>
      <p:sp>
        <p:nvSpPr>
          <p:cNvPr id="50178" name="Content Placeholder 2"/>
          <p:cNvSpPr>
            <a:spLocks noGrp="1"/>
          </p:cNvSpPr>
          <p:nvPr>
            <p:ph idx="1"/>
          </p:nvPr>
        </p:nvSpPr>
        <p:spPr>
          <a:xfrm>
            <a:off x="1600199" y="1988327"/>
            <a:ext cx="10214637" cy="4525963"/>
          </a:xfrm>
        </p:spPr>
        <p:txBody>
          <a:bodyPr/>
          <a:lstStyle/>
          <a:p>
            <a:r>
              <a:rPr lang="en-US" altLang="en-US" dirty="0" smtClean="0">
                <a:ea typeface="ヒラギノ角ゴ Pro W3" charset="-128"/>
              </a:rPr>
              <a:t>MD2</a:t>
            </a:r>
          </a:p>
          <a:p>
            <a:pPr lvl="1"/>
            <a:r>
              <a:rPr lang="en-US" altLang="en-US" dirty="0">
                <a:ea typeface="ヒラギノ角ゴ Pro W3" charset="-128"/>
              </a:rPr>
              <a:t>Developed in 1989; an early version of MD5 </a:t>
            </a:r>
          </a:p>
          <a:p>
            <a:pPr lvl="1"/>
            <a:r>
              <a:rPr lang="en-US" altLang="en-US" dirty="0">
                <a:ea typeface="ヒラギノ角ゴ Pro W3" charset="-128"/>
              </a:rPr>
              <a:t>It takes a data of any length and produces a hash output of 128 bits. </a:t>
            </a:r>
          </a:p>
          <a:p>
            <a:pPr lvl="1"/>
            <a:r>
              <a:rPr lang="en-US" altLang="en-US" dirty="0">
                <a:ea typeface="ヒラギノ角ゴ Pro W3" charset="-128"/>
              </a:rPr>
              <a:t>MD2 is optimized for 8-bit machines.</a:t>
            </a:r>
          </a:p>
          <a:p>
            <a:pPr lvl="2"/>
            <a:r>
              <a:rPr lang="en-US" altLang="en-US" sz="2000" dirty="0">
                <a:ea typeface="ヒラギノ角ゴ Pro W3" charset="-128"/>
              </a:rPr>
              <a:t>MD4, MD5 are optimized for 32-bit machines.</a:t>
            </a:r>
          </a:p>
          <a:p>
            <a:r>
              <a:rPr lang="en-US" altLang="en-US" dirty="0">
                <a:ea typeface="ヒラギノ角ゴ Pro W3" charset="-128"/>
              </a:rPr>
              <a:t>MD4</a:t>
            </a:r>
          </a:p>
          <a:p>
            <a:pPr lvl="1"/>
            <a:r>
              <a:rPr lang="en-US" altLang="en-US" sz="2200" dirty="0">
                <a:ea typeface="ヒラギノ角ゴ Pro W3" charset="-128"/>
              </a:rPr>
              <a:t>Developed in 1990; optimized for 32-bit computers</a:t>
            </a:r>
          </a:p>
          <a:p>
            <a:pPr lvl="1"/>
            <a:r>
              <a:rPr lang="en-US" altLang="en-US" sz="2200" dirty="0">
                <a:ea typeface="ヒラギノ角ゴ Pro W3" charset="-128"/>
              </a:rPr>
              <a:t>It is a fast algorithm, but it is subject to more attacks than more secure algorithms such as MD5.</a:t>
            </a:r>
          </a:p>
          <a:p>
            <a:pPr lvl="1"/>
            <a:r>
              <a:rPr lang="en-US" altLang="en-US" sz="2200" dirty="0">
                <a:ea typeface="ヒラギノ角ゴ Pro W3" charset="-128"/>
              </a:rPr>
              <a:t>It has been shown to be vulnerable to collision.</a:t>
            </a:r>
          </a:p>
          <a:p>
            <a:pPr lvl="1"/>
            <a:r>
              <a:rPr lang="en-US" altLang="en-US" sz="2200" dirty="0">
                <a:ea typeface="ヒラギノ角ゴ Pro W3" charset="-128"/>
              </a:rPr>
              <a:t>As such, most people use MD5 instead.</a:t>
            </a:r>
          </a:p>
        </p:txBody>
      </p:sp>
    </p:spTree>
    <p:extLst>
      <p:ext uri="{BB962C8B-B14F-4D97-AF65-F5344CB8AC3E}">
        <p14:creationId xmlns:p14="http://schemas.microsoft.com/office/powerpoint/2010/main" val="9409433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a:xfrm>
            <a:off x="3352800" y="1143001"/>
            <a:ext cx="5486400" cy="563563"/>
          </a:xfrm>
        </p:spPr>
        <p:txBody>
          <a:bodyPr>
            <a:normAutofit fontScale="90000"/>
          </a:bodyPr>
          <a:lstStyle/>
          <a:p>
            <a:r>
              <a:rPr lang="en-US" altLang="en-US" smtClean="0">
                <a:ea typeface="ヒラギノ角ゴ Pro W3" charset="-128"/>
              </a:rPr>
              <a:t>MD5</a:t>
            </a:r>
          </a:p>
        </p:txBody>
      </p:sp>
      <p:sp>
        <p:nvSpPr>
          <p:cNvPr id="52226" name="Content Placeholder 2"/>
          <p:cNvSpPr>
            <a:spLocks noGrp="1"/>
          </p:cNvSpPr>
          <p:nvPr>
            <p:ph idx="1"/>
          </p:nvPr>
        </p:nvSpPr>
        <p:spPr>
          <a:xfrm>
            <a:off x="1559085" y="2039309"/>
            <a:ext cx="9413715" cy="4239255"/>
          </a:xfrm>
        </p:spPr>
        <p:txBody>
          <a:bodyPr/>
          <a:lstStyle/>
          <a:p>
            <a:r>
              <a:rPr lang="en-US" altLang="en-US" dirty="0" smtClean="0">
                <a:ea typeface="ヒラギノ角ゴ Pro W3" charset="-128"/>
              </a:rPr>
              <a:t>Developed in 1991 and is structured with additional security to overcome the problems in MD4. </a:t>
            </a:r>
          </a:p>
          <a:p>
            <a:r>
              <a:rPr lang="en-US" altLang="en-US" dirty="0" smtClean="0">
                <a:ea typeface="ヒラギノ角ゴ Pro W3" charset="-128"/>
              </a:rPr>
              <a:t>Very similar to the MD4 algorithm, only slightly slower and more secure.</a:t>
            </a:r>
          </a:p>
          <a:p>
            <a:r>
              <a:rPr lang="en-US" altLang="en-US" dirty="0" smtClean="0">
                <a:ea typeface="ヒラギノ角ゴ Pro W3" charset="-128"/>
              </a:rPr>
              <a:t>Creates a 128-bit hash of a message of any length and segments the message into 512-bit blocks.</a:t>
            </a:r>
          </a:p>
        </p:txBody>
      </p:sp>
    </p:spTree>
    <p:extLst>
      <p:ext uri="{BB962C8B-B14F-4D97-AF65-F5344CB8AC3E}">
        <p14:creationId xmlns:p14="http://schemas.microsoft.com/office/powerpoint/2010/main" val="4078107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p:cNvSpPr>
            <a:spLocks noGrp="1"/>
          </p:cNvSpPr>
          <p:nvPr>
            <p:ph type="title"/>
          </p:nvPr>
        </p:nvSpPr>
        <p:spPr>
          <a:xfrm>
            <a:off x="1097280" y="286604"/>
            <a:ext cx="10058400" cy="1114600"/>
          </a:xfrm>
        </p:spPr>
        <p:txBody>
          <a:bodyPr/>
          <a:lstStyle/>
          <a:p>
            <a:r>
              <a:rPr lang="en-US" altLang="en-US" dirty="0" smtClean="0"/>
              <a:t>Digital Signatures</a:t>
            </a:r>
          </a:p>
        </p:txBody>
      </p:sp>
      <p:sp>
        <p:nvSpPr>
          <p:cNvPr id="77826" name="Content Placeholder 2"/>
          <p:cNvSpPr>
            <a:spLocks noGrp="1"/>
          </p:cNvSpPr>
          <p:nvPr>
            <p:ph idx="1"/>
          </p:nvPr>
        </p:nvSpPr>
        <p:spPr>
          <a:xfrm>
            <a:off x="1256144" y="1689352"/>
            <a:ext cx="9740671" cy="5091113"/>
          </a:xfrm>
        </p:spPr>
        <p:txBody>
          <a:bodyPr/>
          <a:lstStyle/>
          <a:p>
            <a:pPr>
              <a:lnSpc>
                <a:spcPct val="114000"/>
              </a:lnSpc>
            </a:pPr>
            <a:r>
              <a:rPr lang="en-US" altLang="en-US" sz="2200" dirty="0">
                <a:latin typeface="Arial" panose="020B0604020202020204" pitchFamily="34" charset="0"/>
                <a:cs typeface="Arial" panose="020B0604020202020204" pitchFamily="34" charset="0"/>
              </a:rPr>
              <a:t>Digital signature is a process that guarantees that the contents of a message have not been altered in transit. </a:t>
            </a:r>
          </a:p>
          <a:p>
            <a:pPr>
              <a:lnSpc>
                <a:spcPct val="114000"/>
              </a:lnSpc>
            </a:pPr>
            <a:r>
              <a:rPr lang="en-US" altLang="en-US" sz="2200" dirty="0">
                <a:latin typeface="Arial" panose="020B0604020202020204" pitchFamily="34" charset="0"/>
                <a:cs typeface="Arial" panose="020B0604020202020204" pitchFamily="34" charset="0"/>
              </a:rPr>
              <a:t>It is </a:t>
            </a:r>
            <a:r>
              <a:rPr lang="en-US" altLang="en-US" sz="2200" dirty="0">
                <a:latin typeface="Arial" panose="020B0604020202020204" pitchFamily="34" charset="0"/>
                <a:ea typeface="ヒラギノ角ゴ Pro W3" charset="-128"/>
              </a:rPr>
              <a:t>touted as the key to truly paperless document flow. </a:t>
            </a:r>
            <a:endParaRPr lang="en-US" altLang="en-US" sz="2200" dirty="0">
              <a:latin typeface="Arial" panose="020B0604020202020204" pitchFamily="34" charset="0"/>
              <a:cs typeface="Arial" panose="020B0604020202020204" pitchFamily="34" charset="0"/>
            </a:endParaRPr>
          </a:p>
          <a:p>
            <a:pPr>
              <a:lnSpc>
                <a:spcPct val="114000"/>
              </a:lnSpc>
            </a:pPr>
            <a:r>
              <a:rPr lang="en-US" altLang="en-US" sz="2200" dirty="0">
                <a:latin typeface="Arial" panose="020B0604020202020204" pitchFamily="34" charset="0"/>
                <a:cs typeface="Arial" panose="020B0604020202020204" pitchFamily="34" charset="0"/>
              </a:rPr>
              <a:t>When you, the server, digitally sign a document, </a:t>
            </a:r>
            <a:r>
              <a:rPr lang="en-US" altLang="en-US" sz="2200" b="1" dirty="0">
                <a:latin typeface="Arial" panose="020B0604020202020204" pitchFamily="34" charset="0"/>
                <a:cs typeface="Arial" panose="020B0604020202020204" pitchFamily="34" charset="0"/>
              </a:rPr>
              <a:t>you add a one-way hash (encryption) of the message content using your public and private key pair.</a:t>
            </a:r>
          </a:p>
          <a:p>
            <a:pPr lvl="1">
              <a:lnSpc>
                <a:spcPct val="114000"/>
              </a:lnSpc>
            </a:pPr>
            <a:r>
              <a:rPr lang="en-US" altLang="en-US" sz="2000" dirty="0">
                <a:latin typeface="Arial" panose="020B0604020202020204" pitchFamily="34" charset="0"/>
                <a:ea typeface="ヒラギノ角ゴ Pro W3" charset="-128"/>
              </a:rPr>
              <a:t>Digital signatures are based on both hashing functions and asymmetric cryptography.</a:t>
            </a:r>
          </a:p>
          <a:p>
            <a:pPr>
              <a:lnSpc>
                <a:spcPct val="114000"/>
              </a:lnSpc>
            </a:pPr>
            <a:r>
              <a:rPr lang="en-US" altLang="en-US" sz="2000" dirty="0">
                <a:latin typeface="Arial" panose="020B0604020202020204" pitchFamily="34" charset="0"/>
                <a:ea typeface="ヒラギノ角ゴ Pro W3" charset="-128"/>
              </a:rPr>
              <a:t>Both encryption methods play an important role in signing digital documents.</a:t>
            </a:r>
          </a:p>
          <a:p>
            <a:pPr>
              <a:lnSpc>
                <a:spcPct val="114000"/>
              </a:lnSpc>
            </a:pPr>
            <a:r>
              <a:rPr lang="en-US" altLang="en-US" sz="2000" dirty="0">
                <a:latin typeface="Arial" panose="020B0604020202020204" pitchFamily="34" charset="0"/>
                <a:ea typeface="ヒラギノ角ゴ Pro W3" charset="-128"/>
              </a:rPr>
              <a:t>Provides integrity and non repudiation</a:t>
            </a:r>
          </a:p>
          <a:p>
            <a:endParaRPr lang="en-US" altLang="en-US" sz="2200" b="1" dirty="0"/>
          </a:p>
        </p:txBody>
      </p:sp>
    </p:spTree>
    <p:extLst>
      <p:ext uri="{BB962C8B-B14F-4D97-AF65-F5344CB8AC3E}">
        <p14:creationId xmlns:p14="http://schemas.microsoft.com/office/powerpoint/2010/main" val="1033328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a:xfrm>
            <a:off x="2005321" y="770772"/>
            <a:ext cx="5486400" cy="563563"/>
          </a:xfrm>
        </p:spPr>
        <p:txBody>
          <a:bodyPr>
            <a:normAutofit fontScale="90000"/>
          </a:bodyPr>
          <a:lstStyle/>
          <a:p>
            <a:r>
              <a:rPr lang="en-US" altLang="en-US" smtClean="0">
                <a:ea typeface="ヒラギノ角ゴ Pro W3" charset="-128"/>
              </a:rPr>
              <a:t>Nonrepudiation</a:t>
            </a:r>
          </a:p>
        </p:txBody>
      </p:sp>
      <p:sp>
        <p:nvSpPr>
          <p:cNvPr id="60418" name="Content Placeholder 2"/>
          <p:cNvSpPr>
            <a:spLocks noGrp="1"/>
          </p:cNvSpPr>
          <p:nvPr>
            <p:ph idx="1"/>
          </p:nvPr>
        </p:nvSpPr>
        <p:spPr>
          <a:xfrm>
            <a:off x="1497138" y="2035473"/>
            <a:ext cx="9416456" cy="4525963"/>
          </a:xfrm>
        </p:spPr>
        <p:txBody>
          <a:bodyPr/>
          <a:lstStyle/>
          <a:p>
            <a:r>
              <a:rPr lang="en-US" altLang="en-US" dirty="0" smtClean="0">
                <a:ea typeface="ヒラギノ角ゴ Pro W3" charset="-128"/>
              </a:rPr>
              <a:t>The message sender cannot later deny that they sent the message.</a:t>
            </a:r>
          </a:p>
          <a:p>
            <a:r>
              <a:rPr lang="en-US" altLang="en-US" dirty="0" smtClean="0">
                <a:ea typeface="ヒラギノ角ゴ Pro W3" charset="-128"/>
              </a:rPr>
              <a:t>This is important in electronic exchanges of data, especially when you are unable to meet face-to-face.</a:t>
            </a:r>
          </a:p>
          <a:p>
            <a:r>
              <a:rPr lang="en-US" altLang="en-US" dirty="0" smtClean="0">
                <a:ea typeface="ヒラギノ角ゴ Pro W3" charset="-128"/>
              </a:rPr>
              <a:t>Nonrepudiation is tied to asymmetric cryptography and cannot be implemented with symmetric algorithms.</a:t>
            </a:r>
            <a:r>
              <a:rPr lang="en-US" altLang="en-US" sz="2800" dirty="0">
                <a:ea typeface="ヒラギノ角ゴ Pro W3" charset="-128"/>
              </a:rPr>
              <a:t> </a:t>
            </a:r>
          </a:p>
          <a:p>
            <a:endParaRPr lang="en-US" altLang="en-US" dirty="0" smtClean="0">
              <a:ea typeface="ヒラギノ角ゴ Pro W3" charset="-128"/>
            </a:endParaRPr>
          </a:p>
        </p:txBody>
      </p:sp>
    </p:spTree>
    <p:extLst>
      <p:ext uri="{BB962C8B-B14F-4D97-AF65-F5344CB8AC3E}">
        <p14:creationId xmlns:p14="http://schemas.microsoft.com/office/powerpoint/2010/main" val="37908354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p:txBody>
          <a:bodyPr/>
          <a:lstStyle/>
          <a:p>
            <a:r>
              <a:rPr lang="en-US" altLang="en-US" smtClean="0"/>
              <a:t>Digital Signatures</a:t>
            </a:r>
          </a:p>
        </p:txBody>
      </p:sp>
      <p:sp>
        <p:nvSpPr>
          <p:cNvPr id="78850" name="Content Placeholder 2"/>
          <p:cNvSpPr>
            <a:spLocks noGrp="1"/>
          </p:cNvSpPr>
          <p:nvPr>
            <p:ph idx="1"/>
          </p:nvPr>
        </p:nvSpPr>
        <p:spPr/>
        <p:txBody>
          <a:bodyPr>
            <a:noAutofit/>
          </a:bodyPr>
          <a:lstStyle/>
          <a:p>
            <a:r>
              <a:rPr lang="en-US" altLang="en-US" dirty="0"/>
              <a:t>Your client can still read it, but the process creates a "signature" that only the server's public key can decrypt. </a:t>
            </a:r>
          </a:p>
          <a:p>
            <a:r>
              <a:rPr lang="en-US" altLang="en-US" dirty="0"/>
              <a:t>The client, using the server's public key, can then validate the sender as well as the integrity of message contents.</a:t>
            </a:r>
          </a:p>
          <a:p>
            <a:r>
              <a:rPr lang="en-US" altLang="en-US" dirty="0"/>
              <a:t>Whether it's</a:t>
            </a:r>
          </a:p>
          <a:p>
            <a:pPr lvl="1"/>
            <a:r>
              <a:rPr lang="en-US" altLang="en-US" dirty="0"/>
              <a:t>an email</a:t>
            </a:r>
          </a:p>
          <a:p>
            <a:pPr lvl="1"/>
            <a:r>
              <a:rPr lang="en-US" altLang="en-US" dirty="0"/>
              <a:t>an online order</a:t>
            </a:r>
          </a:p>
          <a:p>
            <a:pPr lvl="1"/>
            <a:r>
              <a:rPr lang="en-US" altLang="en-US" dirty="0"/>
              <a:t>or a watermarked photograph on eBay</a:t>
            </a:r>
          </a:p>
          <a:p>
            <a:r>
              <a:rPr lang="en-US" altLang="en-US" dirty="0"/>
              <a:t>If the transmission arrives but the digital signature does not match the public key in the digital certificate, then the client knows that the message has not been altered.</a:t>
            </a:r>
          </a:p>
          <a:p>
            <a:endParaRPr lang="en-US" altLang="en-US" dirty="0"/>
          </a:p>
          <a:p>
            <a:endParaRPr lang="en-US" altLang="en-US" dirty="0" smtClean="0"/>
          </a:p>
        </p:txBody>
      </p:sp>
    </p:spTree>
    <p:extLst>
      <p:ext uri="{BB962C8B-B14F-4D97-AF65-F5344CB8AC3E}">
        <p14:creationId xmlns:p14="http://schemas.microsoft.com/office/powerpoint/2010/main" val="39706525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r>
              <a:rPr lang="en-US" altLang="en-US" smtClean="0"/>
              <a:t>Example of Digital signature at Client end</a:t>
            </a:r>
          </a:p>
        </p:txBody>
      </p:sp>
      <p:pic>
        <p:nvPicPr>
          <p:cNvPr id="37890" name="Content Placeholder 3" descr="crypto-hash-3.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811338" y="1790700"/>
            <a:ext cx="8945562" cy="4040188"/>
          </a:xfrm>
        </p:spPr>
      </p:pic>
      <p:sp>
        <p:nvSpPr>
          <p:cNvPr id="37891" name="TextBox 1"/>
          <p:cNvSpPr txBox="1">
            <a:spLocks noChangeArrowheads="1"/>
          </p:cNvSpPr>
          <p:nvPr/>
        </p:nvSpPr>
        <p:spPr bwMode="auto">
          <a:xfrm>
            <a:off x="4729163" y="4648201"/>
            <a:ext cx="1554162" cy="92392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a:solidFill>
                  <a:srgbClr val="800000"/>
                </a:solidFill>
              </a:rPr>
              <a:t>First goes through Hashing</a:t>
            </a:r>
          </a:p>
        </p:txBody>
      </p:sp>
      <p:sp>
        <p:nvSpPr>
          <p:cNvPr id="37892" name="TextBox 4"/>
          <p:cNvSpPr txBox="1">
            <a:spLocks noChangeArrowheads="1"/>
          </p:cNvSpPr>
          <p:nvPr/>
        </p:nvSpPr>
        <p:spPr bwMode="auto">
          <a:xfrm>
            <a:off x="7199313" y="1446214"/>
            <a:ext cx="1554162" cy="1201737"/>
          </a:xfrm>
          <a:prstGeom prst="rec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a:solidFill>
                  <a:srgbClr val="800000"/>
                </a:solidFill>
              </a:rPr>
              <a:t>Second goes through asymmetric encryption</a:t>
            </a:r>
          </a:p>
        </p:txBody>
      </p:sp>
    </p:spTree>
    <p:extLst>
      <p:ext uri="{BB962C8B-B14F-4D97-AF65-F5344CB8AC3E}">
        <p14:creationId xmlns:p14="http://schemas.microsoft.com/office/powerpoint/2010/main" val="22867267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4851" b="11150"/>
          <a:stretch/>
        </p:blipFill>
        <p:spPr>
          <a:xfrm>
            <a:off x="3441700" y="332656"/>
            <a:ext cx="5696816" cy="6192688"/>
          </a:xfrm>
          <a:prstGeom prst="rect">
            <a:avLst/>
          </a:prstGeom>
          <a:solidFill>
            <a:schemeClr val="lt1">
              <a:hueOff val="0"/>
              <a:satOff val="0"/>
              <a:lumOff val="0"/>
            </a:schemeClr>
          </a:solidFill>
        </p:spPr>
      </p:pic>
    </p:spTree>
    <p:extLst>
      <p:ext uri="{BB962C8B-B14F-4D97-AF65-F5344CB8AC3E}">
        <p14:creationId xmlns:p14="http://schemas.microsoft.com/office/powerpoint/2010/main" val="3683693518"/>
      </p:ext>
    </p:extLst>
  </p:cSld>
  <p:clrMapOvr>
    <a:masterClrMapping/>
  </p:clrMapOvr>
  <p:transition spd="slow">
    <p:wip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3352800" y="1066801"/>
            <a:ext cx="5486400" cy="563563"/>
          </a:xfrm>
        </p:spPr>
        <p:txBody>
          <a:bodyPr>
            <a:normAutofit fontScale="90000"/>
          </a:bodyPr>
          <a:lstStyle/>
          <a:p>
            <a:r>
              <a:rPr lang="en-US" altLang="en-US" smtClean="0">
                <a:ea typeface="ヒラギノ角ゴ Pro W3" charset="-128"/>
              </a:rPr>
              <a:t>Collision Attack</a:t>
            </a:r>
          </a:p>
        </p:txBody>
      </p:sp>
      <p:sp>
        <p:nvSpPr>
          <p:cNvPr id="38914" name="Content Placeholder 2"/>
          <p:cNvSpPr>
            <a:spLocks noGrp="1"/>
          </p:cNvSpPr>
          <p:nvPr>
            <p:ph idx="1"/>
          </p:nvPr>
        </p:nvSpPr>
        <p:spPr>
          <a:xfrm>
            <a:off x="1217007" y="1922542"/>
            <a:ext cx="10597829" cy="4876800"/>
          </a:xfrm>
        </p:spPr>
        <p:txBody>
          <a:bodyPr/>
          <a:lstStyle/>
          <a:p>
            <a:pPr>
              <a:lnSpc>
                <a:spcPct val="80000"/>
              </a:lnSpc>
            </a:pPr>
            <a:r>
              <a:rPr lang="en-US" altLang="en-US" dirty="0">
                <a:ea typeface="ヒラギノ角ゴ Pro W3" charset="-128"/>
              </a:rPr>
              <a:t>A collision attack is used to compromise a hash algorithm.</a:t>
            </a:r>
          </a:p>
          <a:p>
            <a:pPr>
              <a:lnSpc>
                <a:spcPct val="80000"/>
              </a:lnSpc>
            </a:pPr>
            <a:r>
              <a:rPr lang="en-US" altLang="en-US" dirty="0">
                <a:ea typeface="ヒラギノ角ゴ Pro W3" charset="-128"/>
              </a:rPr>
              <a:t>It occurs when an attacker finds two different messages that hash to the same value. </a:t>
            </a:r>
          </a:p>
          <a:p>
            <a:pPr>
              <a:lnSpc>
                <a:spcPct val="80000"/>
              </a:lnSpc>
            </a:pPr>
            <a:r>
              <a:rPr lang="en-US" altLang="en-US" dirty="0">
                <a:ea typeface="ヒラギノ角ゴ Pro W3" charset="-128"/>
              </a:rPr>
              <a:t>This attack is very difficult and requires generating a separate algorithm that attempts to find a text that will hash to the same value of a known hash. </a:t>
            </a:r>
          </a:p>
          <a:p>
            <a:pPr>
              <a:lnSpc>
                <a:spcPct val="80000"/>
              </a:lnSpc>
            </a:pPr>
            <a:r>
              <a:rPr lang="en-US" altLang="en-US" dirty="0">
                <a:ea typeface="ヒラギノ角ゴ Pro W3" charset="-128"/>
              </a:rPr>
              <a:t>This must occur faster than simply editing characters until you hash to the same value, which is a brute-force type attack. </a:t>
            </a:r>
          </a:p>
          <a:p>
            <a:pPr>
              <a:lnSpc>
                <a:spcPct val="80000"/>
              </a:lnSpc>
            </a:pPr>
            <a:r>
              <a:rPr lang="en-US" altLang="en-US" dirty="0">
                <a:ea typeface="ヒラギノ角ゴ Pro W3" charset="-128"/>
              </a:rPr>
              <a:t>Hash functions that suffers from collisions lose integrity.</a:t>
            </a:r>
          </a:p>
          <a:p>
            <a:pPr>
              <a:lnSpc>
                <a:spcPct val="80000"/>
              </a:lnSpc>
            </a:pPr>
            <a:r>
              <a:rPr lang="en-US" altLang="en-US" dirty="0">
                <a:ea typeface="ヒラギノ角ゴ Pro W3" charset="-128"/>
              </a:rPr>
              <a:t>An attacker that can make two different inputs hash to the same value, can trick people into running malicious code. </a:t>
            </a:r>
          </a:p>
        </p:txBody>
      </p:sp>
    </p:spTree>
    <p:extLst>
      <p:ext uri="{BB962C8B-B14F-4D97-AF65-F5344CB8AC3E}">
        <p14:creationId xmlns:p14="http://schemas.microsoft.com/office/powerpoint/2010/main" val="35050776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p:txBody>
          <a:bodyPr/>
          <a:lstStyle/>
          <a:p>
            <a:r>
              <a:rPr lang="en-US" altLang="en-US" dirty="0" smtClean="0"/>
              <a:t>Hash Collisions – Hypothetical Example</a:t>
            </a:r>
          </a:p>
        </p:txBody>
      </p:sp>
      <p:pic>
        <p:nvPicPr>
          <p:cNvPr id="40962" name="Content Placeholder 3" descr="crypto-hash-4.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772025" y="1978026"/>
            <a:ext cx="6248400" cy="4297363"/>
          </a:xfrm>
        </p:spPr>
      </p:pic>
      <p:sp>
        <p:nvSpPr>
          <p:cNvPr id="40963" name="Rectangle 4"/>
          <p:cNvSpPr>
            <a:spLocks noChangeArrowheads="1"/>
          </p:cNvSpPr>
          <p:nvPr/>
        </p:nvSpPr>
        <p:spPr bwMode="auto">
          <a:xfrm>
            <a:off x="749940" y="2072200"/>
            <a:ext cx="4104932" cy="395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lnSpc>
                <a:spcPct val="114000"/>
              </a:lnSpc>
              <a:buClr>
                <a:srgbClr val="382971"/>
              </a:buClr>
              <a:buSzPct val="125000"/>
              <a:buFont typeface="Wingdings" panose="05000000000000000000" pitchFamily="2" charset="2"/>
              <a:buChar char="§"/>
            </a:pPr>
            <a:r>
              <a:rPr lang="en-US" altLang="en-US" sz="2000" dirty="0">
                <a:solidFill>
                  <a:srgbClr val="000000"/>
                </a:solidFill>
                <a:latin typeface="Tahoma" panose="020B0604030504040204" pitchFamily="34" charset="0"/>
                <a:cs typeface="Arial" panose="020B0604020202020204" pitchFamily="34" charset="0"/>
              </a:rPr>
              <a:t>When different chunks of data produce the same hash value, this is known as a </a:t>
            </a:r>
            <a:r>
              <a:rPr lang="en-US" altLang="en-US" sz="2000" b="1" dirty="0">
                <a:solidFill>
                  <a:srgbClr val="000000"/>
                </a:solidFill>
                <a:latin typeface="Tahoma" panose="020B0604030504040204" pitchFamily="34" charset="0"/>
                <a:cs typeface="Arial" panose="020B0604020202020204" pitchFamily="34" charset="0"/>
              </a:rPr>
              <a:t>collision.</a:t>
            </a:r>
          </a:p>
          <a:p>
            <a:pPr eaLnBrk="1" hangingPunct="1">
              <a:lnSpc>
                <a:spcPct val="114000"/>
              </a:lnSpc>
            </a:pPr>
            <a:endParaRPr lang="en-US" altLang="en-US" sz="2000" b="1" dirty="0">
              <a:solidFill>
                <a:srgbClr val="000000"/>
              </a:solidFill>
              <a:latin typeface="Tahoma" panose="020B0604030504040204" pitchFamily="34" charset="0"/>
              <a:cs typeface="Arial" panose="020B0604020202020204" pitchFamily="34" charset="0"/>
            </a:endParaRPr>
          </a:p>
          <a:p>
            <a:pPr eaLnBrk="1" hangingPunct="1">
              <a:lnSpc>
                <a:spcPct val="114000"/>
              </a:lnSpc>
            </a:pPr>
            <a:endParaRPr lang="en-US" altLang="en-US" sz="2000" b="1" dirty="0">
              <a:solidFill>
                <a:srgbClr val="000000"/>
              </a:solidFill>
              <a:latin typeface="Tahoma" panose="020B0604030504040204" pitchFamily="34" charset="0"/>
              <a:cs typeface="Arial" panose="020B0604020202020204" pitchFamily="34" charset="0"/>
            </a:endParaRPr>
          </a:p>
          <a:p>
            <a:pPr eaLnBrk="1" hangingPunct="1">
              <a:lnSpc>
                <a:spcPct val="114000"/>
              </a:lnSpc>
              <a:buClr>
                <a:srgbClr val="382971"/>
              </a:buClr>
              <a:buSzPct val="125000"/>
              <a:buFont typeface="Wingdings" panose="05000000000000000000" pitchFamily="2" charset="2"/>
              <a:buChar char="§"/>
            </a:pPr>
            <a:r>
              <a:rPr lang="en-US" altLang="en-US" sz="2000" dirty="0">
                <a:solidFill>
                  <a:srgbClr val="000000"/>
                </a:solidFill>
                <a:latin typeface="Tahoma" panose="020B0604030504040204" pitchFamily="34" charset="0"/>
                <a:cs typeface="Arial" panose="020B0604020202020204" pitchFamily="34" charset="0"/>
              </a:rPr>
              <a:t>If the hash algorithm is properly designed and distributes the hashes uniformly over the output space, "finding a hash collision" by random guessing is exceedingly unlikely</a:t>
            </a:r>
          </a:p>
        </p:txBody>
      </p:sp>
    </p:spTree>
    <p:extLst>
      <p:ext uri="{BB962C8B-B14F-4D97-AF65-F5344CB8AC3E}">
        <p14:creationId xmlns:p14="http://schemas.microsoft.com/office/powerpoint/2010/main" val="218434925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4190</Words>
  <Application>Microsoft Office PowerPoint</Application>
  <PresentationFormat>Widescreen</PresentationFormat>
  <Paragraphs>463</Paragraphs>
  <Slides>52</Slides>
  <Notes>20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52</vt:i4>
      </vt:variant>
    </vt:vector>
  </HeadingPairs>
  <TitlesOfParts>
    <vt:vector size="66" baseType="lpstr">
      <vt:lpstr>MS PGothic</vt:lpstr>
      <vt:lpstr>MS PGothic</vt:lpstr>
      <vt:lpstr>Arial</vt:lpstr>
      <vt:lpstr>Calibri</vt:lpstr>
      <vt:lpstr>Calibri Light</vt:lpstr>
      <vt:lpstr>Courier New</vt:lpstr>
      <vt:lpstr>Symbol</vt:lpstr>
      <vt:lpstr>Tahoma</vt:lpstr>
      <vt:lpstr>Times New Roman</vt:lpstr>
      <vt:lpstr>Tw Cen MT</vt:lpstr>
      <vt:lpstr>Wingdings</vt:lpstr>
      <vt:lpstr>ZapfDingbats</vt:lpstr>
      <vt:lpstr>ヒラギノ角ゴ Pro W3</vt:lpstr>
      <vt:lpstr>Retrospect</vt:lpstr>
      <vt:lpstr>Cryptography: Encryption Algorithms, Hashing and Digital Signatures</vt:lpstr>
      <vt:lpstr>Symmetric and Asymmetric Cryptography Overview</vt:lpstr>
      <vt:lpstr>Symmetric Cryptography</vt:lpstr>
      <vt:lpstr>Asymmetric Cryptography</vt:lpstr>
      <vt:lpstr>Symmetric Encryption Methods</vt:lpstr>
      <vt:lpstr>Stream Cipher</vt:lpstr>
      <vt:lpstr>Stream Cipher</vt:lpstr>
      <vt:lpstr>Example</vt:lpstr>
      <vt:lpstr>Fundamental Weaknesses of Stream Ciphers</vt:lpstr>
      <vt:lpstr>Block Cipher</vt:lpstr>
      <vt:lpstr>Block Cipher: Example</vt:lpstr>
      <vt:lpstr>Block Cipher</vt:lpstr>
      <vt:lpstr>Symmetric encryption algorithms</vt:lpstr>
      <vt:lpstr>Popular Symmetric Encryption Algorithms</vt:lpstr>
      <vt:lpstr>Data Encryption Standard (DES)</vt:lpstr>
      <vt:lpstr>Data Encryption Standard (DES)</vt:lpstr>
      <vt:lpstr>Triple DES (3DES)</vt:lpstr>
      <vt:lpstr>Triple DES: 3-DES</vt:lpstr>
      <vt:lpstr>3 DES (with three different keys)</vt:lpstr>
      <vt:lpstr>AES (Rijndael) : Advanced Encryption Standard</vt:lpstr>
      <vt:lpstr>AES (Advanced Encryption Standard)</vt:lpstr>
      <vt:lpstr>3-DES or AES ??</vt:lpstr>
      <vt:lpstr>Other secret Key Algorithms</vt:lpstr>
      <vt:lpstr>Asymmetric Encryption</vt:lpstr>
      <vt:lpstr>RSA</vt:lpstr>
      <vt:lpstr>Diffie-Hellman</vt:lpstr>
      <vt:lpstr>Introduction to Hash Functions</vt:lpstr>
      <vt:lpstr>Example of Hash Function</vt:lpstr>
      <vt:lpstr>Hash Functions Example</vt:lpstr>
      <vt:lpstr>Cryptographic Hash</vt:lpstr>
      <vt:lpstr>Cryptographic Hash</vt:lpstr>
      <vt:lpstr>Cryptographic Hash</vt:lpstr>
      <vt:lpstr>Hashing Functions</vt:lpstr>
      <vt:lpstr>Hash Function</vt:lpstr>
      <vt:lpstr>Difference between Hashing and  Encryption</vt:lpstr>
      <vt:lpstr>Hashing vs. Encryption</vt:lpstr>
      <vt:lpstr>Common Uses of Hashing Functions</vt:lpstr>
      <vt:lpstr>Hashing passwords</vt:lpstr>
      <vt:lpstr>Testing a proposed password against the stored hash</vt:lpstr>
      <vt:lpstr>SHA</vt:lpstr>
      <vt:lpstr>Block Method</vt:lpstr>
      <vt:lpstr>Four Variants of SHA</vt:lpstr>
      <vt:lpstr>Message Digest</vt:lpstr>
      <vt:lpstr>MD2 and MD4</vt:lpstr>
      <vt:lpstr>MD5</vt:lpstr>
      <vt:lpstr>Digital Signatures</vt:lpstr>
      <vt:lpstr>Nonrepudiation</vt:lpstr>
      <vt:lpstr>Digital Signatures</vt:lpstr>
      <vt:lpstr>Example of Digital signature at Client end</vt:lpstr>
      <vt:lpstr>PowerPoint Presentation</vt:lpstr>
      <vt:lpstr>Collision Attack</vt:lpstr>
      <vt:lpstr>Hash Collisions – Hypothetical Example</vt:lpstr>
    </vt:vector>
  </TitlesOfParts>
  <Company>UWB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Encryption Algorithms, Hashing and Digital Signatures</dc:title>
  <dc:creator>Geethapriya Thamilarasu</dc:creator>
  <cp:lastModifiedBy>GEETHA THAMILARASU</cp:lastModifiedBy>
  <cp:revision>14</cp:revision>
  <dcterms:created xsi:type="dcterms:W3CDTF">2018-01-18T19:01:47Z</dcterms:created>
  <dcterms:modified xsi:type="dcterms:W3CDTF">2018-01-18T21:39:07Z</dcterms:modified>
</cp:coreProperties>
</file>