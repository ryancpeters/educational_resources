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notesMasterIdLst>
    <p:notesMasterId r:id="rId44"/>
  </p:notesMasterIdLst>
  <p:handoutMasterIdLst>
    <p:handoutMasterId r:id="rId45"/>
  </p:handoutMasterIdLst>
  <p:sldIdLst>
    <p:sldId id="274" r:id="rId2"/>
    <p:sldId id="256" r:id="rId3"/>
    <p:sldId id="304" r:id="rId4"/>
    <p:sldId id="305" r:id="rId5"/>
    <p:sldId id="283" r:id="rId6"/>
    <p:sldId id="284" r:id="rId7"/>
    <p:sldId id="319" r:id="rId8"/>
    <p:sldId id="320" r:id="rId9"/>
    <p:sldId id="321" r:id="rId10"/>
    <p:sldId id="322" r:id="rId11"/>
    <p:sldId id="308" r:id="rId12"/>
    <p:sldId id="315" r:id="rId13"/>
    <p:sldId id="316" r:id="rId14"/>
    <p:sldId id="317" r:id="rId15"/>
    <p:sldId id="307" r:id="rId16"/>
    <p:sldId id="306" r:id="rId17"/>
    <p:sldId id="299" r:id="rId18"/>
    <p:sldId id="286" r:id="rId19"/>
    <p:sldId id="287" r:id="rId20"/>
    <p:sldId id="288" r:id="rId21"/>
    <p:sldId id="289" r:id="rId22"/>
    <p:sldId id="290" r:id="rId23"/>
    <p:sldId id="291" r:id="rId24"/>
    <p:sldId id="300" r:id="rId25"/>
    <p:sldId id="302" r:id="rId26"/>
    <p:sldId id="293" r:id="rId27"/>
    <p:sldId id="294" r:id="rId28"/>
    <p:sldId id="314" r:id="rId29"/>
    <p:sldId id="309" r:id="rId30"/>
    <p:sldId id="310" r:id="rId31"/>
    <p:sldId id="311" r:id="rId32"/>
    <p:sldId id="312" r:id="rId33"/>
    <p:sldId id="313" r:id="rId34"/>
    <p:sldId id="295" r:id="rId35"/>
    <p:sldId id="296" r:id="rId36"/>
    <p:sldId id="276" r:id="rId37"/>
    <p:sldId id="297" r:id="rId38"/>
    <p:sldId id="275" r:id="rId39"/>
    <p:sldId id="298" r:id="rId40"/>
    <p:sldId id="277" r:id="rId41"/>
    <p:sldId id="278" r:id="rId42"/>
    <p:sldId id="279" r:id="rId4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>
      <p:cViewPr varScale="1">
        <p:scale>
          <a:sx n="105" d="100"/>
          <a:sy n="105" d="100"/>
        </p:scale>
        <p:origin x="120" y="240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t>1/4/2018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t>1/4/2018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A2C4ED9-CE22-4FFB-A8A1-1B12A7085A64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058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30E495A-3192-4CCD-9C56-1FD995A1A707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6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1879C5-56BF-4F18-BD4C-8CBA1BF0315A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70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98B185-F8C6-44F5-A0A1-25268E20E360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58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EEFE668-918F-4E0F-B872-C32B5AD8FAF6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99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white">
          <a:xfrm>
            <a:off x="1141413" y="1600200"/>
            <a:ext cx="990295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top graphic" descr="Top border design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bottom graphic" descr="Bottom border design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93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4000" b="1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72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06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7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19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61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86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8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82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1/4/2018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032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 descr="Bottom border design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top graphic" descr="Top border design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1/4/2018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www.riskbasedsecurity.com/2017/11/no-shock-worst-year-for-vulnerabilities-already-only-through-q3-2017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nakedsecurity.sophos.com/2016/02/26/hospitals-vulnerable-to-cyber-attacks-on-just-about-everything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nakedsecurity.sophos.com/2016/03/07/pirates-hacked-shipping-company-to-steal-info-for-efficient-hijackings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fortune.com/2017/11/28/apple-security-flaw-vulnerability-bug-mac-high-sierra-root-password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nakedsecurity.sophos.com/2016/02/18/more-iot-insecurity-the-surveillance-camera-that-anyone-can-log-into/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Social engineering attacks, expla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412" y="19334"/>
            <a:ext cx="4631030" cy="660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05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600200"/>
            <a:ext cx="9982198" cy="32766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sz="6000" dirty="0" smtClean="0"/>
              <a:t>CSS 337: Secure Systems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6000" dirty="0" smtClean="0"/>
              <a:t>Introduction 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Course Overview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Introductions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 smtClean="0"/>
              <a:t>Who am I?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Who are you?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Why are you taking this class?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smtClean="0"/>
              <a:t>Your expectations for this class</a:t>
            </a:r>
          </a:p>
          <a:p>
            <a:pPr>
              <a:buFont typeface="Arial" charset="0"/>
              <a:buChar char="•"/>
              <a:defRPr/>
            </a:pPr>
            <a:r>
              <a:rPr lang="en-US" dirty="0" smtClean="0"/>
              <a:t>Do you have any security background?</a:t>
            </a:r>
          </a:p>
          <a:p>
            <a:pPr marL="11430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27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Syllabus Discussion	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Course syllabus on canvas page!</a:t>
            </a:r>
          </a:p>
        </p:txBody>
      </p:sp>
    </p:spTree>
    <p:extLst>
      <p:ext uri="{BB962C8B-B14F-4D97-AF65-F5344CB8AC3E}">
        <p14:creationId xmlns:p14="http://schemas.microsoft.com/office/powerpoint/2010/main" val="377552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 is security?</a:t>
            </a:r>
          </a:p>
        </p:txBody>
      </p:sp>
      <p:sp>
        <p:nvSpPr>
          <p:cNvPr id="8195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altLang="en-US" sz="2800" dirty="0" smtClean="0"/>
              <a:t>System correctness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/>
              <a:t>If user supplies expected input, system generates desired output</a:t>
            </a:r>
          </a:p>
          <a:p>
            <a:pPr>
              <a:lnSpc>
                <a:spcPct val="114000"/>
              </a:lnSpc>
            </a:pPr>
            <a:r>
              <a:rPr lang="en-US" altLang="en-US" sz="2800" dirty="0" smtClean="0"/>
              <a:t>Security</a:t>
            </a:r>
          </a:p>
          <a:p>
            <a:pPr lvl="1">
              <a:lnSpc>
                <a:spcPct val="114000"/>
              </a:lnSpc>
            </a:pPr>
            <a:r>
              <a:rPr lang="en-US" altLang="en-US" dirty="0" smtClean="0"/>
              <a:t>If attacker supplies unexpected input, system does not fail in certain ways</a:t>
            </a:r>
          </a:p>
          <a:p>
            <a:pPr>
              <a:lnSpc>
                <a:spcPct val="114000"/>
              </a:lnSpc>
            </a:pPr>
            <a:endParaRPr lang="en-US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57323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446212" y="457200"/>
            <a:ext cx="9143538" cy="1066800"/>
          </a:xfrm>
        </p:spPr>
        <p:txBody>
          <a:bodyPr/>
          <a:lstStyle/>
          <a:p>
            <a:r>
              <a:rPr lang="en-US" altLang="en-US" dirty="0" smtClean="0"/>
              <a:t>What is security?</a:t>
            </a:r>
          </a:p>
        </p:txBody>
      </p:sp>
      <p:sp>
        <p:nvSpPr>
          <p:cNvPr id="92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446212" y="2057400"/>
            <a:ext cx="9143538" cy="41148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altLang="en-US" sz="2600" dirty="0" smtClean="0"/>
              <a:t>System correctness</a:t>
            </a:r>
          </a:p>
          <a:p>
            <a:pPr lvl="1">
              <a:lnSpc>
                <a:spcPct val="114000"/>
              </a:lnSpc>
            </a:pPr>
            <a:r>
              <a:rPr lang="en-US" altLang="en-US" sz="2600" dirty="0" smtClean="0"/>
              <a:t>Good input </a:t>
            </a:r>
            <a:r>
              <a:rPr lang="en-US" altLang="en-US" sz="2600" dirty="0" smtClean="0">
                <a:sym typeface="Symbol" panose="05050102010706020507" pitchFamily="18" charset="2"/>
              </a:rPr>
              <a:t> Good output</a:t>
            </a:r>
            <a:endParaRPr lang="en-US" altLang="en-US" sz="2600" dirty="0" smtClean="0"/>
          </a:p>
          <a:p>
            <a:pPr>
              <a:lnSpc>
                <a:spcPct val="114000"/>
              </a:lnSpc>
            </a:pPr>
            <a:r>
              <a:rPr lang="en-US" altLang="en-US" sz="2600" dirty="0" smtClean="0"/>
              <a:t>Security</a:t>
            </a:r>
          </a:p>
          <a:p>
            <a:pPr lvl="1">
              <a:lnSpc>
                <a:spcPct val="114000"/>
              </a:lnSpc>
            </a:pPr>
            <a:r>
              <a:rPr lang="en-US" altLang="en-US" sz="2600" dirty="0" smtClean="0"/>
              <a:t>Bad input </a:t>
            </a:r>
            <a:r>
              <a:rPr lang="en-US" altLang="en-US" sz="2600" dirty="0" smtClean="0">
                <a:sym typeface="Symbol" panose="05050102010706020507" pitchFamily="18" charset="2"/>
              </a:rPr>
              <a:t></a:t>
            </a:r>
            <a:r>
              <a:rPr lang="en-US" altLang="en-US" sz="2600" dirty="0" smtClean="0"/>
              <a:t> Bad output</a:t>
            </a:r>
          </a:p>
          <a:p>
            <a:endParaRPr lang="en-US" altLang="en-US" dirty="0" smtClean="0"/>
          </a:p>
        </p:txBody>
      </p:sp>
      <p:cxnSp>
        <p:nvCxnSpPr>
          <p:cNvPr id="9220" name="Straight Connector 4"/>
          <p:cNvCxnSpPr>
            <a:cxnSpLocks noChangeShapeType="1"/>
          </p:cNvCxnSpPr>
          <p:nvPr/>
        </p:nvCxnSpPr>
        <p:spPr bwMode="auto">
          <a:xfrm rot="5400000">
            <a:off x="3503612" y="4191000"/>
            <a:ext cx="381000" cy="762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2570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Security Fails – Policy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Overly strict policy – people circumvent strict policies and hide the evidence</a:t>
            </a:r>
          </a:p>
          <a:p>
            <a:r>
              <a:rPr lang="en-US" dirty="0" smtClean="0"/>
              <a:t>No enforcement – policies without consequences</a:t>
            </a:r>
          </a:p>
          <a:p>
            <a:r>
              <a:rPr lang="en-US" dirty="0" smtClean="0"/>
              <a:t>Lack of specifics – don’t do bad stuff</a:t>
            </a:r>
          </a:p>
          <a:p>
            <a:r>
              <a:rPr lang="en-US" dirty="0" smtClean="0"/>
              <a:t>Policy that can’t be managed</a:t>
            </a:r>
          </a:p>
          <a:p>
            <a:r>
              <a:rPr lang="en-US" dirty="0" smtClean="0"/>
              <a:t>No solution guidance – security team only knows how to say 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2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Security Fails - Misconfiguration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Defaults might not be secure</a:t>
            </a:r>
          </a:p>
          <a:p>
            <a:r>
              <a:rPr lang="en-US" dirty="0" smtClean="0"/>
              <a:t>‘temporary’ accounts and passwords</a:t>
            </a:r>
          </a:p>
          <a:p>
            <a:r>
              <a:rPr lang="en-US" dirty="0" smtClean="0"/>
              <a:t>Not understanding what information is valuable to an attacker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6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Security Fails – Poor 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2133600"/>
            <a:ext cx="6719694" cy="4350205"/>
          </a:xfrm>
        </p:spPr>
        <p:txBody>
          <a:bodyPr/>
          <a:lstStyle/>
          <a:p>
            <a:r>
              <a:rPr lang="en-US" dirty="0" smtClean="0"/>
              <a:t>Why would anyone do that?</a:t>
            </a:r>
          </a:p>
          <a:p>
            <a:r>
              <a:rPr lang="en-US" dirty="0" smtClean="0"/>
              <a:t>But we’re on a trusted network</a:t>
            </a:r>
          </a:p>
          <a:p>
            <a:r>
              <a:rPr lang="en-US" dirty="0" smtClean="0"/>
              <a:t>Not understanding attackers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675" y="1826043"/>
            <a:ext cx="4314361" cy="323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9143538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Security Fails – Patch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Patch Management can be hard</a:t>
            </a:r>
          </a:p>
          <a:p>
            <a:r>
              <a:rPr lang="en-US" dirty="0" smtClean="0"/>
              <a:t>Core OS</a:t>
            </a:r>
          </a:p>
          <a:p>
            <a:r>
              <a:rPr lang="en-US" dirty="0" smtClean="0"/>
              <a:t>Network devices</a:t>
            </a:r>
          </a:p>
          <a:p>
            <a:r>
              <a:rPr lang="en-US" dirty="0" smtClean="0"/>
              <a:t>Not keeping yourself up to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5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Required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you securing?  Why?</a:t>
            </a:r>
          </a:p>
          <a:p>
            <a:pPr lvl="1"/>
            <a:r>
              <a:rPr lang="en-US" dirty="0" smtClean="0"/>
              <a:t>Securing my current location has different requirements than securing a web server</a:t>
            </a:r>
          </a:p>
          <a:p>
            <a:r>
              <a:rPr lang="en-US" dirty="0" smtClean="0"/>
              <a:t>How much is it worth to you?</a:t>
            </a:r>
          </a:p>
          <a:p>
            <a:pPr lvl="1"/>
            <a:r>
              <a:rPr lang="en-US" dirty="0" smtClean="0"/>
              <a:t>Don’t spend $1,000,000 on security products to secure your pet’s </a:t>
            </a:r>
            <a:r>
              <a:rPr lang="en-US" dirty="0"/>
              <a:t>F</a:t>
            </a:r>
            <a:r>
              <a:rPr lang="en-US" dirty="0" smtClean="0"/>
              <a:t>acebook page</a:t>
            </a:r>
          </a:p>
          <a:p>
            <a:r>
              <a:rPr lang="en-US" dirty="0" smtClean="0"/>
              <a:t>What is the threat model?</a:t>
            </a:r>
          </a:p>
          <a:p>
            <a:pPr lvl="1"/>
            <a:r>
              <a:rPr lang="en-US" dirty="0" smtClean="0"/>
              <a:t>Securing a system against script kiddies is different than securing it against the NSA.</a:t>
            </a:r>
          </a:p>
        </p:txBody>
      </p:sp>
    </p:spTree>
    <p:extLst>
      <p:ext uri="{BB962C8B-B14F-4D97-AF65-F5344CB8AC3E}">
        <p14:creationId xmlns:p14="http://schemas.microsoft.com/office/powerpoint/2010/main" val="124946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Thinking about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is the result of holistic design</a:t>
            </a:r>
          </a:p>
          <a:p>
            <a:r>
              <a:rPr lang="en-US" dirty="0" smtClean="0"/>
              <a:t>Sprinkling crypto or policies doesn’t make something secure</a:t>
            </a:r>
          </a:p>
          <a:p>
            <a:r>
              <a:rPr lang="en-US" dirty="0" smtClean="0"/>
              <a:t>Attackers don’t follow the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7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7257"/>
            <a:ext cx="9143538" cy="1066800"/>
          </a:xfrm>
        </p:spPr>
        <p:txBody>
          <a:bodyPr>
            <a:normAutofit/>
          </a:bodyPr>
          <a:lstStyle/>
          <a:p>
            <a:r>
              <a:rPr lang="en-US" sz="4400" b="1" dirty="0" smtClean="0"/>
              <a:t>Models</a:t>
            </a:r>
            <a:endParaRPr lang="en-US" sz="4400" b="1" dirty="0"/>
          </a:p>
        </p:txBody>
      </p:sp>
      <p:pic>
        <p:nvPicPr>
          <p:cNvPr id="4098" name="Picture 2" descr="http://images.fanpop.com/images/image_uploads/ANTM-america-27s-next-top-model-35803_1600_12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057" y="1295401"/>
            <a:ext cx="7162800" cy="537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04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76" y="304800"/>
            <a:ext cx="9143538" cy="914400"/>
          </a:xfrm>
        </p:spPr>
        <p:txBody>
          <a:bodyPr/>
          <a:lstStyle/>
          <a:p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1524000"/>
            <a:ext cx="10820400" cy="4876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These might be more useful to us</a:t>
            </a:r>
          </a:p>
          <a:p>
            <a:pPr>
              <a:lnSpc>
                <a:spcPct val="134000"/>
              </a:lnSpc>
            </a:pPr>
            <a:r>
              <a:rPr lang="en-US" dirty="0" smtClean="0"/>
              <a:t>Security Models</a:t>
            </a:r>
          </a:p>
          <a:p>
            <a:pPr lvl="1"/>
            <a:r>
              <a:rPr lang="en-US" dirty="0" smtClean="0"/>
              <a:t>A scheme for defining and enforcing security policies</a:t>
            </a:r>
          </a:p>
          <a:p>
            <a:pPr lvl="2"/>
            <a:r>
              <a:rPr lang="en-US" dirty="0" smtClean="0"/>
              <a:t>Only the teacher can change grades</a:t>
            </a:r>
          </a:p>
          <a:p>
            <a:pPr lvl="2"/>
            <a:r>
              <a:rPr lang="en-US" dirty="0" smtClean="0"/>
              <a:t>Students can only view grade assigned to them</a:t>
            </a:r>
          </a:p>
          <a:p>
            <a:r>
              <a:rPr lang="en-US" dirty="0" smtClean="0"/>
              <a:t>Threat Models</a:t>
            </a:r>
          </a:p>
          <a:p>
            <a:pPr lvl="1"/>
            <a:r>
              <a:rPr lang="en-US" dirty="0" smtClean="0"/>
              <a:t>Defines what an attacker wants to do and what the attacker can do to accomplish that</a:t>
            </a:r>
          </a:p>
          <a:p>
            <a:pPr lvl="2"/>
            <a:r>
              <a:rPr lang="en-US" dirty="0" smtClean="0"/>
              <a:t>The attacker wants to launch a </a:t>
            </a:r>
            <a:r>
              <a:rPr lang="en-US" dirty="0" err="1" smtClean="0"/>
              <a:t>DoS</a:t>
            </a:r>
            <a:r>
              <a:rPr lang="en-US" dirty="0" smtClean="0"/>
              <a:t> attack with less than 1,000,000 bots</a:t>
            </a:r>
          </a:p>
          <a:p>
            <a:pPr lvl="2"/>
            <a:r>
              <a:rPr lang="en-US" dirty="0" smtClean="0"/>
              <a:t>The student wants to change her grade without stealing the teacher’s password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7791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81000"/>
            <a:ext cx="9143538" cy="1066800"/>
          </a:xfrm>
        </p:spPr>
        <p:txBody>
          <a:bodyPr/>
          <a:lstStyle/>
          <a:p>
            <a:r>
              <a:rPr lang="en-US" dirty="0" smtClean="0"/>
              <a:t>Everything is Secure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612" y="1828800"/>
            <a:ext cx="9372600" cy="4525963"/>
          </a:xfrm>
        </p:spPr>
        <p:txBody>
          <a:bodyPr>
            <a:normAutofit/>
          </a:bodyPr>
          <a:lstStyle/>
          <a:p>
            <a:r>
              <a:rPr lang="en-US" sz="2600" dirty="0" smtClean="0"/>
              <a:t>Original systems were concerned with Safety/Correctness</a:t>
            </a:r>
          </a:p>
          <a:p>
            <a:pPr lvl="1"/>
            <a:r>
              <a:rPr lang="en-US" sz="2600" dirty="0" smtClean="0"/>
              <a:t>Given good input, get good output</a:t>
            </a:r>
          </a:p>
          <a:p>
            <a:r>
              <a:rPr lang="en-US" sz="2600" dirty="0" smtClean="0"/>
              <a:t>Why?   </a:t>
            </a:r>
          </a:p>
          <a:p>
            <a:pPr lvl="1"/>
            <a:r>
              <a:rPr lang="en-US" sz="2600" dirty="0" smtClean="0"/>
              <a:t>Their threat model was mistakes, not attackers</a:t>
            </a:r>
          </a:p>
          <a:p>
            <a:pPr>
              <a:lnSpc>
                <a:spcPct val="114000"/>
              </a:lnSpc>
            </a:pPr>
            <a:r>
              <a:rPr lang="en-US" sz="2600" dirty="0" smtClean="0"/>
              <a:t>Everything is secure if your threat model is weak.</a:t>
            </a:r>
          </a:p>
        </p:txBody>
      </p:sp>
    </p:spTree>
    <p:extLst>
      <p:ext uri="{BB962C8B-B14F-4D97-AF65-F5344CB8AC3E}">
        <p14:creationId xmlns:p14="http://schemas.microsoft.com/office/powerpoint/2010/main" val="196740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04800"/>
            <a:ext cx="9143538" cy="838200"/>
          </a:xfrm>
        </p:spPr>
        <p:txBody>
          <a:bodyPr/>
          <a:lstStyle/>
          <a:p>
            <a:r>
              <a:rPr lang="en-US" dirty="0" smtClean="0"/>
              <a:t>Nothing is Secure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624" y="1664594"/>
            <a:ext cx="10287000" cy="4419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4000"/>
              </a:lnSpc>
            </a:pPr>
            <a:r>
              <a:rPr lang="en-US" sz="2800" dirty="0" smtClean="0"/>
              <a:t>Given </a:t>
            </a:r>
            <a:r>
              <a:rPr lang="en-US" sz="2800" dirty="0" smtClean="0"/>
              <a:t>infinite time or resources</a:t>
            </a:r>
          </a:p>
          <a:p>
            <a:pPr lvl="1">
              <a:lnSpc>
                <a:spcPct val="114000"/>
              </a:lnSpc>
            </a:pPr>
            <a:r>
              <a:rPr lang="en-US" sz="2800" dirty="0"/>
              <a:t>N</a:t>
            </a:r>
            <a:r>
              <a:rPr lang="en-US" sz="2800" dirty="0" smtClean="0"/>
              <a:t>o encryption does any good</a:t>
            </a:r>
          </a:p>
          <a:p>
            <a:pPr lvl="1">
              <a:lnSpc>
                <a:spcPct val="114000"/>
              </a:lnSpc>
            </a:pPr>
            <a:r>
              <a:rPr lang="en-US" sz="2800" dirty="0" smtClean="0"/>
              <a:t>Somebody will make a mistake</a:t>
            </a:r>
          </a:p>
          <a:p>
            <a:pPr>
              <a:lnSpc>
                <a:spcPct val="114000"/>
              </a:lnSpc>
            </a:pPr>
            <a:r>
              <a:rPr lang="en-US" sz="2800" dirty="0" smtClean="0"/>
              <a:t>Abandon all hope.  </a:t>
            </a:r>
            <a:endParaRPr lang="en-US" sz="2800" dirty="0" smtClean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The </a:t>
            </a:r>
            <a:r>
              <a:rPr lang="en-US" i="1" dirty="0"/>
              <a:t>art of war teaches us to rely not on the likelihood of the enemy’s not coming,</a:t>
            </a:r>
          </a:p>
          <a:p>
            <a:pPr marL="0" indent="0">
              <a:buNone/>
            </a:pPr>
            <a:r>
              <a:rPr lang="en-US" i="1" dirty="0"/>
              <a:t>but on our own readiness to receive him; not on the chance of his not attacking,</a:t>
            </a:r>
          </a:p>
          <a:p>
            <a:pPr marL="0" indent="0">
              <a:buNone/>
            </a:pPr>
            <a:r>
              <a:rPr lang="en-US" i="1" dirty="0"/>
              <a:t>but rather on the fact that we have made our position unassailable.</a:t>
            </a:r>
          </a:p>
          <a:p>
            <a:pPr marL="0" indent="0">
              <a:buNone/>
            </a:pPr>
            <a:r>
              <a:rPr lang="en-US" dirty="0"/>
              <a:t>—</a:t>
            </a:r>
            <a:r>
              <a:rPr lang="en-US" i="1" dirty="0"/>
              <a:t>The Art of War, </a:t>
            </a:r>
            <a:r>
              <a:rPr lang="en-US" dirty="0"/>
              <a:t>Sun Tzu</a:t>
            </a:r>
            <a:endParaRPr lang="en-US" sz="2800" dirty="0"/>
          </a:p>
          <a:p>
            <a:pPr>
              <a:lnSpc>
                <a:spcPct val="114000"/>
              </a:lnSpc>
            </a:pPr>
            <a:endParaRPr lang="en-US" sz="2800" dirty="0" smtClean="0"/>
          </a:p>
        </p:txBody>
      </p:sp>
      <p:pic>
        <p:nvPicPr>
          <p:cNvPr id="1026" name="Picture 2" descr="http://anoutpouring.files.wordpress.com/2011/03/woz-turn-back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612" y="304800"/>
            <a:ext cx="4759458" cy="356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59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Players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Attacker</a:t>
            </a:r>
          </a:p>
          <a:p>
            <a:pPr lvl="1"/>
            <a:r>
              <a:rPr lang="en-US" dirty="0" smtClean="0"/>
              <a:t>Has value for various abilities to control other people’s assets</a:t>
            </a:r>
          </a:p>
          <a:p>
            <a:pPr lvl="2"/>
            <a:r>
              <a:rPr lang="en-US" dirty="0" smtClean="0"/>
              <a:t>Learn about where you live</a:t>
            </a:r>
          </a:p>
          <a:p>
            <a:pPr lvl="2"/>
            <a:r>
              <a:rPr lang="en-US" dirty="0" smtClean="0"/>
              <a:t>Steal credit card info</a:t>
            </a:r>
          </a:p>
          <a:p>
            <a:pPr lvl="2"/>
            <a:r>
              <a:rPr lang="en-US" dirty="0" smtClean="0"/>
              <a:t>Shutdown uranium enrichment facility</a:t>
            </a:r>
          </a:p>
          <a:p>
            <a:r>
              <a:rPr lang="en-US" dirty="0" smtClean="0"/>
              <a:t>Defender</a:t>
            </a:r>
          </a:p>
          <a:p>
            <a:pPr lvl="1"/>
            <a:r>
              <a:rPr lang="en-US" dirty="0" smtClean="0"/>
              <a:t>Protect assets</a:t>
            </a:r>
          </a:p>
          <a:p>
            <a:pPr lvl="1"/>
            <a:r>
              <a:rPr lang="en-US" dirty="0" smtClean="0"/>
              <a:t>Prevent attacker from gaining value?</a:t>
            </a:r>
          </a:p>
        </p:txBody>
      </p:sp>
    </p:spTree>
    <p:extLst>
      <p:ext uri="{BB962C8B-B14F-4D97-AF65-F5344CB8AC3E}">
        <p14:creationId xmlns:p14="http://schemas.microsoft.com/office/powerpoint/2010/main" val="11443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446212" y="381000"/>
            <a:ext cx="9143538" cy="838200"/>
          </a:xfrm>
        </p:spPr>
        <p:txBody>
          <a:bodyPr/>
          <a:lstStyle/>
          <a:p>
            <a:r>
              <a:rPr lang="en-US" altLang="en-US" dirty="0" smtClean="0"/>
              <a:t>Security Goals/Properties (The CIA)</a:t>
            </a:r>
          </a:p>
        </p:txBody>
      </p:sp>
      <p:sp>
        <p:nvSpPr>
          <p:cNvPr id="11267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065212" y="1447800"/>
            <a:ext cx="10820400" cy="4953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4000"/>
              </a:lnSpc>
            </a:pPr>
            <a:r>
              <a:rPr lang="en-US" sz="2600" dirty="0"/>
              <a:t>Confidentiality</a:t>
            </a:r>
          </a:p>
          <a:p>
            <a:pPr lvl="1">
              <a:lnSpc>
                <a:spcPct val="124000"/>
              </a:lnSpc>
            </a:pPr>
            <a:r>
              <a:rPr lang="en-US" sz="2600" dirty="0"/>
              <a:t>Information should not be available to people who shouldn’t know it</a:t>
            </a:r>
          </a:p>
          <a:p>
            <a:pPr lvl="2">
              <a:lnSpc>
                <a:spcPct val="124000"/>
              </a:lnSpc>
            </a:pPr>
            <a:r>
              <a:rPr lang="en-US" dirty="0"/>
              <a:t>Alice can’t see Bob’s grades</a:t>
            </a:r>
          </a:p>
          <a:p>
            <a:pPr>
              <a:lnSpc>
                <a:spcPct val="124000"/>
              </a:lnSpc>
            </a:pPr>
            <a:r>
              <a:rPr lang="en-US" sz="2600" dirty="0"/>
              <a:t>Integrity</a:t>
            </a:r>
          </a:p>
          <a:p>
            <a:pPr lvl="1">
              <a:lnSpc>
                <a:spcPct val="124000"/>
              </a:lnSpc>
            </a:pPr>
            <a:r>
              <a:rPr lang="en-US" sz="2600" dirty="0"/>
              <a:t>Information cannot be modified by people who shouldn’t be able to modify it</a:t>
            </a:r>
          </a:p>
          <a:p>
            <a:pPr lvl="2">
              <a:lnSpc>
                <a:spcPct val="124000"/>
              </a:lnSpc>
            </a:pPr>
            <a:r>
              <a:rPr lang="en-US" dirty="0"/>
              <a:t>Bob can’t change his own grades</a:t>
            </a:r>
          </a:p>
          <a:p>
            <a:pPr>
              <a:lnSpc>
                <a:spcPct val="124000"/>
              </a:lnSpc>
            </a:pPr>
            <a:r>
              <a:rPr lang="en-US" sz="2600" dirty="0"/>
              <a:t>Availability</a:t>
            </a:r>
          </a:p>
          <a:p>
            <a:pPr lvl="1">
              <a:lnSpc>
                <a:spcPct val="124000"/>
              </a:lnSpc>
            </a:pPr>
            <a:r>
              <a:rPr lang="en-US" sz="2600" dirty="0"/>
              <a:t>Information must be available when needed</a:t>
            </a:r>
          </a:p>
          <a:p>
            <a:pPr lvl="2">
              <a:lnSpc>
                <a:spcPct val="124000"/>
              </a:lnSpc>
            </a:pPr>
            <a:r>
              <a:rPr lang="en-US" dirty="0"/>
              <a:t>Bob can always check his grades</a:t>
            </a:r>
          </a:p>
        </p:txBody>
      </p:sp>
    </p:spTree>
    <p:extLst>
      <p:ext uri="{BB962C8B-B14F-4D97-AF65-F5344CB8AC3E}">
        <p14:creationId xmlns:p14="http://schemas.microsoft.com/office/powerpoint/2010/main" val="221041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027612" y="1100138"/>
            <a:ext cx="2209800" cy="22860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/>
              <a:t>System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4494212" y="1104900"/>
            <a:ext cx="533400" cy="2286000"/>
          </a:xfrm>
          <a:prstGeom prst="rect">
            <a:avLst/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7237412" y="1104900"/>
            <a:ext cx="533400" cy="2286000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2293" name="Picture 4" descr="http://indarktrees.com/pics/villian%2520co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1" t="2339" r="11314" b="20322"/>
          <a:stretch>
            <a:fillRect/>
          </a:stretch>
        </p:blipFill>
        <p:spPr bwMode="auto">
          <a:xfrm>
            <a:off x="8761412" y="1028700"/>
            <a:ext cx="170338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8" descr="Alice _8885 by Disney-Grandp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3" t="10526" r="9120" b="7895"/>
          <a:stretch>
            <a:fillRect/>
          </a:stretch>
        </p:blipFill>
        <p:spPr bwMode="auto">
          <a:xfrm>
            <a:off x="1827212" y="1028700"/>
            <a:ext cx="1600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Box 11"/>
          <p:cNvSpPr txBox="1">
            <a:spLocks noChangeArrowheads="1"/>
          </p:cNvSpPr>
          <p:nvPr/>
        </p:nvSpPr>
        <p:spPr bwMode="auto">
          <a:xfrm>
            <a:off x="9117013" y="3409950"/>
            <a:ext cx="1116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Attacker</a:t>
            </a:r>
          </a:p>
        </p:txBody>
      </p:sp>
      <p:sp>
        <p:nvSpPr>
          <p:cNvPr id="12296" name="TextBox 13"/>
          <p:cNvSpPr txBox="1">
            <a:spLocks noChangeArrowheads="1"/>
          </p:cNvSpPr>
          <p:nvPr/>
        </p:nvSpPr>
        <p:spPr bwMode="auto">
          <a:xfrm>
            <a:off x="2055812" y="340995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2297" name="Right Arrow 14"/>
          <p:cNvSpPr>
            <a:spLocks noChangeArrowheads="1"/>
          </p:cNvSpPr>
          <p:nvPr/>
        </p:nvSpPr>
        <p:spPr bwMode="auto">
          <a:xfrm>
            <a:off x="3656012" y="14859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8" name="Right Arrow 15"/>
          <p:cNvSpPr>
            <a:spLocks noChangeArrowheads="1"/>
          </p:cNvSpPr>
          <p:nvPr/>
        </p:nvSpPr>
        <p:spPr bwMode="auto">
          <a:xfrm flipH="1">
            <a:off x="3656012" y="24003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9" name="Right Arrow 16"/>
          <p:cNvSpPr>
            <a:spLocks noChangeArrowheads="1"/>
          </p:cNvSpPr>
          <p:nvPr/>
        </p:nvSpPr>
        <p:spPr bwMode="auto">
          <a:xfrm>
            <a:off x="7923212" y="14859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0" name="Right Arrow 17"/>
          <p:cNvSpPr>
            <a:spLocks noChangeArrowheads="1"/>
          </p:cNvSpPr>
          <p:nvPr/>
        </p:nvSpPr>
        <p:spPr bwMode="auto">
          <a:xfrm flipH="1">
            <a:off x="7923212" y="24003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01" name="Title 15"/>
          <p:cNvSpPr>
            <a:spLocks noGrp="1"/>
          </p:cNvSpPr>
          <p:nvPr>
            <p:ph type="title"/>
          </p:nvPr>
        </p:nvSpPr>
        <p:spPr>
          <a:xfrm>
            <a:off x="2132012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General picture</a:t>
            </a:r>
          </a:p>
        </p:txBody>
      </p:sp>
      <p:sp>
        <p:nvSpPr>
          <p:cNvPr id="12302" name="Content Placeholder 14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8012" y="3843338"/>
            <a:ext cx="8686800" cy="2590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Security is about</a:t>
            </a:r>
          </a:p>
          <a:p>
            <a:pPr lvl="1"/>
            <a:r>
              <a:rPr lang="en-US" altLang="en-US" dirty="0" smtClean="0"/>
              <a:t>Honest user (e.g., Alice, Bob, …)</a:t>
            </a:r>
          </a:p>
          <a:p>
            <a:pPr lvl="1"/>
            <a:r>
              <a:rPr lang="en-US" altLang="en-US" dirty="0" smtClean="0"/>
              <a:t>Dishonest Attacker</a:t>
            </a:r>
          </a:p>
          <a:p>
            <a:pPr lvl="1"/>
            <a:r>
              <a:rPr lang="en-US" altLang="en-US" dirty="0" smtClean="0"/>
              <a:t>How the Attacker </a:t>
            </a:r>
          </a:p>
          <a:p>
            <a:pPr lvl="2"/>
            <a:r>
              <a:rPr lang="en-US" altLang="en-US" dirty="0" smtClean="0"/>
              <a:t>Disrupts honest user’s use of the system  (Integrity, Availability)</a:t>
            </a:r>
          </a:p>
          <a:p>
            <a:pPr lvl="2"/>
            <a:r>
              <a:rPr lang="en-US" altLang="en-US" dirty="0" smtClean="0"/>
              <a:t>Learns information intended for Alice only (Confidentiality)</a:t>
            </a:r>
          </a:p>
        </p:txBody>
      </p:sp>
    </p:spTree>
    <p:extLst>
      <p:ext uri="{BB962C8B-B14F-4D97-AF65-F5344CB8AC3E}">
        <p14:creationId xmlns:p14="http://schemas.microsoft.com/office/powerpoint/2010/main" val="401719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4418012" y="1976438"/>
            <a:ext cx="3276600" cy="3910012"/>
          </a:xfrm>
          <a:prstGeom prst="rect">
            <a:avLst/>
          </a:prstGeom>
          <a:solidFill>
            <a:schemeClr val="accent5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4418012" y="3981450"/>
            <a:ext cx="533400" cy="1905000"/>
          </a:xfrm>
          <a:prstGeom prst="rect">
            <a:avLst/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7161212" y="1976438"/>
            <a:ext cx="533400" cy="2157412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3317" name="Picture 4" descr="http://indarktrees.com/pics/villian%2520co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1" t="2339" r="11314" b="20322"/>
          <a:stretch>
            <a:fillRect/>
          </a:stretch>
        </p:blipFill>
        <p:spPr bwMode="auto">
          <a:xfrm>
            <a:off x="8685212" y="1905000"/>
            <a:ext cx="170338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8" descr="Alice _8885 by Disney-Grandp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3" t="10526" r="9120" b="7895"/>
          <a:stretch>
            <a:fillRect/>
          </a:stretch>
        </p:blipFill>
        <p:spPr bwMode="auto">
          <a:xfrm>
            <a:off x="1751012" y="3886200"/>
            <a:ext cx="1600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Box 11"/>
          <p:cNvSpPr txBox="1">
            <a:spLocks noChangeArrowheads="1"/>
          </p:cNvSpPr>
          <p:nvPr/>
        </p:nvSpPr>
        <p:spPr bwMode="auto">
          <a:xfrm>
            <a:off x="8450262" y="4286250"/>
            <a:ext cx="213995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Network Attacker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Intercepts and controls network communication</a:t>
            </a:r>
          </a:p>
        </p:txBody>
      </p:sp>
      <p:sp>
        <p:nvSpPr>
          <p:cNvPr id="13320" name="TextBox 13"/>
          <p:cNvSpPr txBox="1">
            <a:spLocks noChangeArrowheads="1"/>
          </p:cNvSpPr>
          <p:nvPr/>
        </p:nvSpPr>
        <p:spPr bwMode="auto">
          <a:xfrm>
            <a:off x="2055812" y="626745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3321" name="Right Arrow 14"/>
          <p:cNvSpPr>
            <a:spLocks noChangeArrowheads="1"/>
          </p:cNvSpPr>
          <p:nvPr/>
        </p:nvSpPr>
        <p:spPr bwMode="auto">
          <a:xfrm>
            <a:off x="3579812" y="43434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2" name="Right Arrow 15"/>
          <p:cNvSpPr>
            <a:spLocks noChangeArrowheads="1"/>
          </p:cNvSpPr>
          <p:nvPr/>
        </p:nvSpPr>
        <p:spPr bwMode="auto">
          <a:xfrm flipH="1">
            <a:off x="3579812" y="52578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3" name="Right Arrow 16"/>
          <p:cNvSpPr>
            <a:spLocks noChangeArrowheads="1"/>
          </p:cNvSpPr>
          <p:nvPr/>
        </p:nvSpPr>
        <p:spPr bwMode="auto">
          <a:xfrm>
            <a:off x="7847012" y="23622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4" name="Right Arrow 17"/>
          <p:cNvSpPr>
            <a:spLocks noChangeArrowheads="1"/>
          </p:cNvSpPr>
          <p:nvPr/>
        </p:nvSpPr>
        <p:spPr bwMode="auto">
          <a:xfrm flipH="1">
            <a:off x="7847012" y="32766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3325" name="Picture 11" descr="CompaqAlphaServerES4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2" y="2255838"/>
            <a:ext cx="1155700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6" name="TextBox 28"/>
          <p:cNvSpPr txBox="1">
            <a:spLocks noChangeArrowheads="1"/>
          </p:cNvSpPr>
          <p:nvPr/>
        </p:nvSpPr>
        <p:spPr bwMode="auto">
          <a:xfrm>
            <a:off x="6477000" y="4743450"/>
            <a:ext cx="1001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System</a:t>
            </a:r>
          </a:p>
        </p:txBody>
      </p:sp>
      <p:cxnSp>
        <p:nvCxnSpPr>
          <p:cNvPr id="13327" name="Straight Connector 33"/>
          <p:cNvCxnSpPr>
            <a:cxnSpLocks noChangeShapeType="1"/>
          </p:cNvCxnSpPr>
          <p:nvPr/>
        </p:nvCxnSpPr>
        <p:spPr bwMode="auto">
          <a:xfrm rot="10800000">
            <a:off x="5954712" y="2967038"/>
            <a:ext cx="488950" cy="3032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8" name="Straight Connector 35"/>
          <p:cNvCxnSpPr>
            <a:cxnSpLocks noChangeShapeType="1"/>
          </p:cNvCxnSpPr>
          <p:nvPr/>
        </p:nvCxnSpPr>
        <p:spPr bwMode="auto">
          <a:xfrm rot="5400000" flipH="1" flipV="1">
            <a:off x="5765006" y="3899694"/>
            <a:ext cx="1028700" cy="10017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Cloud Callout 21"/>
          <p:cNvSpPr/>
          <p:nvPr/>
        </p:nvSpPr>
        <p:spPr bwMode="auto">
          <a:xfrm>
            <a:off x="6323012" y="2778125"/>
            <a:ext cx="1155700" cy="1276350"/>
          </a:xfrm>
          <a:prstGeom prst="cloudCallout">
            <a:avLst>
              <a:gd name="adj1" fmla="val -200975"/>
              <a:gd name="adj2" fmla="val 175085"/>
            </a:avLst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pic>
        <p:nvPicPr>
          <p:cNvPr id="13330" name="Picture 18" descr="toshiba_satellite_a105_s4284_lapto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412" y="4252914"/>
            <a:ext cx="1436688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5"/>
          <p:cNvSpPr txBox="1">
            <a:spLocks/>
          </p:cNvSpPr>
          <p:nvPr/>
        </p:nvSpPr>
        <p:spPr>
          <a:xfrm>
            <a:off x="2132012" y="304800"/>
            <a:ext cx="7772400" cy="9144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6786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4418012" y="1976438"/>
            <a:ext cx="3276600" cy="3910012"/>
          </a:xfrm>
          <a:prstGeom prst="rect">
            <a:avLst/>
          </a:prstGeom>
          <a:solidFill>
            <a:schemeClr val="accent5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418012" y="3981450"/>
            <a:ext cx="533400" cy="1905000"/>
          </a:xfrm>
          <a:prstGeom prst="rect">
            <a:avLst/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7161212" y="1981200"/>
            <a:ext cx="533400" cy="2000250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4341" name="Picture 4" descr="http://indarktrees.com/pics/villian%2520co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1" t="2339" r="11314" b="20322"/>
          <a:stretch>
            <a:fillRect/>
          </a:stretch>
        </p:blipFill>
        <p:spPr bwMode="auto">
          <a:xfrm>
            <a:off x="8685212" y="1905000"/>
            <a:ext cx="170338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8" descr="Alice _8885 by Disney-Grandp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3" t="10526" r="9120" b="7895"/>
          <a:stretch>
            <a:fillRect/>
          </a:stretch>
        </p:blipFill>
        <p:spPr bwMode="auto">
          <a:xfrm>
            <a:off x="1751012" y="3886200"/>
            <a:ext cx="1600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11"/>
          <p:cNvSpPr txBox="1">
            <a:spLocks noChangeArrowheads="1"/>
          </p:cNvSpPr>
          <p:nvPr/>
        </p:nvSpPr>
        <p:spPr bwMode="auto">
          <a:xfrm>
            <a:off x="8228013" y="4286250"/>
            <a:ext cx="22764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Web Attacker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Sets up malicious site visited by victim; no control of network</a:t>
            </a:r>
          </a:p>
        </p:txBody>
      </p:sp>
      <p:sp>
        <p:nvSpPr>
          <p:cNvPr id="14344" name="TextBox 13"/>
          <p:cNvSpPr txBox="1">
            <a:spLocks noChangeArrowheads="1"/>
          </p:cNvSpPr>
          <p:nvPr/>
        </p:nvSpPr>
        <p:spPr bwMode="auto">
          <a:xfrm>
            <a:off x="2055812" y="626745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4345" name="Right Arrow 14"/>
          <p:cNvSpPr>
            <a:spLocks noChangeArrowheads="1"/>
          </p:cNvSpPr>
          <p:nvPr/>
        </p:nvSpPr>
        <p:spPr bwMode="auto">
          <a:xfrm>
            <a:off x="3579812" y="43434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6" name="Right Arrow 15"/>
          <p:cNvSpPr>
            <a:spLocks noChangeArrowheads="1"/>
          </p:cNvSpPr>
          <p:nvPr/>
        </p:nvSpPr>
        <p:spPr bwMode="auto">
          <a:xfrm flipH="1">
            <a:off x="3579812" y="52578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7" name="Right Arrow 16"/>
          <p:cNvSpPr>
            <a:spLocks noChangeArrowheads="1"/>
          </p:cNvSpPr>
          <p:nvPr/>
        </p:nvSpPr>
        <p:spPr bwMode="auto">
          <a:xfrm>
            <a:off x="7847012" y="23622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8" name="Right Arrow 17"/>
          <p:cNvSpPr>
            <a:spLocks noChangeArrowheads="1"/>
          </p:cNvSpPr>
          <p:nvPr/>
        </p:nvSpPr>
        <p:spPr bwMode="auto">
          <a:xfrm flipH="1">
            <a:off x="7847012" y="32766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4349" name="Picture 11" descr="CompaqAlphaServerES4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2" y="2228851"/>
            <a:ext cx="1155700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50" name="TextBox 28"/>
          <p:cNvSpPr txBox="1">
            <a:spLocks noChangeArrowheads="1"/>
          </p:cNvSpPr>
          <p:nvPr/>
        </p:nvSpPr>
        <p:spPr bwMode="auto">
          <a:xfrm>
            <a:off x="4706938" y="2619375"/>
            <a:ext cx="1001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System</a:t>
            </a:r>
          </a:p>
        </p:txBody>
      </p:sp>
      <p:sp>
        <p:nvSpPr>
          <p:cNvPr id="30" name="Cloud Callout 29"/>
          <p:cNvSpPr/>
          <p:nvPr/>
        </p:nvSpPr>
        <p:spPr bwMode="auto">
          <a:xfrm>
            <a:off x="6170612" y="3981450"/>
            <a:ext cx="1155700" cy="1276350"/>
          </a:xfrm>
          <a:prstGeom prst="cloudCallout">
            <a:avLst>
              <a:gd name="adj1" fmla="val -186846"/>
              <a:gd name="adj2" fmla="val 43949"/>
            </a:avLst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cxnSp>
        <p:nvCxnSpPr>
          <p:cNvPr id="14352" name="Straight Connector 33"/>
          <p:cNvCxnSpPr>
            <a:cxnSpLocks noChangeShapeType="1"/>
            <a:stCxn id="30" idx="3"/>
          </p:cNvCxnSpPr>
          <p:nvPr/>
        </p:nvCxnSpPr>
        <p:spPr bwMode="auto">
          <a:xfrm rot="16200000" flipV="1">
            <a:off x="6442075" y="3748088"/>
            <a:ext cx="492125" cy="12065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3" name="Straight Connector 35"/>
          <p:cNvCxnSpPr>
            <a:cxnSpLocks noChangeShapeType="1"/>
          </p:cNvCxnSpPr>
          <p:nvPr/>
        </p:nvCxnSpPr>
        <p:spPr bwMode="auto">
          <a:xfrm flipV="1">
            <a:off x="5778500" y="4743450"/>
            <a:ext cx="457200" cy="17145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354" name="Picture 18" descr="toshiba_satellite_a105_s4284_lapto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412" y="4252914"/>
            <a:ext cx="1436688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5"/>
          <p:cNvSpPr txBox="1">
            <a:spLocks/>
          </p:cNvSpPr>
          <p:nvPr/>
        </p:nvSpPr>
        <p:spPr>
          <a:xfrm>
            <a:off x="2132012" y="304800"/>
            <a:ext cx="7772400" cy="9144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Web security</a:t>
            </a:r>
          </a:p>
        </p:txBody>
      </p:sp>
    </p:spTree>
    <p:extLst>
      <p:ext uri="{BB962C8B-B14F-4D97-AF65-F5344CB8AC3E}">
        <p14:creationId xmlns:p14="http://schemas.microsoft.com/office/powerpoint/2010/main" val="276187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4418012" y="1976438"/>
            <a:ext cx="3276600" cy="3910012"/>
          </a:xfrm>
          <a:prstGeom prst="rect">
            <a:avLst/>
          </a:prstGeom>
          <a:solidFill>
            <a:schemeClr val="accent5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4418012" y="2590800"/>
            <a:ext cx="533400" cy="3295650"/>
          </a:xfrm>
          <a:prstGeom prst="rect">
            <a:avLst/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5713412" y="2514600"/>
            <a:ext cx="1981200" cy="457200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5365" name="Picture 4" descr="http://indarktrees.com/pics/villian%2520co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1" t="2339" r="11314" b="20322"/>
          <a:stretch>
            <a:fillRect/>
          </a:stretch>
        </p:blipFill>
        <p:spPr bwMode="auto">
          <a:xfrm>
            <a:off x="8685212" y="1905000"/>
            <a:ext cx="170338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8" descr="Alice _8885 by Disney-Grandp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3" t="10526" r="9120" b="7895"/>
          <a:stretch>
            <a:fillRect/>
          </a:stretch>
        </p:blipFill>
        <p:spPr bwMode="auto">
          <a:xfrm>
            <a:off x="1751012" y="3886200"/>
            <a:ext cx="1600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TextBox 11"/>
          <p:cNvSpPr txBox="1">
            <a:spLocks noChangeArrowheads="1"/>
          </p:cNvSpPr>
          <p:nvPr/>
        </p:nvSpPr>
        <p:spPr bwMode="auto">
          <a:xfrm>
            <a:off x="8228013" y="4286250"/>
            <a:ext cx="22764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/>
              <a:t>OS Attacker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Controls malicious files and applications</a:t>
            </a:r>
          </a:p>
        </p:txBody>
      </p:sp>
      <p:sp>
        <p:nvSpPr>
          <p:cNvPr id="15368" name="TextBox 13"/>
          <p:cNvSpPr txBox="1">
            <a:spLocks noChangeArrowheads="1"/>
          </p:cNvSpPr>
          <p:nvPr/>
        </p:nvSpPr>
        <p:spPr bwMode="auto">
          <a:xfrm>
            <a:off x="2055812" y="626745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5369" name="Right Arrow 14"/>
          <p:cNvSpPr>
            <a:spLocks noChangeArrowheads="1"/>
          </p:cNvSpPr>
          <p:nvPr/>
        </p:nvSpPr>
        <p:spPr bwMode="auto">
          <a:xfrm>
            <a:off x="3579812" y="43434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0" name="Right Arrow 15"/>
          <p:cNvSpPr>
            <a:spLocks noChangeArrowheads="1"/>
          </p:cNvSpPr>
          <p:nvPr/>
        </p:nvSpPr>
        <p:spPr bwMode="auto">
          <a:xfrm flipH="1">
            <a:off x="3579812" y="52578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1" name="Right Arrow 16"/>
          <p:cNvSpPr>
            <a:spLocks noChangeArrowheads="1"/>
          </p:cNvSpPr>
          <p:nvPr/>
        </p:nvSpPr>
        <p:spPr bwMode="auto">
          <a:xfrm>
            <a:off x="7847012" y="23622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2" name="Right Arrow 17"/>
          <p:cNvSpPr>
            <a:spLocks noChangeArrowheads="1"/>
          </p:cNvSpPr>
          <p:nvPr/>
        </p:nvSpPr>
        <p:spPr bwMode="auto">
          <a:xfrm flipH="1">
            <a:off x="7847012" y="327660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Title 15"/>
          <p:cNvSpPr txBox="1">
            <a:spLocks/>
          </p:cNvSpPr>
          <p:nvPr/>
        </p:nvSpPr>
        <p:spPr>
          <a:xfrm>
            <a:off x="2132012" y="304800"/>
            <a:ext cx="7772400" cy="914400"/>
          </a:xfrm>
          <a:prstGeom prst="rect">
            <a:avLst/>
          </a:prstGeom>
        </p:spPr>
        <p:txBody>
          <a:bodyPr/>
          <a:lstStyle/>
          <a:p>
            <a:pPr eaLnBrk="0" hangingPunct="0">
              <a:defRPr/>
            </a:pPr>
            <a:r>
              <a:rPr 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Operating system security</a:t>
            </a:r>
          </a:p>
        </p:txBody>
      </p:sp>
      <p:sp>
        <p:nvSpPr>
          <p:cNvPr id="15374" name="Rectangle 4"/>
          <p:cNvSpPr>
            <a:spLocks noChangeArrowheads="1"/>
          </p:cNvSpPr>
          <p:nvPr/>
        </p:nvSpPr>
        <p:spPr bwMode="auto">
          <a:xfrm>
            <a:off x="4418012" y="2514600"/>
            <a:ext cx="1066800" cy="457200"/>
          </a:xfrm>
          <a:prstGeom prst="rect">
            <a:avLst/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5" name="Rectangle 5"/>
          <p:cNvSpPr>
            <a:spLocks noChangeArrowheads="1"/>
          </p:cNvSpPr>
          <p:nvPr/>
        </p:nvSpPr>
        <p:spPr bwMode="auto">
          <a:xfrm>
            <a:off x="7161212" y="2514600"/>
            <a:ext cx="533400" cy="1066800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5376" name="Picture 5" descr="http://stats.macewan.ca/learn/students/tutorial/glossary/images/OPER-SYS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2395539"/>
            <a:ext cx="35147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3799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027612" y="661988"/>
            <a:ext cx="2209800" cy="2286000"/>
          </a:xfrm>
          <a:prstGeom prst="rect">
            <a:avLst/>
          </a:prstGeom>
          <a:solidFill>
            <a:schemeClr val="accent5">
              <a:lumMod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/>
              <a:t>System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4494212" y="666750"/>
            <a:ext cx="533400" cy="2286000"/>
          </a:xfrm>
          <a:prstGeom prst="rect">
            <a:avLst/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7237412" y="666750"/>
            <a:ext cx="533400" cy="2286000"/>
          </a:xfrm>
          <a:prstGeom prst="rect">
            <a:avLst/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6389" name="Picture 4" descr="http://indarktrees.com/pics/villian%2520co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1" t="2339" r="11314" b="20322"/>
          <a:stretch>
            <a:fillRect/>
          </a:stretch>
        </p:blipFill>
        <p:spPr bwMode="auto">
          <a:xfrm>
            <a:off x="8761412" y="590550"/>
            <a:ext cx="170338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8" descr="Alice _8885 by Disney-Grandpa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3" t="10526" r="9120" b="7895"/>
          <a:stretch>
            <a:fillRect/>
          </a:stretch>
        </p:blipFill>
        <p:spPr bwMode="auto">
          <a:xfrm>
            <a:off x="1827212" y="590550"/>
            <a:ext cx="1600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Box 11"/>
          <p:cNvSpPr txBox="1">
            <a:spLocks noChangeArrowheads="1"/>
          </p:cNvSpPr>
          <p:nvPr/>
        </p:nvSpPr>
        <p:spPr bwMode="auto">
          <a:xfrm>
            <a:off x="9193213" y="3257550"/>
            <a:ext cx="1116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Attacker</a:t>
            </a:r>
          </a:p>
        </p:txBody>
      </p:sp>
      <p:sp>
        <p:nvSpPr>
          <p:cNvPr id="16392" name="TextBox 13"/>
          <p:cNvSpPr txBox="1">
            <a:spLocks noChangeArrowheads="1"/>
          </p:cNvSpPr>
          <p:nvPr/>
        </p:nvSpPr>
        <p:spPr bwMode="auto">
          <a:xfrm>
            <a:off x="2132012" y="325755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Alice</a:t>
            </a:r>
          </a:p>
        </p:txBody>
      </p:sp>
      <p:sp>
        <p:nvSpPr>
          <p:cNvPr id="16393" name="Right Arrow 14"/>
          <p:cNvSpPr>
            <a:spLocks noChangeArrowheads="1"/>
          </p:cNvSpPr>
          <p:nvPr/>
        </p:nvSpPr>
        <p:spPr bwMode="auto">
          <a:xfrm>
            <a:off x="3656012" y="104775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4" name="Right Arrow 15"/>
          <p:cNvSpPr>
            <a:spLocks noChangeArrowheads="1"/>
          </p:cNvSpPr>
          <p:nvPr/>
        </p:nvSpPr>
        <p:spPr bwMode="auto">
          <a:xfrm flipH="1">
            <a:off x="3656012" y="196215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699FF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5" name="Right Arrow 16"/>
          <p:cNvSpPr>
            <a:spLocks noChangeArrowheads="1"/>
          </p:cNvSpPr>
          <p:nvPr/>
        </p:nvSpPr>
        <p:spPr bwMode="auto">
          <a:xfrm>
            <a:off x="7923212" y="104775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96" name="Right Arrow 17"/>
          <p:cNvSpPr>
            <a:spLocks noChangeArrowheads="1"/>
          </p:cNvSpPr>
          <p:nvPr/>
        </p:nvSpPr>
        <p:spPr bwMode="auto">
          <a:xfrm flipH="1">
            <a:off x="7923212" y="1962150"/>
            <a:ext cx="6858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12700" algn="ctr">
            <a:solidFill>
              <a:schemeClr val="tx1"/>
            </a:solidFill>
            <a:round/>
            <a:headEnd/>
            <a:tailEnd type="triangle" w="lg" len="med"/>
          </a:ln>
        </p:spPr>
        <p:txBody>
          <a:bodyPr wrap="none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84212" y="4114800"/>
            <a:ext cx="11353800" cy="205740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/>
          <a:lstStyle/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lang="en-US" sz="2400" kern="0" dirty="0"/>
              <a:t>Confidentiality: Attacker </a:t>
            </a:r>
            <a:r>
              <a:rPr lang="en-US" sz="2400" kern="0" dirty="0" smtClean="0"/>
              <a:t>cannot </a:t>
            </a:r>
            <a:r>
              <a:rPr lang="en-US" sz="2400" kern="0" dirty="0"/>
              <a:t>learn Alice’s secrets</a:t>
            </a:r>
          </a:p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lang="en-US" sz="2400" kern="0" dirty="0"/>
              <a:t>Integrity: Attacker </a:t>
            </a:r>
            <a:r>
              <a:rPr lang="en-US" sz="2400" kern="0" dirty="0" smtClean="0"/>
              <a:t>cannot </a:t>
            </a:r>
            <a:r>
              <a:rPr lang="en-US" sz="2400" kern="0" dirty="0"/>
              <a:t>undetectably corrupt system’s function for Alice</a:t>
            </a:r>
          </a:p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110000"/>
              <a:defRPr/>
            </a:pPr>
            <a:r>
              <a:rPr lang="en-US" sz="2400" kern="0" dirty="0"/>
              <a:t>Availability: </a:t>
            </a:r>
            <a:r>
              <a:rPr lang="en-US" sz="2400" kern="0" dirty="0" smtClean="0"/>
              <a:t>Attacker cannot </a:t>
            </a:r>
            <a:r>
              <a:rPr lang="en-US" sz="2400" kern="0" dirty="0"/>
              <a:t>keep system from being useful to Alice</a:t>
            </a:r>
          </a:p>
        </p:txBody>
      </p:sp>
    </p:spTree>
    <p:extLst>
      <p:ext uri="{BB962C8B-B14F-4D97-AF65-F5344CB8AC3E}">
        <p14:creationId xmlns:p14="http://schemas.microsoft.com/office/powerpoint/2010/main" val="354656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Tradeoffs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05000"/>
            <a:ext cx="9143538" cy="4114800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What is security worth?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Performance?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Usability?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Money?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Time?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2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Relationships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 rot="10800000">
            <a:off x="3808412" y="2438400"/>
            <a:ext cx="4038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925395" y="5181600"/>
            <a:ext cx="40386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 rot="10800000">
            <a:off x="3055535" y="2812961"/>
            <a:ext cx="381000" cy="2362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 rot="10800000">
            <a:off x="8532811" y="2819401"/>
            <a:ext cx="381000" cy="2362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7009586">
            <a:off x="5677558" y="2033241"/>
            <a:ext cx="398548" cy="42040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14909839">
            <a:off x="5856788" y="2033242"/>
            <a:ext cx="398548" cy="42040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66738" y="2146013"/>
            <a:ext cx="166423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9976" y="5364416"/>
            <a:ext cx="166423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Attacks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5147" y="1969557"/>
            <a:ext cx="296985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Vulnerabilities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872" y="5432272"/>
            <a:ext cx="366959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Countermeasures</a:t>
            </a:r>
          </a:p>
        </p:txBody>
      </p:sp>
    </p:spTree>
    <p:extLst>
      <p:ext uri="{BB962C8B-B14F-4D97-AF65-F5344CB8AC3E}">
        <p14:creationId xmlns:p14="http://schemas.microsoft.com/office/powerpoint/2010/main" val="307264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Slide Number Placehold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7727DBD-475A-4ABA-BA2E-DA06B4E41574}" type="slidenum">
              <a:rPr lang="en-US" altLang="en-US">
                <a:latin typeface="Times" panose="02020603050405020304" pitchFamily="18" charset="0"/>
              </a:rPr>
              <a:pPr eaLnBrk="1" hangingPunct="1"/>
              <a:t>26</a:t>
            </a:fld>
            <a:endParaRPr lang="en-US" altLang="en-US">
              <a:latin typeface="Times" panose="02020603050405020304" pitchFamily="18" charset="0"/>
            </a:endParaRPr>
          </a:p>
        </p:txBody>
      </p:sp>
      <p:pic>
        <p:nvPicPr>
          <p:cNvPr id="46085" name="Picture 2" descr="http://www.strangegirldesigns.com/undergroundma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2" y="457200"/>
            <a:ext cx="86804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7770812" y="704851"/>
            <a:ext cx="2819400" cy="14779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28600" eaLnBrk="0" hangingPunct="0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Spam service</a:t>
            </a:r>
          </a:p>
          <a:p>
            <a:pPr indent="228600" eaLnBrk="0" hangingPunct="0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Rent-a-</a:t>
            </a:r>
            <a:r>
              <a:rPr lang="en-US">
                <a:solidFill>
                  <a:schemeClr val="bg1"/>
                </a:solidFill>
              </a:rPr>
              <a:t>bot</a:t>
            </a:r>
            <a:endParaRPr lang="en-US" dirty="0">
              <a:solidFill>
                <a:schemeClr val="bg1"/>
              </a:solidFill>
            </a:endParaRPr>
          </a:p>
          <a:p>
            <a:pPr indent="228600" eaLnBrk="0" hangingPunct="0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Cash-out</a:t>
            </a:r>
          </a:p>
          <a:p>
            <a:pPr indent="228600" eaLnBrk="0" hangingPunct="0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Pump and dump</a:t>
            </a:r>
          </a:p>
          <a:p>
            <a:pPr indent="228600" eaLnBrk="0" hangingPunct="0">
              <a:buFont typeface="Arial" pitchFamily="34" charset="0"/>
              <a:buChar char="•"/>
              <a:defRPr/>
            </a:pPr>
            <a:r>
              <a:rPr lang="en-US" dirty="0" err="1">
                <a:solidFill>
                  <a:schemeClr val="bg1"/>
                </a:solidFill>
              </a:rPr>
              <a:t>Botnet</a:t>
            </a:r>
            <a:r>
              <a:rPr lang="en-US" dirty="0">
                <a:solidFill>
                  <a:schemeClr val="bg1"/>
                </a:solidFill>
              </a:rPr>
              <a:t> rental</a:t>
            </a:r>
          </a:p>
        </p:txBody>
      </p:sp>
    </p:spTree>
    <p:extLst>
      <p:ext uri="{BB962C8B-B14F-4D97-AF65-F5344CB8AC3E}">
        <p14:creationId xmlns:p14="http://schemas.microsoft.com/office/powerpoint/2010/main" val="99934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370012" y="304800"/>
            <a:ext cx="9143538" cy="1066800"/>
          </a:xfrm>
        </p:spPr>
        <p:txBody>
          <a:bodyPr/>
          <a:lstStyle/>
          <a:p>
            <a:r>
              <a:rPr lang="en-US" altLang="en-US" dirty="0" smtClean="0"/>
              <a:t>Underground goods and services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827212" y="1600200"/>
          <a:ext cx="8610600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1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47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Last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Goods</a:t>
                      </a:r>
                      <a:r>
                        <a:rPr lang="en-US" baseline="0" dirty="0" smtClean="0"/>
                        <a:t> and services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Previous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Bank accounts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22%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21%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$10-1000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Credit cards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13%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22%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$0.40-$20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Full identity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$1-15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N/R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Online</a:t>
                      </a:r>
                      <a:r>
                        <a:rPr lang="en-US" sz="1600" baseline="0" dirty="0" smtClean="0"/>
                        <a:t> auction site accounts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$1-8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Scams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$2.50/wk</a:t>
                      </a:r>
                      <a:r>
                        <a:rPr lang="en-US" sz="1600" baseline="0" dirty="0" smtClean="0"/>
                        <a:t> - $50/wk (hosting); $25 design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Mailers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$1-10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Email Addresses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$0.83-$10/MB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Email Passwords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$4-30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/>
                        <a:t>N/R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Drop (request or</a:t>
                      </a:r>
                      <a:r>
                        <a:rPr lang="en-US" sz="1600" baseline="0" dirty="0" smtClean="0"/>
                        <a:t> offer)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10-50%</a:t>
                      </a:r>
                      <a:r>
                        <a:rPr lang="en-US" sz="1600" baseline="0" dirty="0" smtClean="0"/>
                        <a:t> of drop amount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smtClean="0"/>
                        <a:t>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Proxies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$1.50-$30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9426" y="6443664"/>
            <a:ext cx="2338387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2"/>
                </a:solidFill>
              </a:rPr>
              <a:t>Credit: Zulfikar Ramzan</a:t>
            </a:r>
          </a:p>
        </p:txBody>
      </p:sp>
    </p:spTree>
    <p:extLst>
      <p:ext uri="{BB962C8B-B14F-4D97-AF65-F5344CB8AC3E}">
        <p14:creationId xmlns:p14="http://schemas.microsoft.com/office/powerpoint/2010/main" val="334702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Trends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1812" y="2209800"/>
            <a:ext cx="7620000" cy="48006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800" dirty="0">
                <a:latin typeface="Bell MT" panose="02020503060305020303" pitchFamily="18" charset="0"/>
              </a:rPr>
              <a:t>Do you know 96% of tested </a:t>
            </a:r>
            <a:endParaRPr lang="en-US" sz="2800" dirty="0" smtClean="0">
              <a:latin typeface="Bell MT" panose="02020503060305020303" pitchFamily="18" charset="0"/>
            </a:endParaRPr>
          </a:p>
          <a:p>
            <a:pPr marL="114300" indent="0">
              <a:buNone/>
              <a:defRPr/>
            </a:pPr>
            <a:r>
              <a:rPr lang="en-US" sz="2800" dirty="0" smtClean="0">
                <a:latin typeface="Bell MT" panose="02020503060305020303" pitchFamily="18" charset="0"/>
              </a:rPr>
              <a:t>   web applications </a:t>
            </a:r>
            <a:r>
              <a:rPr lang="en-US" sz="2800" dirty="0">
                <a:latin typeface="Bell MT" panose="02020503060305020303" pitchFamily="18" charset="0"/>
              </a:rPr>
              <a:t>have vulnerabilities</a:t>
            </a:r>
            <a:r>
              <a:rPr lang="en-US" sz="2800" dirty="0" smtClean="0">
                <a:latin typeface="Bell MT" panose="02020503060305020303" pitchFamily="18" charset="0"/>
              </a:rPr>
              <a:t>?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://www.riskbasedsecurity.com/2017/11/no-shock-worst-year-for-vulnerabilities-already-only-through-q3-2017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 smtClean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  <p:pic>
        <p:nvPicPr>
          <p:cNvPr id="21507" name="Picture 2" descr="https://geekflare.com/wp-content/uploads/2014/12/website-security-sca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2" y="0"/>
            <a:ext cx="2535238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951" y="0"/>
            <a:ext cx="43434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255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Hospitals vulnerable to cyber attacks on just about everything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22531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55800" y="2438400"/>
            <a:ext cx="742950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03412" y="1600201"/>
            <a:ext cx="746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hlinkClick r:id="rId3"/>
              </a:rPr>
              <a:t>https://nakedsecurity.sophos.com/2016/02/26/hospitals-vulnerable-to-cyber-attacks-on-just-about-everything/</a:t>
            </a:r>
            <a:endParaRPr lang="en-US" altLang="en-US" sz="180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1983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Pirates hacked shipping company to steal info for efficient hijackings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hlinkClick r:id="rId2"/>
              </a:rPr>
              <a:t>https://nakedsecurity.sophos.com/2016/03/07/pirates-hacked-shipping-company-to-steal-info-for-efficient-hijackings/</a:t>
            </a:r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2" y="2971800"/>
            <a:ext cx="64579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04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3412" y="533400"/>
            <a:ext cx="8735559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Major Apple Vulnerability Lets Anyone Log Into Macs Running Its Latest Operating System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979612" y="1901825"/>
            <a:ext cx="7620000" cy="4800600"/>
          </a:xfrm>
        </p:spPr>
        <p:txBody>
          <a:bodyPr/>
          <a:lstStyle/>
          <a:p>
            <a:r>
              <a:rPr lang="en-US" altLang="en-US" smtClean="0">
                <a:hlinkClick r:id="rId2"/>
              </a:rPr>
              <a:t>http://fortune.com/2017/11/28/apple-security-flaw-vulnerability-bug-mac-high-sierra-root-password/</a:t>
            </a:r>
            <a:endParaRPr lang="en-US" altLang="en-US" smtClean="0"/>
          </a:p>
          <a:p>
            <a:endParaRPr lang="en-US" altLang="en-US" smtClean="0"/>
          </a:p>
        </p:txBody>
      </p:sp>
      <p:pic>
        <p:nvPicPr>
          <p:cNvPr id="2458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062" y="3048000"/>
            <a:ext cx="4229100" cy="327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707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 descr="http://image.slidesharecdn.com/cyber-security-predictions-2016-160218115308/95/cyber-security-predictions-2016-25-638.jpg?cb=14557964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304801"/>
            <a:ext cx="6076950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208212" y="4343400"/>
            <a:ext cx="7239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BBB59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064A2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ACC6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Bell MT" panose="02020503060305020303" pitchFamily="18" charset="0"/>
              </a:rPr>
              <a:t>More IoT insecurity: The surveillance camera that anyone can log into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latin typeface="Bell MT" panose="020205030603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Bell MT" panose="02020503060305020303" pitchFamily="18" charset="0"/>
                <a:hlinkClick r:id="rId3"/>
              </a:rPr>
              <a:t>https://nakedsecurity.sophos.com/2016/02/18/more-iot-insecurity-the-surveillance-camera-that-anyone-can-log-into/</a:t>
            </a:r>
            <a:endParaRPr lang="en-US" altLang="en-US" sz="1800">
              <a:latin typeface="Bell MT" panose="02020503060305020303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47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1412" y="76200"/>
            <a:ext cx="9829800" cy="1143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Why are there security vulnerabilities? </a:t>
            </a: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6612" y="1295400"/>
            <a:ext cx="10591336" cy="5181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Lots of buggy software...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Why do programmers write insecure code?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Awareness is the main issue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dirty="0" smtClean="0"/>
              <a:t>Some </a:t>
            </a:r>
            <a:r>
              <a:rPr lang="en-US" altLang="en-US" dirty="0"/>
              <a:t>contributing factors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Few courses in computer security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Programming text books do not emphasize security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Few security audits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 smtClean="0"/>
              <a:t>Programmers </a:t>
            </a:r>
            <a:r>
              <a:rPr lang="en-US" altLang="en-US" dirty="0"/>
              <a:t>have many other things to worry about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Legacy software  (some solutions, e.g. Sandboxing)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Consumers do not care about security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Security is expensive and takes time</a:t>
            </a:r>
            <a:endParaRPr lang="en-US" altLang="en-US" dirty="0" smtClean="0"/>
          </a:p>
          <a:p>
            <a:pPr lvl="1" eaLnBrk="1" hangingPunct="1">
              <a:lnSpc>
                <a:spcPct val="120000"/>
              </a:lnSpc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898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9155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 smtClean="0"/>
              <a:t>   </a:t>
            </a:r>
            <a:r>
              <a:rPr lang="en-US" altLang="en-US" dirty="0"/>
              <a:t>If you remember only one thing from this course: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 smtClean="0"/>
              <a:t>   </a:t>
            </a:r>
            <a:r>
              <a:rPr lang="en-US" altLang="en-US" dirty="0" smtClean="0">
                <a:solidFill>
                  <a:schemeClr val="tx2"/>
                </a:solidFill>
              </a:rPr>
              <a:t>A vulnerability that is “too complicated for anyone to ever find” will be found !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dirty="0" smtClean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 smtClean="0"/>
              <a:t>I hope </a:t>
            </a:r>
            <a:r>
              <a:rPr lang="en-US" altLang="en-US" dirty="0"/>
              <a:t>you remember more than one </a:t>
            </a:r>
            <a:r>
              <a:rPr lang="en-US" altLang="en-US" dirty="0" smtClean="0"/>
              <a:t>thing </a:t>
            </a:r>
            <a:r>
              <a:rPr lang="en-US" altLang="en-US" dirty="0" smtClean="0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796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do you do if you find a vulnerability?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1)  Find vulnerability</a:t>
            </a:r>
          </a:p>
          <a:p>
            <a:pPr marL="0" indent="0">
              <a:buNone/>
            </a:pPr>
            <a:r>
              <a:rPr lang="en-US" dirty="0" smtClean="0"/>
              <a:t>2)  ????????</a:t>
            </a:r>
          </a:p>
          <a:p>
            <a:pPr marL="514350" indent="-514350">
              <a:buAutoNum type="arabicParenR" startAt="3"/>
            </a:pPr>
            <a:r>
              <a:rPr lang="en-US" dirty="0" smtClean="0"/>
              <a:t>Profit!!!</a:t>
            </a:r>
          </a:p>
          <a:p>
            <a:pPr marL="514350" indent="-514350">
              <a:buAutoNum type="arabicParenR" startAt="3"/>
            </a:pPr>
            <a:endParaRPr lang="en-US" dirty="0"/>
          </a:p>
          <a:p>
            <a:r>
              <a:rPr lang="en-US" dirty="0" smtClean="0"/>
              <a:t>Unfortunately ??????? Often includes some jail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39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2012" y="304800"/>
            <a:ext cx="8001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Ethical use of security information</a:t>
            </a:r>
          </a:p>
        </p:txBody>
      </p:sp>
      <p:sp>
        <p:nvSpPr>
          <p:cNvPr id="50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We discuss vulnerabilities and attacks</a:t>
            </a:r>
          </a:p>
          <a:p>
            <a:pPr lvl="1" eaLnBrk="1" hangingPunct="1"/>
            <a:r>
              <a:rPr lang="en-US" altLang="en-US" dirty="0" smtClean="0"/>
              <a:t>Most vulnerabilities have been fixed</a:t>
            </a:r>
          </a:p>
          <a:p>
            <a:pPr lvl="1" eaLnBrk="1" hangingPunct="1"/>
            <a:r>
              <a:rPr lang="en-US" altLang="en-US" dirty="0" smtClean="0"/>
              <a:t>Some attacks may still cause harm</a:t>
            </a:r>
          </a:p>
          <a:p>
            <a:pPr lvl="1" eaLnBrk="1" hangingPunct="1"/>
            <a:r>
              <a:rPr lang="en-US" altLang="en-US" dirty="0" smtClean="0"/>
              <a:t>Do not  try these at home or anyplace else</a:t>
            </a:r>
          </a:p>
          <a:p>
            <a:pPr eaLnBrk="1" hangingPunct="1"/>
            <a:r>
              <a:rPr lang="en-US" altLang="en-US" dirty="0" smtClean="0"/>
              <a:t>In this class, you will</a:t>
            </a:r>
          </a:p>
          <a:p>
            <a:pPr lvl="1" eaLnBrk="1" hangingPunct="1"/>
            <a:r>
              <a:rPr lang="en-US" altLang="en-US" dirty="0" smtClean="0"/>
              <a:t>Learn to prevent malicious attacks</a:t>
            </a:r>
          </a:p>
          <a:p>
            <a:pPr lvl="1" eaLnBrk="1" hangingPunct="1"/>
            <a:r>
              <a:rPr lang="en-US" altLang="en-US" dirty="0" smtClean="0"/>
              <a:t>Use knowledge for good purposes</a:t>
            </a:r>
          </a:p>
        </p:txBody>
      </p:sp>
    </p:spTree>
    <p:extLst>
      <p:ext uri="{BB962C8B-B14F-4D97-AF65-F5344CB8AC3E}">
        <p14:creationId xmlns:p14="http://schemas.microsoft.com/office/powerpoint/2010/main" val="40307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304800"/>
            <a:ext cx="9143538" cy="1066800"/>
          </a:xfrm>
        </p:spPr>
        <p:txBody>
          <a:bodyPr/>
          <a:lstStyle/>
          <a:p>
            <a:r>
              <a:rPr lang="en-US" dirty="0" smtClean="0"/>
              <a:t>Don’t do bad stuff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012" y="1676400"/>
            <a:ext cx="10134600" cy="4114800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dirty="0" smtClean="0"/>
              <a:t>Pretty much anything you learn can be used for good, bad or neutral.</a:t>
            </a:r>
          </a:p>
          <a:p>
            <a:pPr>
              <a:lnSpc>
                <a:spcPct val="114000"/>
              </a:lnSpc>
            </a:pPr>
            <a:r>
              <a:rPr lang="en-US" dirty="0" smtClean="0"/>
              <a:t>People are really sensitive about cybersecurity stuff right now though, so they make me tell you not to do bad stuff.</a:t>
            </a:r>
          </a:p>
          <a:p>
            <a:pPr>
              <a:lnSpc>
                <a:spcPct val="114000"/>
              </a:lnSpc>
            </a:pPr>
            <a:r>
              <a:rPr lang="en-US" dirty="0" smtClean="0"/>
              <a:t>If you want to test out the attacker side of some of the things we learn in this class, do it on an isolated machine/network or you could end up in jail or sued.</a:t>
            </a:r>
          </a:p>
          <a:p>
            <a:pPr lvl="1">
              <a:lnSpc>
                <a:spcPct val="114000"/>
              </a:lnSpc>
            </a:pPr>
            <a:r>
              <a:rPr lang="en-US" dirty="0" smtClean="0"/>
              <a:t>UW does not pay me well enough to bail you 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Law enforcement</a:t>
            </a:r>
          </a:p>
        </p:txBody>
      </p:sp>
      <p:sp>
        <p:nvSpPr>
          <p:cNvPr id="512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Sean Smith</a:t>
            </a:r>
          </a:p>
          <a:p>
            <a:pPr lvl="1" eaLnBrk="1" hangingPunct="1"/>
            <a:r>
              <a:rPr lang="en-US" altLang="en-US" smtClean="0"/>
              <a:t>Melissa virus: 5 years in prison, $150K fine</a:t>
            </a:r>
          </a:p>
          <a:p>
            <a:pPr eaLnBrk="1" hangingPunct="1"/>
            <a:r>
              <a:rPr lang="en-US" altLang="en-US" smtClean="0"/>
              <a:t>Ehud Tenenbaum (“The Analyzer”) </a:t>
            </a:r>
          </a:p>
          <a:p>
            <a:pPr lvl="1" eaLnBrk="1" hangingPunct="1"/>
            <a:r>
              <a:rPr lang="en-US" altLang="en-US" smtClean="0"/>
              <a:t>Broke into US DoD computers</a:t>
            </a:r>
          </a:p>
          <a:p>
            <a:pPr lvl="1" eaLnBrk="1" hangingPunct="1"/>
            <a:r>
              <a:rPr lang="en-US" altLang="en-US" smtClean="0"/>
              <a:t>6 mos service, suspended prison, $18K fine</a:t>
            </a:r>
          </a:p>
          <a:p>
            <a:pPr eaLnBrk="1" hangingPunct="1"/>
            <a:r>
              <a:rPr lang="en-US" altLang="en-US" smtClean="0"/>
              <a:t>Dmitry Sklyarov</a:t>
            </a:r>
          </a:p>
          <a:p>
            <a:pPr lvl="1" eaLnBrk="1" hangingPunct="1"/>
            <a:r>
              <a:rPr lang="en-US" altLang="en-US" smtClean="0"/>
              <a:t>Broke Adobe ebooks</a:t>
            </a:r>
          </a:p>
          <a:p>
            <a:pPr lvl="1" eaLnBrk="1" hangingPunct="1"/>
            <a:r>
              <a:rPr lang="en-US" altLang="en-US" smtClean="0"/>
              <a:t>Prosecuted under DMCA </a:t>
            </a:r>
          </a:p>
        </p:txBody>
      </p:sp>
    </p:spTree>
    <p:extLst>
      <p:ext uri="{BB962C8B-B14F-4D97-AF65-F5344CB8AC3E}">
        <p14:creationId xmlns:p14="http://schemas.microsoft.com/office/powerpoint/2010/main" val="30148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Ethical Vulnerability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876" y="1905000"/>
            <a:ext cx="9905536" cy="41148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dirty="0" smtClean="0"/>
              <a:t>Disclose research intent</a:t>
            </a:r>
          </a:p>
          <a:p>
            <a:pPr>
              <a:lnSpc>
                <a:spcPct val="114000"/>
              </a:lnSpc>
            </a:pPr>
            <a:r>
              <a:rPr lang="en-US" dirty="0" smtClean="0"/>
              <a:t>Seek legal counsel before beginning</a:t>
            </a:r>
          </a:p>
          <a:p>
            <a:pPr>
              <a:lnSpc>
                <a:spcPct val="114000"/>
              </a:lnSpc>
            </a:pPr>
            <a:r>
              <a:rPr lang="en-US" dirty="0" smtClean="0"/>
              <a:t>If the vulnerability is systemic, seek a solution</a:t>
            </a:r>
          </a:p>
          <a:p>
            <a:pPr>
              <a:lnSpc>
                <a:spcPct val="114000"/>
              </a:lnSpc>
            </a:pPr>
            <a:r>
              <a:rPr lang="en-US" dirty="0" smtClean="0"/>
              <a:t>Disclose vulnerabilities to those best able to correct them.  Sometimes this may mean taking them public (though often not with specific details) if a company will not acknowledge the issue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24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this class?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principles, solutions</a:t>
            </a:r>
          </a:p>
          <a:p>
            <a:r>
              <a:rPr lang="en-US" dirty="0" smtClean="0"/>
              <a:t>Breadth, not Depth</a:t>
            </a:r>
          </a:p>
          <a:p>
            <a:r>
              <a:rPr lang="en-US" dirty="0" smtClean="0"/>
              <a:t>Ways to think about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74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this class not?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run security tools</a:t>
            </a:r>
          </a:p>
          <a:p>
            <a:r>
              <a:rPr lang="en-US" dirty="0" smtClean="0"/>
              <a:t>How to “hack”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5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riped Border 16x9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riped black border presentation (widescreen).potx" id="{96522838-024F-4A04-A543-9EF396F770C0}" vid="{BD969DAD-256A-4182-ABA2-1577ED7D3144}"/>
    </a:ext>
  </a:extLst>
</a:theme>
</file>

<file path=ppt/theme/theme2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Striped black border presentation (widescreen)</Template>
  <TotalTime>153</TotalTime>
  <Words>1333</Words>
  <Application>Microsoft Office PowerPoint</Application>
  <PresentationFormat>Custom</PresentationFormat>
  <Paragraphs>295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Bell MT</vt:lpstr>
      <vt:lpstr>Calibri</vt:lpstr>
      <vt:lpstr>Euphemia</vt:lpstr>
      <vt:lpstr>Symbol</vt:lpstr>
      <vt:lpstr>Tahoma</vt:lpstr>
      <vt:lpstr>Times</vt:lpstr>
      <vt:lpstr>Times New Roman</vt:lpstr>
      <vt:lpstr>Wingdings</vt:lpstr>
      <vt:lpstr>Striped Border 16x9</vt:lpstr>
      <vt:lpstr>PowerPoint Presentation</vt:lpstr>
      <vt:lpstr>CSS 337: Secure Systems Introduction </vt:lpstr>
      <vt:lpstr>Introductions </vt:lpstr>
      <vt:lpstr>Syllabus Discussion </vt:lpstr>
      <vt:lpstr>What is security?</vt:lpstr>
      <vt:lpstr>What is security?</vt:lpstr>
      <vt:lpstr>How Security Fails – Policy Factors</vt:lpstr>
      <vt:lpstr>How Security Fails - Misconfiguration</vt:lpstr>
      <vt:lpstr>How Security Fails – Poor Assumptions</vt:lpstr>
      <vt:lpstr>How Security Fails – Patch Management</vt:lpstr>
      <vt:lpstr>Some Required Questions</vt:lpstr>
      <vt:lpstr>Thinking about Security</vt:lpstr>
      <vt:lpstr>Models</vt:lpstr>
      <vt:lpstr>Models</vt:lpstr>
      <vt:lpstr>Everything is Secure</vt:lpstr>
      <vt:lpstr>Nothing is Secure</vt:lpstr>
      <vt:lpstr>The Players</vt:lpstr>
      <vt:lpstr>Security Goals/Properties (The CIA)</vt:lpstr>
      <vt:lpstr>General picture</vt:lpstr>
      <vt:lpstr>PowerPoint Presentation</vt:lpstr>
      <vt:lpstr>PowerPoint Presentation</vt:lpstr>
      <vt:lpstr>PowerPoint Presentation</vt:lpstr>
      <vt:lpstr>PowerPoint Presentation</vt:lpstr>
      <vt:lpstr>Tradeoffs</vt:lpstr>
      <vt:lpstr>The Relationships</vt:lpstr>
      <vt:lpstr>PowerPoint Presentation</vt:lpstr>
      <vt:lpstr>Underground goods and services</vt:lpstr>
      <vt:lpstr>Current Trends</vt:lpstr>
      <vt:lpstr>PowerPoint Presentation</vt:lpstr>
      <vt:lpstr>Hospitals vulnerable to cyber attacks on just about everything </vt:lpstr>
      <vt:lpstr>Pirates hacked shipping company to steal info for efficient hijackings </vt:lpstr>
      <vt:lpstr>Major Apple Vulnerability Lets Anyone Log Into Macs Running Its Latest Operating System </vt:lpstr>
      <vt:lpstr>PowerPoint Presentation</vt:lpstr>
      <vt:lpstr>Why are there security vulnerabilities? </vt:lpstr>
      <vt:lpstr>PowerPoint Presentation</vt:lpstr>
      <vt:lpstr>What do you do if you find a vulnerability?</vt:lpstr>
      <vt:lpstr>Ethical use of security information</vt:lpstr>
      <vt:lpstr>Don’t do bad stuff</vt:lpstr>
      <vt:lpstr>Law enforcement</vt:lpstr>
      <vt:lpstr>Ethical Vulnerability Research</vt:lpstr>
      <vt:lpstr>What is this class?</vt:lpstr>
      <vt:lpstr>What is this class not?</vt:lpstr>
    </vt:vector>
  </TitlesOfParts>
  <Company>UWB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Geethapriya Thamilarasu</dc:creator>
  <cp:lastModifiedBy>GEETHA THAMILARASU</cp:lastModifiedBy>
  <cp:revision>15</cp:revision>
  <dcterms:created xsi:type="dcterms:W3CDTF">2018-01-04T16:30:25Z</dcterms:created>
  <dcterms:modified xsi:type="dcterms:W3CDTF">2018-01-04T23:12:07Z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