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2"/>
  </p:notesMasterIdLst>
  <p:sldIdLst>
    <p:sldId id="257" r:id="rId2"/>
    <p:sldId id="258" r:id="rId3"/>
    <p:sldId id="259" r:id="rId4"/>
    <p:sldId id="260" r:id="rId5"/>
    <p:sldId id="261" r:id="rId6"/>
    <p:sldId id="264" r:id="rId7"/>
    <p:sldId id="263"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92" r:id="rId32"/>
    <p:sldId id="288" r:id="rId33"/>
    <p:sldId id="289" r:id="rId34"/>
    <p:sldId id="290" r:id="rId35"/>
    <p:sldId id="291" r:id="rId36"/>
    <p:sldId id="293" r:id="rId37"/>
    <p:sldId id="295" r:id="rId38"/>
    <p:sldId id="296" r:id="rId39"/>
    <p:sldId id="297" r:id="rId40"/>
    <p:sldId id="299"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9226" autoAdjust="0"/>
    <p:restoredTop sz="86439" autoAdjust="0"/>
  </p:normalViewPr>
  <p:slideViewPr>
    <p:cSldViewPr snapToGrid="0">
      <p:cViewPr varScale="1">
        <p:scale>
          <a:sx n="65" d="100"/>
          <a:sy n="65" d="100"/>
        </p:scale>
        <p:origin x="53" y="355"/>
      </p:cViewPr>
      <p:guideLst/>
    </p:cSldViewPr>
  </p:slideViewPr>
  <p:outlineViewPr>
    <p:cViewPr>
      <p:scale>
        <a:sx n="33" d="100"/>
        <a:sy n="33" d="100"/>
      </p:scale>
      <p:origin x="0" y="-10776"/>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A4175B2-63DC-8042-B2FF-27404EB22296}"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1804B0D9-FD2E-6242-B3B6-247810730327}">
      <dgm:prSet phldrT="[Text]" custT="1"/>
      <dgm:spPr>
        <a:effectLst/>
      </dgm:spPr>
      <dgm:t>
        <a:bodyPr/>
        <a:lstStyle/>
        <a:p>
          <a:pPr algn="ctr"/>
          <a:r>
            <a:rPr lang="en-AU" sz="1500" dirty="0">
              <a:solidFill>
                <a:schemeClr val="tx1"/>
              </a:solidFill>
            </a:rPr>
            <a:t>Service control</a:t>
          </a:r>
          <a:endParaRPr lang="en-US" sz="1500" dirty="0">
            <a:solidFill>
              <a:schemeClr val="tx1"/>
            </a:solidFill>
          </a:endParaRPr>
        </a:p>
      </dgm:t>
    </dgm:pt>
    <dgm:pt modelId="{932E05C8-B255-AA4F-96AF-F2DE7FB40F13}" type="parTrans" cxnId="{EF36E002-2E61-0D40-A47D-B7AD27F0AAD0}">
      <dgm:prSet/>
      <dgm:spPr/>
      <dgm:t>
        <a:bodyPr/>
        <a:lstStyle/>
        <a:p>
          <a:endParaRPr lang="en-US"/>
        </a:p>
      </dgm:t>
    </dgm:pt>
    <dgm:pt modelId="{FD321654-EBB4-BD4D-B644-F47E4A5EB7FC}" type="sibTrans" cxnId="{EF36E002-2E61-0D40-A47D-B7AD27F0AAD0}">
      <dgm:prSet/>
      <dgm:spPr/>
      <dgm:t>
        <a:bodyPr/>
        <a:lstStyle/>
        <a:p>
          <a:endParaRPr lang="en-US"/>
        </a:p>
      </dgm:t>
    </dgm:pt>
    <dgm:pt modelId="{BBD5D0E9-FB4B-1D4B-8F9A-BEEC3129979A}">
      <dgm:prSet custT="1"/>
      <dgm:spPr/>
      <dgm:t>
        <a:bodyPr/>
        <a:lstStyle/>
        <a:p>
          <a:r>
            <a:rPr lang="en-AU" sz="1600" dirty="0">
              <a:solidFill>
                <a:schemeClr val="tx2">
                  <a:lumMod val="10000"/>
                </a:schemeClr>
              </a:solidFill>
            </a:rPr>
            <a:t>Determines the types of Internet services that can be accessed, inbound or outbound	</a:t>
          </a:r>
        </a:p>
      </dgm:t>
    </dgm:pt>
    <dgm:pt modelId="{1471C6D3-DF4C-4241-A9B0-E3EF24EC7E2D}" type="parTrans" cxnId="{AFFB1247-07BC-D948-9F16-5602039C4684}">
      <dgm:prSet/>
      <dgm:spPr/>
      <dgm:t>
        <a:bodyPr/>
        <a:lstStyle/>
        <a:p>
          <a:endParaRPr lang="en-US"/>
        </a:p>
      </dgm:t>
    </dgm:pt>
    <dgm:pt modelId="{EF5AF608-E8ED-5B48-8571-3B857289E883}" type="sibTrans" cxnId="{AFFB1247-07BC-D948-9F16-5602039C4684}">
      <dgm:prSet/>
      <dgm:spPr/>
      <dgm:t>
        <a:bodyPr/>
        <a:lstStyle/>
        <a:p>
          <a:endParaRPr lang="en-US"/>
        </a:p>
      </dgm:t>
    </dgm:pt>
    <dgm:pt modelId="{EDB9D8D7-D975-4A49-AA2B-2D369D4A83E5}">
      <dgm:prSet custT="1"/>
      <dgm:spPr>
        <a:effectLst/>
      </dgm:spPr>
      <dgm:t>
        <a:bodyPr/>
        <a:lstStyle/>
        <a:p>
          <a:pPr algn="ctr"/>
          <a:r>
            <a:rPr lang="en-AU" sz="1500" dirty="0">
              <a:solidFill>
                <a:schemeClr val="tx1"/>
              </a:solidFill>
            </a:rPr>
            <a:t>Direction control</a:t>
          </a:r>
        </a:p>
      </dgm:t>
    </dgm:pt>
    <dgm:pt modelId="{766C1669-F50F-6448-B998-D270D505452B}" type="parTrans" cxnId="{3B272F23-7141-BC48-8BBB-3DAD730A93FA}">
      <dgm:prSet/>
      <dgm:spPr/>
      <dgm:t>
        <a:bodyPr/>
        <a:lstStyle/>
        <a:p>
          <a:endParaRPr lang="en-US"/>
        </a:p>
      </dgm:t>
    </dgm:pt>
    <dgm:pt modelId="{BF49B435-079A-7C4F-A9F0-4E4336C62976}" type="sibTrans" cxnId="{3B272F23-7141-BC48-8BBB-3DAD730A93FA}">
      <dgm:prSet/>
      <dgm:spPr/>
      <dgm:t>
        <a:bodyPr/>
        <a:lstStyle/>
        <a:p>
          <a:endParaRPr lang="en-US"/>
        </a:p>
      </dgm:t>
    </dgm:pt>
    <dgm:pt modelId="{009722D7-506B-F444-B4DE-2A827F1363B5}">
      <dgm:prSet custT="1"/>
      <dgm:spPr/>
      <dgm:t>
        <a:bodyPr/>
        <a:lstStyle/>
        <a:p>
          <a:r>
            <a:rPr lang="en-AU" sz="1600" dirty="0">
              <a:solidFill>
                <a:schemeClr val="tx2">
                  <a:lumMod val="10000"/>
                </a:schemeClr>
              </a:solidFill>
            </a:rPr>
            <a:t>Determines the direction in which particular service requests may be initiated and allowed to flow through the firewall</a:t>
          </a:r>
        </a:p>
      </dgm:t>
    </dgm:pt>
    <dgm:pt modelId="{613E9497-3638-144D-876C-54793880A2A5}" type="parTrans" cxnId="{D9D82A67-1C72-054C-885E-DD2D4A483755}">
      <dgm:prSet/>
      <dgm:spPr/>
      <dgm:t>
        <a:bodyPr/>
        <a:lstStyle/>
        <a:p>
          <a:endParaRPr lang="en-US"/>
        </a:p>
      </dgm:t>
    </dgm:pt>
    <dgm:pt modelId="{93BE146B-06FB-5E4B-B510-823D030DCC23}" type="sibTrans" cxnId="{D9D82A67-1C72-054C-885E-DD2D4A483755}">
      <dgm:prSet/>
      <dgm:spPr/>
      <dgm:t>
        <a:bodyPr/>
        <a:lstStyle/>
        <a:p>
          <a:endParaRPr lang="en-US"/>
        </a:p>
      </dgm:t>
    </dgm:pt>
    <dgm:pt modelId="{47F00A83-5BC9-AD4E-8341-EECABF11D031}">
      <dgm:prSet custT="1"/>
      <dgm:spPr>
        <a:effectLst/>
      </dgm:spPr>
      <dgm:t>
        <a:bodyPr/>
        <a:lstStyle/>
        <a:p>
          <a:pPr algn="ctr"/>
          <a:r>
            <a:rPr lang="en-AU" sz="1500" dirty="0">
              <a:solidFill>
                <a:schemeClr val="tx1"/>
              </a:solidFill>
            </a:rPr>
            <a:t>User control</a:t>
          </a:r>
        </a:p>
      </dgm:t>
    </dgm:pt>
    <dgm:pt modelId="{86813A54-0EE2-1D4F-BB07-7C268D78377D}" type="parTrans" cxnId="{96F2AA81-B778-8E41-81D2-A011D351D275}">
      <dgm:prSet/>
      <dgm:spPr/>
      <dgm:t>
        <a:bodyPr/>
        <a:lstStyle/>
        <a:p>
          <a:endParaRPr lang="en-US"/>
        </a:p>
      </dgm:t>
    </dgm:pt>
    <dgm:pt modelId="{C822825D-F00C-2345-9317-0608653D0943}" type="sibTrans" cxnId="{96F2AA81-B778-8E41-81D2-A011D351D275}">
      <dgm:prSet/>
      <dgm:spPr/>
      <dgm:t>
        <a:bodyPr/>
        <a:lstStyle/>
        <a:p>
          <a:endParaRPr lang="en-US"/>
        </a:p>
      </dgm:t>
    </dgm:pt>
    <dgm:pt modelId="{F0B3EF52-C390-A44C-9006-8F1D9A95810B}">
      <dgm:prSet custT="1"/>
      <dgm:spPr/>
      <dgm:t>
        <a:bodyPr/>
        <a:lstStyle/>
        <a:p>
          <a:r>
            <a:rPr lang="en-AU" sz="1600" dirty="0">
              <a:solidFill>
                <a:schemeClr val="tx2">
                  <a:lumMod val="10000"/>
                </a:schemeClr>
              </a:solidFill>
            </a:rPr>
            <a:t>Controls access to a service according to which user is attempting to access it</a:t>
          </a:r>
        </a:p>
      </dgm:t>
    </dgm:pt>
    <dgm:pt modelId="{0F241E6A-07E5-3248-8DFF-C13965A89012}" type="parTrans" cxnId="{D7FC6A2A-C6DF-094A-87FE-952DD0D446D7}">
      <dgm:prSet/>
      <dgm:spPr/>
      <dgm:t>
        <a:bodyPr/>
        <a:lstStyle/>
        <a:p>
          <a:endParaRPr lang="en-US"/>
        </a:p>
      </dgm:t>
    </dgm:pt>
    <dgm:pt modelId="{5A9C6871-9F1B-114F-BDF9-E8EA2D4DDE34}" type="sibTrans" cxnId="{D7FC6A2A-C6DF-094A-87FE-952DD0D446D7}">
      <dgm:prSet/>
      <dgm:spPr/>
      <dgm:t>
        <a:bodyPr/>
        <a:lstStyle/>
        <a:p>
          <a:endParaRPr lang="en-US"/>
        </a:p>
      </dgm:t>
    </dgm:pt>
    <dgm:pt modelId="{AEE86410-C143-7E4C-BBD9-652ED3C3EC92}">
      <dgm:prSet custT="1"/>
      <dgm:spPr>
        <a:effectLst/>
      </dgm:spPr>
      <dgm:t>
        <a:bodyPr/>
        <a:lstStyle/>
        <a:p>
          <a:pPr algn="ctr"/>
          <a:r>
            <a:rPr lang="en-AU" sz="1500" dirty="0">
              <a:solidFill>
                <a:schemeClr val="tx1"/>
              </a:solidFill>
            </a:rPr>
            <a:t>Behavior control</a:t>
          </a:r>
        </a:p>
      </dgm:t>
    </dgm:pt>
    <dgm:pt modelId="{D67D5CAC-B83B-094B-8110-8E274129876C}" type="parTrans" cxnId="{E1B84016-BF10-F54D-9679-7CB96293DF56}">
      <dgm:prSet/>
      <dgm:spPr/>
      <dgm:t>
        <a:bodyPr/>
        <a:lstStyle/>
        <a:p>
          <a:endParaRPr lang="en-US"/>
        </a:p>
      </dgm:t>
    </dgm:pt>
    <dgm:pt modelId="{FCB5772E-9190-AB40-8E74-8ACFC45D7E9B}" type="sibTrans" cxnId="{E1B84016-BF10-F54D-9679-7CB96293DF56}">
      <dgm:prSet/>
      <dgm:spPr/>
      <dgm:t>
        <a:bodyPr/>
        <a:lstStyle/>
        <a:p>
          <a:endParaRPr lang="en-US"/>
        </a:p>
      </dgm:t>
    </dgm:pt>
    <dgm:pt modelId="{4FB2E699-7A71-4040-99CE-81180A55FE4B}">
      <dgm:prSet custT="1"/>
      <dgm:spPr/>
      <dgm:t>
        <a:bodyPr/>
        <a:lstStyle/>
        <a:p>
          <a:r>
            <a:rPr lang="en-AU" sz="1600" dirty="0">
              <a:solidFill>
                <a:schemeClr val="tx2">
                  <a:lumMod val="10000"/>
                </a:schemeClr>
              </a:solidFill>
            </a:rPr>
            <a:t>Controls how particular services are used</a:t>
          </a:r>
        </a:p>
      </dgm:t>
    </dgm:pt>
    <dgm:pt modelId="{DAFF2DC1-2DDF-CF42-9ECE-473E7293676F}" type="parTrans" cxnId="{077E6C49-D713-E34C-A156-2FC5CF65522B}">
      <dgm:prSet/>
      <dgm:spPr/>
      <dgm:t>
        <a:bodyPr/>
        <a:lstStyle/>
        <a:p>
          <a:endParaRPr lang="en-US"/>
        </a:p>
      </dgm:t>
    </dgm:pt>
    <dgm:pt modelId="{195F8B32-78C9-224D-91D8-E46058777751}" type="sibTrans" cxnId="{077E6C49-D713-E34C-A156-2FC5CF65522B}">
      <dgm:prSet/>
      <dgm:spPr/>
      <dgm:t>
        <a:bodyPr/>
        <a:lstStyle/>
        <a:p>
          <a:endParaRPr lang="en-US"/>
        </a:p>
      </dgm:t>
    </dgm:pt>
    <dgm:pt modelId="{41C86E60-CB65-914A-A469-CA9B61E35921}" type="pres">
      <dgm:prSet presAssocID="{8A4175B2-63DC-8042-B2FF-27404EB22296}" presName="linear" presStyleCnt="0">
        <dgm:presLayoutVars>
          <dgm:animLvl val="lvl"/>
          <dgm:resizeHandles val="exact"/>
        </dgm:presLayoutVars>
      </dgm:prSet>
      <dgm:spPr/>
    </dgm:pt>
    <dgm:pt modelId="{EDB5CBE8-280A-4446-86F1-AAFED50F94A9}" type="pres">
      <dgm:prSet presAssocID="{1804B0D9-FD2E-6242-B3B6-247810730327}" presName="parentText" presStyleLbl="node1" presStyleIdx="0" presStyleCnt="4" custScaleX="28155" custScaleY="96417" custLinFactNeighborX="-7767" custLinFactNeighborY="2091">
        <dgm:presLayoutVars>
          <dgm:chMax val="0"/>
          <dgm:bulletEnabled val="1"/>
        </dgm:presLayoutVars>
      </dgm:prSet>
      <dgm:spPr/>
    </dgm:pt>
    <dgm:pt modelId="{9FBAF802-69E1-974B-A1A6-4C7BE1B65733}" type="pres">
      <dgm:prSet presAssocID="{1804B0D9-FD2E-6242-B3B6-247810730327}" presName="childText" presStyleLbl="revTx" presStyleIdx="0" presStyleCnt="4">
        <dgm:presLayoutVars>
          <dgm:bulletEnabled val="1"/>
        </dgm:presLayoutVars>
      </dgm:prSet>
      <dgm:spPr/>
    </dgm:pt>
    <dgm:pt modelId="{63E6B281-CE25-6040-9C5A-E30167381050}" type="pres">
      <dgm:prSet presAssocID="{EDB9D8D7-D975-4A49-AA2B-2D369D4A83E5}" presName="parentText" presStyleLbl="node1" presStyleIdx="1" presStyleCnt="4" custScaleX="28155" custLinFactNeighborX="-7823" custLinFactNeighborY="-23356">
        <dgm:presLayoutVars>
          <dgm:chMax val="0"/>
          <dgm:bulletEnabled val="1"/>
        </dgm:presLayoutVars>
      </dgm:prSet>
      <dgm:spPr/>
    </dgm:pt>
    <dgm:pt modelId="{7D1786A2-49B2-DF41-8E50-8200179F522C}" type="pres">
      <dgm:prSet presAssocID="{EDB9D8D7-D975-4A49-AA2B-2D369D4A83E5}" presName="childText" presStyleLbl="revTx" presStyleIdx="1" presStyleCnt="4" custLinFactNeighborX="407" custLinFactNeighborY="-13856">
        <dgm:presLayoutVars>
          <dgm:bulletEnabled val="1"/>
        </dgm:presLayoutVars>
      </dgm:prSet>
      <dgm:spPr/>
    </dgm:pt>
    <dgm:pt modelId="{1E544F26-C67E-9B47-8C41-3619C719B540}" type="pres">
      <dgm:prSet presAssocID="{47F00A83-5BC9-AD4E-8341-EECABF11D031}" presName="parentText" presStyleLbl="node1" presStyleIdx="2" presStyleCnt="4" custScaleX="28155" custLinFactNeighborX="-7767" custLinFactNeighborY="2091">
        <dgm:presLayoutVars>
          <dgm:chMax val="0"/>
          <dgm:bulletEnabled val="1"/>
        </dgm:presLayoutVars>
      </dgm:prSet>
      <dgm:spPr/>
    </dgm:pt>
    <dgm:pt modelId="{B8527160-59EA-0C4D-8589-99D29E12ACEB}" type="pres">
      <dgm:prSet presAssocID="{47F00A83-5BC9-AD4E-8341-EECABF11D031}" presName="childText" presStyleLbl="revTx" presStyleIdx="2" presStyleCnt="4" custLinFactNeighborY="8881">
        <dgm:presLayoutVars>
          <dgm:bulletEnabled val="1"/>
        </dgm:presLayoutVars>
      </dgm:prSet>
      <dgm:spPr/>
    </dgm:pt>
    <dgm:pt modelId="{58A08919-70EB-F644-835B-650AC94F165B}" type="pres">
      <dgm:prSet presAssocID="{AEE86410-C143-7E4C-BBD9-652ED3C3EC92}" presName="parentText" presStyleLbl="node1" presStyleIdx="3" presStyleCnt="4" custScaleX="28155" custLinFactNeighborX="-7767" custLinFactNeighborY="2091">
        <dgm:presLayoutVars>
          <dgm:chMax val="0"/>
          <dgm:bulletEnabled val="1"/>
        </dgm:presLayoutVars>
      </dgm:prSet>
      <dgm:spPr/>
    </dgm:pt>
    <dgm:pt modelId="{530D7B30-43AA-674D-8BBB-B6C912C833E1}" type="pres">
      <dgm:prSet presAssocID="{AEE86410-C143-7E4C-BBD9-652ED3C3EC92}" presName="childText" presStyleLbl="revTx" presStyleIdx="3" presStyleCnt="4">
        <dgm:presLayoutVars>
          <dgm:bulletEnabled val="1"/>
        </dgm:presLayoutVars>
      </dgm:prSet>
      <dgm:spPr/>
    </dgm:pt>
  </dgm:ptLst>
  <dgm:cxnLst>
    <dgm:cxn modelId="{EF36E002-2E61-0D40-A47D-B7AD27F0AAD0}" srcId="{8A4175B2-63DC-8042-B2FF-27404EB22296}" destId="{1804B0D9-FD2E-6242-B3B6-247810730327}" srcOrd="0" destOrd="0" parTransId="{932E05C8-B255-AA4F-96AF-F2DE7FB40F13}" sibTransId="{FD321654-EBB4-BD4D-B644-F47E4A5EB7FC}"/>
    <dgm:cxn modelId="{E1B84016-BF10-F54D-9679-7CB96293DF56}" srcId="{8A4175B2-63DC-8042-B2FF-27404EB22296}" destId="{AEE86410-C143-7E4C-BBD9-652ED3C3EC92}" srcOrd="3" destOrd="0" parTransId="{D67D5CAC-B83B-094B-8110-8E274129876C}" sibTransId="{FCB5772E-9190-AB40-8E74-8ACFC45D7E9B}"/>
    <dgm:cxn modelId="{3B272F23-7141-BC48-8BBB-3DAD730A93FA}" srcId="{8A4175B2-63DC-8042-B2FF-27404EB22296}" destId="{EDB9D8D7-D975-4A49-AA2B-2D369D4A83E5}" srcOrd="1" destOrd="0" parTransId="{766C1669-F50F-6448-B998-D270D505452B}" sibTransId="{BF49B435-079A-7C4F-A9F0-4E4336C62976}"/>
    <dgm:cxn modelId="{D7FC6A2A-C6DF-094A-87FE-952DD0D446D7}" srcId="{47F00A83-5BC9-AD4E-8341-EECABF11D031}" destId="{F0B3EF52-C390-A44C-9006-8F1D9A95810B}" srcOrd="0" destOrd="0" parTransId="{0F241E6A-07E5-3248-8DFF-C13965A89012}" sibTransId="{5A9C6871-9F1B-114F-BDF9-E8EA2D4DDE34}"/>
    <dgm:cxn modelId="{E5F5FB31-2963-4739-AAE8-E4D535EAF721}" type="presOf" srcId="{EDB9D8D7-D975-4A49-AA2B-2D369D4A83E5}" destId="{63E6B281-CE25-6040-9C5A-E30167381050}" srcOrd="0" destOrd="0" presId="urn:microsoft.com/office/officeart/2005/8/layout/vList2"/>
    <dgm:cxn modelId="{0D738939-2FD2-473F-939A-12049DAB633F}" type="presOf" srcId="{4FB2E699-7A71-4040-99CE-81180A55FE4B}" destId="{530D7B30-43AA-674D-8BBB-B6C912C833E1}" srcOrd="0" destOrd="0" presId="urn:microsoft.com/office/officeart/2005/8/layout/vList2"/>
    <dgm:cxn modelId="{882D9D3E-B25E-4916-A5F2-A3EF0CD87F6A}" type="presOf" srcId="{1804B0D9-FD2E-6242-B3B6-247810730327}" destId="{EDB5CBE8-280A-4446-86F1-AAFED50F94A9}" srcOrd="0" destOrd="0" presId="urn:microsoft.com/office/officeart/2005/8/layout/vList2"/>
    <dgm:cxn modelId="{AFFB1247-07BC-D948-9F16-5602039C4684}" srcId="{1804B0D9-FD2E-6242-B3B6-247810730327}" destId="{BBD5D0E9-FB4B-1D4B-8F9A-BEEC3129979A}" srcOrd="0" destOrd="0" parTransId="{1471C6D3-DF4C-4241-A9B0-E3EF24EC7E2D}" sibTransId="{EF5AF608-E8ED-5B48-8571-3B857289E883}"/>
    <dgm:cxn modelId="{D9D82A67-1C72-054C-885E-DD2D4A483755}" srcId="{EDB9D8D7-D975-4A49-AA2B-2D369D4A83E5}" destId="{009722D7-506B-F444-B4DE-2A827F1363B5}" srcOrd="0" destOrd="0" parTransId="{613E9497-3638-144D-876C-54793880A2A5}" sibTransId="{93BE146B-06FB-5E4B-B510-823D030DCC23}"/>
    <dgm:cxn modelId="{077E6C49-D713-E34C-A156-2FC5CF65522B}" srcId="{AEE86410-C143-7E4C-BBD9-652ED3C3EC92}" destId="{4FB2E699-7A71-4040-99CE-81180A55FE4B}" srcOrd="0" destOrd="0" parTransId="{DAFF2DC1-2DDF-CF42-9ECE-473E7293676F}" sibTransId="{195F8B32-78C9-224D-91D8-E46058777751}"/>
    <dgm:cxn modelId="{E9BAD44B-71FE-43CA-A477-F50FA16E9256}" type="presOf" srcId="{AEE86410-C143-7E4C-BBD9-652ED3C3EC92}" destId="{58A08919-70EB-F644-835B-650AC94F165B}" srcOrd="0" destOrd="0" presId="urn:microsoft.com/office/officeart/2005/8/layout/vList2"/>
    <dgm:cxn modelId="{F8AD174E-6EB4-40A1-A13C-57B5C64C72E3}" type="presOf" srcId="{8A4175B2-63DC-8042-B2FF-27404EB22296}" destId="{41C86E60-CB65-914A-A469-CA9B61E35921}" srcOrd="0" destOrd="0" presId="urn:microsoft.com/office/officeart/2005/8/layout/vList2"/>
    <dgm:cxn modelId="{5D255C55-B783-41F8-BE16-7B5C9187D2D3}" type="presOf" srcId="{47F00A83-5BC9-AD4E-8341-EECABF11D031}" destId="{1E544F26-C67E-9B47-8C41-3619C719B540}" srcOrd="0" destOrd="0" presId="urn:microsoft.com/office/officeart/2005/8/layout/vList2"/>
    <dgm:cxn modelId="{96F2AA81-B778-8E41-81D2-A011D351D275}" srcId="{8A4175B2-63DC-8042-B2FF-27404EB22296}" destId="{47F00A83-5BC9-AD4E-8341-EECABF11D031}" srcOrd="2" destOrd="0" parTransId="{86813A54-0EE2-1D4F-BB07-7C268D78377D}" sibTransId="{C822825D-F00C-2345-9317-0608653D0943}"/>
    <dgm:cxn modelId="{442791A3-FCA1-495D-9F2D-E2BA7DF99D7D}" type="presOf" srcId="{F0B3EF52-C390-A44C-9006-8F1D9A95810B}" destId="{B8527160-59EA-0C4D-8589-99D29E12ACEB}" srcOrd="0" destOrd="0" presId="urn:microsoft.com/office/officeart/2005/8/layout/vList2"/>
    <dgm:cxn modelId="{015AEBD2-4711-43E4-B70C-3FC4E49A16F9}" type="presOf" srcId="{BBD5D0E9-FB4B-1D4B-8F9A-BEEC3129979A}" destId="{9FBAF802-69E1-974B-A1A6-4C7BE1B65733}" srcOrd="0" destOrd="0" presId="urn:microsoft.com/office/officeart/2005/8/layout/vList2"/>
    <dgm:cxn modelId="{2AFA78FE-6250-4547-8B0B-8D60A3E7B35E}" type="presOf" srcId="{009722D7-506B-F444-B4DE-2A827F1363B5}" destId="{7D1786A2-49B2-DF41-8E50-8200179F522C}" srcOrd="0" destOrd="0" presId="urn:microsoft.com/office/officeart/2005/8/layout/vList2"/>
    <dgm:cxn modelId="{9475AD2E-EEF5-46F4-A80E-DA84C19C9B35}" type="presParOf" srcId="{41C86E60-CB65-914A-A469-CA9B61E35921}" destId="{EDB5CBE8-280A-4446-86F1-AAFED50F94A9}" srcOrd="0" destOrd="0" presId="urn:microsoft.com/office/officeart/2005/8/layout/vList2"/>
    <dgm:cxn modelId="{4783DC30-015B-46BC-B146-8C196AC6CC27}" type="presParOf" srcId="{41C86E60-CB65-914A-A469-CA9B61E35921}" destId="{9FBAF802-69E1-974B-A1A6-4C7BE1B65733}" srcOrd="1" destOrd="0" presId="urn:microsoft.com/office/officeart/2005/8/layout/vList2"/>
    <dgm:cxn modelId="{65F2E0A2-0D51-49B3-9A24-8413EB534CC9}" type="presParOf" srcId="{41C86E60-CB65-914A-A469-CA9B61E35921}" destId="{63E6B281-CE25-6040-9C5A-E30167381050}" srcOrd="2" destOrd="0" presId="urn:microsoft.com/office/officeart/2005/8/layout/vList2"/>
    <dgm:cxn modelId="{A4ED3B6C-9B74-46C7-95F6-191118AF420F}" type="presParOf" srcId="{41C86E60-CB65-914A-A469-CA9B61E35921}" destId="{7D1786A2-49B2-DF41-8E50-8200179F522C}" srcOrd="3" destOrd="0" presId="urn:microsoft.com/office/officeart/2005/8/layout/vList2"/>
    <dgm:cxn modelId="{CD83AD30-30B8-41A8-8A1E-AD451D264EB7}" type="presParOf" srcId="{41C86E60-CB65-914A-A469-CA9B61E35921}" destId="{1E544F26-C67E-9B47-8C41-3619C719B540}" srcOrd="4" destOrd="0" presId="urn:microsoft.com/office/officeart/2005/8/layout/vList2"/>
    <dgm:cxn modelId="{637DB7C8-2088-44C0-BD5F-1AD97A6F069C}" type="presParOf" srcId="{41C86E60-CB65-914A-A469-CA9B61E35921}" destId="{B8527160-59EA-0C4D-8589-99D29E12ACEB}" srcOrd="5" destOrd="0" presId="urn:microsoft.com/office/officeart/2005/8/layout/vList2"/>
    <dgm:cxn modelId="{BA1E3E47-E040-4AD2-9C75-A2EF340F9BC3}" type="presParOf" srcId="{41C86E60-CB65-914A-A469-CA9B61E35921}" destId="{58A08919-70EB-F644-835B-650AC94F165B}" srcOrd="6" destOrd="0" presId="urn:microsoft.com/office/officeart/2005/8/layout/vList2"/>
    <dgm:cxn modelId="{194E9B17-549F-4F4B-BE90-7793C80B8F19}" type="presParOf" srcId="{41C86E60-CB65-914A-A469-CA9B61E35921}" destId="{530D7B30-43AA-674D-8BBB-B6C912C833E1}" srcOrd="7"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E6B9AA8-3F79-B945-86A9-5FB9A198EE2F}" type="doc">
      <dgm:prSet loTypeId="urn:microsoft.com/office/officeart/2005/8/layout/matrix1" loCatId="matrix" qsTypeId="urn:microsoft.com/office/officeart/2005/8/quickstyle/simple4" qsCatId="simple" csTypeId="urn:microsoft.com/office/officeart/2005/8/colors/accent1_2" csCatId="accent1" phldr="1"/>
      <dgm:spPr/>
      <dgm:t>
        <a:bodyPr/>
        <a:lstStyle/>
        <a:p>
          <a:endParaRPr lang="en-US"/>
        </a:p>
      </dgm:t>
    </dgm:pt>
    <dgm:pt modelId="{EEB4C698-B8F4-5E4F-BD12-10EDF328883E}">
      <dgm:prSet custT="1"/>
      <dgm:spPr>
        <a:solidFill>
          <a:schemeClr val="accent3"/>
        </a:solidFill>
        <a:ln>
          <a:solidFill>
            <a:schemeClr val="bg2"/>
          </a:solidFill>
        </a:ln>
      </dgm:spPr>
      <dgm:t>
        <a:bodyPr/>
        <a:lstStyle/>
        <a:p>
          <a:pPr rtl="0"/>
          <a:r>
            <a:rPr lang="en-US" sz="2800" dirty="0">
              <a:solidFill>
                <a:schemeClr val="tx2">
                  <a:lumMod val="10000"/>
                </a:schemeClr>
              </a:solidFill>
            </a:rPr>
            <a:t>A firewall </a:t>
          </a:r>
        </a:p>
      </dgm:t>
    </dgm:pt>
    <dgm:pt modelId="{3F5171DD-3706-B346-97F1-BBCA2543B5B6}" type="parTrans" cxnId="{47B28CC6-F74E-DA48-A21D-05DA10FB8545}">
      <dgm:prSet/>
      <dgm:spPr/>
      <dgm:t>
        <a:bodyPr/>
        <a:lstStyle/>
        <a:p>
          <a:endParaRPr lang="en-US"/>
        </a:p>
      </dgm:t>
    </dgm:pt>
    <dgm:pt modelId="{347AA156-68F0-2947-ABFB-822D9912FB8A}" type="sibTrans" cxnId="{47B28CC6-F74E-DA48-A21D-05DA10FB8545}">
      <dgm:prSet/>
      <dgm:spPr/>
      <dgm:t>
        <a:bodyPr/>
        <a:lstStyle/>
        <a:p>
          <a:endParaRPr lang="en-US"/>
        </a:p>
      </dgm:t>
    </dgm:pt>
    <dgm:pt modelId="{64282084-EE7C-3D4B-BC9E-F0C2719CBE6D}">
      <dgm:prSet/>
      <dgm:spPr>
        <a:solidFill>
          <a:schemeClr val="accent4">
            <a:lumMod val="40000"/>
            <a:lumOff val="60000"/>
          </a:schemeClr>
        </a:solidFill>
        <a:ln>
          <a:solidFill>
            <a:schemeClr val="bg2"/>
          </a:solidFill>
        </a:ln>
      </dgm:spPr>
      <dgm:t>
        <a:bodyPr/>
        <a:lstStyle/>
        <a:p>
          <a:pPr rtl="0"/>
          <a:r>
            <a:rPr lang="en-US" dirty="0">
              <a:solidFill>
                <a:schemeClr val="tx2">
                  <a:lumMod val="10000"/>
                </a:schemeClr>
              </a:solidFill>
            </a:rPr>
            <a:t>Defines a single choke point that keeps unauthorized users out of the protected network, prohibits potentially vulnerable services from entering or leaving the network, and provides protection from various kinds of IP spoofing and routing attacks</a:t>
          </a:r>
        </a:p>
      </dgm:t>
    </dgm:pt>
    <dgm:pt modelId="{0F9F6FDF-81ED-DF4C-85A0-0DE0AF3E0B7D}" type="parTrans" cxnId="{CF575EA5-74E9-AD41-9227-312FB16B5522}">
      <dgm:prSet/>
      <dgm:spPr/>
      <dgm:t>
        <a:bodyPr/>
        <a:lstStyle/>
        <a:p>
          <a:endParaRPr lang="en-US"/>
        </a:p>
      </dgm:t>
    </dgm:pt>
    <dgm:pt modelId="{6C15FC8C-0DF9-9443-A3A8-28638F34DE50}" type="sibTrans" cxnId="{CF575EA5-74E9-AD41-9227-312FB16B5522}">
      <dgm:prSet/>
      <dgm:spPr/>
      <dgm:t>
        <a:bodyPr/>
        <a:lstStyle/>
        <a:p>
          <a:endParaRPr lang="en-US"/>
        </a:p>
      </dgm:t>
    </dgm:pt>
    <dgm:pt modelId="{722BBBEB-A4AA-BA43-AC25-2529E1D2F574}">
      <dgm:prSet/>
      <dgm:spPr>
        <a:solidFill>
          <a:schemeClr val="accent4">
            <a:lumMod val="40000"/>
            <a:lumOff val="60000"/>
          </a:schemeClr>
        </a:solidFill>
        <a:ln>
          <a:solidFill>
            <a:schemeClr val="bg2"/>
          </a:solidFill>
        </a:ln>
      </dgm:spPr>
      <dgm:t>
        <a:bodyPr/>
        <a:lstStyle/>
        <a:p>
          <a:pPr rtl="0"/>
          <a:r>
            <a:rPr lang="en-US" dirty="0">
              <a:solidFill>
                <a:schemeClr val="tx2">
                  <a:lumMod val="10000"/>
                </a:schemeClr>
              </a:solidFill>
            </a:rPr>
            <a:t>Provides a location for monitoring </a:t>
          </a:r>
        </a:p>
        <a:p>
          <a:pPr rtl="0"/>
          <a:r>
            <a:rPr lang="en-US" dirty="0">
              <a:solidFill>
                <a:schemeClr val="tx2">
                  <a:lumMod val="10000"/>
                </a:schemeClr>
              </a:solidFill>
            </a:rPr>
            <a:t>security-related events</a:t>
          </a:r>
        </a:p>
      </dgm:t>
    </dgm:pt>
    <dgm:pt modelId="{C37DE13A-E121-1647-A3A2-40F20F408DD1}" type="parTrans" cxnId="{B51D574B-4631-E742-9710-6D1CE91B74B3}">
      <dgm:prSet/>
      <dgm:spPr/>
      <dgm:t>
        <a:bodyPr/>
        <a:lstStyle/>
        <a:p>
          <a:endParaRPr lang="en-US"/>
        </a:p>
      </dgm:t>
    </dgm:pt>
    <dgm:pt modelId="{8F2A7300-31E8-494A-9C48-185799313D51}" type="sibTrans" cxnId="{B51D574B-4631-E742-9710-6D1CE91B74B3}">
      <dgm:prSet/>
      <dgm:spPr/>
      <dgm:t>
        <a:bodyPr/>
        <a:lstStyle/>
        <a:p>
          <a:endParaRPr lang="en-US"/>
        </a:p>
      </dgm:t>
    </dgm:pt>
    <dgm:pt modelId="{2B069059-321E-744E-BB2A-7F40DBCCC512}">
      <dgm:prSet/>
      <dgm:spPr>
        <a:solidFill>
          <a:schemeClr val="accent4">
            <a:lumMod val="40000"/>
            <a:lumOff val="60000"/>
          </a:schemeClr>
        </a:solidFill>
        <a:ln>
          <a:solidFill>
            <a:schemeClr val="bg2"/>
          </a:solidFill>
        </a:ln>
      </dgm:spPr>
      <dgm:t>
        <a:bodyPr/>
        <a:lstStyle/>
        <a:p>
          <a:pPr rtl="0"/>
          <a:r>
            <a:rPr lang="en-US" dirty="0">
              <a:solidFill>
                <a:schemeClr val="tx2">
                  <a:lumMod val="10000"/>
                </a:schemeClr>
              </a:solidFill>
            </a:rPr>
            <a:t>Is a convenient platform for several Internet functions that are not security related (NAT, N/w management etc.)</a:t>
          </a:r>
        </a:p>
      </dgm:t>
    </dgm:pt>
    <dgm:pt modelId="{45F30DF5-4E3E-0248-B857-B105F3E190E1}" type="parTrans" cxnId="{A02CA956-4009-AA45-89AD-C262B64C03C3}">
      <dgm:prSet/>
      <dgm:spPr/>
      <dgm:t>
        <a:bodyPr/>
        <a:lstStyle/>
        <a:p>
          <a:endParaRPr lang="en-US"/>
        </a:p>
      </dgm:t>
    </dgm:pt>
    <dgm:pt modelId="{08D8CFD1-641A-0745-BF4C-4C03BD31E872}" type="sibTrans" cxnId="{A02CA956-4009-AA45-89AD-C262B64C03C3}">
      <dgm:prSet/>
      <dgm:spPr/>
      <dgm:t>
        <a:bodyPr/>
        <a:lstStyle/>
        <a:p>
          <a:endParaRPr lang="en-US"/>
        </a:p>
      </dgm:t>
    </dgm:pt>
    <dgm:pt modelId="{E064EEAD-8F45-C64C-A512-CC513BBAF105}">
      <dgm:prSet/>
      <dgm:spPr>
        <a:solidFill>
          <a:schemeClr val="accent4">
            <a:lumMod val="40000"/>
            <a:lumOff val="60000"/>
          </a:schemeClr>
        </a:solidFill>
        <a:ln>
          <a:solidFill>
            <a:schemeClr val="bg2"/>
          </a:solidFill>
        </a:ln>
      </dgm:spPr>
      <dgm:t>
        <a:bodyPr/>
        <a:lstStyle/>
        <a:p>
          <a:pPr rtl="0"/>
          <a:r>
            <a:rPr lang="en-US" dirty="0">
              <a:solidFill>
                <a:schemeClr val="tx2">
                  <a:lumMod val="10000"/>
                </a:schemeClr>
              </a:solidFill>
            </a:rPr>
            <a:t>Can serve as the platform for IPsec (Used to implement VPN)</a:t>
          </a:r>
        </a:p>
      </dgm:t>
    </dgm:pt>
    <dgm:pt modelId="{DA2C8360-5AB6-4147-B3E0-2E833A1F9FA1}" type="parTrans" cxnId="{AD2F3ED2-90BA-4840-B6F4-8F43BD251EB1}">
      <dgm:prSet/>
      <dgm:spPr/>
      <dgm:t>
        <a:bodyPr/>
        <a:lstStyle/>
        <a:p>
          <a:endParaRPr lang="en-US"/>
        </a:p>
      </dgm:t>
    </dgm:pt>
    <dgm:pt modelId="{CD8A36B1-0420-6C4D-9534-6408972D99B9}" type="sibTrans" cxnId="{AD2F3ED2-90BA-4840-B6F4-8F43BD251EB1}">
      <dgm:prSet/>
      <dgm:spPr/>
      <dgm:t>
        <a:bodyPr/>
        <a:lstStyle/>
        <a:p>
          <a:endParaRPr lang="en-US"/>
        </a:p>
      </dgm:t>
    </dgm:pt>
    <dgm:pt modelId="{2124D935-CD94-9048-901D-8D173EDAB4D3}" type="pres">
      <dgm:prSet presAssocID="{DE6B9AA8-3F79-B945-86A9-5FB9A198EE2F}" presName="diagram" presStyleCnt="0">
        <dgm:presLayoutVars>
          <dgm:chMax val="1"/>
          <dgm:dir/>
          <dgm:animLvl val="ctr"/>
          <dgm:resizeHandles val="exact"/>
        </dgm:presLayoutVars>
      </dgm:prSet>
      <dgm:spPr/>
    </dgm:pt>
    <dgm:pt modelId="{E4EF7A32-538A-C54D-9CF8-82EFBBC13631}" type="pres">
      <dgm:prSet presAssocID="{DE6B9AA8-3F79-B945-86A9-5FB9A198EE2F}" presName="matrix" presStyleCnt="0"/>
      <dgm:spPr/>
    </dgm:pt>
    <dgm:pt modelId="{B448C416-B116-7C42-AADA-03120A4F1EA3}" type="pres">
      <dgm:prSet presAssocID="{DE6B9AA8-3F79-B945-86A9-5FB9A198EE2F}" presName="tile1" presStyleLbl="node1" presStyleIdx="0" presStyleCnt="4"/>
      <dgm:spPr/>
    </dgm:pt>
    <dgm:pt modelId="{DBD65166-724F-A640-900C-BA50D846BCAA}" type="pres">
      <dgm:prSet presAssocID="{DE6B9AA8-3F79-B945-86A9-5FB9A198EE2F}" presName="tile1text" presStyleLbl="node1" presStyleIdx="0" presStyleCnt="4">
        <dgm:presLayoutVars>
          <dgm:chMax val="0"/>
          <dgm:chPref val="0"/>
          <dgm:bulletEnabled val="1"/>
        </dgm:presLayoutVars>
      </dgm:prSet>
      <dgm:spPr/>
    </dgm:pt>
    <dgm:pt modelId="{AAA5B0B1-EAB2-9F49-B824-3E910453DFEB}" type="pres">
      <dgm:prSet presAssocID="{DE6B9AA8-3F79-B945-86A9-5FB9A198EE2F}" presName="tile2" presStyleLbl="node1" presStyleIdx="1" presStyleCnt="4"/>
      <dgm:spPr/>
    </dgm:pt>
    <dgm:pt modelId="{1AF445B1-68FC-DC45-94CC-7453CCEBF4DB}" type="pres">
      <dgm:prSet presAssocID="{DE6B9AA8-3F79-B945-86A9-5FB9A198EE2F}" presName="tile2text" presStyleLbl="node1" presStyleIdx="1" presStyleCnt="4">
        <dgm:presLayoutVars>
          <dgm:chMax val="0"/>
          <dgm:chPref val="0"/>
          <dgm:bulletEnabled val="1"/>
        </dgm:presLayoutVars>
      </dgm:prSet>
      <dgm:spPr/>
    </dgm:pt>
    <dgm:pt modelId="{1CA52935-4683-C849-A25C-A148B97DA7A3}" type="pres">
      <dgm:prSet presAssocID="{DE6B9AA8-3F79-B945-86A9-5FB9A198EE2F}" presName="tile3" presStyleLbl="node1" presStyleIdx="2" presStyleCnt="4" custLinFactNeighborX="-630" custLinFactNeighborY="-164"/>
      <dgm:spPr/>
    </dgm:pt>
    <dgm:pt modelId="{64A519B8-BACE-164A-9700-E90B0E32E5A9}" type="pres">
      <dgm:prSet presAssocID="{DE6B9AA8-3F79-B945-86A9-5FB9A198EE2F}" presName="tile3text" presStyleLbl="node1" presStyleIdx="2" presStyleCnt="4">
        <dgm:presLayoutVars>
          <dgm:chMax val="0"/>
          <dgm:chPref val="0"/>
          <dgm:bulletEnabled val="1"/>
        </dgm:presLayoutVars>
      </dgm:prSet>
      <dgm:spPr/>
    </dgm:pt>
    <dgm:pt modelId="{EF78F3DD-942A-F146-AD56-26A2D81EC111}" type="pres">
      <dgm:prSet presAssocID="{DE6B9AA8-3F79-B945-86A9-5FB9A198EE2F}" presName="tile4" presStyleLbl="node1" presStyleIdx="3" presStyleCnt="4"/>
      <dgm:spPr/>
    </dgm:pt>
    <dgm:pt modelId="{9D9B1968-3941-3B4E-8DE5-459F45F9DD6A}" type="pres">
      <dgm:prSet presAssocID="{DE6B9AA8-3F79-B945-86A9-5FB9A198EE2F}" presName="tile4text" presStyleLbl="node1" presStyleIdx="3" presStyleCnt="4">
        <dgm:presLayoutVars>
          <dgm:chMax val="0"/>
          <dgm:chPref val="0"/>
          <dgm:bulletEnabled val="1"/>
        </dgm:presLayoutVars>
      </dgm:prSet>
      <dgm:spPr/>
    </dgm:pt>
    <dgm:pt modelId="{3F7F931C-2594-F045-8724-088BD5C650F7}" type="pres">
      <dgm:prSet presAssocID="{DE6B9AA8-3F79-B945-86A9-5FB9A198EE2F}" presName="centerTile" presStyleLbl="fgShp" presStyleIdx="0" presStyleCnt="1">
        <dgm:presLayoutVars>
          <dgm:chMax val="0"/>
          <dgm:chPref val="0"/>
        </dgm:presLayoutVars>
      </dgm:prSet>
      <dgm:spPr/>
    </dgm:pt>
  </dgm:ptLst>
  <dgm:cxnLst>
    <dgm:cxn modelId="{EDA59404-1D33-4CC6-8A15-0A1BE3E681C3}" type="presOf" srcId="{EEB4C698-B8F4-5E4F-BD12-10EDF328883E}" destId="{3F7F931C-2594-F045-8724-088BD5C650F7}" srcOrd="0" destOrd="0" presId="urn:microsoft.com/office/officeart/2005/8/layout/matrix1"/>
    <dgm:cxn modelId="{DFECC405-4F27-456E-AC18-ACCC86D1DBFF}" type="presOf" srcId="{2B069059-321E-744E-BB2A-7F40DBCCC512}" destId="{1CA52935-4683-C849-A25C-A148B97DA7A3}" srcOrd="0" destOrd="0" presId="urn:microsoft.com/office/officeart/2005/8/layout/matrix1"/>
    <dgm:cxn modelId="{99F9D519-7684-4726-996E-9113A6196360}" type="presOf" srcId="{722BBBEB-A4AA-BA43-AC25-2529E1D2F574}" destId="{AAA5B0B1-EAB2-9F49-B824-3E910453DFEB}" srcOrd="0" destOrd="0" presId="urn:microsoft.com/office/officeart/2005/8/layout/matrix1"/>
    <dgm:cxn modelId="{F565FD19-8944-4851-855B-9A9982630E1B}" type="presOf" srcId="{E064EEAD-8F45-C64C-A512-CC513BBAF105}" destId="{9D9B1968-3941-3B4E-8DE5-459F45F9DD6A}" srcOrd="1" destOrd="0" presId="urn:microsoft.com/office/officeart/2005/8/layout/matrix1"/>
    <dgm:cxn modelId="{AD4F0028-E67D-4180-A6DD-EEE05FA79727}" type="presOf" srcId="{64282084-EE7C-3D4B-BC9E-F0C2719CBE6D}" destId="{DBD65166-724F-A640-900C-BA50D846BCAA}" srcOrd="1" destOrd="0" presId="urn:microsoft.com/office/officeart/2005/8/layout/matrix1"/>
    <dgm:cxn modelId="{76C5905E-D937-416B-9592-1DF4E0EA4038}" type="presOf" srcId="{E064EEAD-8F45-C64C-A512-CC513BBAF105}" destId="{EF78F3DD-942A-F146-AD56-26A2D81EC111}" srcOrd="0" destOrd="0" presId="urn:microsoft.com/office/officeart/2005/8/layout/matrix1"/>
    <dgm:cxn modelId="{E248B742-80FF-4181-9109-4B2ECFDDD932}" type="presOf" srcId="{2B069059-321E-744E-BB2A-7F40DBCCC512}" destId="{64A519B8-BACE-164A-9700-E90B0E32E5A9}" srcOrd="1" destOrd="0" presId="urn:microsoft.com/office/officeart/2005/8/layout/matrix1"/>
    <dgm:cxn modelId="{73D0FA4A-9392-4F8A-A034-516AA0AEC182}" type="presOf" srcId="{64282084-EE7C-3D4B-BC9E-F0C2719CBE6D}" destId="{B448C416-B116-7C42-AADA-03120A4F1EA3}" srcOrd="0" destOrd="0" presId="urn:microsoft.com/office/officeart/2005/8/layout/matrix1"/>
    <dgm:cxn modelId="{B51D574B-4631-E742-9710-6D1CE91B74B3}" srcId="{EEB4C698-B8F4-5E4F-BD12-10EDF328883E}" destId="{722BBBEB-A4AA-BA43-AC25-2529E1D2F574}" srcOrd="1" destOrd="0" parTransId="{C37DE13A-E121-1647-A3A2-40F20F408DD1}" sibTransId="{8F2A7300-31E8-494A-9C48-185799313D51}"/>
    <dgm:cxn modelId="{7E67E075-01ED-4229-8DBF-3CA2BC5CAAF9}" type="presOf" srcId="{DE6B9AA8-3F79-B945-86A9-5FB9A198EE2F}" destId="{2124D935-CD94-9048-901D-8D173EDAB4D3}" srcOrd="0" destOrd="0" presId="urn:microsoft.com/office/officeart/2005/8/layout/matrix1"/>
    <dgm:cxn modelId="{A02CA956-4009-AA45-89AD-C262B64C03C3}" srcId="{EEB4C698-B8F4-5E4F-BD12-10EDF328883E}" destId="{2B069059-321E-744E-BB2A-7F40DBCCC512}" srcOrd="2" destOrd="0" parTransId="{45F30DF5-4E3E-0248-B857-B105F3E190E1}" sibTransId="{08D8CFD1-641A-0745-BF4C-4C03BD31E872}"/>
    <dgm:cxn modelId="{CF575EA5-74E9-AD41-9227-312FB16B5522}" srcId="{EEB4C698-B8F4-5E4F-BD12-10EDF328883E}" destId="{64282084-EE7C-3D4B-BC9E-F0C2719CBE6D}" srcOrd="0" destOrd="0" parTransId="{0F9F6FDF-81ED-DF4C-85A0-0DE0AF3E0B7D}" sibTransId="{6C15FC8C-0DF9-9443-A3A8-28638F34DE50}"/>
    <dgm:cxn modelId="{47B28CC6-F74E-DA48-A21D-05DA10FB8545}" srcId="{DE6B9AA8-3F79-B945-86A9-5FB9A198EE2F}" destId="{EEB4C698-B8F4-5E4F-BD12-10EDF328883E}" srcOrd="0" destOrd="0" parTransId="{3F5171DD-3706-B346-97F1-BBCA2543B5B6}" sibTransId="{347AA156-68F0-2947-ABFB-822D9912FB8A}"/>
    <dgm:cxn modelId="{A9F7E2CF-81B3-44E0-8E9B-724157D10D98}" type="presOf" srcId="{722BBBEB-A4AA-BA43-AC25-2529E1D2F574}" destId="{1AF445B1-68FC-DC45-94CC-7453CCEBF4DB}" srcOrd="1" destOrd="0" presId="urn:microsoft.com/office/officeart/2005/8/layout/matrix1"/>
    <dgm:cxn modelId="{AD2F3ED2-90BA-4840-B6F4-8F43BD251EB1}" srcId="{EEB4C698-B8F4-5E4F-BD12-10EDF328883E}" destId="{E064EEAD-8F45-C64C-A512-CC513BBAF105}" srcOrd="3" destOrd="0" parTransId="{DA2C8360-5AB6-4147-B3E0-2E833A1F9FA1}" sibTransId="{CD8A36B1-0420-6C4D-9534-6408972D99B9}"/>
    <dgm:cxn modelId="{C3485842-F27B-4984-9815-CF16AFF7DADA}" type="presParOf" srcId="{2124D935-CD94-9048-901D-8D173EDAB4D3}" destId="{E4EF7A32-538A-C54D-9CF8-82EFBBC13631}" srcOrd="0" destOrd="0" presId="urn:microsoft.com/office/officeart/2005/8/layout/matrix1"/>
    <dgm:cxn modelId="{86828EE8-4B48-4855-BC36-AB3238506D0F}" type="presParOf" srcId="{E4EF7A32-538A-C54D-9CF8-82EFBBC13631}" destId="{B448C416-B116-7C42-AADA-03120A4F1EA3}" srcOrd="0" destOrd="0" presId="urn:microsoft.com/office/officeart/2005/8/layout/matrix1"/>
    <dgm:cxn modelId="{7F08E142-A7C0-442B-82C0-6C10036C6D06}" type="presParOf" srcId="{E4EF7A32-538A-C54D-9CF8-82EFBBC13631}" destId="{DBD65166-724F-A640-900C-BA50D846BCAA}" srcOrd="1" destOrd="0" presId="urn:microsoft.com/office/officeart/2005/8/layout/matrix1"/>
    <dgm:cxn modelId="{13980739-3319-4B61-8795-D13D8CC4640A}" type="presParOf" srcId="{E4EF7A32-538A-C54D-9CF8-82EFBBC13631}" destId="{AAA5B0B1-EAB2-9F49-B824-3E910453DFEB}" srcOrd="2" destOrd="0" presId="urn:microsoft.com/office/officeart/2005/8/layout/matrix1"/>
    <dgm:cxn modelId="{40909C7F-AFA6-4AE0-BE05-0D7C0292D521}" type="presParOf" srcId="{E4EF7A32-538A-C54D-9CF8-82EFBBC13631}" destId="{1AF445B1-68FC-DC45-94CC-7453CCEBF4DB}" srcOrd="3" destOrd="0" presId="urn:microsoft.com/office/officeart/2005/8/layout/matrix1"/>
    <dgm:cxn modelId="{B13D893A-CE10-468C-AEEC-F0A3A60E00B5}" type="presParOf" srcId="{E4EF7A32-538A-C54D-9CF8-82EFBBC13631}" destId="{1CA52935-4683-C849-A25C-A148B97DA7A3}" srcOrd="4" destOrd="0" presId="urn:microsoft.com/office/officeart/2005/8/layout/matrix1"/>
    <dgm:cxn modelId="{BCAE469E-5855-4037-AA8B-700EFCF8A7A4}" type="presParOf" srcId="{E4EF7A32-538A-C54D-9CF8-82EFBBC13631}" destId="{64A519B8-BACE-164A-9700-E90B0E32E5A9}" srcOrd="5" destOrd="0" presId="urn:microsoft.com/office/officeart/2005/8/layout/matrix1"/>
    <dgm:cxn modelId="{DE36EBC7-67A1-481D-8221-8E06BF845757}" type="presParOf" srcId="{E4EF7A32-538A-C54D-9CF8-82EFBBC13631}" destId="{EF78F3DD-942A-F146-AD56-26A2D81EC111}" srcOrd="6" destOrd="0" presId="urn:microsoft.com/office/officeart/2005/8/layout/matrix1"/>
    <dgm:cxn modelId="{304233EF-2B2F-4ED4-B7EC-1509BCD73859}" type="presParOf" srcId="{E4EF7A32-538A-C54D-9CF8-82EFBBC13631}" destId="{9D9B1968-3941-3B4E-8DE5-459F45F9DD6A}" srcOrd="7" destOrd="0" presId="urn:microsoft.com/office/officeart/2005/8/layout/matrix1"/>
    <dgm:cxn modelId="{81A73BC8-B9F2-47B1-8949-D8BAF627381A}" type="presParOf" srcId="{2124D935-CD94-9048-901D-8D173EDAB4D3}" destId="{3F7F931C-2594-F045-8724-088BD5C650F7}" srcOrd="1" destOrd="0" presId="urn:microsoft.com/office/officeart/2005/8/layout/matrix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E98B358-3FC0-6840-9047-E7E05B5C1036}" type="doc">
      <dgm:prSet loTypeId="urn:microsoft.com/office/officeart/2005/8/layout/cycle6" loCatId="cycle" qsTypeId="urn:microsoft.com/office/officeart/2005/8/quickstyle/simple4" qsCatId="simple" csTypeId="urn:microsoft.com/office/officeart/2005/8/colors/accent1_2" csCatId="accent1" phldr="1"/>
      <dgm:spPr/>
      <dgm:t>
        <a:bodyPr/>
        <a:lstStyle/>
        <a:p>
          <a:endParaRPr lang="en-US"/>
        </a:p>
      </dgm:t>
    </dgm:pt>
    <dgm:pt modelId="{2DFA4725-3680-4B48-97C8-69AC7E3EE163}">
      <dgm:prSet phldrT="[Text]" custT="1"/>
      <dgm:spPr>
        <a:gradFill rotWithShape="0">
          <a:gsLst>
            <a:gs pos="0">
              <a:schemeClr val="accent1">
                <a:hueOff val="0"/>
                <a:satOff val="0"/>
                <a:lumOff val="0"/>
                <a:shade val="70000"/>
                <a:satMod val="120000"/>
              </a:schemeClr>
            </a:gs>
            <a:gs pos="35000">
              <a:schemeClr val="accent1">
                <a:hueOff val="0"/>
                <a:satOff val="0"/>
                <a:lumOff val="0"/>
                <a:alphaOff val="0"/>
                <a:shade val="100000"/>
                <a:satMod val="150000"/>
              </a:schemeClr>
            </a:gs>
            <a:gs pos="70000">
              <a:schemeClr val="accent1">
                <a:hueOff val="0"/>
                <a:satOff val="0"/>
                <a:lumOff val="0"/>
                <a:alphaOff val="0"/>
                <a:tint val="100000"/>
                <a:shade val="100000"/>
                <a:satMod val="200000"/>
                <a:greenMod val="100000"/>
              </a:schemeClr>
            </a:gs>
            <a:gs pos="100000">
              <a:schemeClr val="accent1">
                <a:hueOff val="0"/>
                <a:satOff val="0"/>
                <a:lumOff val="0"/>
                <a:alphaOff val="0"/>
                <a:tint val="100000"/>
                <a:shade val="100000"/>
                <a:satMod val="250000"/>
                <a:greenMod val="100000"/>
              </a:schemeClr>
            </a:gs>
          </a:gsLst>
        </a:gradFill>
      </dgm:spPr>
      <dgm:t>
        <a:bodyPr/>
        <a:lstStyle/>
        <a:p>
          <a:r>
            <a:rPr lang="en-US" sz="1600" dirty="0">
              <a:solidFill>
                <a:schemeClr val="bg1"/>
              </a:solidFill>
            </a:rPr>
            <a:t>Cannot protect against attacks that bypass the firewall</a:t>
          </a:r>
        </a:p>
        <a:p>
          <a:r>
            <a:rPr lang="en-US" sz="1600" dirty="0"/>
            <a:t>Cannot protect against the transfer of virus-infected software or files.</a:t>
          </a:r>
          <a:endParaRPr lang="en-US" sz="1600" dirty="0">
            <a:solidFill>
              <a:schemeClr val="tx1"/>
            </a:solidFill>
          </a:endParaRPr>
        </a:p>
      </dgm:t>
    </dgm:pt>
    <dgm:pt modelId="{E8D66615-B501-0E47-9A54-F778A1EF63F0}" type="parTrans" cxnId="{21138243-F009-2349-B7DF-FB7B5826495D}">
      <dgm:prSet/>
      <dgm:spPr/>
      <dgm:t>
        <a:bodyPr/>
        <a:lstStyle/>
        <a:p>
          <a:endParaRPr lang="en-US"/>
        </a:p>
      </dgm:t>
    </dgm:pt>
    <dgm:pt modelId="{EA251B64-DE2D-9142-B240-10DB709A4A42}" type="sibTrans" cxnId="{21138243-F009-2349-B7DF-FB7B5826495D}">
      <dgm:prSet/>
      <dgm:spPr/>
      <dgm:t>
        <a:bodyPr/>
        <a:lstStyle/>
        <a:p>
          <a:endParaRPr lang="en-US"/>
        </a:p>
      </dgm:t>
    </dgm:pt>
    <dgm:pt modelId="{DB739C9E-DD35-C247-849A-485F60FF432B}">
      <dgm:prSet custT="1"/>
      <dgm:spPr>
        <a:gradFill rotWithShape="0">
          <a:gsLst>
            <a:gs pos="0">
              <a:schemeClr val="accent1">
                <a:hueOff val="0"/>
                <a:satOff val="0"/>
                <a:lumOff val="0"/>
                <a:shade val="70000"/>
                <a:satMod val="120000"/>
              </a:schemeClr>
            </a:gs>
            <a:gs pos="35000">
              <a:schemeClr val="accent1">
                <a:hueOff val="0"/>
                <a:satOff val="0"/>
                <a:lumOff val="0"/>
                <a:alphaOff val="0"/>
                <a:shade val="100000"/>
                <a:satMod val="150000"/>
              </a:schemeClr>
            </a:gs>
            <a:gs pos="70000">
              <a:schemeClr val="accent1">
                <a:hueOff val="0"/>
                <a:satOff val="0"/>
                <a:lumOff val="0"/>
                <a:alphaOff val="0"/>
                <a:tint val="100000"/>
                <a:shade val="100000"/>
                <a:satMod val="200000"/>
                <a:greenMod val="100000"/>
              </a:schemeClr>
            </a:gs>
            <a:gs pos="100000">
              <a:schemeClr val="accent1">
                <a:hueOff val="0"/>
                <a:satOff val="0"/>
                <a:lumOff val="0"/>
                <a:alphaOff val="0"/>
                <a:tint val="100000"/>
                <a:shade val="100000"/>
                <a:satMod val="250000"/>
                <a:greenMod val="100000"/>
              </a:schemeClr>
            </a:gs>
          </a:gsLst>
        </a:gradFill>
      </dgm:spPr>
      <dgm:t>
        <a:bodyPr/>
        <a:lstStyle/>
        <a:p>
          <a:r>
            <a:rPr lang="en-US" sz="1400" dirty="0">
              <a:solidFill>
                <a:schemeClr val="bg1"/>
              </a:solidFill>
            </a:rPr>
            <a:t>May not protect fully against internal threats, such as a disgruntled employee or an employee who unwittingly cooperates with an external attacker</a:t>
          </a:r>
        </a:p>
      </dgm:t>
    </dgm:pt>
    <dgm:pt modelId="{D0387D71-CD4D-2E4B-BE8E-2F5AC7C3B92B}" type="parTrans" cxnId="{E807369C-3BC3-A44A-92AF-F7396DE6B129}">
      <dgm:prSet/>
      <dgm:spPr/>
      <dgm:t>
        <a:bodyPr/>
        <a:lstStyle/>
        <a:p>
          <a:endParaRPr lang="en-US"/>
        </a:p>
      </dgm:t>
    </dgm:pt>
    <dgm:pt modelId="{38E1FB96-3EAD-C141-A43D-A4B352D86289}" type="sibTrans" cxnId="{E807369C-3BC3-A44A-92AF-F7396DE6B129}">
      <dgm:prSet/>
      <dgm:spPr/>
      <dgm:t>
        <a:bodyPr/>
        <a:lstStyle/>
        <a:p>
          <a:endParaRPr lang="en-US"/>
        </a:p>
      </dgm:t>
    </dgm:pt>
    <dgm:pt modelId="{97B69845-2E89-4C4C-B284-3ABDD0DE0D1A}">
      <dgm:prSet custT="1"/>
      <dgm:spPr>
        <a:gradFill rotWithShape="0">
          <a:gsLst>
            <a:gs pos="0">
              <a:schemeClr val="accent1">
                <a:hueOff val="0"/>
                <a:satOff val="0"/>
                <a:lumOff val="0"/>
                <a:shade val="70000"/>
                <a:satMod val="120000"/>
              </a:schemeClr>
            </a:gs>
            <a:gs pos="35000">
              <a:schemeClr val="accent1">
                <a:hueOff val="0"/>
                <a:satOff val="0"/>
                <a:lumOff val="0"/>
                <a:alphaOff val="0"/>
                <a:shade val="100000"/>
                <a:satMod val="150000"/>
              </a:schemeClr>
            </a:gs>
            <a:gs pos="70000">
              <a:schemeClr val="accent1">
                <a:hueOff val="0"/>
                <a:satOff val="0"/>
                <a:lumOff val="0"/>
                <a:alphaOff val="0"/>
                <a:tint val="100000"/>
                <a:shade val="100000"/>
                <a:satMod val="200000"/>
                <a:greenMod val="100000"/>
              </a:schemeClr>
            </a:gs>
            <a:gs pos="100000">
              <a:schemeClr val="accent1">
                <a:hueOff val="0"/>
                <a:satOff val="0"/>
                <a:lumOff val="0"/>
                <a:alphaOff val="0"/>
                <a:tint val="100000"/>
                <a:shade val="100000"/>
                <a:satMod val="250000"/>
                <a:greenMod val="100000"/>
              </a:schemeClr>
            </a:gs>
          </a:gsLst>
        </a:gradFill>
      </dgm:spPr>
      <dgm:t>
        <a:bodyPr/>
        <a:lstStyle/>
        <a:p>
          <a:r>
            <a:rPr lang="en-US" sz="1400" dirty="0">
              <a:solidFill>
                <a:schemeClr val="bg1"/>
              </a:solidFill>
            </a:rPr>
            <a:t>Cannot guard against wireless communications between local systems on different sides of the internal firewall</a:t>
          </a:r>
        </a:p>
      </dgm:t>
    </dgm:pt>
    <dgm:pt modelId="{0C7D971A-864B-6A44-8597-C45E185CEDD0}" type="parTrans" cxnId="{D7632952-91E1-364D-93B1-5A4ABE836804}">
      <dgm:prSet/>
      <dgm:spPr/>
      <dgm:t>
        <a:bodyPr/>
        <a:lstStyle/>
        <a:p>
          <a:endParaRPr lang="en-US"/>
        </a:p>
      </dgm:t>
    </dgm:pt>
    <dgm:pt modelId="{84A1856D-8872-E246-867F-B0F25D354F33}" type="sibTrans" cxnId="{D7632952-91E1-364D-93B1-5A4ABE836804}">
      <dgm:prSet/>
      <dgm:spPr/>
      <dgm:t>
        <a:bodyPr/>
        <a:lstStyle/>
        <a:p>
          <a:endParaRPr lang="en-US"/>
        </a:p>
      </dgm:t>
    </dgm:pt>
    <dgm:pt modelId="{97656DD1-D141-BF46-9B1F-1156CFEB8017}">
      <dgm:prSet custT="1"/>
      <dgm:spPr>
        <a:gradFill rotWithShape="0">
          <a:gsLst>
            <a:gs pos="0">
              <a:schemeClr val="accent1">
                <a:hueOff val="0"/>
                <a:satOff val="0"/>
                <a:lumOff val="0"/>
                <a:shade val="70000"/>
                <a:satMod val="120000"/>
              </a:schemeClr>
            </a:gs>
            <a:gs pos="35000">
              <a:schemeClr val="accent1">
                <a:hueOff val="0"/>
                <a:satOff val="0"/>
                <a:lumOff val="0"/>
                <a:alphaOff val="0"/>
                <a:shade val="100000"/>
                <a:satMod val="150000"/>
              </a:schemeClr>
            </a:gs>
            <a:gs pos="70000">
              <a:schemeClr val="accent1">
                <a:hueOff val="0"/>
                <a:satOff val="0"/>
                <a:lumOff val="0"/>
                <a:alphaOff val="0"/>
                <a:tint val="100000"/>
                <a:shade val="100000"/>
                <a:satMod val="200000"/>
                <a:greenMod val="100000"/>
              </a:schemeClr>
            </a:gs>
            <a:gs pos="100000">
              <a:schemeClr val="accent1">
                <a:hueOff val="0"/>
                <a:satOff val="0"/>
                <a:lumOff val="0"/>
                <a:alphaOff val="0"/>
                <a:tint val="100000"/>
                <a:shade val="100000"/>
                <a:satMod val="250000"/>
                <a:greenMod val="100000"/>
              </a:schemeClr>
            </a:gs>
          </a:gsLst>
        </a:gradFill>
      </dgm:spPr>
      <dgm:t>
        <a:bodyPr/>
        <a:lstStyle/>
        <a:p>
          <a:r>
            <a:rPr lang="en-US" sz="1400" dirty="0">
              <a:solidFill>
                <a:schemeClr val="bg1"/>
              </a:solidFill>
            </a:rPr>
            <a:t>A laptop, PDA, or portable storage device may be used and infected outside the corporate network, and then attached and used internally</a:t>
          </a:r>
        </a:p>
      </dgm:t>
    </dgm:pt>
    <dgm:pt modelId="{726A1F22-DF84-6542-852D-2F5ADB8A4BDA}" type="parTrans" cxnId="{0B176B4B-DAF2-3141-BC8D-263F5AD05C78}">
      <dgm:prSet/>
      <dgm:spPr/>
      <dgm:t>
        <a:bodyPr/>
        <a:lstStyle/>
        <a:p>
          <a:endParaRPr lang="en-US"/>
        </a:p>
      </dgm:t>
    </dgm:pt>
    <dgm:pt modelId="{04F098FB-D257-ED4D-AB10-0B2B48FE7EDF}" type="sibTrans" cxnId="{0B176B4B-DAF2-3141-BC8D-263F5AD05C78}">
      <dgm:prSet/>
      <dgm:spPr/>
      <dgm:t>
        <a:bodyPr/>
        <a:lstStyle/>
        <a:p>
          <a:endParaRPr lang="en-US"/>
        </a:p>
      </dgm:t>
    </dgm:pt>
    <dgm:pt modelId="{33BD97D1-9162-694D-9882-B737CD4153EE}" type="pres">
      <dgm:prSet presAssocID="{0E98B358-3FC0-6840-9047-E7E05B5C1036}" presName="cycle" presStyleCnt="0">
        <dgm:presLayoutVars>
          <dgm:dir/>
          <dgm:resizeHandles val="exact"/>
        </dgm:presLayoutVars>
      </dgm:prSet>
      <dgm:spPr/>
    </dgm:pt>
    <dgm:pt modelId="{CE302BE7-C826-6E49-893E-CBB6B2FBA3EE}" type="pres">
      <dgm:prSet presAssocID="{2DFA4725-3680-4B48-97C8-69AC7E3EE163}" presName="node" presStyleLbl="node1" presStyleIdx="0" presStyleCnt="4" custScaleX="141885" custScaleY="143477">
        <dgm:presLayoutVars>
          <dgm:bulletEnabled val="1"/>
        </dgm:presLayoutVars>
      </dgm:prSet>
      <dgm:spPr/>
    </dgm:pt>
    <dgm:pt modelId="{411323B0-C7B0-CF4D-9116-4F172E6AD0F8}" type="pres">
      <dgm:prSet presAssocID="{2DFA4725-3680-4B48-97C8-69AC7E3EE163}" presName="spNode" presStyleCnt="0"/>
      <dgm:spPr/>
    </dgm:pt>
    <dgm:pt modelId="{DA926544-7514-8444-AA05-228AF671AEF1}" type="pres">
      <dgm:prSet presAssocID="{EA251B64-DE2D-9142-B240-10DB709A4A42}" presName="sibTrans" presStyleLbl="sibTrans1D1" presStyleIdx="0" presStyleCnt="4"/>
      <dgm:spPr/>
    </dgm:pt>
    <dgm:pt modelId="{D6EE9D01-D26F-174A-9B14-BC36A050102D}" type="pres">
      <dgm:prSet presAssocID="{DB739C9E-DD35-C247-849A-485F60FF432B}" presName="node" presStyleLbl="node1" presStyleIdx="1" presStyleCnt="4" custScaleX="141885" custScaleY="143477" custRadScaleRad="129380" custRadScaleInc="2290">
        <dgm:presLayoutVars>
          <dgm:bulletEnabled val="1"/>
        </dgm:presLayoutVars>
      </dgm:prSet>
      <dgm:spPr/>
    </dgm:pt>
    <dgm:pt modelId="{B3EBCA3F-8625-DC44-8CF2-E52FBF0C5DF0}" type="pres">
      <dgm:prSet presAssocID="{DB739C9E-DD35-C247-849A-485F60FF432B}" presName="spNode" presStyleCnt="0"/>
      <dgm:spPr/>
    </dgm:pt>
    <dgm:pt modelId="{0160AC0F-10B8-7343-9652-9CB14C486DA7}" type="pres">
      <dgm:prSet presAssocID="{38E1FB96-3EAD-C141-A43D-A4B352D86289}" presName="sibTrans" presStyleLbl="sibTrans1D1" presStyleIdx="1" presStyleCnt="4"/>
      <dgm:spPr/>
    </dgm:pt>
    <dgm:pt modelId="{3ABA0B66-88C5-4D4E-AA95-D50408EC29F9}" type="pres">
      <dgm:prSet presAssocID="{97B69845-2E89-4C4C-B284-3ABDD0DE0D1A}" presName="node" presStyleLbl="node1" presStyleIdx="2" presStyleCnt="4" custScaleX="141885" custScaleY="143477">
        <dgm:presLayoutVars>
          <dgm:bulletEnabled val="1"/>
        </dgm:presLayoutVars>
      </dgm:prSet>
      <dgm:spPr/>
    </dgm:pt>
    <dgm:pt modelId="{CF9754EC-A111-0944-885F-FF5A76BF37B7}" type="pres">
      <dgm:prSet presAssocID="{97B69845-2E89-4C4C-B284-3ABDD0DE0D1A}" presName="spNode" presStyleCnt="0"/>
      <dgm:spPr/>
    </dgm:pt>
    <dgm:pt modelId="{215487BB-AF70-EF47-BE59-7C43987A6041}" type="pres">
      <dgm:prSet presAssocID="{84A1856D-8872-E246-867F-B0F25D354F33}" presName="sibTrans" presStyleLbl="sibTrans1D1" presStyleIdx="2" presStyleCnt="4"/>
      <dgm:spPr/>
    </dgm:pt>
    <dgm:pt modelId="{210ABE91-6EA1-274C-95E4-EA0BB85F02E6}" type="pres">
      <dgm:prSet presAssocID="{97656DD1-D141-BF46-9B1F-1156CFEB8017}" presName="node" presStyleLbl="node1" presStyleIdx="3" presStyleCnt="4" custScaleX="141885" custScaleY="143477" custRadScaleRad="126584" custRadScaleInc="-2340">
        <dgm:presLayoutVars>
          <dgm:bulletEnabled val="1"/>
        </dgm:presLayoutVars>
      </dgm:prSet>
      <dgm:spPr/>
    </dgm:pt>
    <dgm:pt modelId="{D785A89C-34AB-324E-B5EF-DD41F211D9B0}" type="pres">
      <dgm:prSet presAssocID="{97656DD1-D141-BF46-9B1F-1156CFEB8017}" presName="spNode" presStyleCnt="0"/>
      <dgm:spPr/>
    </dgm:pt>
    <dgm:pt modelId="{418103E9-A740-B740-85DA-E8DA0E4F50F2}" type="pres">
      <dgm:prSet presAssocID="{04F098FB-D257-ED4D-AB10-0B2B48FE7EDF}" presName="sibTrans" presStyleLbl="sibTrans1D1" presStyleIdx="3" presStyleCnt="4"/>
      <dgm:spPr/>
    </dgm:pt>
  </dgm:ptLst>
  <dgm:cxnLst>
    <dgm:cxn modelId="{C865D917-7F46-4A91-9017-8B19CEBAFA85}" type="presOf" srcId="{DB739C9E-DD35-C247-849A-485F60FF432B}" destId="{D6EE9D01-D26F-174A-9B14-BC36A050102D}" srcOrd="0" destOrd="0" presId="urn:microsoft.com/office/officeart/2005/8/layout/cycle6"/>
    <dgm:cxn modelId="{793EFE20-DB25-4992-809A-92D5F0F9CA77}" type="presOf" srcId="{97656DD1-D141-BF46-9B1F-1156CFEB8017}" destId="{210ABE91-6EA1-274C-95E4-EA0BB85F02E6}" srcOrd="0" destOrd="0" presId="urn:microsoft.com/office/officeart/2005/8/layout/cycle6"/>
    <dgm:cxn modelId="{E1F29030-17A4-40D8-95AD-279BD7F0D4FF}" type="presOf" srcId="{0E98B358-3FC0-6840-9047-E7E05B5C1036}" destId="{33BD97D1-9162-694D-9882-B737CD4153EE}" srcOrd="0" destOrd="0" presId="urn:microsoft.com/office/officeart/2005/8/layout/cycle6"/>
    <dgm:cxn modelId="{21138243-F009-2349-B7DF-FB7B5826495D}" srcId="{0E98B358-3FC0-6840-9047-E7E05B5C1036}" destId="{2DFA4725-3680-4B48-97C8-69AC7E3EE163}" srcOrd="0" destOrd="0" parTransId="{E8D66615-B501-0E47-9A54-F778A1EF63F0}" sibTransId="{EA251B64-DE2D-9142-B240-10DB709A4A42}"/>
    <dgm:cxn modelId="{0B176B4B-DAF2-3141-BC8D-263F5AD05C78}" srcId="{0E98B358-3FC0-6840-9047-E7E05B5C1036}" destId="{97656DD1-D141-BF46-9B1F-1156CFEB8017}" srcOrd="3" destOrd="0" parTransId="{726A1F22-DF84-6542-852D-2F5ADB8A4BDA}" sibTransId="{04F098FB-D257-ED4D-AB10-0B2B48FE7EDF}"/>
    <dgm:cxn modelId="{B49A9E4E-8282-416F-8DB2-B2FCB0CA3685}" type="presOf" srcId="{EA251B64-DE2D-9142-B240-10DB709A4A42}" destId="{DA926544-7514-8444-AA05-228AF671AEF1}" srcOrd="0" destOrd="0" presId="urn:microsoft.com/office/officeart/2005/8/layout/cycle6"/>
    <dgm:cxn modelId="{D7632952-91E1-364D-93B1-5A4ABE836804}" srcId="{0E98B358-3FC0-6840-9047-E7E05B5C1036}" destId="{97B69845-2E89-4C4C-B284-3ABDD0DE0D1A}" srcOrd="2" destOrd="0" parTransId="{0C7D971A-864B-6A44-8597-C45E185CEDD0}" sibTransId="{84A1856D-8872-E246-867F-B0F25D354F33}"/>
    <dgm:cxn modelId="{45386E95-19DF-40EF-B871-4880B98162A7}" type="presOf" srcId="{2DFA4725-3680-4B48-97C8-69AC7E3EE163}" destId="{CE302BE7-C826-6E49-893E-CBB6B2FBA3EE}" srcOrd="0" destOrd="0" presId="urn:microsoft.com/office/officeart/2005/8/layout/cycle6"/>
    <dgm:cxn modelId="{C568F498-EE79-493A-B4ED-0E01EED10B3B}" type="presOf" srcId="{04F098FB-D257-ED4D-AB10-0B2B48FE7EDF}" destId="{418103E9-A740-B740-85DA-E8DA0E4F50F2}" srcOrd="0" destOrd="0" presId="urn:microsoft.com/office/officeart/2005/8/layout/cycle6"/>
    <dgm:cxn modelId="{E807369C-3BC3-A44A-92AF-F7396DE6B129}" srcId="{0E98B358-3FC0-6840-9047-E7E05B5C1036}" destId="{DB739C9E-DD35-C247-849A-485F60FF432B}" srcOrd="1" destOrd="0" parTransId="{D0387D71-CD4D-2E4B-BE8E-2F5AC7C3B92B}" sibTransId="{38E1FB96-3EAD-C141-A43D-A4B352D86289}"/>
    <dgm:cxn modelId="{8E331EE6-3541-4B19-AA6F-08440553B3C3}" type="presOf" srcId="{38E1FB96-3EAD-C141-A43D-A4B352D86289}" destId="{0160AC0F-10B8-7343-9652-9CB14C486DA7}" srcOrd="0" destOrd="0" presId="urn:microsoft.com/office/officeart/2005/8/layout/cycle6"/>
    <dgm:cxn modelId="{E3CB42F3-14DF-4F44-A018-41963FFF0F8A}" type="presOf" srcId="{84A1856D-8872-E246-867F-B0F25D354F33}" destId="{215487BB-AF70-EF47-BE59-7C43987A6041}" srcOrd="0" destOrd="0" presId="urn:microsoft.com/office/officeart/2005/8/layout/cycle6"/>
    <dgm:cxn modelId="{132549FA-3CA4-44BC-A6F1-C592C2F373C5}" type="presOf" srcId="{97B69845-2E89-4C4C-B284-3ABDD0DE0D1A}" destId="{3ABA0B66-88C5-4D4E-AA95-D50408EC29F9}" srcOrd="0" destOrd="0" presId="urn:microsoft.com/office/officeart/2005/8/layout/cycle6"/>
    <dgm:cxn modelId="{7E7719F5-D0FB-4ECF-B5BC-9E03ACEDAF9C}" type="presParOf" srcId="{33BD97D1-9162-694D-9882-B737CD4153EE}" destId="{CE302BE7-C826-6E49-893E-CBB6B2FBA3EE}" srcOrd="0" destOrd="0" presId="urn:microsoft.com/office/officeart/2005/8/layout/cycle6"/>
    <dgm:cxn modelId="{F7882031-7E60-40BF-BFEF-F0DB560BFCB2}" type="presParOf" srcId="{33BD97D1-9162-694D-9882-B737CD4153EE}" destId="{411323B0-C7B0-CF4D-9116-4F172E6AD0F8}" srcOrd="1" destOrd="0" presId="urn:microsoft.com/office/officeart/2005/8/layout/cycle6"/>
    <dgm:cxn modelId="{9999ED08-22E7-4E7D-A50F-44F5AD46558B}" type="presParOf" srcId="{33BD97D1-9162-694D-9882-B737CD4153EE}" destId="{DA926544-7514-8444-AA05-228AF671AEF1}" srcOrd="2" destOrd="0" presId="urn:microsoft.com/office/officeart/2005/8/layout/cycle6"/>
    <dgm:cxn modelId="{EC8A02E5-F262-4CD5-9076-E0B2EA751974}" type="presParOf" srcId="{33BD97D1-9162-694D-9882-B737CD4153EE}" destId="{D6EE9D01-D26F-174A-9B14-BC36A050102D}" srcOrd="3" destOrd="0" presId="urn:microsoft.com/office/officeart/2005/8/layout/cycle6"/>
    <dgm:cxn modelId="{B9A9935C-B18C-4E0E-A046-C7EA404A047D}" type="presParOf" srcId="{33BD97D1-9162-694D-9882-B737CD4153EE}" destId="{B3EBCA3F-8625-DC44-8CF2-E52FBF0C5DF0}" srcOrd="4" destOrd="0" presId="urn:microsoft.com/office/officeart/2005/8/layout/cycle6"/>
    <dgm:cxn modelId="{9C23781C-6929-4818-9451-99BA096028AC}" type="presParOf" srcId="{33BD97D1-9162-694D-9882-B737CD4153EE}" destId="{0160AC0F-10B8-7343-9652-9CB14C486DA7}" srcOrd="5" destOrd="0" presId="urn:microsoft.com/office/officeart/2005/8/layout/cycle6"/>
    <dgm:cxn modelId="{5B223B41-C747-4E1F-AA84-DADDF4F5881D}" type="presParOf" srcId="{33BD97D1-9162-694D-9882-B737CD4153EE}" destId="{3ABA0B66-88C5-4D4E-AA95-D50408EC29F9}" srcOrd="6" destOrd="0" presId="urn:microsoft.com/office/officeart/2005/8/layout/cycle6"/>
    <dgm:cxn modelId="{4614AF57-3C71-4149-9306-632C11A02E7C}" type="presParOf" srcId="{33BD97D1-9162-694D-9882-B737CD4153EE}" destId="{CF9754EC-A111-0944-885F-FF5A76BF37B7}" srcOrd="7" destOrd="0" presId="urn:microsoft.com/office/officeart/2005/8/layout/cycle6"/>
    <dgm:cxn modelId="{7DC21E5D-3319-46D3-83B9-70F98912D794}" type="presParOf" srcId="{33BD97D1-9162-694D-9882-B737CD4153EE}" destId="{215487BB-AF70-EF47-BE59-7C43987A6041}" srcOrd="8" destOrd="0" presId="urn:microsoft.com/office/officeart/2005/8/layout/cycle6"/>
    <dgm:cxn modelId="{56A0BC64-1EF7-4863-B7CC-63B0CD002B64}" type="presParOf" srcId="{33BD97D1-9162-694D-9882-B737CD4153EE}" destId="{210ABE91-6EA1-274C-95E4-EA0BB85F02E6}" srcOrd="9" destOrd="0" presId="urn:microsoft.com/office/officeart/2005/8/layout/cycle6"/>
    <dgm:cxn modelId="{1A6DF893-4C12-4C1A-9FF4-5AB1EAA5D0C9}" type="presParOf" srcId="{33BD97D1-9162-694D-9882-B737CD4153EE}" destId="{D785A89C-34AB-324E-B5EF-DD41F211D9B0}" srcOrd="10" destOrd="0" presId="urn:microsoft.com/office/officeart/2005/8/layout/cycle6"/>
    <dgm:cxn modelId="{A7BDA857-FBB8-488C-BE76-EC2D71DBD073}" type="presParOf" srcId="{33BD97D1-9162-694D-9882-B737CD4153EE}" destId="{418103E9-A740-B740-85DA-E8DA0E4F50F2}" srcOrd="11" destOrd="0" presId="urn:microsoft.com/office/officeart/2005/8/layout/cycle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B5CBE8-280A-4446-86F1-AAFED50F94A9}">
      <dsp:nvSpPr>
        <dsp:cNvPr id="0" name=""/>
        <dsp:cNvSpPr/>
      </dsp:nvSpPr>
      <dsp:spPr>
        <a:xfrm>
          <a:off x="2654684" y="24475"/>
          <a:ext cx="2654637" cy="415133"/>
        </a:xfrm>
        <a:prstGeom prst="roundRect">
          <a:avLst/>
        </a:prstGeom>
        <a:gradFill rotWithShape="0">
          <a:gsLst>
            <a:gs pos="0">
              <a:schemeClr val="accent1">
                <a:hueOff val="0"/>
                <a:satOff val="0"/>
                <a:lumOff val="0"/>
                <a:alphaOff val="0"/>
                <a:shade val="70000"/>
                <a:satMod val="120000"/>
              </a:schemeClr>
            </a:gs>
            <a:gs pos="35000">
              <a:schemeClr val="accent1">
                <a:hueOff val="0"/>
                <a:satOff val="0"/>
                <a:lumOff val="0"/>
                <a:alphaOff val="0"/>
                <a:shade val="100000"/>
                <a:satMod val="150000"/>
              </a:schemeClr>
            </a:gs>
            <a:gs pos="70000">
              <a:schemeClr val="accent1">
                <a:hueOff val="0"/>
                <a:satOff val="0"/>
                <a:lumOff val="0"/>
                <a:alphaOff val="0"/>
                <a:tint val="100000"/>
                <a:shade val="100000"/>
                <a:satMod val="200000"/>
                <a:greenMod val="100000"/>
              </a:schemeClr>
            </a:gs>
            <a:gs pos="100000">
              <a:schemeClr val="accent1">
                <a:hueOff val="0"/>
                <a:satOff val="0"/>
                <a:lumOff val="0"/>
                <a:alphaOff val="0"/>
                <a:tint val="100000"/>
                <a:shade val="100000"/>
                <a:satMod val="250000"/>
                <a:greenMod val="100000"/>
              </a:schemeClr>
            </a:gs>
          </a:gsLst>
          <a:lin ang="16200000" scaled="1"/>
        </a:gradFill>
        <a:ln>
          <a:noFill/>
        </a:ln>
        <a:effectLst/>
        <a:scene3d>
          <a:camera prst="orthographicFront">
            <a:rot lat="0" lon="0" rev="0"/>
          </a:camera>
          <a:lightRig rig="twoPt" dir="r">
            <a:rot lat="0" lon="0" rev="6000000"/>
          </a:lightRig>
        </a:scene3d>
        <a:sp3d prstMaterial="matte">
          <a:bevelT w="0" h="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AU" sz="1500" kern="1200" dirty="0">
              <a:solidFill>
                <a:schemeClr val="tx1"/>
              </a:solidFill>
            </a:rPr>
            <a:t>Service control</a:t>
          </a:r>
          <a:endParaRPr lang="en-US" sz="1500" kern="1200" dirty="0">
            <a:solidFill>
              <a:schemeClr val="tx1"/>
            </a:solidFill>
          </a:endParaRPr>
        </a:p>
      </dsp:txBody>
      <dsp:txXfrm>
        <a:off x="2674949" y="44740"/>
        <a:ext cx="2614107" cy="374603"/>
      </dsp:txXfrm>
    </dsp:sp>
    <dsp:sp modelId="{9FBAF802-69E1-974B-A1A6-4C7BE1B65733}">
      <dsp:nvSpPr>
        <dsp:cNvPr id="0" name=""/>
        <dsp:cNvSpPr/>
      </dsp:nvSpPr>
      <dsp:spPr>
        <a:xfrm>
          <a:off x="0" y="429156"/>
          <a:ext cx="9428653" cy="4999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99360"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AU" sz="1600" kern="1200" dirty="0">
              <a:solidFill>
                <a:schemeClr val="tx2">
                  <a:lumMod val="10000"/>
                </a:schemeClr>
              </a:solidFill>
            </a:rPr>
            <a:t>Determines the types of Internet services that can be accessed, inbound or outbound	</a:t>
          </a:r>
        </a:p>
      </dsp:txBody>
      <dsp:txXfrm>
        <a:off x="0" y="429156"/>
        <a:ext cx="9428653" cy="499905"/>
      </dsp:txXfrm>
    </dsp:sp>
    <dsp:sp modelId="{63E6B281-CE25-6040-9C5A-E30167381050}">
      <dsp:nvSpPr>
        <dsp:cNvPr id="0" name=""/>
        <dsp:cNvSpPr/>
      </dsp:nvSpPr>
      <dsp:spPr>
        <a:xfrm>
          <a:off x="2649404" y="812303"/>
          <a:ext cx="2654637" cy="430560"/>
        </a:xfrm>
        <a:prstGeom prst="roundRect">
          <a:avLst/>
        </a:prstGeom>
        <a:gradFill rotWithShape="0">
          <a:gsLst>
            <a:gs pos="0">
              <a:schemeClr val="accent1">
                <a:hueOff val="0"/>
                <a:satOff val="0"/>
                <a:lumOff val="0"/>
                <a:alphaOff val="0"/>
                <a:shade val="70000"/>
                <a:satMod val="120000"/>
              </a:schemeClr>
            </a:gs>
            <a:gs pos="35000">
              <a:schemeClr val="accent1">
                <a:hueOff val="0"/>
                <a:satOff val="0"/>
                <a:lumOff val="0"/>
                <a:alphaOff val="0"/>
                <a:shade val="100000"/>
                <a:satMod val="150000"/>
              </a:schemeClr>
            </a:gs>
            <a:gs pos="70000">
              <a:schemeClr val="accent1">
                <a:hueOff val="0"/>
                <a:satOff val="0"/>
                <a:lumOff val="0"/>
                <a:alphaOff val="0"/>
                <a:tint val="100000"/>
                <a:shade val="100000"/>
                <a:satMod val="200000"/>
                <a:greenMod val="100000"/>
              </a:schemeClr>
            </a:gs>
            <a:gs pos="100000">
              <a:schemeClr val="accent1">
                <a:hueOff val="0"/>
                <a:satOff val="0"/>
                <a:lumOff val="0"/>
                <a:alphaOff val="0"/>
                <a:tint val="100000"/>
                <a:shade val="100000"/>
                <a:satMod val="250000"/>
                <a:greenMod val="100000"/>
              </a:schemeClr>
            </a:gs>
          </a:gsLst>
          <a:lin ang="16200000" scaled="1"/>
        </a:gradFill>
        <a:ln>
          <a:noFill/>
        </a:ln>
        <a:effectLst/>
        <a:scene3d>
          <a:camera prst="orthographicFront">
            <a:rot lat="0" lon="0" rev="0"/>
          </a:camera>
          <a:lightRig rig="twoPt" dir="r">
            <a:rot lat="0" lon="0" rev="6000000"/>
          </a:lightRig>
        </a:scene3d>
        <a:sp3d prstMaterial="matte">
          <a:bevelT w="0" h="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AU" sz="1500" kern="1200" dirty="0">
              <a:solidFill>
                <a:schemeClr val="tx1"/>
              </a:solidFill>
            </a:rPr>
            <a:t>Direction control</a:t>
          </a:r>
        </a:p>
      </dsp:txBody>
      <dsp:txXfrm>
        <a:off x="2670422" y="833321"/>
        <a:ext cx="2612601" cy="388524"/>
      </dsp:txXfrm>
    </dsp:sp>
    <dsp:sp modelId="{7D1786A2-49B2-DF41-8E50-8200179F522C}">
      <dsp:nvSpPr>
        <dsp:cNvPr id="0" name=""/>
        <dsp:cNvSpPr/>
      </dsp:nvSpPr>
      <dsp:spPr>
        <a:xfrm>
          <a:off x="0" y="1299962"/>
          <a:ext cx="9428653" cy="4999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99360"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AU" sz="1600" kern="1200" dirty="0">
              <a:solidFill>
                <a:schemeClr val="tx2">
                  <a:lumMod val="10000"/>
                </a:schemeClr>
              </a:solidFill>
            </a:rPr>
            <a:t>Determines the direction in which particular service requests may be initiated and allowed to flow through the firewall</a:t>
          </a:r>
        </a:p>
      </dsp:txBody>
      <dsp:txXfrm>
        <a:off x="0" y="1299962"/>
        <a:ext cx="9428653" cy="499905"/>
      </dsp:txXfrm>
    </dsp:sp>
    <dsp:sp modelId="{1E544F26-C67E-9B47-8C41-3619C719B540}">
      <dsp:nvSpPr>
        <dsp:cNvPr id="0" name=""/>
        <dsp:cNvSpPr/>
      </dsp:nvSpPr>
      <dsp:spPr>
        <a:xfrm>
          <a:off x="2654684" y="1867490"/>
          <a:ext cx="2654637" cy="430560"/>
        </a:xfrm>
        <a:prstGeom prst="roundRect">
          <a:avLst/>
        </a:prstGeom>
        <a:gradFill rotWithShape="0">
          <a:gsLst>
            <a:gs pos="0">
              <a:schemeClr val="accent1">
                <a:hueOff val="0"/>
                <a:satOff val="0"/>
                <a:lumOff val="0"/>
                <a:alphaOff val="0"/>
                <a:shade val="70000"/>
                <a:satMod val="120000"/>
              </a:schemeClr>
            </a:gs>
            <a:gs pos="35000">
              <a:schemeClr val="accent1">
                <a:hueOff val="0"/>
                <a:satOff val="0"/>
                <a:lumOff val="0"/>
                <a:alphaOff val="0"/>
                <a:shade val="100000"/>
                <a:satMod val="150000"/>
              </a:schemeClr>
            </a:gs>
            <a:gs pos="70000">
              <a:schemeClr val="accent1">
                <a:hueOff val="0"/>
                <a:satOff val="0"/>
                <a:lumOff val="0"/>
                <a:alphaOff val="0"/>
                <a:tint val="100000"/>
                <a:shade val="100000"/>
                <a:satMod val="200000"/>
                <a:greenMod val="100000"/>
              </a:schemeClr>
            </a:gs>
            <a:gs pos="100000">
              <a:schemeClr val="accent1">
                <a:hueOff val="0"/>
                <a:satOff val="0"/>
                <a:lumOff val="0"/>
                <a:alphaOff val="0"/>
                <a:tint val="100000"/>
                <a:shade val="100000"/>
                <a:satMod val="250000"/>
                <a:greenMod val="100000"/>
              </a:schemeClr>
            </a:gs>
          </a:gsLst>
          <a:lin ang="16200000" scaled="1"/>
        </a:gradFill>
        <a:ln>
          <a:noFill/>
        </a:ln>
        <a:effectLst/>
        <a:scene3d>
          <a:camera prst="orthographicFront">
            <a:rot lat="0" lon="0" rev="0"/>
          </a:camera>
          <a:lightRig rig="twoPt" dir="r">
            <a:rot lat="0" lon="0" rev="6000000"/>
          </a:lightRig>
        </a:scene3d>
        <a:sp3d prstMaterial="matte">
          <a:bevelT w="0" h="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AU" sz="1500" kern="1200" dirty="0">
              <a:solidFill>
                <a:schemeClr val="tx1"/>
              </a:solidFill>
            </a:rPr>
            <a:t>User control</a:t>
          </a:r>
        </a:p>
      </dsp:txBody>
      <dsp:txXfrm>
        <a:off x="2675702" y="1888508"/>
        <a:ext cx="2612601" cy="388524"/>
      </dsp:txXfrm>
    </dsp:sp>
    <dsp:sp modelId="{B8527160-59EA-0C4D-8589-99D29E12ACEB}">
      <dsp:nvSpPr>
        <dsp:cNvPr id="0" name=""/>
        <dsp:cNvSpPr/>
      </dsp:nvSpPr>
      <dsp:spPr>
        <a:xfrm>
          <a:off x="0" y="2328324"/>
          <a:ext cx="9428653" cy="380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99360"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AU" sz="1600" kern="1200" dirty="0">
              <a:solidFill>
                <a:schemeClr val="tx2">
                  <a:lumMod val="10000"/>
                </a:schemeClr>
              </a:solidFill>
            </a:rPr>
            <a:t>Controls access to a service according to which user is attempting to access it</a:t>
          </a:r>
        </a:p>
      </dsp:txBody>
      <dsp:txXfrm>
        <a:off x="0" y="2328324"/>
        <a:ext cx="9428653" cy="380880"/>
      </dsp:txXfrm>
    </dsp:sp>
    <dsp:sp modelId="{58A08919-70EB-F644-835B-650AC94F165B}">
      <dsp:nvSpPr>
        <dsp:cNvPr id="0" name=""/>
        <dsp:cNvSpPr/>
      </dsp:nvSpPr>
      <dsp:spPr>
        <a:xfrm>
          <a:off x="2654684" y="2678930"/>
          <a:ext cx="2654637" cy="430560"/>
        </a:xfrm>
        <a:prstGeom prst="roundRect">
          <a:avLst/>
        </a:prstGeom>
        <a:gradFill rotWithShape="0">
          <a:gsLst>
            <a:gs pos="0">
              <a:schemeClr val="accent1">
                <a:hueOff val="0"/>
                <a:satOff val="0"/>
                <a:lumOff val="0"/>
                <a:alphaOff val="0"/>
                <a:shade val="70000"/>
                <a:satMod val="120000"/>
              </a:schemeClr>
            </a:gs>
            <a:gs pos="35000">
              <a:schemeClr val="accent1">
                <a:hueOff val="0"/>
                <a:satOff val="0"/>
                <a:lumOff val="0"/>
                <a:alphaOff val="0"/>
                <a:shade val="100000"/>
                <a:satMod val="150000"/>
              </a:schemeClr>
            </a:gs>
            <a:gs pos="70000">
              <a:schemeClr val="accent1">
                <a:hueOff val="0"/>
                <a:satOff val="0"/>
                <a:lumOff val="0"/>
                <a:alphaOff val="0"/>
                <a:tint val="100000"/>
                <a:shade val="100000"/>
                <a:satMod val="200000"/>
                <a:greenMod val="100000"/>
              </a:schemeClr>
            </a:gs>
            <a:gs pos="100000">
              <a:schemeClr val="accent1">
                <a:hueOff val="0"/>
                <a:satOff val="0"/>
                <a:lumOff val="0"/>
                <a:alphaOff val="0"/>
                <a:tint val="100000"/>
                <a:shade val="100000"/>
                <a:satMod val="250000"/>
                <a:greenMod val="100000"/>
              </a:schemeClr>
            </a:gs>
          </a:gsLst>
          <a:lin ang="16200000" scaled="1"/>
        </a:gradFill>
        <a:ln>
          <a:noFill/>
        </a:ln>
        <a:effectLst/>
        <a:scene3d>
          <a:camera prst="orthographicFront">
            <a:rot lat="0" lon="0" rev="0"/>
          </a:camera>
          <a:lightRig rig="twoPt" dir="r">
            <a:rot lat="0" lon="0" rev="6000000"/>
          </a:lightRig>
        </a:scene3d>
        <a:sp3d prstMaterial="matte">
          <a:bevelT w="0" h="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AU" sz="1500" kern="1200" dirty="0">
              <a:solidFill>
                <a:schemeClr val="tx1"/>
              </a:solidFill>
            </a:rPr>
            <a:t>Behavior control</a:t>
          </a:r>
        </a:p>
      </dsp:txBody>
      <dsp:txXfrm>
        <a:off x="2675702" y="2699948"/>
        <a:ext cx="2612601" cy="388524"/>
      </dsp:txXfrm>
    </dsp:sp>
    <dsp:sp modelId="{530D7B30-43AA-674D-8BBB-B6C912C833E1}">
      <dsp:nvSpPr>
        <dsp:cNvPr id="0" name=""/>
        <dsp:cNvSpPr/>
      </dsp:nvSpPr>
      <dsp:spPr>
        <a:xfrm>
          <a:off x="0" y="3101526"/>
          <a:ext cx="9428653" cy="380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99360"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AU" sz="1600" kern="1200" dirty="0">
              <a:solidFill>
                <a:schemeClr val="tx2">
                  <a:lumMod val="10000"/>
                </a:schemeClr>
              </a:solidFill>
            </a:rPr>
            <a:t>Controls how particular services are used</a:t>
          </a:r>
        </a:p>
      </dsp:txBody>
      <dsp:txXfrm>
        <a:off x="0" y="3101526"/>
        <a:ext cx="9428653" cy="3808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48C416-B116-7C42-AADA-03120A4F1EA3}">
      <dsp:nvSpPr>
        <dsp:cNvPr id="0" name=""/>
        <dsp:cNvSpPr/>
      </dsp:nvSpPr>
      <dsp:spPr>
        <a:xfrm rot="16200000">
          <a:off x="570147" y="-570147"/>
          <a:ext cx="2712132" cy="3852427"/>
        </a:xfrm>
        <a:prstGeom prst="round1Rect">
          <a:avLst/>
        </a:prstGeom>
        <a:solidFill>
          <a:schemeClr val="accent4">
            <a:lumMod val="40000"/>
            <a:lumOff val="60000"/>
          </a:schemeClr>
        </a:solidFill>
        <a:ln>
          <a:solidFill>
            <a:schemeClr val="bg2"/>
          </a:solidFill>
        </a:ln>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rtl="0">
            <a:lnSpc>
              <a:spcPct val="90000"/>
            </a:lnSpc>
            <a:spcBef>
              <a:spcPct val="0"/>
            </a:spcBef>
            <a:spcAft>
              <a:spcPct val="35000"/>
            </a:spcAft>
            <a:buNone/>
          </a:pPr>
          <a:r>
            <a:rPr lang="en-US" sz="1600" kern="1200" dirty="0">
              <a:solidFill>
                <a:schemeClr val="tx2">
                  <a:lumMod val="10000"/>
                </a:schemeClr>
              </a:solidFill>
            </a:rPr>
            <a:t>Defines a single choke point that keeps unauthorized users out of the protected network, prohibits potentially vulnerable services from entering or leaving the network, and provides protection from various kinds of IP spoofing and routing attacks</a:t>
          </a:r>
        </a:p>
      </dsp:txBody>
      <dsp:txXfrm rot="5400000">
        <a:off x="0" y="0"/>
        <a:ext cx="3852427" cy="2034099"/>
      </dsp:txXfrm>
    </dsp:sp>
    <dsp:sp modelId="{AAA5B0B1-EAB2-9F49-B824-3E910453DFEB}">
      <dsp:nvSpPr>
        <dsp:cNvPr id="0" name=""/>
        <dsp:cNvSpPr/>
      </dsp:nvSpPr>
      <dsp:spPr>
        <a:xfrm>
          <a:off x="3852427" y="0"/>
          <a:ext cx="3852427" cy="2712132"/>
        </a:xfrm>
        <a:prstGeom prst="round1Rect">
          <a:avLst/>
        </a:prstGeom>
        <a:solidFill>
          <a:schemeClr val="accent4">
            <a:lumMod val="40000"/>
            <a:lumOff val="60000"/>
          </a:schemeClr>
        </a:solidFill>
        <a:ln>
          <a:solidFill>
            <a:schemeClr val="bg2"/>
          </a:solidFill>
        </a:ln>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rtl="0">
            <a:lnSpc>
              <a:spcPct val="90000"/>
            </a:lnSpc>
            <a:spcBef>
              <a:spcPct val="0"/>
            </a:spcBef>
            <a:spcAft>
              <a:spcPct val="35000"/>
            </a:spcAft>
            <a:buNone/>
          </a:pPr>
          <a:r>
            <a:rPr lang="en-US" sz="1600" kern="1200" dirty="0">
              <a:solidFill>
                <a:schemeClr val="tx2">
                  <a:lumMod val="10000"/>
                </a:schemeClr>
              </a:solidFill>
            </a:rPr>
            <a:t>Provides a location for monitoring </a:t>
          </a:r>
        </a:p>
        <a:p>
          <a:pPr marL="0" lvl="0" indent="0" algn="ctr" defTabSz="711200" rtl="0">
            <a:lnSpc>
              <a:spcPct val="90000"/>
            </a:lnSpc>
            <a:spcBef>
              <a:spcPct val="0"/>
            </a:spcBef>
            <a:spcAft>
              <a:spcPct val="35000"/>
            </a:spcAft>
            <a:buNone/>
          </a:pPr>
          <a:r>
            <a:rPr lang="en-US" sz="1600" kern="1200" dirty="0">
              <a:solidFill>
                <a:schemeClr val="tx2">
                  <a:lumMod val="10000"/>
                </a:schemeClr>
              </a:solidFill>
            </a:rPr>
            <a:t>security-related events</a:t>
          </a:r>
        </a:p>
      </dsp:txBody>
      <dsp:txXfrm>
        <a:off x="3852427" y="0"/>
        <a:ext cx="3852427" cy="2034099"/>
      </dsp:txXfrm>
    </dsp:sp>
    <dsp:sp modelId="{1CA52935-4683-C849-A25C-A148B97DA7A3}">
      <dsp:nvSpPr>
        <dsp:cNvPr id="0" name=""/>
        <dsp:cNvSpPr/>
      </dsp:nvSpPr>
      <dsp:spPr>
        <a:xfrm rot="10800000">
          <a:off x="0" y="2707684"/>
          <a:ext cx="3852427" cy="2712132"/>
        </a:xfrm>
        <a:prstGeom prst="round1Rect">
          <a:avLst/>
        </a:prstGeom>
        <a:solidFill>
          <a:schemeClr val="accent4">
            <a:lumMod val="40000"/>
            <a:lumOff val="60000"/>
          </a:schemeClr>
        </a:solidFill>
        <a:ln>
          <a:solidFill>
            <a:schemeClr val="bg2"/>
          </a:solidFill>
        </a:ln>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rtl="0">
            <a:lnSpc>
              <a:spcPct val="90000"/>
            </a:lnSpc>
            <a:spcBef>
              <a:spcPct val="0"/>
            </a:spcBef>
            <a:spcAft>
              <a:spcPct val="35000"/>
            </a:spcAft>
            <a:buNone/>
          </a:pPr>
          <a:r>
            <a:rPr lang="en-US" sz="1600" kern="1200" dirty="0">
              <a:solidFill>
                <a:schemeClr val="tx2">
                  <a:lumMod val="10000"/>
                </a:schemeClr>
              </a:solidFill>
            </a:rPr>
            <a:t>Is a convenient platform for several Internet functions that are not security related (NAT, N/w management etc.)</a:t>
          </a:r>
        </a:p>
      </dsp:txBody>
      <dsp:txXfrm rot="10800000">
        <a:off x="0" y="3385717"/>
        <a:ext cx="3852427" cy="2034099"/>
      </dsp:txXfrm>
    </dsp:sp>
    <dsp:sp modelId="{EF78F3DD-942A-F146-AD56-26A2D81EC111}">
      <dsp:nvSpPr>
        <dsp:cNvPr id="0" name=""/>
        <dsp:cNvSpPr/>
      </dsp:nvSpPr>
      <dsp:spPr>
        <a:xfrm rot="5400000">
          <a:off x="4422575" y="2141984"/>
          <a:ext cx="2712132" cy="3852427"/>
        </a:xfrm>
        <a:prstGeom prst="round1Rect">
          <a:avLst/>
        </a:prstGeom>
        <a:solidFill>
          <a:schemeClr val="accent4">
            <a:lumMod val="40000"/>
            <a:lumOff val="60000"/>
          </a:schemeClr>
        </a:solidFill>
        <a:ln>
          <a:solidFill>
            <a:schemeClr val="bg2"/>
          </a:solidFill>
        </a:ln>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rtl="0">
            <a:lnSpc>
              <a:spcPct val="90000"/>
            </a:lnSpc>
            <a:spcBef>
              <a:spcPct val="0"/>
            </a:spcBef>
            <a:spcAft>
              <a:spcPct val="35000"/>
            </a:spcAft>
            <a:buNone/>
          </a:pPr>
          <a:r>
            <a:rPr lang="en-US" sz="1600" kern="1200" dirty="0">
              <a:solidFill>
                <a:schemeClr val="tx2">
                  <a:lumMod val="10000"/>
                </a:schemeClr>
              </a:solidFill>
            </a:rPr>
            <a:t>Can serve as the platform for IPsec (Used to implement VPN)</a:t>
          </a:r>
        </a:p>
      </dsp:txBody>
      <dsp:txXfrm rot="-5400000">
        <a:off x="3852427" y="3390164"/>
        <a:ext cx="3852427" cy="2034099"/>
      </dsp:txXfrm>
    </dsp:sp>
    <dsp:sp modelId="{3F7F931C-2594-F045-8724-088BD5C650F7}">
      <dsp:nvSpPr>
        <dsp:cNvPr id="0" name=""/>
        <dsp:cNvSpPr/>
      </dsp:nvSpPr>
      <dsp:spPr>
        <a:xfrm>
          <a:off x="2696699" y="2034099"/>
          <a:ext cx="2311456" cy="1356066"/>
        </a:xfrm>
        <a:prstGeom prst="roundRect">
          <a:avLst/>
        </a:prstGeom>
        <a:solidFill>
          <a:schemeClr val="accent3"/>
        </a:solidFill>
        <a:ln>
          <a:solidFill>
            <a:schemeClr val="bg2"/>
          </a:solidFill>
        </a:ln>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dsp:spPr>
      <dsp:style>
        <a:lnRef idx="0">
          <a:scrgbClr r="0" g="0" b="0"/>
        </a:lnRef>
        <a:fillRef idx="3">
          <a:scrgbClr r="0" g="0" b="0"/>
        </a:fillRef>
        <a:effectRef idx="2">
          <a:scrgbClr r="0" g="0" b="0"/>
        </a:effectRef>
        <a:fontRef idx="minor"/>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dirty="0">
              <a:solidFill>
                <a:schemeClr val="tx2">
                  <a:lumMod val="10000"/>
                </a:schemeClr>
              </a:solidFill>
            </a:rPr>
            <a:t>A firewall </a:t>
          </a:r>
        </a:p>
      </dsp:txBody>
      <dsp:txXfrm>
        <a:off x="2762897" y="2100297"/>
        <a:ext cx="2179060" cy="122367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302BE7-C826-6E49-893E-CBB6B2FBA3EE}">
      <dsp:nvSpPr>
        <dsp:cNvPr id="0" name=""/>
        <dsp:cNvSpPr/>
      </dsp:nvSpPr>
      <dsp:spPr>
        <a:xfrm>
          <a:off x="3347213" y="-257414"/>
          <a:ext cx="2601972" cy="1710258"/>
        </a:xfrm>
        <a:prstGeom prst="roundRect">
          <a:avLst/>
        </a:prstGeom>
        <a:gradFill rotWithShape="0">
          <a:gsLst>
            <a:gs pos="0">
              <a:schemeClr val="accent1">
                <a:hueOff val="0"/>
                <a:satOff val="0"/>
                <a:lumOff val="0"/>
                <a:shade val="70000"/>
                <a:satMod val="120000"/>
              </a:schemeClr>
            </a:gs>
            <a:gs pos="35000">
              <a:schemeClr val="accent1">
                <a:hueOff val="0"/>
                <a:satOff val="0"/>
                <a:lumOff val="0"/>
                <a:alphaOff val="0"/>
                <a:shade val="100000"/>
                <a:satMod val="150000"/>
              </a:schemeClr>
            </a:gs>
            <a:gs pos="70000">
              <a:schemeClr val="accent1">
                <a:hueOff val="0"/>
                <a:satOff val="0"/>
                <a:lumOff val="0"/>
                <a:alphaOff val="0"/>
                <a:tint val="100000"/>
                <a:shade val="100000"/>
                <a:satMod val="200000"/>
                <a:greenMod val="100000"/>
              </a:schemeClr>
            </a:gs>
            <a:gs pos="100000">
              <a:schemeClr val="accent1">
                <a:hueOff val="0"/>
                <a:satOff val="0"/>
                <a:lumOff val="0"/>
                <a:alphaOff val="0"/>
                <a:tint val="100000"/>
                <a:shade val="100000"/>
                <a:satMod val="250000"/>
                <a:greenMod val="100000"/>
              </a:schemeClr>
            </a:gs>
          </a:gsLst>
          <a:lin ang="16200000" scaled="1"/>
        </a:gradFill>
        <a:ln>
          <a:noFill/>
        </a:ln>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bg1"/>
              </a:solidFill>
            </a:rPr>
            <a:t>Cannot protect against attacks that bypass the firewall</a:t>
          </a:r>
        </a:p>
        <a:p>
          <a:pPr marL="0" lvl="0" indent="0" algn="ctr" defTabSz="711200">
            <a:lnSpc>
              <a:spcPct val="90000"/>
            </a:lnSpc>
            <a:spcBef>
              <a:spcPct val="0"/>
            </a:spcBef>
            <a:spcAft>
              <a:spcPct val="35000"/>
            </a:spcAft>
            <a:buNone/>
          </a:pPr>
          <a:r>
            <a:rPr lang="en-US" sz="1600" kern="1200" dirty="0"/>
            <a:t>Cannot protect against the transfer of virus-infected software or files.</a:t>
          </a:r>
          <a:endParaRPr lang="en-US" sz="1600" kern="1200" dirty="0">
            <a:solidFill>
              <a:schemeClr val="tx1"/>
            </a:solidFill>
          </a:endParaRPr>
        </a:p>
      </dsp:txBody>
      <dsp:txXfrm>
        <a:off x="3430701" y="-173926"/>
        <a:ext cx="2434996" cy="1543282"/>
      </dsp:txXfrm>
    </dsp:sp>
    <dsp:sp modelId="{DA926544-7514-8444-AA05-228AF671AEF1}">
      <dsp:nvSpPr>
        <dsp:cNvPr id="0" name=""/>
        <dsp:cNvSpPr/>
      </dsp:nvSpPr>
      <dsp:spPr>
        <a:xfrm>
          <a:off x="3591406" y="1050058"/>
          <a:ext cx="3936609" cy="3936609"/>
        </a:xfrm>
        <a:custGeom>
          <a:avLst/>
          <a:gdLst/>
          <a:ahLst/>
          <a:cxnLst/>
          <a:rect l="0" t="0" r="0" b="0"/>
          <a:pathLst>
            <a:path>
              <a:moveTo>
                <a:pt x="2370379" y="41504"/>
              </a:moveTo>
              <a:arcTo wR="1968304" hR="1968304" stAng="16907222" swAng="2243467"/>
            </a:path>
          </a:pathLst>
        </a:custGeom>
        <a:noFill/>
        <a:ln w="12700"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D6EE9D01-D26F-174A-9B14-BC36A050102D}">
      <dsp:nvSpPr>
        <dsp:cNvPr id="0" name=""/>
        <dsp:cNvSpPr/>
      </dsp:nvSpPr>
      <dsp:spPr>
        <a:xfrm>
          <a:off x="5893623" y="1741424"/>
          <a:ext cx="2601972" cy="1710258"/>
        </a:xfrm>
        <a:prstGeom prst="roundRect">
          <a:avLst/>
        </a:prstGeom>
        <a:gradFill rotWithShape="0">
          <a:gsLst>
            <a:gs pos="0">
              <a:schemeClr val="accent1">
                <a:hueOff val="0"/>
                <a:satOff val="0"/>
                <a:lumOff val="0"/>
                <a:shade val="70000"/>
                <a:satMod val="120000"/>
              </a:schemeClr>
            </a:gs>
            <a:gs pos="35000">
              <a:schemeClr val="accent1">
                <a:hueOff val="0"/>
                <a:satOff val="0"/>
                <a:lumOff val="0"/>
                <a:alphaOff val="0"/>
                <a:shade val="100000"/>
                <a:satMod val="150000"/>
              </a:schemeClr>
            </a:gs>
            <a:gs pos="70000">
              <a:schemeClr val="accent1">
                <a:hueOff val="0"/>
                <a:satOff val="0"/>
                <a:lumOff val="0"/>
                <a:alphaOff val="0"/>
                <a:tint val="100000"/>
                <a:shade val="100000"/>
                <a:satMod val="200000"/>
                <a:greenMod val="100000"/>
              </a:schemeClr>
            </a:gs>
            <a:gs pos="100000">
              <a:schemeClr val="accent1">
                <a:hueOff val="0"/>
                <a:satOff val="0"/>
                <a:lumOff val="0"/>
                <a:alphaOff val="0"/>
                <a:tint val="100000"/>
                <a:shade val="100000"/>
                <a:satMod val="250000"/>
                <a:greenMod val="100000"/>
              </a:schemeClr>
            </a:gs>
          </a:gsLst>
          <a:lin ang="16200000" scaled="1"/>
        </a:gradFill>
        <a:ln>
          <a:noFill/>
        </a:ln>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bg1"/>
              </a:solidFill>
            </a:rPr>
            <a:t>May not protect fully against internal threats, such as a disgruntled employee or an employee who unwittingly cooperates with an external attacker</a:t>
          </a:r>
        </a:p>
      </dsp:txBody>
      <dsp:txXfrm>
        <a:off x="5977111" y="1824912"/>
        <a:ext cx="2434996" cy="1543282"/>
      </dsp:txXfrm>
    </dsp:sp>
    <dsp:sp modelId="{0160AC0F-10B8-7343-9652-9CB14C486DA7}">
      <dsp:nvSpPr>
        <dsp:cNvPr id="0" name=""/>
        <dsp:cNvSpPr/>
      </dsp:nvSpPr>
      <dsp:spPr>
        <a:xfrm>
          <a:off x="3630972" y="137805"/>
          <a:ext cx="3936609" cy="3936609"/>
        </a:xfrm>
        <a:custGeom>
          <a:avLst/>
          <a:gdLst/>
          <a:ahLst/>
          <a:cxnLst/>
          <a:rect l="0" t="0" r="0" b="0"/>
          <a:pathLst>
            <a:path>
              <a:moveTo>
                <a:pt x="3396362" y="3322879"/>
              </a:moveTo>
              <a:arcTo wR="1968304" hR="1968304" stAng="2609239" swAng="2154755"/>
            </a:path>
          </a:pathLst>
        </a:custGeom>
        <a:noFill/>
        <a:ln w="12700"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ABA0B66-88C5-4D4E-AA95-D50408EC29F9}">
      <dsp:nvSpPr>
        <dsp:cNvPr id="0" name=""/>
        <dsp:cNvSpPr/>
      </dsp:nvSpPr>
      <dsp:spPr>
        <a:xfrm>
          <a:off x="3347213" y="3679195"/>
          <a:ext cx="2601972" cy="1710258"/>
        </a:xfrm>
        <a:prstGeom prst="roundRect">
          <a:avLst/>
        </a:prstGeom>
        <a:gradFill rotWithShape="0">
          <a:gsLst>
            <a:gs pos="0">
              <a:schemeClr val="accent1">
                <a:hueOff val="0"/>
                <a:satOff val="0"/>
                <a:lumOff val="0"/>
                <a:shade val="70000"/>
                <a:satMod val="120000"/>
              </a:schemeClr>
            </a:gs>
            <a:gs pos="35000">
              <a:schemeClr val="accent1">
                <a:hueOff val="0"/>
                <a:satOff val="0"/>
                <a:lumOff val="0"/>
                <a:alphaOff val="0"/>
                <a:shade val="100000"/>
                <a:satMod val="150000"/>
              </a:schemeClr>
            </a:gs>
            <a:gs pos="70000">
              <a:schemeClr val="accent1">
                <a:hueOff val="0"/>
                <a:satOff val="0"/>
                <a:lumOff val="0"/>
                <a:alphaOff val="0"/>
                <a:tint val="100000"/>
                <a:shade val="100000"/>
                <a:satMod val="200000"/>
                <a:greenMod val="100000"/>
              </a:schemeClr>
            </a:gs>
            <a:gs pos="100000">
              <a:schemeClr val="accent1">
                <a:hueOff val="0"/>
                <a:satOff val="0"/>
                <a:lumOff val="0"/>
                <a:alphaOff val="0"/>
                <a:tint val="100000"/>
                <a:shade val="100000"/>
                <a:satMod val="250000"/>
                <a:greenMod val="100000"/>
              </a:schemeClr>
            </a:gs>
          </a:gsLst>
          <a:lin ang="16200000" scaled="1"/>
        </a:gradFill>
        <a:ln>
          <a:noFill/>
        </a:ln>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bg1"/>
              </a:solidFill>
            </a:rPr>
            <a:t>Cannot guard against wireless communications between local systems on different sides of the internal firewall</a:t>
          </a:r>
        </a:p>
      </dsp:txBody>
      <dsp:txXfrm>
        <a:off x="3430701" y="3762683"/>
        <a:ext cx="2434996" cy="1543282"/>
      </dsp:txXfrm>
    </dsp:sp>
    <dsp:sp modelId="{215487BB-AF70-EF47-BE59-7C43987A6041}">
      <dsp:nvSpPr>
        <dsp:cNvPr id="0" name=""/>
        <dsp:cNvSpPr/>
      </dsp:nvSpPr>
      <dsp:spPr>
        <a:xfrm>
          <a:off x="1800998" y="152243"/>
          <a:ext cx="3936609" cy="3936609"/>
        </a:xfrm>
        <a:custGeom>
          <a:avLst/>
          <a:gdLst/>
          <a:ahLst/>
          <a:cxnLst/>
          <a:rect l="0" t="0" r="0" b="0"/>
          <a:pathLst>
            <a:path>
              <a:moveTo>
                <a:pt x="1534640" y="3888241"/>
              </a:moveTo>
              <a:arcTo wR="1968304" hR="1968304" stAng="6163682" swAng="2062384"/>
            </a:path>
          </a:pathLst>
        </a:custGeom>
        <a:noFill/>
        <a:ln w="12700"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10ABE91-6EA1-274C-95E4-EA0BB85F02E6}">
      <dsp:nvSpPr>
        <dsp:cNvPr id="0" name=""/>
        <dsp:cNvSpPr/>
      </dsp:nvSpPr>
      <dsp:spPr>
        <a:xfrm>
          <a:off x="855842" y="1741416"/>
          <a:ext cx="2601972" cy="1710258"/>
        </a:xfrm>
        <a:prstGeom prst="roundRect">
          <a:avLst/>
        </a:prstGeom>
        <a:gradFill rotWithShape="0">
          <a:gsLst>
            <a:gs pos="0">
              <a:schemeClr val="accent1">
                <a:hueOff val="0"/>
                <a:satOff val="0"/>
                <a:lumOff val="0"/>
                <a:shade val="70000"/>
                <a:satMod val="120000"/>
              </a:schemeClr>
            </a:gs>
            <a:gs pos="35000">
              <a:schemeClr val="accent1">
                <a:hueOff val="0"/>
                <a:satOff val="0"/>
                <a:lumOff val="0"/>
                <a:alphaOff val="0"/>
                <a:shade val="100000"/>
                <a:satMod val="150000"/>
              </a:schemeClr>
            </a:gs>
            <a:gs pos="70000">
              <a:schemeClr val="accent1">
                <a:hueOff val="0"/>
                <a:satOff val="0"/>
                <a:lumOff val="0"/>
                <a:alphaOff val="0"/>
                <a:tint val="100000"/>
                <a:shade val="100000"/>
                <a:satMod val="200000"/>
                <a:greenMod val="100000"/>
              </a:schemeClr>
            </a:gs>
            <a:gs pos="100000">
              <a:schemeClr val="accent1">
                <a:hueOff val="0"/>
                <a:satOff val="0"/>
                <a:lumOff val="0"/>
                <a:alphaOff val="0"/>
                <a:tint val="100000"/>
                <a:shade val="100000"/>
                <a:satMod val="250000"/>
                <a:greenMod val="100000"/>
              </a:schemeClr>
            </a:gs>
          </a:gsLst>
          <a:lin ang="16200000" scaled="1"/>
        </a:gradFill>
        <a:ln>
          <a:noFill/>
        </a:ln>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bg1"/>
              </a:solidFill>
            </a:rPr>
            <a:t>A laptop, PDA, or portable storage device may be used and infected outside the corporate network, and then attached and used internally</a:t>
          </a:r>
        </a:p>
      </dsp:txBody>
      <dsp:txXfrm>
        <a:off x="939330" y="1824904"/>
        <a:ext cx="2434996" cy="1543282"/>
      </dsp:txXfrm>
    </dsp:sp>
    <dsp:sp modelId="{418103E9-A740-B740-85DA-E8DA0E4F50F2}">
      <dsp:nvSpPr>
        <dsp:cNvPr id="0" name=""/>
        <dsp:cNvSpPr/>
      </dsp:nvSpPr>
      <dsp:spPr>
        <a:xfrm>
          <a:off x="1839991" y="1034209"/>
          <a:ext cx="3936609" cy="3936609"/>
        </a:xfrm>
        <a:custGeom>
          <a:avLst/>
          <a:gdLst/>
          <a:ahLst/>
          <a:cxnLst/>
          <a:rect l="0" t="0" r="0" b="0"/>
          <a:pathLst>
            <a:path>
              <a:moveTo>
                <a:pt x="465011" y="697740"/>
              </a:moveTo>
              <a:arcTo wR="1968304" hR="1968304" stAng="13212245" swAng="2153304"/>
            </a:path>
          </a:pathLst>
        </a:custGeom>
        <a:noFill/>
        <a:ln w="12700"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3.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382FBC-E43F-4B16-BBA9-8494E96F4DA3}" type="datetimeFigureOut">
              <a:rPr lang="en-US" smtClean="0"/>
              <a:t>1/30/2018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E8B3F3-22A6-4B41-A4B9-BE2D4702F300}" type="slidenum">
              <a:rPr lang="en-US" smtClean="0"/>
              <a:t>‹#›</a:t>
            </a:fld>
            <a:endParaRPr lang="en-US"/>
          </a:p>
        </p:txBody>
      </p:sp>
    </p:spTree>
    <p:extLst>
      <p:ext uri="{BB962C8B-B14F-4D97-AF65-F5344CB8AC3E}">
        <p14:creationId xmlns:p14="http://schemas.microsoft.com/office/powerpoint/2010/main" val="1754045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ln/>
        </p:spPr>
      </p:sp>
      <p:sp>
        <p:nvSpPr>
          <p:cNvPr id="727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 Firewalls can be an effective means of protecting a local system or network of systems</a:t>
            </a:r>
          </a:p>
          <a:p>
            <a:r>
              <a:rPr lang="en-US" altLang="en-US">
                <a:latin typeface="Arial" panose="020B0604020202020204" pitchFamily="34" charset="0"/>
              </a:rPr>
              <a:t>from network-based security threats while at the same time affording access to the</a:t>
            </a:r>
          </a:p>
          <a:p>
            <a:r>
              <a:rPr lang="en-US" altLang="en-US">
                <a:latin typeface="Arial" panose="020B0604020202020204" pitchFamily="34" charset="0"/>
              </a:rPr>
              <a:t>outside world via wide area networks and the Internet.</a:t>
            </a:r>
          </a:p>
        </p:txBody>
      </p:sp>
      <p:sp>
        <p:nvSpPr>
          <p:cNvPr id="727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ea typeface="MS PGothic" panose="020B0600070205080204" pitchFamily="34" charset="-128"/>
              </a:defRPr>
            </a:lvl1pPr>
            <a:lvl2pPr marL="742950" indent="-285750" eaLnBrk="0" hangingPunct="0">
              <a:spcBef>
                <a:spcPct val="30000"/>
              </a:spcBef>
              <a:defRPr sz="12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08E852-0C91-436E-ABD6-A98E570510BC}" type="slidenum">
              <a:rPr kumimoji="0" lang="en-AU" altLang="en-US" sz="1200" b="0" i="0" u="none" strike="noStrike" kern="1200" cap="none" spc="0" normalizeH="0" baseline="0" noProof="0" smtClean="0">
                <a:ln>
                  <a:noFill/>
                </a:ln>
                <a:solidFill>
                  <a:srgbClr val="000000"/>
                </a:solidFill>
                <a:effectLst/>
                <a:uLnTx/>
                <a:uFillTx/>
                <a:latin typeface="Arial" panose="020B0604020202020204" pitchFamily="34"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AU" altLang="en-US" sz="12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mn-cs"/>
            </a:endParaRPr>
          </a:p>
        </p:txBody>
      </p:sp>
    </p:spTree>
    <p:extLst>
      <p:ext uri="{BB962C8B-B14F-4D97-AF65-F5344CB8AC3E}">
        <p14:creationId xmlns:p14="http://schemas.microsoft.com/office/powerpoint/2010/main" val="33031755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ea typeface="MS PGothic" panose="020B0600070205080204" pitchFamily="34" charset="-128"/>
              </a:defRPr>
            </a:lvl1pPr>
            <a:lvl2pPr marL="742950" indent="-285750" eaLnBrk="0" hangingPunct="0">
              <a:spcBef>
                <a:spcPct val="30000"/>
              </a:spcBef>
              <a:defRPr sz="12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F16677F-AF14-441A-9105-7B9B8DA36DCF}" type="slidenum">
              <a:rPr kumimoji="0" lang="en-AU" altLang="en-US" sz="1200" b="0" i="0" u="none" strike="noStrike" kern="1200" cap="none" spc="0" normalizeH="0" baseline="0" noProof="0" smtClean="0">
                <a:ln>
                  <a:noFill/>
                </a:ln>
                <a:solidFill>
                  <a:srgbClr val="000000"/>
                </a:solidFill>
                <a:effectLst/>
                <a:uLnTx/>
                <a:uFillTx/>
                <a:latin typeface="Arial" panose="020B0604020202020204" pitchFamily="34"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AU" altLang="en-US" sz="12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mn-cs"/>
            </a:endParaRP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Opening quote.</a:t>
            </a:r>
          </a:p>
        </p:txBody>
      </p:sp>
    </p:spTree>
    <p:extLst>
      <p:ext uri="{BB962C8B-B14F-4D97-AF65-F5344CB8AC3E}">
        <p14:creationId xmlns:p14="http://schemas.microsoft.com/office/powerpoint/2010/main" val="7839999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Slide Image Placeholder 1"/>
          <p:cNvSpPr>
            <a:spLocks noGrp="1" noRot="1" noChangeAspect="1" noTextEdit="1"/>
          </p:cNvSpPr>
          <p:nvPr>
            <p:ph type="sldImg"/>
          </p:nvPr>
        </p:nvSpPr>
        <p:spPr>
          <a:ln/>
        </p:spPr>
      </p:sp>
      <p:sp>
        <p:nvSpPr>
          <p:cNvPr id="17410"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latin typeface="Calibri" panose="020F0502020204030204" pitchFamily="34" charset="0"/>
              <a:ea typeface="MS PGothic" panose="020B0600070205080204" pitchFamily="34" charset="-128"/>
            </a:endParaRPr>
          </a:p>
        </p:txBody>
      </p:sp>
      <p:sp>
        <p:nvSpPr>
          <p:cNvPr id="17411"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defRPr sz="2400">
                <a:solidFill>
                  <a:schemeClr val="tx1"/>
                </a:solidFill>
                <a:latin typeface="Arial" panose="020B0604020202020204" pitchFamily="34" charset="0"/>
                <a:ea typeface="ヒラギノ角ゴ Pro W3" charset="-128"/>
              </a:defRPr>
            </a:lvl1pPr>
            <a:lvl2pPr marL="742950" indent="-285750" defTabSz="942975" eaLnBrk="0" hangingPunct="0">
              <a:defRPr sz="2400">
                <a:solidFill>
                  <a:schemeClr val="tx1"/>
                </a:solidFill>
                <a:latin typeface="Arial" panose="020B0604020202020204" pitchFamily="34" charset="0"/>
                <a:ea typeface="ヒラギノ角ゴ Pro W3" charset="-128"/>
              </a:defRPr>
            </a:lvl2pPr>
            <a:lvl3pPr marL="1143000" indent="-228600" defTabSz="942975" eaLnBrk="0" hangingPunct="0">
              <a:defRPr sz="2400">
                <a:solidFill>
                  <a:schemeClr val="tx1"/>
                </a:solidFill>
                <a:latin typeface="Arial" panose="020B0604020202020204" pitchFamily="34" charset="0"/>
                <a:ea typeface="ヒラギノ角ゴ Pro W3" charset="-128"/>
              </a:defRPr>
            </a:lvl3pPr>
            <a:lvl4pPr marL="1600200" indent="-228600" defTabSz="942975" eaLnBrk="0" hangingPunct="0">
              <a:defRPr sz="2400">
                <a:solidFill>
                  <a:schemeClr val="tx1"/>
                </a:solidFill>
                <a:latin typeface="Arial" panose="020B0604020202020204" pitchFamily="34" charset="0"/>
                <a:ea typeface="ヒラギノ角ゴ Pro W3" charset="-128"/>
              </a:defRPr>
            </a:lvl4pPr>
            <a:lvl5pPr marL="2057400" indent="-228600" defTabSz="942975" eaLnBrk="0" hangingPunct="0">
              <a:defRPr sz="2400">
                <a:solidFill>
                  <a:schemeClr val="tx1"/>
                </a:solidFill>
                <a:latin typeface="Arial" panose="020B0604020202020204" pitchFamily="34" charset="0"/>
                <a:ea typeface="ヒラギノ角ゴ Pro W3" charset="-128"/>
              </a:defRPr>
            </a:lvl5pPr>
            <a:lvl6pPr marL="2514600" indent="-228600"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6pPr>
            <a:lvl7pPr marL="2971800" indent="-228600"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7pPr>
            <a:lvl8pPr marL="3429000" indent="-228600"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8pPr>
            <a:lvl9pPr marL="3886200" indent="-228600"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9pPr>
          </a:lstStyle>
          <a:p>
            <a:pPr eaLnBrk="1" hangingPunct="1"/>
            <a:fld id="{CCFD49C7-1A60-4181-9A1C-153A44AF4AE7}" type="slidenum">
              <a:rPr lang="en-US" altLang="en-US" sz="1200">
                <a:solidFill>
                  <a:srgbClr val="000000"/>
                </a:solidFill>
                <a:latin typeface="Calibri" panose="020F0502020204030204" pitchFamily="34" charset="0"/>
                <a:ea typeface="MS PGothic" panose="020B0600070205080204" pitchFamily="34" charset="-128"/>
              </a:rPr>
              <a:pPr eaLnBrk="1" hangingPunct="1"/>
              <a:t>3</a:t>
            </a:fld>
            <a:endParaRPr lang="en-US" altLang="en-US" sz="1200">
              <a:solidFill>
                <a:srgbClr val="000000"/>
              </a:solidFill>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32667944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ea typeface="MS PGothic" panose="020B0600070205080204" pitchFamily="34" charset="-128"/>
              </a:defRPr>
            </a:lvl1pPr>
            <a:lvl2pPr marL="742950" indent="-285750" eaLnBrk="0" hangingPunct="0">
              <a:spcBef>
                <a:spcPct val="30000"/>
              </a:spcBef>
              <a:defRPr sz="12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812E320-30FE-4C8E-93BA-DB9EADB86B50}" type="slidenum">
              <a:rPr kumimoji="0" lang="en-AU" altLang="en-US" sz="1200" b="0" i="0" u="none" strike="noStrike" kern="1200" cap="none" spc="0" normalizeH="0" baseline="0" noProof="0" smtClean="0">
                <a:ln>
                  <a:noFill/>
                </a:ln>
                <a:solidFill>
                  <a:srgbClr val="000000"/>
                </a:solidFill>
                <a:effectLst/>
                <a:uLnTx/>
                <a:uFillTx/>
                <a:latin typeface="Arial" panose="020B0604020202020204" pitchFamily="34"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AU" altLang="en-US" sz="12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mn-cs"/>
            </a:endParaRPr>
          </a:p>
        </p:txBody>
      </p:sp>
      <p:sp>
        <p:nvSpPr>
          <p:cNvPr id="74755" name="Rectangle 1026"/>
          <p:cNvSpPr>
            <a:spLocks noGrp="1" noRot="1" noChangeAspect="1" noChangeArrowheads="1" noTextEdit="1"/>
          </p:cNvSpPr>
          <p:nvPr>
            <p:ph type="sldImg"/>
          </p:nvPr>
        </p:nvSpPr>
        <p:spPr>
          <a:ln/>
        </p:spPr>
      </p:sp>
      <p:sp>
        <p:nvSpPr>
          <p:cNvPr id="74756"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 Information systems in corporations, government agencies, and other organizations</a:t>
            </a:r>
          </a:p>
          <a:p>
            <a:r>
              <a:rPr lang="en-US" altLang="en-US">
                <a:latin typeface="Arial" panose="020B0604020202020204" pitchFamily="34" charset="0"/>
              </a:rPr>
              <a:t>have undergone a steady evolution. The following are notable developments:</a:t>
            </a:r>
          </a:p>
          <a:p>
            <a:endParaRPr lang="en-US" altLang="en-US">
              <a:latin typeface="Arial" panose="020B0604020202020204" pitchFamily="34" charset="0"/>
            </a:endParaRPr>
          </a:p>
          <a:p>
            <a:r>
              <a:rPr lang="en-US" altLang="en-US">
                <a:latin typeface="Arial" panose="020B0604020202020204" pitchFamily="34" charset="0"/>
              </a:rPr>
              <a:t>•  Centralized data processing system, with a central mainframe supporting a</a:t>
            </a:r>
          </a:p>
          <a:p>
            <a:r>
              <a:rPr lang="en-US" altLang="en-US">
                <a:latin typeface="Arial" panose="020B0604020202020204" pitchFamily="34" charset="0"/>
              </a:rPr>
              <a:t>number of directly connected terminals</a:t>
            </a:r>
          </a:p>
          <a:p>
            <a:endParaRPr lang="en-US" altLang="en-US">
              <a:latin typeface="Arial" panose="020B0604020202020204" pitchFamily="34" charset="0"/>
            </a:endParaRPr>
          </a:p>
          <a:p>
            <a:r>
              <a:rPr lang="en-US" altLang="en-US">
                <a:latin typeface="Arial" panose="020B0604020202020204" pitchFamily="34" charset="0"/>
              </a:rPr>
              <a:t>•  Local area networks (LANs) interconnecting PCs and terminals to each other</a:t>
            </a:r>
          </a:p>
          <a:p>
            <a:r>
              <a:rPr lang="en-US" altLang="en-US">
                <a:latin typeface="Arial" panose="020B0604020202020204" pitchFamily="34" charset="0"/>
              </a:rPr>
              <a:t>and the mainframe</a:t>
            </a:r>
          </a:p>
          <a:p>
            <a:endParaRPr lang="en-US" altLang="en-US">
              <a:latin typeface="Arial" panose="020B0604020202020204" pitchFamily="34" charset="0"/>
            </a:endParaRPr>
          </a:p>
          <a:p>
            <a:r>
              <a:rPr lang="en-US" altLang="en-US">
                <a:latin typeface="Arial" panose="020B0604020202020204" pitchFamily="34" charset="0"/>
              </a:rPr>
              <a:t>•  Premises network, consisting of a number of LANs, interconnecting PCs,</a:t>
            </a:r>
          </a:p>
          <a:p>
            <a:r>
              <a:rPr lang="en-US" altLang="en-US">
                <a:latin typeface="Arial" panose="020B0604020202020204" pitchFamily="34" charset="0"/>
              </a:rPr>
              <a:t>servers, and perhaps a mainframe or two</a:t>
            </a:r>
          </a:p>
          <a:p>
            <a:endParaRPr lang="en-US" altLang="en-US">
              <a:latin typeface="Arial" panose="020B0604020202020204" pitchFamily="34" charset="0"/>
            </a:endParaRPr>
          </a:p>
          <a:p>
            <a:r>
              <a:rPr lang="en-US" altLang="en-US">
                <a:latin typeface="Arial" panose="020B0604020202020204" pitchFamily="34" charset="0"/>
              </a:rPr>
              <a:t>•  Enterprise-wide network, consisting of multiple, geographically distributed</a:t>
            </a:r>
          </a:p>
          <a:p>
            <a:r>
              <a:rPr lang="en-US" altLang="en-US">
                <a:latin typeface="Arial" panose="020B0604020202020204" pitchFamily="34" charset="0"/>
              </a:rPr>
              <a:t>premises networks interconnected by a private wide area network (WAN)</a:t>
            </a:r>
          </a:p>
          <a:p>
            <a:endParaRPr lang="en-US" altLang="en-US">
              <a:latin typeface="Arial" panose="020B0604020202020204" pitchFamily="34" charset="0"/>
            </a:endParaRPr>
          </a:p>
          <a:p>
            <a:r>
              <a:rPr lang="en-US" altLang="en-US">
                <a:latin typeface="Arial" panose="020B0604020202020204" pitchFamily="34" charset="0"/>
              </a:rPr>
              <a:t>•  Internet connectivity, in which the various premises networks all hook into the</a:t>
            </a:r>
          </a:p>
          <a:p>
            <a:r>
              <a:rPr lang="en-US" altLang="en-US">
                <a:latin typeface="Arial" panose="020B0604020202020204" pitchFamily="34" charset="0"/>
              </a:rPr>
              <a:t>Internet and may or may not also be connected by a private WAN</a:t>
            </a:r>
          </a:p>
          <a:p>
            <a:r>
              <a:rPr lang="en-US" altLang="en-US">
                <a:latin typeface="Arial" panose="020B0604020202020204" pitchFamily="34" charset="0"/>
              </a:rPr>
              <a:t>Internet connectivity is no longer optional for organizations. The information</a:t>
            </a:r>
          </a:p>
          <a:p>
            <a:r>
              <a:rPr lang="en-US" altLang="en-US">
                <a:latin typeface="Arial" panose="020B0604020202020204" pitchFamily="34" charset="0"/>
              </a:rPr>
              <a:t>and services available are essential to the organization. Moreover, individual users</a:t>
            </a:r>
          </a:p>
          <a:p>
            <a:r>
              <a:rPr lang="en-US" altLang="en-US">
                <a:latin typeface="Arial" panose="020B0604020202020204" pitchFamily="34" charset="0"/>
              </a:rPr>
              <a:t> within the organization want and need Internet access, and if this is not provided via</a:t>
            </a:r>
          </a:p>
          <a:p>
            <a:r>
              <a:rPr lang="en-US" altLang="en-US">
                <a:latin typeface="Arial" panose="020B0604020202020204" pitchFamily="34" charset="0"/>
              </a:rPr>
              <a:t>their LAN, they will use dial-up capability from their PC to an Internet service provider</a:t>
            </a:r>
          </a:p>
          <a:p>
            <a:r>
              <a:rPr lang="en-US" altLang="en-US">
                <a:latin typeface="Arial" panose="020B0604020202020204" pitchFamily="34" charset="0"/>
              </a:rPr>
              <a:t>(ISP). However, while Internet access provides benefits to the organization, it</a:t>
            </a:r>
          </a:p>
          <a:p>
            <a:r>
              <a:rPr lang="en-US" altLang="en-US">
                <a:latin typeface="Arial" panose="020B0604020202020204" pitchFamily="34" charset="0"/>
              </a:rPr>
              <a:t>enables the outside world to reach and interact with local network assets. This creates</a:t>
            </a:r>
          </a:p>
          <a:p>
            <a:r>
              <a:rPr lang="en-US" altLang="en-US">
                <a:latin typeface="Arial" panose="020B0604020202020204" pitchFamily="34" charset="0"/>
              </a:rPr>
              <a:t>a threat to the organization. While it is possible to equip each workstation and</a:t>
            </a:r>
          </a:p>
          <a:p>
            <a:r>
              <a:rPr lang="en-US" altLang="en-US">
                <a:latin typeface="Arial" panose="020B0604020202020204" pitchFamily="34" charset="0"/>
              </a:rPr>
              <a:t>server on the premises network with strong security features, such as intrusion protection,</a:t>
            </a:r>
          </a:p>
          <a:p>
            <a:r>
              <a:rPr lang="en-US" altLang="en-US">
                <a:latin typeface="Arial" panose="020B0604020202020204" pitchFamily="34" charset="0"/>
              </a:rPr>
              <a:t>this may not be sufficient and in some cases is not cost-effective. Consider</a:t>
            </a:r>
          </a:p>
          <a:p>
            <a:r>
              <a:rPr lang="en-US" altLang="en-US">
                <a:latin typeface="Arial" panose="020B0604020202020204" pitchFamily="34" charset="0"/>
              </a:rPr>
              <a:t>a network with hundreds or even thousands of systems, running various operating</a:t>
            </a:r>
          </a:p>
          <a:p>
            <a:r>
              <a:rPr lang="en-US" altLang="en-US">
                <a:latin typeface="Arial" panose="020B0604020202020204" pitchFamily="34" charset="0"/>
              </a:rPr>
              <a:t>systems, such as different versions of UNIX and Windows. When a security flaw</a:t>
            </a:r>
          </a:p>
          <a:p>
            <a:r>
              <a:rPr lang="en-US" altLang="en-US">
                <a:latin typeface="Arial" panose="020B0604020202020204" pitchFamily="34" charset="0"/>
              </a:rPr>
              <a:t>is discovered, each potentially affected system must be upgraded to fix that flaw.</a:t>
            </a:r>
          </a:p>
          <a:p>
            <a:r>
              <a:rPr lang="en-US" altLang="en-US">
                <a:latin typeface="Arial" panose="020B0604020202020204" pitchFamily="34" charset="0"/>
              </a:rPr>
              <a:t>This requires scalable configuration management and aggressive patching to function</a:t>
            </a:r>
          </a:p>
          <a:p>
            <a:r>
              <a:rPr lang="en-US" altLang="en-US">
                <a:latin typeface="Arial" panose="020B0604020202020204" pitchFamily="34" charset="0"/>
              </a:rPr>
              <a:t>effectively. While difficult, this is possible and is necessary if only host-based</a:t>
            </a:r>
          </a:p>
          <a:p>
            <a:r>
              <a:rPr lang="en-US" altLang="en-US">
                <a:latin typeface="Arial" panose="020B0604020202020204" pitchFamily="34" charset="0"/>
              </a:rPr>
              <a:t>security is used. A widely accepted alternative or at least complement to host-based</a:t>
            </a:r>
          </a:p>
          <a:p>
            <a:r>
              <a:rPr lang="en-US" altLang="en-US">
                <a:latin typeface="Arial" panose="020B0604020202020204" pitchFamily="34" charset="0"/>
              </a:rPr>
              <a:t>security services is the firewall. The firewall is inserted between the premises network</a:t>
            </a:r>
          </a:p>
          <a:p>
            <a:r>
              <a:rPr lang="en-US" altLang="en-US">
                <a:latin typeface="Arial" panose="020B0604020202020204" pitchFamily="34" charset="0"/>
              </a:rPr>
              <a:t>and the Internet to establish a controlled link and to erect an outer security</a:t>
            </a:r>
          </a:p>
          <a:p>
            <a:r>
              <a:rPr lang="en-US" altLang="en-US">
                <a:latin typeface="Arial" panose="020B0604020202020204" pitchFamily="34" charset="0"/>
              </a:rPr>
              <a:t>wall or perimeter. The aim of this perimeter is to protect the premises network from</a:t>
            </a:r>
          </a:p>
          <a:p>
            <a:r>
              <a:rPr lang="en-US" altLang="en-US">
                <a:latin typeface="Arial" panose="020B0604020202020204" pitchFamily="34" charset="0"/>
              </a:rPr>
              <a:t>Internet-based attacks and to provide a single choke point where security and auditing</a:t>
            </a:r>
          </a:p>
          <a:p>
            <a:r>
              <a:rPr lang="en-US" altLang="en-US">
                <a:latin typeface="Arial" panose="020B0604020202020204" pitchFamily="34" charset="0"/>
              </a:rPr>
              <a:t>can be imposed. The firewall may be a single computer system or a set of two or</a:t>
            </a:r>
          </a:p>
          <a:p>
            <a:r>
              <a:rPr lang="en-US" altLang="en-US">
                <a:latin typeface="Arial" panose="020B0604020202020204" pitchFamily="34" charset="0"/>
              </a:rPr>
              <a:t>more systems that cooperate to perform the firewall function.</a:t>
            </a:r>
          </a:p>
          <a:p>
            <a:endParaRPr lang="en-US" altLang="en-US">
              <a:latin typeface="Arial" panose="020B0604020202020204" pitchFamily="34" charset="0"/>
            </a:endParaRPr>
          </a:p>
          <a:p>
            <a:r>
              <a:rPr lang="en-US" altLang="en-US">
                <a:latin typeface="Arial" panose="020B0604020202020204" pitchFamily="34" charset="0"/>
              </a:rPr>
              <a:t>The firewall, then, provides an additional layer of defense, insulating the</a:t>
            </a:r>
          </a:p>
          <a:p>
            <a:r>
              <a:rPr lang="en-US" altLang="en-US">
                <a:latin typeface="Arial" panose="020B0604020202020204" pitchFamily="34" charset="0"/>
              </a:rPr>
              <a:t>internal systems from external networks. This follows the classic military doctrine of</a:t>
            </a:r>
          </a:p>
          <a:p>
            <a:r>
              <a:rPr lang="en-US" altLang="en-US">
                <a:latin typeface="Arial" panose="020B0604020202020204" pitchFamily="34" charset="0"/>
              </a:rPr>
              <a:t>“defense in depth,” which is just as applicable to IT security.</a:t>
            </a:r>
          </a:p>
        </p:txBody>
      </p:sp>
    </p:spTree>
    <p:extLst>
      <p:ext uri="{BB962C8B-B14F-4D97-AF65-F5344CB8AC3E}">
        <p14:creationId xmlns:p14="http://schemas.microsoft.com/office/powerpoint/2010/main" val="23186661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Image Placeholder 1"/>
          <p:cNvSpPr>
            <a:spLocks noGrp="1" noRot="1" noChangeAspect="1" noTextEdit="1"/>
          </p:cNvSpPr>
          <p:nvPr>
            <p:ph type="sldImg"/>
          </p:nvPr>
        </p:nvSpPr>
        <p:spPr>
          <a:ln/>
        </p:spPr>
      </p:sp>
      <p:sp>
        <p:nvSpPr>
          <p:cNvPr id="26626"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ヒラギノ角ゴ Pro W3" charset="-128"/>
            </a:endParaRPr>
          </a:p>
        </p:txBody>
      </p:sp>
      <p:sp>
        <p:nvSpPr>
          <p:cNvPr id="26627"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defRPr sz="2400">
                <a:solidFill>
                  <a:schemeClr val="tx1"/>
                </a:solidFill>
                <a:latin typeface="Arial" panose="020B0604020202020204" pitchFamily="34" charset="0"/>
                <a:ea typeface="ヒラギノ角ゴ Pro W3" charset="-128"/>
              </a:defRPr>
            </a:lvl1pPr>
            <a:lvl2pPr marL="742950" indent="-285750" defTabSz="942975" eaLnBrk="0" hangingPunct="0">
              <a:defRPr sz="2400">
                <a:solidFill>
                  <a:schemeClr val="tx1"/>
                </a:solidFill>
                <a:latin typeface="Arial" panose="020B0604020202020204" pitchFamily="34" charset="0"/>
                <a:ea typeface="ヒラギノ角ゴ Pro W3" charset="-128"/>
              </a:defRPr>
            </a:lvl2pPr>
            <a:lvl3pPr marL="1143000" indent="-228600" defTabSz="942975" eaLnBrk="0" hangingPunct="0">
              <a:defRPr sz="2400">
                <a:solidFill>
                  <a:schemeClr val="tx1"/>
                </a:solidFill>
                <a:latin typeface="Arial" panose="020B0604020202020204" pitchFamily="34" charset="0"/>
                <a:ea typeface="ヒラギノ角ゴ Pro W3" charset="-128"/>
              </a:defRPr>
            </a:lvl3pPr>
            <a:lvl4pPr marL="1600200" indent="-228600" defTabSz="942975" eaLnBrk="0" hangingPunct="0">
              <a:defRPr sz="2400">
                <a:solidFill>
                  <a:schemeClr val="tx1"/>
                </a:solidFill>
                <a:latin typeface="Arial" panose="020B0604020202020204" pitchFamily="34" charset="0"/>
                <a:ea typeface="ヒラギノ角ゴ Pro W3" charset="-128"/>
              </a:defRPr>
            </a:lvl4pPr>
            <a:lvl5pPr marL="2057400" indent="-228600" defTabSz="942975" eaLnBrk="0" hangingPunct="0">
              <a:defRPr sz="2400">
                <a:solidFill>
                  <a:schemeClr val="tx1"/>
                </a:solidFill>
                <a:latin typeface="Arial" panose="020B0604020202020204" pitchFamily="34" charset="0"/>
                <a:ea typeface="ヒラギノ角ゴ Pro W3" charset="-128"/>
              </a:defRPr>
            </a:lvl5pPr>
            <a:lvl6pPr marL="2514600" indent="-228600"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6pPr>
            <a:lvl7pPr marL="2971800" indent="-228600"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7pPr>
            <a:lvl8pPr marL="3429000" indent="-228600"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8pPr>
            <a:lvl9pPr marL="3886200" indent="-228600"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9pPr>
          </a:lstStyle>
          <a:p>
            <a:pPr eaLnBrk="1" hangingPunct="1"/>
            <a:fld id="{B6597F0D-D8C1-4838-AFF6-A7F273990A71}" type="slidenum">
              <a:rPr lang="en-US" altLang="en-US" sz="1200"/>
              <a:pPr eaLnBrk="1" hangingPunct="1"/>
              <a:t>7</a:t>
            </a:fld>
            <a:endParaRPr lang="en-US" altLang="en-US" sz="1200"/>
          </a:p>
        </p:txBody>
      </p:sp>
    </p:spTree>
    <p:extLst>
      <p:ext uri="{BB962C8B-B14F-4D97-AF65-F5344CB8AC3E}">
        <p14:creationId xmlns:p14="http://schemas.microsoft.com/office/powerpoint/2010/main" val="28758460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ea typeface="MS PGothic" panose="020B0600070205080204" pitchFamily="34" charset="-128"/>
              </a:defRPr>
            </a:lvl1pPr>
            <a:lvl2pPr marL="742950" indent="-285750" eaLnBrk="0" hangingPunct="0">
              <a:spcBef>
                <a:spcPct val="30000"/>
              </a:spcBef>
              <a:defRPr sz="12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9pPr>
          </a:lstStyle>
          <a:p>
            <a:pPr eaLnBrk="1" hangingPunct="1">
              <a:spcBef>
                <a:spcPct val="0"/>
              </a:spcBef>
            </a:pPr>
            <a:fld id="{8849F815-6C78-451B-A8F0-83562C9FB6AA}" type="slidenum">
              <a:rPr lang="en-AU" altLang="en-US"/>
              <a:pPr eaLnBrk="1" hangingPunct="1">
                <a:spcBef>
                  <a:spcPct val="0"/>
                </a:spcBef>
              </a:pPr>
              <a:t>8</a:t>
            </a:fld>
            <a:endParaRPr lang="en-AU" altLang="en-US"/>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following  are the design goals for a firewall:</a:t>
            </a:r>
          </a:p>
          <a:p>
            <a:endParaRPr lang="en-US" altLang="en-US">
              <a:latin typeface="Arial" panose="020B0604020202020204" pitchFamily="34" charset="0"/>
            </a:endParaRPr>
          </a:p>
          <a:p>
            <a:r>
              <a:rPr lang="en-US" altLang="en-US">
                <a:latin typeface="Arial" panose="020B0604020202020204" pitchFamily="34" charset="0"/>
              </a:rPr>
              <a:t>1. All traffic from inside to outside, and vice versa, must pass through the firewall.</a:t>
            </a:r>
          </a:p>
          <a:p>
            <a:r>
              <a:rPr lang="en-US" altLang="en-US">
                <a:latin typeface="Arial" panose="020B0604020202020204" pitchFamily="34" charset="0"/>
              </a:rPr>
              <a:t>This is achieved by physically blocking all access to the local network</a:t>
            </a:r>
          </a:p>
          <a:p>
            <a:r>
              <a:rPr lang="en-US" altLang="en-US">
                <a:latin typeface="Arial" panose="020B0604020202020204" pitchFamily="34" charset="0"/>
              </a:rPr>
              <a:t>except via the firewall. Various configurations are possible, as explained later.</a:t>
            </a:r>
          </a:p>
          <a:p>
            <a:endParaRPr lang="en-US" altLang="en-US">
              <a:latin typeface="Arial" panose="020B0604020202020204" pitchFamily="34" charset="0"/>
            </a:endParaRPr>
          </a:p>
          <a:p>
            <a:r>
              <a:rPr lang="en-US" altLang="en-US">
                <a:latin typeface="Arial" panose="020B0604020202020204" pitchFamily="34" charset="0"/>
              </a:rPr>
              <a:t>2. Only authorized traffic, as defined by the local security policy, will be allowed</a:t>
            </a:r>
          </a:p>
          <a:p>
            <a:r>
              <a:rPr lang="en-US" altLang="en-US">
                <a:latin typeface="Arial" panose="020B0604020202020204" pitchFamily="34" charset="0"/>
              </a:rPr>
              <a:t>to pass. Various types of firewalls are used, which implement various types of</a:t>
            </a:r>
          </a:p>
          <a:p>
            <a:r>
              <a:rPr lang="en-US" altLang="en-US">
                <a:latin typeface="Arial" panose="020B0604020202020204" pitchFamily="34" charset="0"/>
              </a:rPr>
              <a:t>security policies, as explained later.</a:t>
            </a:r>
          </a:p>
          <a:p>
            <a:endParaRPr lang="en-US" altLang="en-US">
              <a:latin typeface="Arial" panose="020B0604020202020204" pitchFamily="34" charset="0"/>
            </a:endParaRPr>
          </a:p>
          <a:p>
            <a:r>
              <a:rPr lang="en-US" altLang="en-US">
                <a:latin typeface="Arial" panose="020B0604020202020204" pitchFamily="34" charset="0"/>
              </a:rPr>
              <a:t>3. The firewall itself is immune to penetration. This implies the use of a hardened</a:t>
            </a:r>
          </a:p>
          <a:p>
            <a:r>
              <a:rPr lang="en-US" altLang="en-US">
                <a:latin typeface="Arial" panose="020B0604020202020204" pitchFamily="34" charset="0"/>
              </a:rPr>
              <a:t>system with a secured operating system. Trusted computer systems are</a:t>
            </a:r>
          </a:p>
          <a:p>
            <a:r>
              <a:rPr lang="en-US" altLang="en-US">
                <a:latin typeface="Arial" panose="020B0604020202020204" pitchFamily="34" charset="0"/>
              </a:rPr>
              <a:t>suitable for hosting a firewall and often required in government applications.</a:t>
            </a:r>
          </a:p>
          <a:p>
            <a:endParaRPr lang="en-US" altLang="en-US">
              <a:latin typeface="Arial" panose="020B0604020202020204" pitchFamily="34" charset="0"/>
            </a:endParaRPr>
          </a:p>
          <a:p>
            <a:r>
              <a:rPr lang="en-US" altLang="en-US">
                <a:latin typeface="Arial" panose="020B0604020202020204" pitchFamily="34" charset="0"/>
              </a:rPr>
              <a:t>[SMIT97] lists four general techniques that firewalls use to control access and</a:t>
            </a:r>
          </a:p>
          <a:p>
            <a:r>
              <a:rPr lang="en-US" altLang="en-US">
                <a:latin typeface="Arial" panose="020B0604020202020204" pitchFamily="34" charset="0"/>
              </a:rPr>
              <a:t>enforce the site’s security policy. Originally, firewalls focused primarily on service</a:t>
            </a:r>
          </a:p>
          <a:p>
            <a:r>
              <a:rPr lang="en-US" altLang="en-US">
                <a:latin typeface="Arial" panose="020B0604020202020204" pitchFamily="34" charset="0"/>
              </a:rPr>
              <a:t>control, but they have since evolved to provide all four:</a:t>
            </a:r>
          </a:p>
          <a:p>
            <a:endParaRPr lang="en-US" altLang="en-US">
              <a:latin typeface="Arial" panose="020B0604020202020204" pitchFamily="34" charset="0"/>
            </a:endParaRPr>
          </a:p>
          <a:p>
            <a:r>
              <a:rPr lang="en-US" altLang="en-US">
                <a:latin typeface="Arial" panose="020B0604020202020204" pitchFamily="34" charset="0"/>
              </a:rPr>
              <a:t>• Service control: Determines the types of Internet services that can be accessed,</a:t>
            </a:r>
          </a:p>
          <a:p>
            <a:r>
              <a:rPr lang="en-US" altLang="en-US">
                <a:latin typeface="Arial" panose="020B0604020202020204" pitchFamily="34" charset="0"/>
              </a:rPr>
              <a:t>inbound or outbound. The firewall may filter traffic on the basis of IP</a:t>
            </a:r>
          </a:p>
          <a:p>
            <a:r>
              <a:rPr lang="en-US" altLang="en-US">
                <a:latin typeface="Arial" panose="020B0604020202020204" pitchFamily="34" charset="0"/>
              </a:rPr>
              <a:t>address, protocol, or port number; may provide proxy software that receives</a:t>
            </a:r>
          </a:p>
          <a:p>
            <a:r>
              <a:rPr lang="en-US" altLang="en-US">
                <a:latin typeface="Arial" panose="020B0604020202020204" pitchFamily="34" charset="0"/>
              </a:rPr>
              <a:t>and interprets each service request before passing it on; or may host the server</a:t>
            </a:r>
          </a:p>
          <a:p>
            <a:r>
              <a:rPr lang="en-US" altLang="en-US">
                <a:latin typeface="Arial" panose="020B0604020202020204" pitchFamily="34" charset="0"/>
              </a:rPr>
              <a:t>software itself, such as a Web or mail service.</a:t>
            </a:r>
          </a:p>
          <a:p>
            <a:endParaRPr lang="en-US" altLang="en-US">
              <a:latin typeface="Arial" panose="020B0604020202020204" pitchFamily="34" charset="0"/>
            </a:endParaRPr>
          </a:p>
          <a:p>
            <a:r>
              <a:rPr lang="en-US" altLang="en-US">
                <a:latin typeface="Arial" panose="020B0604020202020204" pitchFamily="34" charset="0"/>
              </a:rPr>
              <a:t>• Direction control: Determines the direction in which particular service</a:t>
            </a:r>
          </a:p>
          <a:p>
            <a:r>
              <a:rPr lang="en-US" altLang="en-US">
                <a:latin typeface="Arial" panose="020B0604020202020204" pitchFamily="34" charset="0"/>
              </a:rPr>
              <a:t>requests may be initiated and allowed to flow through the firewall.</a:t>
            </a:r>
          </a:p>
          <a:p>
            <a:endParaRPr lang="en-US" altLang="en-US">
              <a:latin typeface="Arial" panose="020B0604020202020204" pitchFamily="34" charset="0"/>
            </a:endParaRPr>
          </a:p>
          <a:p>
            <a:r>
              <a:rPr lang="en-US" altLang="en-US">
                <a:latin typeface="Arial" panose="020B0604020202020204" pitchFamily="34" charset="0"/>
              </a:rPr>
              <a:t>• User control: Controls access to a service according to which user is attempting</a:t>
            </a:r>
          </a:p>
          <a:p>
            <a:r>
              <a:rPr lang="en-US" altLang="en-US">
                <a:latin typeface="Arial" panose="020B0604020202020204" pitchFamily="34" charset="0"/>
              </a:rPr>
              <a:t>to access it. This feature is typically applied to users inside the firewall</a:t>
            </a:r>
          </a:p>
          <a:p>
            <a:r>
              <a:rPr lang="en-US" altLang="en-US">
                <a:latin typeface="Arial" panose="020B0604020202020204" pitchFamily="34" charset="0"/>
              </a:rPr>
              <a:t>perimeter (local users). It may also be applied to incoming traffic from external</a:t>
            </a:r>
          </a:p>
          <a:p>
            <a:r>
              <a:rPr lang="en-US" altLang="en-US">
                <a:latin typeface="Arial" panose="020B0604020202020204" pitchFamily="34" charset="0"/>
              </a:rPr>
              <a:t>users; the latter requires some form of secure authentication technology,</a:t>
            </a:r>
          </a:p>
          <a:p>
            <a:r>
              <a:rPr lang="en-US" altLang="en-US">
                <a:latin typeface="Arial" panose="020B0604020202020204" pitchFamily="34" charset="0"/>
              </a:rPr>
              <a:t>such as is provided in IPsec (Chapter 9).</a:t>
            </a:r>
          </a:p>
          <a:p>
            <a:endParaRPr lang="en-US" altLang="en-US">
              <a:latin typeface="Arial" panose="020B0604020202020204" pitchFamily="34" charset="0"/>
            </a:endParaRPr>
          </a:p>
          <a:p>
            <a:r>
              <a:rPr lang="en-US" altLang="en-US">
                <a:latin typeface="Arial" panose="020B0604020202020204" pitchFamily="34" charset="0"/>
              </a:rPr>
              <a:t>• Behavior control: Controls how particular services are used. For example, the</a:t>
            </a:r>
          </a:p>
          <a:p>
            <a:r>
              <a:rPr lang="en-US" altLang="en-US">
                <a:latin typeface="Arial" panose="020B0604020202020204" pitchFamily="34" charset="0"/>
              </a:rPr>
              <a:t>firewall may filter e-mail to eliminate spam, or it may enable external access to</a:t>
            </a:r>
          </a:p>
          <a:p>
            <a:r>
              <a:rPr lang="en-US" altLang="en-US">
                <a:latin typeface="Arial" panose="020B0604020202020204" pitchFamily="34" charset="0"/>
              </a:rPr>
              <a:t>only a portion of the information on a local Web server.</a:t>
            </a:r>
          </a:p>
        </p:txBody>
      </p:sp>
    </p:spTree>
    <p:extLst>
      <p:ext uri="{BB962C8B-B14F-4D97-AF65-F5344CB8AC3E}">
        <p14:creationId xmlns:p14="http://schemas.microsoft.com/office/powerpoint/2010/main" val="17603835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fontScale="92500" lnSpcReduction="10000"/>
          </a:bodyPr>
          <a:lstStyle/>
          <a:p>
            <a:pPr>
              <a:defRPr/>
            </a:pPr>
            <a:r>
              <a:rPr lang="en-US" dirty="0">
                <a:ea typeface="ＭＳ Ｐゴシック" pitchFamily="-107" charset="-128"/>
              </a:rPr>
              <a:t>Before proceeding to the details of firewall types and configurations, it is best</a:t>
            </a:r>
          </a:p>
          <a:p>
            <a:pPr>
              <a:defRPr/>
            </a:pPr>
            <a:r>
              <a:rPr lang="en-US" dirty="0">
                <a:ea typeface="ＭＳ Ｐゴシック" pitchFamily="-107" charset="-128"/>
              </a:rPr>
              <a:t>to summarize what one can expect from a firewall. The following capabilities are</a:t>
            </a:r>
          </a:p>
          <a:p>
            <a:pPr>
              <a:defRPr/>
            </a:pPr>
            <a:r>
              <a:rPr lang="en-US" dirty="0">
                <a:ea typeface="ＭＳ Ｐゴシック" pitchFamily="-107" charset="-128"/>
              </a:rPr>
              <a:t>within the scope of a firewall:</a:t>
            </a:r>
          </a:p>
          <a:p>
            <a:pPr>
              <a:defRPr/>
            </a:pPr>
            <a:endParaRPr lang="en-US" dirty="0">
              <a:ea typeface="ＭＳ Ｐゴシック" pitchFamily="-107" charset="-128"/>
            </a:endParaRPr>
          </a:p>
          <a:p>
            <a:pPr>
              <a:defRPr/>
            </a:pPr>
            <a:r>
              <a:rPr lang="en-US" dirty="0">
                <a:ea typeface="ＭＳ Ｐゴシック" pitchFamily="-107" charset="-128"/>
              </a:rPr>
              <a:t>1.  A firewall defines a single choke point that keeps unauthorized users out of</a:t>
            </a:r>
          </a:p>
          <a:p>
            <a:pPr>
              <a:defRPr/>
            </a:pPr>
            <a:r>
              <a:rPr lang="en-US" dirty="0">
                <a:ea typeface="ＭＳ Ｐゴシック" pitchFamily="-107" charset="-128"/>
              </a:rPr>
              <a:t>the protected network, prohibits potentially vulnerable services from entering</a:t>
            </a:r>
          </a:p>
          <a:p>
            <a:pPr>
              <a:defRPr/>
            </a:pPr>
            <a:r>
              <a:rPr lang="en-US" dirty="0">
                <a:ea typeface="ＭＳ Ｐゴシック" pitchFamily="-107" charset="-128"/>
              </a:rPr>
              <a:t>or leaving the network, and provides protection from various kinds of IP</a:t>
            </a:r>
          </a:p>
          <a:p>
            <a:pPr>
              <a:defRPr/>
            </a:pPr>
            <a:r>
              <a:rPr lang="en-US" dirty="0">
                <a:ea typeface="ＭＳ Ｐゴシック" pitchFamily="-107" charset="-128"/>
              </a:rPr>
              <a:t>spoofing and routing attacks. The use of a single choke point simplifies security</a:t>
            </a:r>
          </a:p>
          <a:p>
            <a:pPr>
              <a:defRPr/>
            </a:pPr>
            <a:r>
              <a:rPr lang="en-US" dirty="0">
                <a:ea typeface="ＭＳ Ｐゴシック" pitchFamily="-107" charset="-128"/>
              </a:rPr>
              <a:t>management because security capabilities are consolidated on a single</a:t>
            </a:r>
          </a:p>
          <a:p>
            <a:pPr>
              <a:defRPr/>
            </a:pPr>
            <a:r>
              <a:rPr lang="en-US" dirty="0">
                <a:ea typeface="ＭＳ Ｐゴシック" pitchFamily="-107" charset="-128"/>
              </a:rPr>
              <a:t>system or set of systems.</a:t>
            </a:r>
          </a:p>
          <a:p>
            <a:pPr>
              <a:defRPr/>
            </a:pPr>
            <a:endParaRPr lang="en-US" dirty="0">
              <a:ea typeface="ＭＳ Ｐゴシック" pitchFamily="-107" charset="-128"/>
            </a:endParaRPr>
          </a:p>
          <a:p>
            <a:pPr>
              <a:defRPr/>
            </a:pPr>
            <a:r>
              <a:rPr lang="en-US" dirty="0">
                <a:ea typeface="ＭＳ Ｐゴシック" pitchFamily="-107" charset="-128"/>
              </a:rPr>
              <a:t>2.  A firewall provides a location for monitoring security-related events. Audits</a:t>
            </a:r>
          </a:p>
          <a:p>
            <a:pPr>
              <a:defRPr/>
            </a:pPr>
            <a:r>
              <a:rPr lang="en-US" dirty="0">
                <a:ea typeface="ＭＳ Ｐゴシック" pitchFamily="-107" charset="-128"/>
              </a:rPr>
              <a:t>and alarms can be implemented on the firewall system.</a:t>
            </a:r>
          </a:p>
          <a:p>
            <a:pPr>
              <a:defRPr/>
            </a:pPr>
            <a:endParaRPr lang="en-US" dirty="0">
              <a:ea typeface="ＭＳ Ｐゴシック" pitchFamily="-107" charset="-128"/>
            </a:endParaRPr>
          </a:p>
          <a:p>
            <a:pPr>
              <a:defRPr/>
            </a:pPr>
            <a:r>
              <a:rPr lang="en-US" dirty="0">
                <a:ea typeface="ＭＳ Ｐゴシック" pitchFamily="-107" charset="-128"/>
              </a:rPr>
              <a:t>3.  A firewall is a convenient platform for several Internet functions that are not</a:t>
            </a:r>
          </a:p>
          <a:p>
            <a:pPr>
              <a:defRPr/>
            </a:pPr>
            <a:r>
              <a:rPr lang="en-US" dirty="0">
                <a:ea typeface="ＭＳ Ｐゴシック" pitchFamily="-107" charset="-128"/>
              </a:rPr>
              <a:t>security related. These include a network address translator, which maps local</a:t>
            </a:r>
          </a:p>
          <a:p>
            <a:pPr>
              <a:defRPr/>
            </a:pPr>
            <a:r>
              <a:rPr lang="en-US" dirty="0">
                <a:ea typeface="ＭＳ Ｐゴシック" pitchFamily="-107" charset="-128"/>
              </a:rPr>
              <a:t>addresses to Internet addresses, and a network management function that</a:t>
            </a:r>
          </a:p>
          <a:p>
            <a:pPr>
              <a:defRPr/>
            </a:pPr>
            <a:r>
              <a:rPr lang="en-US" dirty="0">
                <a:ea typeface="ＭＳ Ｐゴシック" pitchFamily="-107" charset="-128"/>
              </a:rPr>
              <a:t>audits or logs Internet usage.</a:t>
            </a:r>
          </a:p>
          <a:p>
            <a:pPr>
              <a:defRPr/>
            </a:pPr>
            <a:endParaRPr lang="en-US" dirty="0">
              <a:ea typeface="ＭＳ Ｐゴシック" pitchFamily="-107" charset="-128"/>
            </a:endParaRPr>
          </a:p>
          <a:p>
            <a:pPr>
              <a:defRPr/>
            </a:pPr>
            <a:r>
              <a:rPr lang="en-US" dirty="0">
                <a:ea typeface="ＭＳ Ｐゴシック" pitchFamily="-107" charset="-128"/>
              </a:rPr>
              <a:t>4.  A firewall can serve as the platform for IPsec. Using the tunnel mode capability</a:t>
            </a:r>
          </a:p>
          <a:p>
            <a:pPr>
              <a:defRPr/>
            </a:pPr>
            <a:r>
              <a:rPr lang="en-US" dirty="0">
                <a:ea typeface="ＭＳ Ｐゴシック" pitchFamily="-107" charset="-128"/>
              </a:rPr>
              <a:t>described in Chapter 9, the firewall can be used to implement virtual</a:t>
            </a:r>
          </a:p>
          <a:p>
            <a:pPr>
              <a:defRPr/>
            </a:pPr>
            <a:r>
              <a:rPr lang="en-US" dirty="0">
                <a:ea typeface="ＭＳ Ｐゴシック" pitchFamily="-107" charset="-128"/>
              </a:rPr>
              <a:t>private networks.</a:t>
            </a:r>
          </a:p>
        </p:txBody>
      </p:sp>
      <p:sp>
        <p:nvSpPr>
          <p:cNvPr id="768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ea typeface="MS PGothic" panose="020B0600070205080204" pitchFamily="34" charset="-128"/>
              </a:defRPr>
            </a:lvl1pPr>
            <a:lvl2pPr marL="742950" indent="-285750" eaLnBrk="0" hangingPunct="0">
              <a:spcBef>
                <a:spcPct val="30000"/>
              </a:spcBef>
              <a:defRPr sz="12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9pPr>
          </a:lstStyle>
          <a:p>
            <a:pPr eaLnBrk="1" hangingPunct="1">
              <a:spcBef>
                <a:spcPct val="0"/>
              </a:spcBef>
            </a:pPr>
            <a:fld id="{B6A094D1-67E0-4522-B67A-464A27085157}" type="slidenum">
              <a:rPr lang="en-AU" altLang="en-US"/>
              <a:pPr eaLnBrk="1" hangingPunct="1">
                <a:spcBef>
                  <a:spcPct val="0"/>
                </a:spcBef>
              </a:pPr>
              <a:t>9</a:t>
            </a:fld>
            <a:endParaRPr lang="en-AU" altLang="en-US"/>
          </a:p>
        </p:txBody>
      </p:sp>
    </p:spTree>
    <p:extLst>
      <p:ext uri="{BB962C8B-B14F-4D97-AF65-F5344CB8AC3E}">
        <p14:creationId xmlns:p14="http://schemas.microsoft.com/office/powerpoint/2010/main" val="8530221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a:bodyPr>
          <a:lstStyle/>
          <a:p>
            <a:pPr>
              <a:defRPr/>
            </a:pPr>
            <a:r>
              <a:rPr lang="en-US" dirty="0">
                <a:ea typeface="ＭＳ Ｐゴシック" pitchFamily="-107" charset="-128"/>
              </a:rPr>
              <a:t>Firewalls have their limitations, including the following:</a:t>
            </a:r>
          </a:p>
          <a:p>
            <a:pPr>
              <a:defRPr/>
            </a:pPr>
            <a:endParaRPr lang="en-US" dirty="0">
              <a:ea typeface="ＭＳ Ｐゴシック" pitchFamily="-107" charset="-128"/>
            </a:endParaRPr>
          </a:p>
          <a:p>
            <a:pPr>
              <a:defRPr/>
            </a:pPr>
            <a:r>
              <a:rPr lang="en-US" dirty="0">
                <a:ea typeface="ＭＳ Ｐゴシック" pitchFamily="-107" charset="-128"/>
              </a:rPr>
              <a:t>1.  The firewall cannot protect against attacks that bypass the firewall. Internal</a:t>
            </a:r>
          </a:p>
          <a:p>
            <a:pPr>
              <a:defRPr/>
            </a:pPr>
            <a:r>
              <a:rPr lang="en-US" dirty="0">
                <a:ea typeface="ＭＳ Ｐゴシック" pitchFamily="-107" charset="-128"/>
              </a:rPr>
              <a:t>systems may have dial-out capability to connect to an ISP. An internal LAN</a:t>
            </a:r>
          </a:p>
          <a:p>
            <a:pPr>
              <a:defRPr/>
            </a:pPr>
            <a:r>
              <a:rPr lang="en-US" dirty="0">
                <a:ea typeface="ＭＳ Ｐゴシック" pitchFamily="-107" charset="-128"/>
              </a:rPr>
              <a:t>may support a modem pool that provides dial-in capability for traveling</a:t>
            </a:r>
          </a:p>
          <a:p>
            <a:pPr>
              <a:defRPr/>
            </a:pPr>
            <a:r>
              <a:rPr lang="en-US" dirty="0">
                <a:ea typeface="ＭＳ Ｐゴシック" pitchFamily="-107" charset="-128"/>
              </a:rPr>
              <a:t>employees and telecommuters.</a:t>
            </a:r>
          </a:p>
          <a:p>
            <a:pPr>
              <a:defRPr/>
            </a:pPr>
            <a:endParaRPr lang="en-US" dirty="0">
              <a:ea typeface="ＭＳ Ｐゴシック" pitchFamily="-107" charset="-128"/>
            </a:endParaRPr>
          </a:p>
          <a:p>
            <a:pPr>
              <a:defRPr/>
            </a:pPr>
            <a:r>
              <a:rPr lang="en-US" dirty="0">
                <a:ea typeface="ＭＳ Ｐゴシック" pitchFamily="-107" charset="-128"/>
              </a:rPr>
              <a:t>2.  The firewall may not protect fully against internal threats, such as a disgruntled</a:t>
            </a:r>
          </a:p>
          <a:p>
            <a:pPr>
              <a:defRPr/>
            </a:pPr>
            <a:r>
              <a:rPr lang="en-US" dirty="0">
                <a:ea typeface="ＭＳ Ｐゴシック" pitchFamily="-107" charset="-128"/>
              </a:rPr>
              <a:t>employee or an employee who unwittingly cooperates with an external</a:t>
            </a:r>
          </a:p>
          <a:p>
            <a:pPr>
              <a:defRPr/>
            </a:pPr>
            <a:r>
              <a:rPr lang="en-US" dirty="0">
                <a:ea typeface="ＭＳ Ｐゴシック" pitchFamily="-107" charset="-128"/>
              </a:rPr>
              <a:t>attacker.</a:t>
            </a:r>
          </a:p>
          <a:p>
            <a:pPr>
              <a:defRPr/>
            </a:pPr>
            <a:endParaRPr lang="en-US" dirty="0">
              <a:ea typeface="ＭＳ Ｐゴシック" pitchFamily="-107" charset="-128"/>
            </a:endParaRPr>
          </a:p>
          <a:p>
            <a:pPr>
              <a:defRPr/>
            </a:pPr>
            <a:r>
              <a:rPr lang="en-US" dirty="0">
                <a:ea typeface="ＭＳ Ｐゴシック" pitchFamily="-107" charset="-128"/>
              </a:rPr>
              <a:t>3.  An improperly secured wireless LAN may be accessed from outside the</a:t>
            </a:r>
          </a:p>
          <a:p>
            <a:pPr>
              <a:defRPr/>
            </a:pPr>
            <a:r>
              <a:rPr lang="en-US" dirty="0">
                <a:ea typeface="ＭＳ Ｐゴシック" pitchFamily="-107" charset="-128"/>
              </a:rPr>
              <a:t>organization. An internal firewall that separates portions of an enterprise</a:t>
            </a:r>
          </a:p>
          <a:p>
            <a:pPr>
              <a:defRPr/>
            </a:pPr>
            <a:r>
              <a:rPr lang="en-US" dirty="0">
                <a:ea typeface="ＭＳ Ｐゴシック" pitchFamily="-107" charset="-128"/>
              </a:rPr>
              <a:t>network cannot guard against wireless communications between local</a:t>
            </a:r>
          </a:p>
          <a:p>
            <a:pPr>
              <a:defRPr/>
            </a:pPr>
            <a:r>
              <a:rPr lang="en-US" dirty="0">
                <a:ea typeface="ＭＳ Ｐゴシック" pitchFamily="-107" charset="-128"/>
              </a:rPr>
              <a:t>systems on different sides of the internal firewall.</a:t>
            </a:r>
          </a:p>
          <a:p>
            <a:pPr>
              <a:defRPr/>
            </a:pPr>
            <a:endParaRPr lang="en-US" dirty="0">
              <a:ea typeface="ＭＳ Ｐゴシック" pitchFamily="-107" charset="-128"/>
            </a:endParaRPr>
          </a:p>
          <a:p>
            <a:pPr>
              <a:defRPr/>
            </a:pPr>
            <a:r>
              <a:rPr lang="en-US" dirty="0">
                <a:ea typeface="ＭＳ Ｐゴシック" pitchFamily="-107" charset="-128"/>
              </a:rPr>
              <a:t>4.  A laptop, PDA, or portable storage device may be used and infected outside</a:t>
            </a:r>
          </a:p>
          <a:p>
            <a:pPr>
              <a:defRPr/>
            </a:pPr>
            <a:r>
              <a:rPr lang="en-US" dirty="0">
                <a:ea typeface="ＭＳ Ｐゴシック" pitchFamily="-107" charset="-128"/>
              </a:rPr>
              <a:t>the corporate network, and then attached and used internally.</a:t>
            </a:r>
          </a:p>
          <a:p>
            <a:pPr>
              <a:defRPr/>
            </a:pPr>
            <a:endParaRPr lang="en-US" dirty="0">
              <a:ea typeface="ＭＳ Ｐゴシック" pitchFamily="-107" charset="-128"/>
            </a:endParaRPr>
          </a:p>
          <a:p>
            <a:pPr>
              <a:defRPr/>
            </a:pPr>
            <a:endParaRPr lang="en-US" dirty="0">
              <a:ea typeface="ＭＳ Ｐゴシック" pitchFamily="-107" charset="-128"/>
            </a:endParaRPr>
          </a:p>
        </p:txBody>
      </p:sp>
      <p:sp>
        <p:nvSpPr>
          <p:cNvPr id="778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ea typeface="MS PGothic" panose="020B0600070205080204" pitchFamily="34" charset="-128"/>
              </a:defRPr>
            </a:lvl1pPr>
            <a:lvl2pPr marL="742950" indent="-285750" eaLnBrk="0" hangingPunct="0">
              <a:spcBef>
                <a:spcPct val="30000"/>
              </a:spcBef>
              <a:defRPr sz="12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9pPr>
          </a:lstStyle>
          <a:p>
            <a:pPr eaLnBrk="1" hangingPunct="1">
              <a:spcBef>
                <a:spcPct val="0"/>
              </a:spcBef>
            </a:pPr>
            <a:fld id="{0949A4FA-8D34-461A-9200-0928D7A2FE26}" type="slidenum">
              <a:rPr lang="en-AU" altLang="en-US"/>
              <a:pPr eaLnBrk="1" hangingPunct="1">
                <a:spcBef>
                  <a:spcPct val="0"/>
                </a:spcBef>
              </a:pPr>
              <a:t>10</a:t>
            </a:fld>
            <a:endParaRPr lang="en-AU" altLang="en-US"/>
          </a:p>
        </p:txBody>
      </p:sp>
    </p:spTree>
    <p:extLst>
      <p:ext uri="{BB962C8B-B14F-4D97-AF65-F5344CB8AC3E}">
        <p14:creationId xmlns:p14="http://schemas.microsoft.com/office/powerpoint/2010/main" val="32139167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ea typeface="MS PGothic" panose="020B0600070205080204" pitchFamily="34" charset="-128"/>
              </a:defRPr>
            </a:lvl1pPr>
            <a:lvl2pPr marL="742950" indent="-285750" eaLnBrk="0" hangingPunct="0">
              <a:spcBef>
                <a:spcPct val="30000"/>
              </a:spcBef>
              <a:defRPr sz="12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9pPr>
          </a:lstStyle>
          <a:p>
            <a:pPr eaLnBrk="1" hangingPunct="1">
              <a:spcBef>
                <a:spcPct val="0"/>
              </a:spcBef>
            </a:pPr>
            <a:fld id="{5F116050-CA1C-4152-9CA9-2499EC7A3403}" type="slidenum">
              <a:rPr lang="en-AU" altLang="en-US"/>
              <a:pPr eaLnBrk="1" hangingPunct="1">
                <a:spcBef>
                  <a:spcPct val="0"/>
                </a:spcBef>
              </a:pPr>
              <a:t>12</a:t>
            </a:fld>
            <a:endParaRPr lang="en-AU" altLang="en-US"/>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A packet filtering firewall applies a set of rules to each incoming and outgoing</a:t>
            </a:r>
          </a:p>
          <a:p>
            <a:r>
              <a:rPr lang="en-US" altLang="en-US">
                <a:latin typeface="Arial" panose="020B0604020202020204" pitchFamily="34" charset="0"/>
              </a:rPr>
              <a:t>IP packet and then forwards or discards the packet (Figure 12.1b). The firewall</a:t>
            </a:r>
          </a:p>
          <a:p>
            <a:r>
              <a:rPr lang="en-US" altLang="en-US">
                <a:latin typeface="Arial" panose="020B0604020202020204" pitchFamily="34" charset="0"/>
              </a:rPr>
              <a:t>is typically configured to filter packets going in both directions (from and to</a:t>
            </a:r>
          </a:p>
          <a:p>
            <a:r>
              <a:rPr lang="en-US" altLang="en-US">
                <a:latin typeface="Arial" panose="020B0604020202020204" pitchFamily="34" charset="0"/>
              </a:rPr>
              <a:t>the internal network). Filtering rules are based on information contained in a</a:t>
            </a:r>
          </a:p>
          <a:p>
            <a:r>
              <a:rPr lang="en-US" altLang="en-US">
                <a:latin typeface="Arial" panose="020B0604020202020204" pitchFamily="34" charset="0"/>
              </a:rPr>
              <a:t>network packet:</a:t>
            </a:r>
          </a:p>
          <a:p>
            <a:endParaRPr lang="en-US" altLang="en-US">
              <a:latin typeface="Arial" panose="020B0604020202020204" pitchFamily="34" charset="0"/>
            </a:endParaRPr>
          </a:p>
          <a:p>
            <a:r>
              <a:rPr lang="en-US" altLang="en-US">
                <a:latin typeface="Arial" panose="020B0604020202020204" pitchFamily="34" charset="0"/>
              </a:rPr>
              <a:t>• Source IP address:  The IP address of the system that originated the IP packet</a:t>
            </a:r>
          </a:p>
          <a:p>
            <a:r>
              <a:rPr lang="en-US" altLang="en-US">
                <a:latin typeface="Arial" panose="020B0604020202020204" pitchFamily="34" charset="0"/>
              </a:rPr>
              <a:t>(e.g., 192.178.1.1)</a:t>
            </a:r>
          </a:p>
          <a:p>
            <a:endParaRPr lang="en-US" altLang="en-US">
              <a:latin typeface="Arial" panose="020B0604020202020204" pitchFamily="34" charset="0"/>
            </a:endParaRPr>
          </a:p>
          <a:p>
            <a:r>
              <a:rPr lang="en-US" altLang="en-US">
                <a:latin typeface="Arial" panose="020B0604020202020204" pitchFamily="34" charset="0"/>
              </a:rPr>
              <a:t>• Destination IP address:  The IP address of the system the IP packet is trying to</a:t>
            </a:r>
          </a:p>
          <a:p>
            <a:r>
              <a:rPr lang="en-US" altLang="en-US">
                <a:latin typeface="Arial" panose="020B0604020202020204" pitchFamily="34" charset="0"/>
              </a:rPr>
              <a:t>reach (e.g., 192.168.1.2)</a:t>
            </a:r>
          </a:p>
          <a:p>
            <a:endParaRPr lang="en-US" altLang="en-US">
              <a:latin typeface="Arial" panose="020B0604020202020204" pitchFamily="34" charset="0"/>
            </a:endParaRPr>
          </a:p>
          <a:p>
            <a:r>
              <a:rPr lang="en-US" altLang="en-US">
                <a:latin typeface="Arial" panose="020B0604020202020204" pitchFamily="34" charset="0"/>
              </a:rPr>
              <a:t>• Source and destination transport-level address:  The transport-level (e.g., TCP</a:t>
            </a:r>
          </a:p>
          <a:p>
            <a:r>
              <a:rPr lang="en-US" altLang="en-US">
                <a:latin typeface="Arial" panose="020B0604020202020204" pitchFamily="34" charset="0"/>
              </a:rPr>
              <a:t>or UDP) port number, which defines applications such as SNMP or TELNET</a:t>
            </a:r>
          </a:p>
          <a:p>
            <a:endParaRPr lang="en-US" altLang="en-US">
              <a:latin typeface="Arial" panose="020B0604020202020204" pitchFamily="34" charset="0"/>
            </a:endParaRPr>
          </a:p>
          <a:p>
            <a:r>
              <a:rPr lang="en-US" altLang="en-US">
                <a:latin typeface="Arial" panose="020B0604020202020204" pitchFamily="34" charset="0"/>
              </a:rPr>
              <a:t>• IP protocol field:  Defines the transport protocol</a:t>
            </a:r>
          </a:p>
          <a:p>
            <a:endParaRPr lang="en-US" altLang="en-US">
              <a:latin typeface="Arial" panose="020B0604020202020204" pitchFamily="34" charset="0"/>
            </a:endParaRPr>
          </a:p>
          <a:p>
            <a:r>
              <a:rPr lang="en-US" altLang="en-US">
                <a:latin typeface="Arial" panose="020B0604020202020204" pitchFamily="34" charset="0"/>
              </a:rPr>
              <a:t>• Interface:  For a firewall with three or more ports, which interface of the</a:t>
            </a:r>
          </a:p>
          <a:p>
            <a:r>
              <a:rPr lang="en-US" altLang="en-US">
                <a:latin typeface="Arial" panose="020B0604020202020204" pitchFamily="34" charset="0"/>
              </a:rPr>
              <a:t>firewall the packet came from or which interface of the firewall the packet is</a:t>
            </a:r>
          </a:p>
          <a:p>
            <a:r>
              <a:rPr lang="en-US" altLang="en-US">
                <a:latin typeface="Arial" panose="020B0604020202020204" pitchFamily="34" charset="0"/>
              </a:rPr>
              <a:t>destined for</a:t>
            </a:r>
          </a:p>
          <a:p>
            <a:endParaRPr lang="en-US" altLang="en-US">
              <a:latin typeface="Arial" panose="020B0604020202020204" pitchFamily="34" charset="0"/>
            </a:endParaRPr>
          </a:p>
          <a:p>
            <a:r>
              <a:rPr lang="en-US" altLang="en-US">
                <a:latin typeface="Arial" panose="020B0604020202020204" pitchFamily="34" charset="0"/>
              </a:rPr>
              <a:t>The packet filter is typically set up as a list of rules based on matches to fields</a:t>
            </a:r>
          </a:p>
          <a:p>
            <a:r>
              <a:rPr lang="en-US" altLang="en-US">
                <a:latin typeface="Arial" panose="020B0604020202020204" pitchFamily="34" charset="0"/>
              </a:rPr>
              <a:t>in the IP or TCP header. If there is a match to one of the rules, that rule is invoked</a:t>
            </a:r>
          </a:p>
          <a:p>
            <a:r>
              <a:rPr lang="en-US" altLang="en-US">
                <a:latin typeface="Arial" panose="020B0604020202020204" pitchFamily="34" charset="0"/>
              </a:rPr>
              <a:t>to determine whether to forward or discard the packet. If there is no match to any</a:t>
            </a:r>
          </a:p>
          <a:p>
            <a:r>
              <a:rPr lang="en-US" altLang="en-US">
                <a:latin typeface="Arial" panose="020B0604020202020204" pitchFamily="34" charset="0"/>
              </a:rPr>
              <a:t>rule, then a default action is taken. Two default policies are possible:</a:t>
            </a:r>
          </a:p>
          <a:p>
            <a:endParaRPr lang="en-US" altLang="en-US">
              <a:latin typeface="Arial" panose="020B0604020202020204" pitchFamily="34" charset="0"/>
            </a:endParaRPr>
          </a:p>
          <a:p>
            <a:r>
              <a:rPr lang="en-US" altLang="en-US">
                <a:latin typeface="Arial" panose="020B0604020202020204" pitchFamily="34" charset="0"/>
              </a:rPr>
              <a:t>• Default  discard:  That which is not expressly permitted is prohibited.</a:t>
            </a:r>
          </a:p>
          <a:p>
            <a:endParaRPr lang="en-US" altLang="en-US">
              <a:latin typeface="Arial" panose="020B0604020202020204" pitchFamily="34" charset="0"/>
            </a:endParaRPr>
          </a:p>
          <a:p>
            <a:r>
              <a:rPr lang="en-US" altLang="en-US">
                <a:latin typeface="Arial" panose="020B0604020202020204" pitchFamily="34" charset="0"/>
              </a:rPr>
              <a:t>• Default  forward:  That which is not expressly prohibited is permitted.</a:t>
            </a:r>
          </a:p>
          <a:p>
            <a:endParaRPr lang="en-US" altLang="en-US">
              <a:latin typeface="Arial" panose="020B0604020202020204" pitchFamily="34" charset="0"/>
            </a:endParaRPr>
          </a:p>
          <a:p>
            <a:r>
              <a:rPr lang="en-US" altLang="en-US">
                <a:latin typeface="Arial" panose="020B0604020202020204" pitchFamily="34" charset="0"/>
              </a:rPr>
              <a:t>The default discard policy is more conservative. Initially, everything is</a:t>
            </a:r>
          </a:p>
          <a:p>
            <a:r>
              <a:rPr lang="en-US" altLang="en-US">
                <a:latin typeface="Arial" panose="020B0604020202020204" pitchFamily="34" charset="0"/>
              </a:rPr>
              <a:t>blocked, and services must be added on a case-by-case basis. This policy is more</a:t>
            </a:r>
          </a:p>
          <a:p>
            <a:r>
              <a:rPr lang="en-US" altLang="en-US">
                <a:latin typeface="Arial" panose="020B0604020202020204" pitchFamily="34" charset="0"/>
              </a:rPr>
              <a:t>visible to users, who are more likely to see the firewall as a hindrance. However,</a:t>
            </a:r>
          </a:p>
          <a:p>
            <a:r>
              <a:rPr lang="en-US" altLang="en-US">
                <a:latin typeface="Arial" panose="020B0604020202020204" pitchFamily="34" charset="0"/>
              </a:rPr>
              <a:t>this is the policy likely to be preferred by businesses and government organizations.</a:t>
            </a:r>
          </a:p>
          <a:p>
            <a:r>
              <a:rPr lang="en-US" altLang="en-US">
                <a:latin typeface="Arial" panose="020B0604020202020204" pitchFamily="34" charset="0"/>
              </a:rPr>
              <a:t>Further, visibility to users diminishes as rules are created. The default forward</a:t>
            </a:r>
          </a:p>
          <a:p>
            <a:r>
              <a:rPr lang="en-US" altLang="en-US">
                <a:latin typeface="Arial" panose="020B0604020202020204" pitchFamily="34" charset="0"/>
              </a:rPr>
              <a:t>policy increases ease of use for end users but provides reduced security; the</a:t>
            </a:r>
          </a:p>
          <a:p>
            <a:r>
              <a:rPr lang="en-US" altLang="en-US">
                <a:latin typeface="Arial" panose="020B0604020202020204" pitchFamily="34" charset="0"/>
              </a:rPr>
              <a:t>security administrator must, in essence, react to each new security threat as it</a:t>
            </a:r>
          </a:p>
          <a:p>
            <a:r>
              <a:rPr lang="en-US" altLang="en-US">
                <a:latin typeface="Arial" panose="020B0604020202020204" pitchFamily="34" charset="0"/>
              </a:rPr>
              <a:t>becomes known. This policy may be used by generally more open organizations,</a:t>
            </a:r>
          </a:p>
          <a:p>
            <a:r>
              <a:rPr lang="en-US" altLang="en-US">
                <a:latin typeface="Arial" panose="020B0604020202020204" pitchFamily="34" charset="0"/>
              </a:rPr>
              <a:t>such as universities.</a:t>
            </a:r>
          </a:p>
        </p:txBody>
      </p:sp>
    </p:spTree>
    <p:extLst>
      <p:ext uri="{BB962C8B-B14F-4D97-AF65-F5344CB8AC3E}">
        <p14:creationId xmlns:p14="http://schemas.microsoft.com/office/powerpoint/2010/main" val="19418044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Many protocols are </a:t>
            </a:r>
            <a:r>
              <a:rPr lang="en-US" sz="1200" b="1" i="0" kern="1200" dirty="0">
                <a:solidFill>
                  <a:schemeClr val="tx1"/>
                </a:solidFill>
                <a:effectLst/>
                <a:latin typeface="+mn-lt"/>
                <a:ea typeface="+mn-ea"/>
                <a:cs typeface="+mn-cs"/>
              </a:rPr>
              <a:t>acknowledgement</a:t>
            </a:r>
            <a:r>
              <a:rPr lang="en-US" sz="1200" b="0"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ACK</a:t>
            </a:r>
            <a:r>
              <a:rPr lang="en-US" sz="1200" b="0" i="0" kern="1200" dirty="0">
                <a:solidFill>
                  <a:schemeClr val="tx1"/>
                </a:solidFill>
                <a:effectLst/>
                <a:latin typeface="+mn-lt"/>
                <a:ea typeface="+mn-ea"/>
                <a:cs typeface="+mn-cs"/>
              </a:rPr>
              <a:t>)-based, </a:t>
            </a:r>
            <a:r>
              <a:rPr lang="en-US" sz="1200" b="1" i="0" kern="1200" dirty="0">
                <a:solidFill>
                  <a:schemeClr val="tx1"/>
                </a:solidFill>
                <a:effectLst/>
                <a:latin typeface="+mn-lt"/>
                <a:ea typeface="+mn-ea"/>
                <a:cs typeface="+mn-cs"/>
              </a:rPr>
              <a:t>meaning</a:t>
            </a:r>
            <a:r>
              <a:rPr lang="en-US" sz="1200" b="0" i="0" kern="1200" dirty="0">
                <a:solidFill>
                  <a:schemeClr val="tx1"/>
                </a:solidFill>
                <a:effectLst/>
                <a:latin typeface="+mn-lt"/>
                <a:ea typeface="+mn-ea"/>
                <a:cs typeface="+mn-cs"/>
              </a:rPr>
              <a:t> that they positively acknowledge receipt of messages. </a:t>
            </a:r>
            <a:r>
              <a:rPr lang="en-US" sz="1200" b="0" i="0" kern="1200">
                <a:solidFill>
                  <a:schemeClr val="tx1"/>
                </a:solidFill>
                <a:effectLst/>
                <a:latin typeface="+mn-lt"/>
                <a:ea typeface="+mn-ea"/>
                <a:cs typeface="+mn-cs"/>
              </a:rPr>
              <a:t>The internet's Transmission Control Protocol (</a:t>
            </a:r>
            <a:r>
              <a:rPr lang="en-US" sz="1200" b="1" i="0" kern="1200">
                <a:solidFill>
                  <a:schemeClr val="tx1"/>
                </a:solidFill>
                <a:effectLst/>
                <a:latin typeface="+mn-lt"/>
                <a:ea typeface="+mn-ea"/>
                <a:cs typeface="+mn-cs"/>
              </a:rPr>
              <a:t>TCP</a:t>
            </a:r>
            <a:r>
              <a:rPr lang="en-US" sz="1200" b="0" i="0" kern="1200">
                <a:solidFill>
                  <a:schemeClr val="tx1"/>
                </a:solidFill>
                <a:effectLst/>
                <a:latin typeface="+mn-lt"/>
                <a:ea typeface="+mn-ea"/>
                <a:cs typeface="+mn-cs"/>
              </a:rPr>
              <a:t>) is an example of an </a:t>
            </a:r>
            <a:r>
              <a:rPr lang="en-US" sz="1200" b="1" i="0" kern="1200">
                <a:solidFill>
                  <a:schemeClr val="tx1"/>
                </a:solidFill>
                <a:effectLst/>
                <a:latin typeface="+mn-lt"/>
                <a:ea typeface="+mn-ea"/>
                <a:cs typeface="+mn-cs"/>
              </a:rPr>
              <a:t>ACK</a:t>
            </a:r>
            <a:r>
              <a:rPr lang="en-US" sz="1200" b="0" i="0" kern="1200">
                <a:solidFill>
                  <a:schemeClr val="tx1"/>
                </a:solidFill>
                <a:effectLst/>
                <a:latin typeface="+mn-lt"/>
                <a:ea typeface="+mn-ea"/>
                <a:cs typeface="+mn-cs"/>
              </a:rPr>
              <a:t>-based protocol</a:t>
            </a:r>
            <a:endParaRPr lang="en-US"/>
          </a:p>
        </p:txBody>
      </p:sp>
      <p:sp>
        <p:nvSpPr>
          <p:cNvPr id="4" name="Slide Number Placeholder 3"/>
          <p:cNvSpPr>
            <a:spLocks noGrp="1"/>
          </p:cNvSpPr>
          <p:nvPr>
            <p:ph type="sldNum" sz="quarter" idx="10"/>
          </p:nvPr>
        </p:nvSpPr>
        <p:spPr/>
        <p:txBody>
          <a:bodyPr/>
          <a:lstStyle/>
          <a:p>
            <a:fld id="{E3E8B3F3-22A6-4B41-A4B9-BE2D4702F300}" type="slidenum">
              <a:rPr lang="en-US" smtClean="0"/>
              <a:t>16</a:t>
            </a:fld>
            <a:endParaRPr lang="en-US"/>
          </a:p>
        </p:txBody>
      </p:sp>
    </p:spTree>
    <p:extLst>
      <p:ext uri="{BB962C8B-B14F-4D97-AF65-F5344CB8AC3E}">
        <p14:creationId xmlns:p14="http://schemas.microsoft.com/office/powerpoint/2010/main" val="29525046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a:ln/>
        </p:spPr>
      </p:sp>
      <p:sp>
        <p:nvSpPr>
          <p:cNvPr id="798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 Table shows a simplified example of a ruleset for SMTP traffic. The goal is to</a:t>
            </a:r>
          </a:p>
          <a:p>
            <a:r>
              <a:rPr lang="en-US" altLang="en-US">
                <a:latin typeface="Arial" panose="020B0604020202020204" pitchFamily="34" charset="0"/>
              </a:rPr>
              <a:t>allow inbound and outbound e-mail traffic but to block all other traffic. The rules</a:t>
            </a:r>
          </a:p>
          <a:p>
            <a:r>
              <a:rPr lang="en-US" altLang="en-US">
                <a:latin typeface="Arial" panose="020B0604020202020204" pitchFamily="34" charset="0"/>
              </a:rPr>
              <a:t>are applied top to bottom to each packet.</a:t>
            </a:r>
          </a:p>
          <a:p>
            <a:endParaRPr lang="en-US" altLang="en-US">
              <a:latin typeface="Arial" panose="020B0604020202020204" pitchFamily="34" charset="0"/>
            </a:endParaRPr>
          </a:p>
          <a:p>
            <a:endParaRPr lang="en-US" altLang="en-US">
              <a:latin typeface="Arial" panose="020B0604020202020204" pitchFamily="34" charset="0"/>
            </a:endParaRPr>
          </a:p>
        </p:txBody>
      </p:sp>
      <p:sp>
        <p:nvSpPr>
          <p:cNvPr id="798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ea typeface="MS PGothic" panose="020B0600070205080204" pitchFamily="34" charset="-128"/>
              </a:defRPr>
            </a:lvl1pPr>
            <a:lvl2pPr marL="742950" indent="-285750" eaLnBrk="0" hangingPunct="0">
              <a:spcBef>
                <a:spcPct val="30000"/>
              </a:spcBef>
              <a:defRPr sz="12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9pPr>
          </a:lstStyle>
          <a:p>
            <a:pPr eaLnBrk="1" hangingPunct="1">
              <a:spcBef>
                <a:spcPct val="0"/>
              </a:spcBef>
            </a:pPr>
            <a:fld id="{BD21760A-0F44-40FB-8A08-4C177E77B3F4}" type="slidenum">
              <a:rPr lang="en-AU" altLang="en-US"/>
              <a:pPr eaLnBrk="1" hangingPunct="1">
                <a:spcBef>
                  <a:spcPct val="0"/>
                </a:spcBef>
              </a:pPr>
              <a:t>18</a:t>
            </a:fld>
            <a:endParaRPr lang="en-AU" altLang="en-US"/>
          </a:p>
        </p:txBody>
      </p:sp>
    </p:spTree>
    <p:extLst>
      <p:ext uri="{BB962C8B-B14F-4D97-AF65-F5344CB8AC3E}">
        <p14:creationId xmlns:p14="http://schemas.microsoft.com/office/powerpoint/2010/main" val="3952991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ea typeface="MS PGothic" panose="020B0600070205080204" pitchFamily="34" charset="-128"/>
              </a:defRPr>
            </a:lvl1pPr>
            <a:lvl2pPr marL="742950" indent="-285750" eaLnBrk="0" hangingPunct="0">
              <a:spcBef>
                <a:spcPct val="30000"/>
              </a:spcBef>
              <a:defRPr sz="12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9pPr>
          </a:lstStyle>
          <a:p>
            <a:pPr eaLnBrk="1" hangingPunct="1">
              <a:spcBef>
                <a:spcPct val="0"/>
              </a:spcBef>
            </a:pPr>
            <a:fld id="{5CAE5F7D-0BAF-4A2D-BD21-72A09DABFD2F}" type="slidenum">
              <a:rPr lang="en-AU" altLang="en-US"/>
              <a:pPr eaLnBrk="1" hangingPunct="1">
                <a:spcBef>
                  <a:spcPct val="0"/>
                </a:spcBef>
              </a:pPr>
              <a:t>22</a:t>
            </a:fld>
            <a:endParaRPr lang="en-AU" altLang="en-US"/>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 An application-level gateway, also called an application proxy , acts as a relay of</a:t>
            </a:r>
          </a:p>
          <a:p>
            <a:r>
              <a:rPr lang="en-US" altLang="en-US">
                <a:latin typeface="Arial" panose="020B0604020202020204" pitchFamily="34" charset="0"/>
              </a:rPr>
              <a:t>application-level traffic (Figure 12.1d). The user contacts the gateway using a TCP/</a:t>
            </a:r>
          </a:p>
          <a:p>
            <a:r>
              <a:rPr lang="en-US" altLang="en-US">
                <a:latin typeface="Arial" panose="020B0604020202020204" pitchFamily="34" charset="0"/>
              </a:rPr>
              <a:t>IP application, such as Telnet or FTP, and the gateway asks the user for the name</a:t>
            </a:r>
          </a:p>
          <a:p>
            <a:r>
              <a:rPr lang="en-US" altLang="en-US">
                <a:latin typeface="Arial" panose="020B0604020202020204" pitchFamily="34" charset="0"/>
              </a:rPr>
              <a:t>of the remote host to be accessed. When the user responds and provides a valid</a:t>
            </a:r>
          </a:p>
          <a:p>
            <a:r>
              <a:rPr lang="en-US" altLang="en-US">
                <a:latin typeface="Arial" panose="020B0604020202020204" pitchFamily="34" charset="0"/>
              </a:rPr>
              <a:t>user ID and authentication information, the gateway contacts the application on</a:t>
            </a:r>
          </a:p>
          <a:p>
            <a:r>
              <a:rPr lang="en-US" altLang="en-US">
                <a:latin typeface="Arial" panose="020B0604020202020204" pitchFamily="34" charset="0"/>
              </a:rPr>
              <a:t>the remote host and relays TCP segments containing the application data between</a:t>
            </a:r>
          </a:p>
          <a:p>
            <a:r>
              <a:rPr lang="en-US" altLang="en-US">
                <a:latin typeface="Arial" panose="020B0604020202020204" pitchFamily="34" charset="0"/>
              </a:rPr>
              <a:t>the two endpoints. If the gateway does not implement the proxy code for a specific</a:t>
            </a:r>
          </a:p>
          <a:p>
            <a:r>
              <a:rPr lang="en-US" altLang="en-US">
                <a:latin typeface="Arial" panose="020B0604020202020204" pitchFamily="34" charset="0"/>
              </a:rPr>
              <a:t>application, the service is not supported and cannot be forwarded across the firewall.</a:t>
            </a:r>
          </a:p>
          <a:p>
            <a:r>
              <a:rPr lang="en-US" altLang="en-US">
                <a:latin typeface="Arial" panose="020B0604020202020204" pitchFamily="34" charset="0"/>
              </a:rPr>
              <a:t>Further, the gateway can be configured to support only specific features of an</a:t>
            </a:r>
          </a:p>
          <a:p>
            <a:r>
              <a:rPr lang="en-US" altLang="en-US">
                <a:latin typeface="Arial" panose="020B0604020202020204" pitchFamily="34" charset="0"/>
              </a:rPr>
              <a:t>application that the network administrator considers acceptable while denying all</a:t>
            </a:r>
          </a:p>
          <a:p>
            <a:r>
              <a:rPr lang="en-US" altLang="en-US">
                <a:latin typeface="Arial" panose="020B0604020202020204" pitchFamily="34" charset="0"/>
              </a:rPr>
              <a:t>other features.</a:t>
            </a:r>
          </a:p>
          <a:p>
            <a:endParaRPr lang="en-US" altLang="en-US">
              <a:latin typeface="Arial" panose="020B0604020202020204" pitchFamily="34" charset="0"/>
            </a:endParaRPr>
          </a:p>
          <a:p>
            <a:r>
              <a:rPr lang="en-US" altLang="en-US">
                <a:latin typeface="Arial" panose="020B0604020202020204" pitchFamily="34" charset="0"/>
              </a:rPr>
              <a:t>Application-level gateways tend to be more secure than packet filters. Rather</a:t>
            </a:r>
          </a:p>
          <a:p>
            <a:r>
              <a:rPr lang="en-US" altLang="en-US">
                <a:latin typeface="Arial" panose="020B0604020202020204" pitchFamily="34" charset="0"/>
              </a:rPr>
              <a:t>than trying to deal with the numerous possible combinations that are to be allowed</a:t>
            </a:r>
          </a:p>
          <a:p>
            <a:r>
              <a:rPr lang="en-US" altLang="en-US">
                <a:latin typeface="Arial" panose="020B0604020202020204" pitchFamily="34" charset="0"/>
              </a:rPr>
              <a:t>and forbidden at the TCP and IP level, the application-level gateway need only</a:t>
            </a:r>
          </a:p>
          <a:p>
            <a:r>
              <a:rPr lang="en-US" altLang="en-US">
                <a:latin typeface="Arial" panose="020B0604020202020204" pitchFamily="34" charset="0"/>
              </a:rPr>
              <a:t>scrutinize a few allowable applications. In addition, it is easy to log and audit all</a:t>
            </a:r>
          </a:p>
          <a:p>
            <a:r>
              <a:rPr lang="en-US" altLang="en-US">
                <a:latin typeface="Arial" panose="020B0604020202020204" pitchFamily="34" charset="0"/>
              </a:rPr>
              <a:t>incoming traffic at the application level.</a:t>
            </a:r>
          </a:p>
          <a:p>
            <a:endParaRPr lang="en-US" altLang="en-US">
              <a:latin typeface="Arial" panose="020B0604020202020204" pitchFamily="34" charset="0"/>
            </a:endParaRPr>
          </a:p>
          <a:p>
            <a:r>
              <a:rPr lang="en-US" altLang="en-US">
                <a:latin typeface="Arial" panose="020B0604020202020204" pitchFamily="34" charset="0"/>
              </a:rPr>
              <a:t>A prime disadvantage of this type of gateway is the additional processing</a:t>
            </a:r>
          </a:p>
          <a:p>
            <a:r>
              <a:rPr lang="en-US" altLang="en-US">
                <a:latin typeface="Arial" panose="020B0604020202020204" pitchFamily="34" charset="0"/>
              </a:rPr>
              <a:t>overhead on each connection. In effect, there are two spliced connections between</a:t>
            </a:r>
          </a:p>
          <a:p>
            <a:r>
              <a:rPr lang="en-US" altLang="en-US">
                <a:latin typeface="Arial" panose="020B0604020202020204" pitchFamily="34" charset="0"/>
              </a:rPr>
              <a:t>the end users, with the gateway at the splice point, and the gateway must examine</a:t>
            </a:r>
          </a:p>
          <a:p>
            <a:r>
              <a:rPr lang="en-US" altLang="en-US">
                <a:latin typeface="Arial" panose="020B0604020202020204" pitchFamily="34" charset="0"/>
              </a:rPr>
              <a:t>and forward all traffic in both directions.</a:t>
            </a:r>
          </a:p>
        </p:txBody>
      </p:sp>
    </p:spTree>
    <p:extLst>
      <p:ext uri="{BB962C8B-B14F-4D97-AF65-F5344CB8AC3E}">
        <p14:creationId xmlns:p14="http://schemas.microsoft.com/office/powerpoint/2010/main" val="12315937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ea typeface="MS PGothic" panose="020B0600070205080204" pitchFamily="34" charset="-128"/>
              </a:defRPr>
            </a:lvl1pPr>
            <a:lvl2pPr marL="742950" indent="-285750" eaLnBrk="0" hangingPunct="0">
              <a:spcBef>
                <a:spcPct val="30000"/>
              </a:spcBef>
              <a:defRPr sz="12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9pPr>
          </a:lstStyle>
          <a:p>
            <a:pPr eaLnBrk="1" hangingPunct="1">
              <a:spcBef>
                <a:spcPct val="0"/>
              </a:spcBef>
            </a:pPr>
            <a:fld id="{6F0DEA37-1DFE-480B-97A1-B17C9817FF4C}" type="slidenum">
              <a:rPr lang="en-AU" altLang="en-US"/>
              <a:pPr eaLnBrk="1" hangingPunct="1">
                <a:spcBef>
                  <a:spcPct val="0"/>
                </a:spcBef>
              </a:pPr>
              <a:t>24</a:t>
            </a:fld>
            <a:endParaRPr lang="en-AU" altLang="en-US"/>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 An application-level gateway, also called an application proxy , acts as a relay of</a:t>
            </a:r>
          </a:p>
          <a:p>
            <a:r>
              <a:rPr lang="en-US" altLang="en-US">
                <a:latin typeface="Arial" panose="020B0604020202020204" pitchFamily="34" charset="0"/>
              </a:rPr>
              <a:t>application-level traffic (Figure 12.1d). The user contacts the gateway using a TCP/</a:t>
            </a:r>
          </a:p>
          <a:p>
            <a:r>
              <a:rPr lang="en-US" altLang="en-US">
                <a:latin typeface="Arial" panose="020B0604020202020204" pitchFamily="34" charset="0"/>
              </a:rPr>
              <a:t>IP application, such as Telnet or FTP, and the gateway asks the user for the name</a:t>
            </a:r>
          </a:p>
          <a:p>
            <a:r>
              <a:rPr lang="en-US" altLang="en-US">
                <a:latin typeface="Arial" panose="020B0604020202020204" pitchFamily="34" charset="0"/>
              </a:rPr>
              <a:t>of the remote host to be accessed. When the user responds and provides a valid</a:t>
            </a:r>
          </a:p>
          <a:p>
            <a:r>
              <a:rPr lang="en-US" altLang="en-US">
                <a:latin typeface="Arial" panose="020B0604020202020204" pitchFamily="34" charset="0"/>
              </a:rPr>
              <a:t>user ID and authentication information, the gateway contacts the application on</a:t>
            </a:r>
          </a:p>
          <a:p>
            <a:r>
              <a:rPr lang="en-US" altLang="en-US">
                <a:latin typeface="Arial" panose="020B0604020202020204" pitchFamily="34" charset="0"/>
              </a:rPr>
              <a:t>the remote host and relays TCP segments containing the application data between</a:t>
            </a:r>
          </a:p>
          <a:p>
            <a:r>
              <a:rPr lang="en-US" altLang="en-US">
                <a:latin typeface="Arial" panose="020B0604020202020204" pitchFamily="34" charset="0"/>
              </a:rPr>
              <a:t>the two endpoints. If the gateway does not implement the proxy code for a specific</a:t>
            </a:r>
          </a:p>
          <a:p>
            <a:r>
              <a:rPr lang="en-US" altLang="en-US">
                <a:latin typeface="Arial" panose="020B0604020202020204" pitchFamily="34" charset="0"/>
              </a:rPr>
              <a:t>application, the service is not supported and cannot be forwarded across the firewall.</a:t>
            </a:r>
          </a:p>
          <a:p>
            <a:r>
              <a:rPr lang="en-US" altLang="en-US">
                <a:latin typeface="Arial" panose="020B0604020202020204" pitchFamily="34" charset="0"/>
              </a:rPr>
              <a:t>Further, the gateway can be configured to support only specific features of an</a:t>
            </a:r>
          </a:p>
          <a:p>
            <a:r>
              <a:rPr lang="en-US" altLang="en-US">
                <a:latin typeface="Arial" panose="020B0604020202020204" pitchFamily="34" charset="0"/>
              </a:rPr>
              <a:t>application that the network administrator considers acceptable while denying all</a:t>
            </a:r>
          </a:p>
          <a:p>
            <a:r>
              <a:rPr lang="en-US" altLang="en-US">
                <a:latin typeface="Arial" panose="020B0604020202020204" pitchFamily="34" charset="0"/>
              </a:rPr>
              <a:t>other features.</a:t>
            </a:r>
          </a:p>
          <a:p>
            <a:endParaRPr lang="en-US" altLang="en-US">
              <a:latin typeface="Arial" panose="020B0604020202020204" pitchFamily="34" charset="0"/>
            </a:endParaRPr>
          </a:p>
          <a:p>
            <a:r>
              <a:rPr lang="en-US" altLang="en-US">
                <a:latin typeface="Arial" panose="020B0604020202020204" pitchFamily="34" charset="0"/>
              </a:rPr>
              <a:t>Application-level gateways tend to be more secure than packet filters. Rather</a:t>
            </a:r>
          </a:p>
          <a:p>
            <a:r>
              <a:rPr lang="en-US" altLang="en-US">
                <a:latin typeface="Arial" panose="020B0604020202020204" pitchFamily="34" charset="0"/>
              </a:rPr>
              <a:t>than trying to deal with the numerous possible combinations that are to be allowed</a:t>
            </a:r>
          </a:p>
          <a:p>
            <a:r>
              <a:rPr lang="en-US" altLang="en-US">
                <a:latin typeface="Arial" panose="020B0604020202020204" pitchFamily="34" charset="0"/>
              </a:rPr>
              <a:t>and forbidden at the TCP and IP level, the application-level gateway need only</a:t>
            </a:r>
          </a:p>
          <a:p>
            <a:r>
              <a:rPr lang="en-US" altLang="en-US">
                <a:latin typeface="Arial" panose="020B0604020202020204" pitchFamily="34" charset="0"/>
              </a:rPr>
              <a:t>scrutinize a few allowable applications. In addition, it is easy to log and audit all</a:t>
            </a:r>
          </a:p>
          <a:p>
            <a:r>
              <a:rPr lang="en-US" altLang="en-US">
                <a:latin typeface="Arial" panose="020B0604020202020204" pitchFamily="34" charset="0"/>
              </a:rPr>
              <a:t>incoming traffic at the application level.</a:t>
            </a:r>
          </a:p>
          <a:p>
            <a:endParaRPr lang="en-US" altLang="en-US">
              <a:latin typeface="Arial" panose="020B0604020202020204" pitchFamily="34" charset="0"/>
            </a:endParaRPr>
          </a:p>
          <a:p>
            <a:r>
              <a:rPr lang="en-US" altLang="en-US">
                <a:latin typeface="Arial" panose="020B0604020202020204" pitchFamily="34" charset="0"/>
              </a:rPr>
              <a:t>A prime disadvantage of this type of gateway is the additional processing</a:t>
            </a:r>
          </a:p>
          <a:p>
            <a:r>
              <a:rPr lang="en-US" altLang="en-US">
                <a:latin typeface="Arial" panose="020B0604020202020204" pitchFamily="34" charset="0"/>
              </a:rPr>
              <a:t>overhead on each connection. In effect, there are two spliced connections between</a:t>
            </a:r>
          </a:p>
          <a:p>
            <a:r>
              <a:rPr lang="en-US" altLang="en-US">
                <a:latin typeface="Arial" panose="020B0604020202020204" pitchFamily="34" charset="0"/>
              </a:rPr>
              <a:t>the end users, with the gateway at the splice point, and the gateway must examine</a:t>
            </a:r>
          </a:p>
          <a:p>
            <a:r>
              <a:rPr lang="en-US" altLang="en-US">
                <a:latin typeface="Arial" panose="020B0604020202020204" pitchFamily="34" charset="0"/>
              </a:rPr>
              <a:t>and forward all traffic in both directions.</a:t>
            </a:r>
          </a:p>
        </p:txBody>
      </p:sp>
    </p:spTree>
    <p:extLst>
      <p:ext uri="{BB962C8B-B14F-4D97-AF65-F5344CB8AC3E}">
        <p14:creationId xmlns:p14="http://schemas.microsoft.com/office/powerpoint/2010/main" val="39662799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ea typeface="MS PGothic" panose="020B0600070205080204" pitchFamily="34" charset="-128"/>
              </a:defRPr>
            </a:lvl1pPr>
            <a:lvl2pPr marL="742950" indent="-285750" eaLnBrk="0" hangingPunct="0">
              <a:spcBef>
                <a:spcPct val="30000"/>
              </a:spcBef>
              <a:defRPr sz="12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9pPr>
          </a:lstStyle>
          <a:p>
            <a:pPr eaLnBrk="1" hangingPunct="1">
              <a:spcBef>
                <a:spcPct val="0"/>
              </a:spcBef>
            </a:pPr>
            <a:fld id="{A069D9B3-67D1-47FF-B1A5-89A2762AA689}" type="slidenum">
              <a:rPr lang="en-AU" altLang="en-US"/>
              <a:pPr eaLnBrk="1" hangingPunct="1">
                <a:spcBef>
                  <a:spcPct val="0"/>
                </a:spcBef>
              </a:pPr>
              <a:t>25</a:t>
            </a:fld>
            <a:endParaRPr lang="en-AU" altLang="en-US"/>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xfrm>
            <a:off x="542925" y="4343400"/>
            <a:ext cx="5759450" cy="4341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 A bastion host is a system identified by the firewall administrator as a critical strong</a:t>
            </a:r>
          </a:p>
          <a:p>
            <a:r>
              <a:rPr lang="en-US" altLang="en-US">
                <a:latin typeface="Arial" panose="020B0604020202020204" pitchFamily="34" charset="0"/>
              </a:rPr>
              <a:t>point in the network’s security. Typically, the bastion host serves as a platform for</a:t>
            </a:r>
          </a:p>
          <a:p>
            <a:r>
              <a:rPr lang="en-US" altLang="en-US">
                <a:latin typeface="Arial" panose="020B0604020202020204" pitchFamily="34" charset="0"/>
              </a:rPr>
              <a:t>an application-level or circuit-level gateway. Common characteristics of a bastion</a:t>
            </a:r>
          </a:p>
          <a:p>
            <a:r>
              <a:rPr lang="en-US" altLang="en-US">
                <a:latin typeface="Arial" panose="020B0604020202020204" pitchFamily="34" charset="0"/>
              </a:rPr>
              <a:t>host are as follows:</a:t>
            </a:r>
          </a:p>
          <a:p>
            <a:endParaRPr lang="en-US" altLang="en-US">
              <a:latin typeface="Arial" panose="020B0604020202020204" pitchFamily="34" charset="0"/>
            </a:endParaRPr>
          </a:p>
          <a:p>
            <a:r>
              <a:rPr lang="en-US" altLang="en-US">
                <a:latin typeface="Arial" panose="020B0604020202020204" pitchFamily="34" charset="0"/>
              </a:rPr>
              <a:t>•  The bastion host hardware platform executes a secure version of its operating</a:t>
            </a:r>
          </a:p>
          <a:p>
            <a:r>
              <a:rPr lang="en-US" altLang="en-US">
                <a:latin typeface="Arial" panose="020B0604020202020204" pitchFamily="34" charset="0"/>
              </a:rPr>
              <a:t>system, making it a hardened system.</a:t>
            </a:r>
          </a:p>
          <a:p>
            <a:endParaRPr lang="en-US" altLang="en-US">
              <a:latin typeface="Arial" panose="020B0604020202020204" pitchFamily="34" charset="0"/>
            </a:endParaRPr>
          </a:p>
          <a:p>
            <a:r>
              <a:rPr lang="en-US" altLang="en-US">
                <a:latin typeface="Arial" panose="020B0604020202020204" pitchFamily="34" charset="0"/>
              </a:rPr>
              <a:t>• Only the services that the network administrator considers essential are</a:t>
            </a:r>
          </a:p>
          <a:p>
            <a:r>
              <a:rPr lang="en-US" altLang="en-US">
                <a:latin typeface="Arial" panose="020B0604020202020204" pitchFamily="34" charset="0"/>
              </a:rPr>
              <a:t>installed on the bastion host. These could include proxy applications for DNS,</a:t>
            </a:r>
          </a:p>
          <a:p>
            <a:r>
              <a:rPr lang="en-US" altLang="en-US">
                <a:latin typeface="Arial" panose="020B0604020202020204" pitchFamily="34" charset="0"/>
              </a:rPr>
              <a:t>FTP, HTTP, and SMTP.</a:t>
            </a:r>
          </a:p>
          <a:p>
            <a:endParaRPr lang="en-US" altLang="en-US">
              <a:latin typeface="Arial" panose="020B0604020202020204" pitchFamily="34" charset="0"/>
            </a:endParaRPr>
          </a:p>
          <a:p>
            <a:r>
              <a:rPr lang="en-US" altLang="en-US">
                <a:latin typeface="Arial" panose="020B0604020202020204" pitchFamily="34" charset="0"/>
              </a:rPr>
              <a:t>• The bastion host may require additional authentication before a user is</a:t>
            </a:r>
          </a:p>
          <a:p>
            <a:r>
              <a:rPr lang="en-US" altLang="en-US">
                <a:latin typeface="Arial" panose="020B0604020202020204" pitchFamily="34" charset="0"/>
              </a:rPr>
              <a:t>allowed access to the proxy services. In addition, each proxy service may</a:t>
            </a:r>
          </a:p>
          <a:p>
            <a:r>
              <a:rPr lang="en-US" altLang="en-US">
                <a:latin typeface="Arial" panose="020B0604020202020204" pitchFamily="34" charset="0"/>
              </a:rPr>
              <a:t>require its own authentication before granting user access.</a:t>
            </a:r>
          </a:p>
          <a:p>
            <a:endParaRPr lang="en-US" altLang="en-US">
              <a:latin typeface="Arial" panose="020B0604020202020204" pitchFamily="34" charset="0"/>
            </a:endParaRPr>
          </a:p>
          <a:p>
            <a:r>
              <a:rPr lang="en-US" altLang="en-US">
                <a:latin typeface="Arial" panose="020B0604020202020204" pitchFamily="34" charset="0"/>
              </a:rPr>
              <a:t>• Each proxy is configured to support only a subset of the standard application’s</a:t>
            </a:r>
          </a:p>
          <a:p>
            <a:r>
              <a:rPr lang="en-US" altLang="en-US">
                <a:latin typeface="Arial" panose="020B0604020202020204" pitchFamily="34" charset="0"/>
              </a:rPr>
              <a:t>command set.</a:t>
            </a:r>
          </a:p>
          <a:p>
            <a:endParaRPr lang="en-US" altLang="en-US">
              <a:latin typeface="Arial" panose="020B0604020202020204" pitchFamily="34" charset="0"/>
            </a:endParaRPr>
          </a:p>
          <a:p>
            <a:r>
              <a:rPr lang="en-US" altLang="en-US">
                <a:latin typeface="Arial" panose="020B0604020202020204" pitchFamily="34" charset="0"/>
              </a:rPr>
              <a:t>• Each proxy is configured to allow access only to specific host systems. This</a:t>
            </a:r>
          </a:p>
          <a:p>
            <a:r>
              <a:rPr lang="en-US" altLang="en-US">
                <a:latin typeface="Arial" panose="020B0604020202020204" pitchFamily="34" charset="0"/>
              </a:rPr>
              <a:t>means that the limited command/feature set may be applied only to a subset</a:t>
            </a:r>
          </a:p>
          <a:p>
            <a:r>
              <a:rPr lang="en-US" altLang="en-US">
                <a:latin typeface="Arial" panose="020B0604020202020204" pitchFamily="34" charset="0"/>
              </a:rPr>
              <a:t>of systems on the protected network.</a:t>
            </a:r>
          </a:p>
          <a:p>
            <a:endParaRPr lang="en-US" altLang="en-US">
              <a:latin typeface="Arial" panose="020B0604020202020204" pitchFamily="34" charset="0"/>
            </a:endParaRPr>
          </a:p>
          <a:p>
            <a:r>
              <a:rPr lang="en-US" altLang="en-US">
                <a:latin typeface="Arial" panose="020B0604020202020204" pitchFamily="34" charset="0"/>
              </a:rPr>
              <a:t>• Each proxy maintains detailed audit information by logging all traffic, each</a:t>
            </a:r>
          </a:p>
          <a:p>
            <a:r>
              <a:rPr lang="en-US" altLang="en-US">
                <a:latin typeface="Arial" panose="020B0604020202020204" pitchFamily="34" charset="0"/>
              </a:rPr>
              <a:t>connection, and the duration of each connection. The audit log is an essential</a:t>
            </a:r>
          </a:p>
          <a:p>
            <a:r>
              <a:rPr lang="en-US" altLang="en-US">
                <a:latin typeface="Arial" panose="020B0604020202020204" pitchFamily="34" charset="0"/>
              </a:rPr>
              <a:t>tool for discovering and terminating intruder attacks.</a:t>
            </a:r>
          </a:p>
          <a:p>
            <a:endParaRPr lang="en-US" altLang="en-US">
              <a:latin typeface="Arial" panose="020B0604020202020204" pitchFamily="34" charset="0"/>
            </a:endParaRPr>
          </a:p>
          <a:p>
            <a:r>
              <a:rPr lang="en-US" altLang="en-US">
                <a:latin typeface="Arial" panose="020B0604020202020204" pitchFamily="34" charset="0"/>
              </a:rPr>
              <a:t>• Each proxy module is a very small software package specifically designed for</a:t>
            </a:r>
          </a:p>
          <a:p>
            <a:r>
              <a:rPr lang="en-US" altLang="en-US">
                <a:latin typeface="Arial" panose="020B0604020202020204" pitchFamily="34" charset="0"/>
              </a:rPr>
              <a:t>network security. Because of its relative simplicity, it is easier to check such</a:t>
            </a:r>
          </a:p>
          <a:p>
            <a:r>
              <a:rPr lang="en-US" altLang="en-US">
                <a:latin typeface="Arial" panose="020B0604020202020204" pitchFamily="34" charset="0"/>
              </a:rPr>
              <a:t>modules for security flaws. For example, a typical UNIX mail application may</a:t>
            </a:r>
          </a:p>
          <a:p>
            <a:r>
              <a:rPr lang="en-US" altLang="en-US">
                <a:latin typeface="Arial" panose="020B0604020202020204" pitchFamily="34" charset="0"/>
              </a:rPr>
              <a:t>contain over 20,000 lines of code, while a mail proxy may contain fewer than 1000.</a:t>
            </a:r>
          </a:p>
          <a:p>
            <a:endParaRPr lang="en-US" altLang="en-US">
              <a:latin typeface="Arial" panose="020B0604020202020204" pitchFamily="34" charset="0"/>
            </a:endParaRPr>
          </a:p>
          <a:p>
            <a:r>
              <a:rPr lang="en-US" altLang="en-US">
                <a:latin typeface="Arial" panose="020B0604020202020204" pitchFamily="34" charset="0"/>
              </a:rPr>
              <a:t>• Each proxy is independent of other proxies on the bastion host. If there is a</a:t>
            </a:r>
          </a:p>
          <a:p>
            <a:r>
              <a:rPr lang="en-US" altLang="en-US">
                <a:latin typeface="Arial" panose="020B0604020202020204" pitchFamily="34" charset="0"/>
              </a:rPr>
              <a:t>problem with the operation of any proxy, or if a future vulnerability is discovered,</a:t>
            </a:r>
          </a:p>
          <a:p>
            <a:r>
              <a:rPr lang="en-US" altLang="en-US">
                <a:latin typeface="Arial" panose="020B0604020202020204" pitchFamily="34" charset="0"/>
              </a:rPr>
              <a:t>it can be uninstalled without affecting the operation of the other proxy</a:t>
            </a:r>
          </a:p>
          <a:p>
            <a:r>
              <a:rPr lang="en-US" altLang="en-US">
                <a:latin typeface="Arial" panose="020B0604020202020204" pitchFamily="34" charset="0"/>
              </a:rPr>
              <a:t>applications. Also, if the user population requires support for a new service, the</a:t>
            </a:r>
          </a:p>
          <a:p>
            <a:r>
              <a:rPr lang="en-US" altLang="en-US">
                <a:latin typeface="Arial" panose="020B0604020202020204" pitchFamily="34" charset="0"/>
              </a:rPr>
              <a:t>network administrator can easily install the required proxy on the bastion host.</a:t>
            </a:r>
          </a:p>
          <a:p>
            <a:endParaRPr lang="en-US" altLang="en-US">
              <a:latin typeface="Arial" panose="020B0604020202020204" pitchFamily="34" charset="0"/>
            </a:endParaRPr>
          </a:p>
          <a:p>
            <a:r>
              <a:rPr lang="en-US" altLang="en-US">
                <a:latin typeface="Arial" panose="020B0604020202020204" pitchFamily="34" charset="0"/>
              </a:rPr>
              <a:t>• A proxy generally performs no disk access other than to read its initial configuration</a:t>
            </a:r>
          </a:p>
          <a:p>
            <a:r>
              <a:rPr lang="en-US" altLang="en-US">
                <a:latin typeface="Arial" panose="020B0604020202020204" pitchFamily="34" charset="0"/>
              </a:rPr>
              <a:t>file. Hence, the portions of the file system containing executable code</a:t>
            </a:r>
          </a:p>
          <a:p>
            <a:r>
              <a:rPr lang="en-US" altLang="en-US">
                <a:latin typeface="Arial" panose="020B0604020202020204" pitchFamily="34" charset="0"/>
              </a:rPr>
              <a:t>can be made read only. This makes it difficult for an intruder to install Trojan</a:t>
            </a:r>
          </a:p>
          <a:p>
            <a:r>
              <a:rPr lang="en-US" altLang="en-US">
                <a:latin typeface="Arial" panose="020B0604020202020204" pitchFamily="34" charset="0"/>
              </a:rPr>
              <a:t>horse sniffers or other dangerous files on the bastion host.</a:t>
            </a:r>
          </a:p>
          <a:p>
            <a:endParaRPr lang="en-US" altLang="en-US">
              <a:latin typeface="Arial" panose="020B0604020202020204" pitchFamily="34" charset="0"/>
            </a:endParaRPr>
          </a:p>
          <a:p>
            <a:r>
              <a:rPr lang="en-US" altLang="en-US">
                <a:latin typeface="Arial" panose="020B0604020202020204" pitchFamily="34" charset="0"/>
              </a:rPr>
              <a:t>• Each proxy runs as a nonprivileged user in a private and secured directory on</a:t>
            </a:r>
          </a:p>
          <a:p>
            <a:r>
              <a:rPr lang="en-US" altLang="en-US">
                <a:latin typeface="Arial" panose="020B0604020202020204" pitchFamily="34" charset="0"/>
              </a:rPr>
              <a:t>the bastion host.</a:t>
            </a:r>
          </a:p>
        </p:txBody>
      </p:sp>
    </p:spTree>
    <p:extLst>
      <p:ext uri="{BB962C8B-B14F-4D97-AF65-F5344CB8AC3E}">
        <p14:creationId xmlns:p14="http://schemas.microsoft.com/office/powerpoint/2010/main" val="15004086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a:ln/>
        </p:spPr>
      </p:sp>
      <p:sp>
        <p:nvSpPr>
          <p:cNvPr id="860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 A host-based firewall is a software module used to secure an individual host. Such</a:t>
            </a:r>
          </a:p>
          <a:p>
            <a:r>
              <a:rPr lang="en-US" altLang="en-US">
                <a:latin typeface="Arial" panose="020B0604020202020204" pitchFamily="34" charset="0"/>
              </a:rPr>
              <a:t>modules are available in many operating systems or can be provided as an add-on</a:t>
            </a:r>
          </a:p>
          <a:p>
            <a:r>
              <a:rPr lang="en-US" altLang="en-US">
                <a:latin typeface="Arial" panose="020B0604020202020204" pitchFamily="34" charset="0"/>
              </a:rPr>
              <a:t>package. Like conventional stand-alone firewalls, host-resident firewalls filter and</a:t>
            </a:r>
          </a:p>
          <a:p>
            <a:r>
              <a:rPr lang="en-US" altLang="en-US">
                <a:latin typeface="Arial" panose="020B0604020202020204" pitchFamily="34" charset="0"/>
              </a:rPr>
              <a:t>restrict the flow of packets. A common location for such firewalls is a server. There</a:t>
            </a:r>
          </a:p>
          <a:p>
            <a:r>
              <a:rPr lang="en-US" altLang="en-US">
                <a:latin typeface="Arial" panose="020B0604020202020204" pitchFamily="34" charset="0"/>
              </a:rPr>
              <a:t>are several advantages to the use of a server-based or workstation-based firewall:</a:t>
            </a:r>
          </a:p>
          <a:p>
            <a:endParaRPr lang="en-US" altLang="en-US">
              <a:latin typeface="Arial" panose="020B0604020202020204" pitchFamily="34" charset="0"/>
            </a:endParaRPr>
          </a:p>
          <a:p>
            <a:r>
              <a:rPr lang="en-US" altLang="en-US">
                <a:latin typeface="Arial" panose="020B0604020202020204" pitchFamily="34" charset="0"/>
              </a:rPr>
              <a:t>•  Filtering rules can be tailored to the host environment. Specific corporate security</a:t>
            </a:r>
          </a:p>
          <a:p>
            <a:r>
              <a:rPr lang="en-US" altLang="en-US">
                <a:latin typeface="Arial" panose="020B0604020202020204" pitchFamily="34" charset="0"/>
              </a:rPr>
              <a:t>policies for servers can be implemented, with different filters for servers</a:t>
            </a:r>
          </a:p>
          <a:p>
            <a:r>
              <a:rPr lang="en-US" altLang="en-US">
                <a:latin typeface="Arial" panose="020B0604020202020204" pitchFamily="34" charset="0"/>
              </a:rPr>
              <a:t>used for different application.</a:t>
            </a:r>
          </a:p>
          <a:p>
            <a:endParaRPr lang="en-US" altLang="en-US">
              <a:latin typeface="Arial" panose="020B0604020202020204" pitchFamily="34" charset="0"/>
            </a:endParaRPr>
          </a:p>
          <a:p>
            <a:r>
              <a:rPr lang="en-US" altLang="en-US">
                <a:latin typeface="Arial" panose="020B0604020202020204" pitchFamily="34" charset="0"/>
              </a:rPr>
              <a:t>•  Protection is provided independent of topology. Thus both internal and external</a:t>
            </a:r>
          </a:p>
          <a:p>
            <a:r>
              <a:rPr lang="en-US" altLang="en-US">
                <a:latin typeface="Arial" panose="020B0604020202020204" pitchFamily="34" charset="0"/>
              </a:rPr>
              <a:t>attacks must pass through the firewall.</a:t>
            </a:r>
          </a:p>
          <a:p>
            <a:endParaRPr lang="en-US" altLang="en-US">
              <a:latin typeface="Arial" panose="020B0604020202020204" pitchFamily="34" charset="0"/>
            </a:endParaRPr>
          </a:p>
          <a:p>
            <a:r>
              <a:rPr lang="en-US" altLang="en-US">
                <a:latin typeface="Arial" panose="020B0604020202020204" pitchFamily="34" charset="0"/>
              </a:rPr>
              <a:t>•  Used in conjunction with stand-alone firewalls, the host-based firewall provides</a:t>
            </a:r>
          </a:p>
          <a:p>
            <a:r>
              <a:rPr lang="en-US" altLang="en-US">
                <a:latin typeface="Arial" panose="020B0604020202020204" pitchFamily="34" charset="0"/>
              </a:rPr>
              <a:t>an additional layer of protection. A new type of server can be added to</a:t>
            </a:r>
          </a:p>
          <a:p>
            <a:r>
              <a:rPr lang="en-US" altLang="en-US">
                <a:latin typeface="Arial" panose="020B0604020202020204" pitchFamily="34" charset="0"/>
              </a:rPr>
              <a:t>the network, with its own firewall, without the necessity of altering the network</a:t>
            </a:r>
          </a:p>
          <a:p>
            <a:r>
              <a:rPr lang="en-US" altLang="en-US">
                <a:latin typeface="Arial" panose="020B0604020202020204" pitchFamily="34" charset="0"/>
              </a:rPr>
              <a:t>firewall configuration.</a:t>
            </a:r>
          </a:p>
          <a:p>
            <a:endParaRPr lang="en-US" altLang="en-US">
              <a:latin typeface="Arial" panose="020B0604020202020204" pitchFamily="34" charset="0"/>
            </a:endParaRPr>
          </a:p>
        </p:txBody>
      </p:sp>
      <p:sp>
        <p:nvSpPr>
          <p:cNvPr id="860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ea typeface="MS PGothic" panose="020B0600070205080204" pitchFamily="34" charset="-128"/>
              </a:defRPr>
            </a:lvl1pPr>
            <a:lvl2pPr marL="742950" indent="-285750" eaLnBrk="0" hangingPunct="0">
              <a:spcBef>
                <a:spcPct val="30000"/>
              </a:spcBef>
              <a:defRPr sz="12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9pPr>
          </a:lstStyle>
          <a:p>
            <a:pPr eaLnBrk="1" hangingPunct="1">
              <a:spcBef>
                <a:spcPct val="0"/>
              </a:spcBef>
            </a:pPr>
            <a:fld id="{54DDD7FC-3179-4207-B44F-70F28BCD7932}" type="slidenum">
              <a:rPr lang="en-AU" altLang="en-US"/>
              <a:pPr eaLnBrk="1" hangingPunct="1">
                <a:spcBef>
                  <a:spcPct val="0"/>
                </a:spcBef>
              </a:pPr>
              <a:t>26</a:t>
            </a:fld>
            <a:endParaRPr lang="en-AU" altLang="en-US"/>
          </a:p>
        </p:txBody>
      </p:sp>
    </p:spTree>
    <p:extLst>
      <p:ext uri="{BB962C8B-B14F-4D97-AF65-F5344CB8AC3E}">
        <p14:creationId xmlns:p14="http://schemas.microsoft.com/office/powerpoint/2010/main" val="34679171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a:ln/>
        </p:spPr>
      </p:sp>
      <p:sp>
        <p:nvSpPr>
          <p:cNvPr id="870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 A personal firewall controls the traffic between a personal computer or workstation</a:t>
            </a:r>
          </a:p>
          <a:p>
            <a:r>
              <a:rPr lang="en-US" altLang="en-US">
                <a:latin typeface="Arial" panose="020B0604020202020204" pitchFamily="34" charset="0"/>
              </a:rPr>
              <a:t>on one side and the Internet or enterprise network on the other side. Personal firewall</a:t>
            </a:r>
          </a:p>
          <a:p>
            <a:r>
              <a:rPr lang="en-US" altLang="en-US">
                <a:latin typeface="Arial" panose="020B0604020202020204" pitchFamily="34" charset="0"/>
              </a:rPr>
              <a:t>functionality can be used in the home environment and on corporate intranets.</a:t>
            </a:r>
          </a:p>
          <a:p>
            <a:r>
              <a:rPr lang="en-US" altLang="en-US">
                <a:latin typeface="Arial" panose="020B0604020202020204" pitchFamily="34" charset="0"/>
              </a:rPr>
              <a:t>Typically, the personal firewall is a software module on the personal computer. In</a:t>
            </a:r>
          </a:p>
          <a:p>
            <a:r>
              <a:rPr lang="en-US" altLang="en-US">
                <a:latin typeface="Arial" panose="020B0604020202020204" pitchFamily="34" charset="0"/>
              </a:rPr>
              <a:t>a home environment with multiple computers connected to the Internet, firewall</a:t>
            </a:r>
          </a:p>
          <a:p>
            <a:r>
              <a:rPr lang="en-US" altLang="en-US">
                <a:latin typeface="Arial" panose="020B0604020202020204" pitchFamily="34" charset="0"/>
              </a:rPr>
              <a:t>functionality can also be housed in a router that connects all of the home computers</a:t>
            </a:r>
          </a:p>
          <a:p>
            <a:r>
              <a:rPr lang="en-US" altLang="en-US">
                <a:latin typeface="Arial" panose="020B0604020202020204" pitchFamily="34" charset="0"/>
              </a:rPr>
              <a:t>to a DSL, cable modem, or other Internet interface.</a:t>
            </a:r>
          </a:p>
          <a:p>
            <a:endParaRPr lang="en-US" altLang="en-US">
              <a:latin typeface="Arial" panose="020B0604020202020204" pitchFamily="34" charset="0"/>
            </a:endParaRPr>
          </a:p>
          <a:p>
            <a:r>
              <a:rPr lang="en-US" altLang="en-US">
                <a:latin typeface="Arial" panose="020B0604020202020204" pitchFamily="34" charset="0"/>
              </a:rPr>
              <a:t>Personal firewalls are typically much less complex than either server-based</a:t>
            </a:r>
          </a:p>
          <a:p>
            <a:r>
              <a:rPr lang="en-US" altLang="en-US">
                <a:latin typeface="Arial" panose="020B0604020202020204" pitchFamily="34" charset="0"/>
              </a:rPr>
              <a:t>firewalls or stand-alone firewalls. The primary role of the personal firewall is to</a:t>
            </a:r>
          </a:p>
          <a:p>
            <a:r>
              <a:rPr lang="en-US" altLang="en-US">
                <a:latin typeface="Arial" panose="020B0604020202020204" pitchFamily="34" charset="0"/>
              </a:rPr>
              <a:t>deny unauthorized remote access to the computer. The firewall can also monitor</a:t>
            </a:r>
          </a:p>
          <a:p>
            <a:r>
              <a:rPr lang="en-US" altLang="en-US">
                <a:latin typeface="Arial" panose="020B0604020202020204" pitchFamily="34" charset="0"/>
              </a:rPr>
              <a:t>outgoing activity in an attempt to detect and block worms and other malware.</a:t>
            </a:r>
          </a:p>
        </p:txBody>
      </p:sp>
      <p:sp>
        <p:nvSpPr>
          <p:cNvPr id="870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ea typeface="MS PGothic" panose="020B0600070205080204" pitchFamily="34" charset="-128"/>
              </a:defRPr>
            </a:lvl1pPr>
            <a:lvl2pPr marL="742950" indent="-285750" eaLnBrk="0" hangingPunct="0">
              <a:spcBef>
                <a:spcPct val="30000"/>
              </a:spcBef>
              <a:defRPr sz="12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9pPr>
          </a:lstStyle>
          <a:p>
            <a:pPr eaLnBrk="1" hangingPunct="1">
              <a:spcBef>
                <a:spcPct val="0"/>
              </a:spcBef>
            </a:pPr>
            <a:fld id="{FC629793-F8CC-410E-8410-76109AF25209}" type="slidenum">
              <a:rPr lang="en-AU" altLang="en-US"/>
              <a:pPr eaLnBrk="1" hangingPunct="1">
                <a:spcBef>
                  <a:spcPct val="0"/>
                </a:spcBef>
              </a:pPr>
              <a:t>27</a:t>
            </a:fld>
            <a:endParaRPr lang="en-AU" altLang="en-US"/>
          </a:p>
        </p:txBody>
      </p:sp>
    </p:spTree>
    <p:extLst>
      <p:ext uri="{BB962C8B-B14F-4D97-AF65-F5344CB8AC3E}">
        <p14:creationId xmlns:p14="http://schemas.microsoft.com/office/powerpoint/2010/main" val="3365766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a:ln/>
        </p:spPr>
      </p:sp>
      <p:sp>
        <p:nvSpPr>
          <p:cNvPr id="880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 An example of a personal firewall is the capability built in to the Mac OS X</a:t>
            </a:r>
          </a:p>
          <a:p>
            <a:r>
              <a:rPr lang="en-US" altLang="en-US">
                <a:latin typeface="Arial" panose="020B0604020202020204" pitchFamily="34" charset="0"/>
              </a:rPr>
              <a:t>operating system. This relatively simple utility can be turned on or off. If it is turned</a:t>
            </a:r>
          </a:p>
          <a:p>
            <a:r>
              <a:rPr lang="en-US" altLang="en-US">
                <a:latin typeface="Arial" panose="020B0604020202020204" pitchFamily="34" charset="0"/>
              </a:rPr>
              <a:t>on, any applications, programs, and services unauthorized by the system won’t be</a:t>
            </a:r>
          </a:p>
          <a:p>
            <a:r>
              <a:rPr lang="en-US" altLang="en-US">
                <a:latin typeface="Arial" panose="020B0604020202020204" pitchFamily="34" charset="0"/>
              </a:rPr>
              <a:t>allowed to automatically accept incoming network traffic. Any active sharing services,</a:t>
            </a:r>
          </a:p>
          <a:p>
            <a:r>
              <a:rPr lang="en-US" altLang="en-US">
                <a:latin typeface="Arial" panose="020B0604020202020204" pitchFamily="34" charset="0"/>
              </a:rPr>
              <a:t>such as file or printer sharing, are unaffected. In addition, there are three</a:t>
            </a:r>
          </a:p>
          <a:p>
            <a:r>
              <a:rPr lang="en-US" altLang="en-US">
                <a:latin typeface="Arial" panose="020B0604020202020204" pitchFamily="34" charset="0"/>
              </a:rPr>
              <a:t>options available to the user, as shown in Figure 12.2. “Block all incoming connections”</a:t>
            </a:r>
          </a:p>
          <a:p>
            <a:r>
              <a:rPr lang="en-US" altLang="en-US">
                <a:latin typeface="Arial" panose="020B0604020202020204" pitchFamily="34" charset="0"/>
              </a:rPr>
              <a:t>blocks all sharing services while allowing basic Internet connections. If this option</a:t>
            </a:r>
          </a:p>
          <a:p>
            <a:r>
              <a:rPr lang="en-US" altLang="en-US">
                <a:latin typeface="Arial" panose="020B0604020202020204" pitchFamily="34" charset="0"/>
              </a:rPr>
              <a:t>is unchecked, then the window below that option lists individual programs and</a:t>
            </a:r>
          </a:p>
          <a:p>
            <a:r>
              <a:rPr lang="en-US" altLang="en-US">
                <a:latin typeface="Arial" panose="020B0604020202020204" pitchFamily="34" charset="0"/>
              </a:rPr>
              <a:t> services. Above the horizontal line in the window, features of OS X itself are listed.</a:t>
            </a:r>
          </a:p>
          <a:p>
            <a:r>
              <a:rPr lang="en-US" altLang="en-US">
                <a:latin typeface="Arial" panose="020B0604020202020204" pitchFamily="34" charset="0"/>
              </a:rPr>
              <a:t>These are features selected by the user in another window. The user can add applications</a:t>
            </a:r>
          </a:p>
          <a:p>
            <a:r>
              <a:rPr lang="en-US" altLang="en-US">
                <a:latin typeface="Arial" panose="020B0604020202020204" pitchFamily="34" charset="0"/>
              </a:rPr>
              <a:t>to a list displayed below the line and designate each as blocked or unblocked.</a:t>
            </a:r>
          </a:p>
          <a:p>
            <a:endParaRPr lang="en-US" altLang="en-US">
              <a:latin typeface="Arial" panose="020B0604020202020204" pitchFamily="34" charset="0"/>
            </a:endParaRPr>
          </a:p>
          <a:p>
            <a:r>
              <a:rPr lang="en-US" altLang="en-US">
                <a:latin typeface="Arial" panose="020B0604020202020204" pitchFamily="34" charset="0"/>
              </a:rPr>
              <a:t>The firewall also allows the user to enable a feature that allows software</a:t>
            </a:r>
          </a:p>
          <a:p>
            <a:r>
              <a:rPr lang="en-US" altLang="en-US">
                <a:latin typeface="Arial" panose="020B0604020202020204" pitchFamily="34" charset="0"/>
              </a:rPr>
              <a:t>signed by a valid certificate authority to provide services accessed from the network.</a:t>
            </a:r>
          </a:p>
          <a:p>
            <a:r>
              <a:rPr lang="en-US" altLang="en-US">
                <a:latin typeface="Arial" panose="020B0604020202020204" pitchFamily="34" charset="0"/>
              </a:rPr>
              <a:t>Stealth mode hides the Mac on the Internet by dropping unsolicited communication</a:t>
            </a:r>
          </a:p>
          <a:p>
            <a:r>
              <a:rPr lang="en-US" altLang="en-US">
                <a:latin typeface="Arial" panose="020B0604020202020204" pitchFamily="34" charset="0"/>
              </a:rPr>
              <a:t>packets, making it appear as though no Mac is present.</a:t>
            </a:r>
          </a:p>
        </p:txBody>
      </p:sp>
      <p:sp>
        <p:nvSpPr>
          <p:cNvPr id="880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ea typeface="MS PGothic" panose="020B0600070205080204" pitchFamily="34" charset="-128"/>
              </a:defRPr>
            </a:lvl1pPr>
            <a:lvl2pPr marL="742950" indent="-285750" eaLnBrk="0" hangingPunct="0">
              <a:spcBef>
                <a:spcPct val="30000"/>
              </a:spcBef>
              <a:defRPr sz="12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9pPr>
          </a:lstStyle>
          <a:p>
            <a:pPr eaLnBrk="1" hangingPunct="1">
              <a:spcBef>
                <a:spcPct val="0"/>
              </a:spcBef>
            </a:pPr>
            <a:fld id="{767CFDCA-3210-493F-8EBF-9BDBE7C18A87}" type="slidenum">
              <a:rPr lang="en-AU" altLang="en-US"/>
              <a:pPr eaLnBrk="1" hangingPunct="1">
                <a:spcBef>
                  <a:spcPct val="0"/>
                </a:spcBef>
              </a:pPr>
              <a:t>28</a:t>
            </a:fld>
            <a:endParaRPr lang="en-AU" altLang="en-US"/>
          </a:p>
        </p:txBody>
      </p:sp>
    </p:spTree>
    <p:extLst>
      <p:ext uri="{BB962C8B-B14F-4D97-AF65-F5344CB8AC3E}">
        <p14:creationId xmlns:p14="http://schemas.microsoft.com/office/powerpoint/2010/main" val="37840897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Image Placeholder 1"/>
          <p:cNvSpPr>
            <a:spLocks noGrp="1" noRot="1" noChangeAspect="1" noTextEdit="1"/>
          </p:cNvSpPr>
          <p:nvPr>
            <p:ph type="sldImg"/>
          </p:nvPr>
        </p:nvSpPr>
        <p:spPr>
          <a:ln/>
        </p:spPr>
      </p:sp>
      <p:sp>
        <p:nvSpPr>
          <p:cNvPr id="22530"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ヒラギノ角ゴ Pro W3" charset="-128"/>
            </a:endParaRPr>
          </a:p>
        </p:txBody>
      </p:sp>
      <p:sp>
        <p:nvSpPr>
          <p:cNvPr id="22531"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defRPr sz="2400">
                <a:solidFill>
                  <a:schemeClr val="tx1"/>
                </a:solidFill>
                <a:latin typeface="Arial" panose="020B0604020202020204" pitchFamily="34" charset="0"/>
                <a:ea typeface="ヒラギノ角ゴ Pro W3" charset="-128"/>
              </a:defRPr>
            </a:lvl1pPr>
            <a:lvl2pPr marL="742950" indent="-285750" defTabSz="942975" eaLnBrk="0" hangingPunct="0">
              <a:defRPr sz="2400">
                <a:solidFill>
                  <a:schemeClr val="tx1"/>
                </a:solidFill>
                <a:latin typeface="Arial" panose="020B0604020202020204" pitchFamily="34" charset="0"/>
                <a:ea typeface="ヒラギノ角ゴ Pro W3" charset="-128"/>
              </a:defRPr>
            </a:lvl2pPr>
            <a:lvl3pPr marL="1143000" indent="-228600" defTabSz="942975" eaLnBrk="0" hangingPunct="0">
              <a:defRPr sz="2400">
                <a:solidFill>
                  <a:schemeClr val="tx1"/>
                </a:solidFill>
                <a:latin typeface="Arial" panose="020B0604020202020204" pitchFamily="34" charset="0"/>
                <a:ea typeface="ヒラギノ角ゴ Pro W3" charset="-128"/>
              </a:defRPr>
            </a:lvl3pPr>
            <a:lvl4pPr marL="1600200" indent="-228600" defTabSz="942975" eaLnBrk="0" hangingPunct="0">
              <a:defRPr sz="2400">
                <a:solidFill>
                  <a:schemeClr val="tx1"/>
                </a:solidFill>
                <a:latin typeface="Arial" panose="020B0604020202020204" pitchFamily="34" charset="0"/>
                <a:ea typeface="ヒラギノ角ゴ Pro W3" charset="-128"/>
              </a:defRPr>
            </a:lvl4pPr>
            <a:lvl5pPr marL="2057400" indent="-228600" defTabSz="942975" eaLnBrk="0" hangingPunct="0">
              <a:defRPr sz="2400">
                <a:solidFill>
                  <a:schemeClr val="tx1"/>
                </a:solidFill>
                <a:latin typeface="Arial" panose="020B0604020202020204" pitchFamily="34" charset="0"/>
                <a:ea typeface="ヒラギノ角ゴ Pro W3" charset="-128"/>
              </a:defRPr>
            </a:lvl5pPr>
            <a:lvl6pPr marL="2514600" indent="-228600"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6pPr>
            <a:lvl7pPr marL="2971800" indent="-228600"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7pPr>
            <a:lvl8pPr marL="3429000" indent="-228600"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8pPr>
            <a:lvl9pPr marL="3886200" indent="-228600"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9pPr>
          </a:lstStyle>
          <a:p>
            <a:pPr eaLnBrk="1" hangingPunct="1"/>
            <a:fld id="{EDECCA2D-6288-44E3-8A22-3521058D2376}" type="slidenum">
              <a:rPr lang="en-US" altLang="en-US" sz="1200">
                <a:solidFill>
                  <a:srgbClr val="000000"/>
                </a:solidFill>
                <a:latin typeface="Calibri" panose="020F0502020204030204" pitchFamily="34" charset="0"/>
                <a:ea typeface="MS PGothic" panose="020B0600070205080204" pitchFamily="34" charset="-128"/>
              </a:rPr>
              <a:pPr eaLnBrk="1" hangingPunct="1"/>
              <a:t>31</a:t>
            </a:fld>
            <a:endParaRPr lang="en-US" altLang="en-US" sz="1200">
              <a:solidFill>
                <a:srgbClr val="000000"/>
              </a:solidFill>
              <a:latin typeface="Calibri" panose="020F0502020204030204" pitchFamily="34" charset="0"/>
              <a:ea typeface="MS PGothic" panose="020B0600070205080204" pitchFamily="34" charset="-128"/>
            </a:endParaRPr>
          </a:p>
        </p:txBody>
      </p:sp>
    </p:spTree>
    <p:extLst>
      <p:ext uri="{BB962C8B-B14F-4D97-AF65-F5344CB8AC3E}">
        <p14:creationId xmlns:p14="http://schemas.microsoft.com/office/powerpoint/2010/main" val="3611153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a:xfrm>
            <a:off x="685800" y="4343400"/>
            <a:ext cx="5486400" cy="4341813"/>
          </a:xfrm>
        </p:spPr>
        <p:txBody>
          <a:bodyPr>
            <a:normAutofit fontScale="92500" lnSpcReduction="20000"/>
          </a:bodyPr>
          <a:lstStyle/>
          <a:p>
            <a:pPr>
              <a:defRPr/>
            </a:pPr>
            <a:r>
              <a:rPr lang="en-US" dirty="0">
                <a:ea typeface="ＭＳ Ｐゴシック" pitchFamily="-107" charset="-128"/>
              </a:rPr>
              <a:t>Figure 12.3 suggests the most common distinction, that between an internal and an</a:t>
            </a:r>
          </a:p>
          <a:p>
            <a:pPr>
              <a:defRPr/>
            </a:pPr>
            <a:r>
              <a:rPr lang="en-US" dirty="0">
                <a:ea typeface="ＭＳ Ｐゴシック" pitchFamily="-107" charset="-128"/>
              </a:rPr>
              <a:t>external firewall. An external firewall is placed at the edge of a local or enterprise network,</a:t>
            </a:r>
          </a:p>
          <a:p>
            <a:pPr>
              <a:defRPr/>
            </a:pPr>
            <a:r>
              <a:rPr lang="en-US" dirty="0">
                <a:ea typeface="ＭＳ Ｐゴシック" pitchFamily="-107" charset="-128"/>
              </a:rPr>
              <a:t>just inside the boundary router that connects to the Internet or some wide area</a:t>
            </a:r>
          </a:p>
          <a:p>
            <a:pPr>
              <a:defRPr/>
            </a:pPr>
            <a:r>
              <a:rPr lang="en-US" dirty="0">
                <a:ea typeface="ＭＳ Ｐゴシック" pitchFamily="-107" charset="-128"/>
              </a:rPr>
              <a:t>network (WAN). One or more internal firewalls protect the bulk of the enterprise</a:t>
            </a:r>
          </a:p>
          <a:p>
            <a:pPr>
              <a:defRPr/>
            </a:pPr>
            <a:r>
              <a:rPr lang="en-US" dirty="0">
                <a:ea typeface="ＭＳ Ｐゴシック" pitchFamily="-107" charset="-128"/>
              </a:rPr>
              <a:t>network. Between these two types of firewalls are one or more networked devices in a</a:t>
            </a:r>
          </a:p>
          <a:p>
            <a:pPr>
              <a:defRPr/>
            </a:pPr>
            <a:r>
              <a:rPr lang="en-US" dirty="0">
                <a:ea typeface="ＭＳ Ｐゴシック" pitchFamily="-107" charset="-128"/>
              </a:rPr>
              <a:t>region referred to as a DMZ (demilitarized zone) network. Systems that are externally</a:t>
            </a:r>
          </a:p>
          <a:p>
            <a:pPr>
              <a:defRPr/>
            </a:pPr>
            <a:r>
              <a:rPr lang="en-US" dirty="0">
                <a:ea typeface="ＭＳ Ｐゴシック" pitchFamily="-107" charset="-128"/>
              </a:rPr>
              <a:t>accessible but need some protections are usually located on DMZ networks.</a:t>
            </a:r>
          </a:p>
          <a:p>
            <a:pPr>
              <a:defRPr/>
            </a:pPr>
            <a:r>
              <a:rPr lang="en-US" dirty="0">
                <a:ea typeface="ＭＳ Ｐゴシック" pitchFamily="-107" charset="-128"/>
              </a:rPr>
              <a:t>Typically, the systems in the DMZ require or foster external connectivity, such as a corporate</a:t>
            </a:r>
          </a:p>
          <a:p>
            <a:pPr>
              <a:defRPr/>
            </a:pPr>
            <a:r>
              <a:rPr lang="en-US" dirty="0">
                <a:ea typeface="ＭＳ Ｐゴシック" pitchFamily="-107" charset="-128"/>
              </a:rPr>
              <a:t>Web site, an e-mail server, or a DNS (domain name system) server.</a:t>
            </a:r>
          </a:p>
          <a:p>
            <a:pPr>
              <a:defRPr/>
            </a:pPr>
            <a:endParaRPr lang="en-US" dirty="0">
              <a:ea typeface="ＭＳ Ｐゴシック" pitchFamily="-107" charset="-128"/>
            </a:endParaRPr>
          </a:p>
          <a:p>
            <a:pPr>
              <a:defRPr/>
            </a:pPr>
            <a:r>
              <a:rPr lang="en-US" dirty="0">
                <a:ea typeface="ＭＳ Ｐゴシック" pitchFamily="-107" charset="-128"/>
              </a:rPr>
              <a:t>The external firewall provides a measure of access control and protection for</a:t>
            </a:r>
          </a:p>
          <a:p>
            <a:pPr>
              <a:defRPr/>
            </a:pPr>
            <a:r>
              <a:rPr lang="en-US" dirty="0">
                <a:ea typeface="ＭＳ Ｐゴシック" pitchFamily="-107" charset="-128"/>
              </a:rPr>
              <a:t>the DMZ systems consistent with their need for external connectivity. The external</a:t>
            </a:r>
          </a:p>
          <a:p>
            <a:pPr>
              <a:defRPr/>
            </a:pPr>
            <a:r>
              <a:rPr lang="en-US" dirty="0">
                <a:ea typeface="ＭＳ Ｐゴシック" pitchFamily="-107" charset="-128"/>
              </a:rPr>
              <a:t>firewall also provides a basic level of protection for the remainder of the enterprise</a:t>
            </a:r>
          </a:p>
          <a:p>
            <a:pPr>
              <a:defRPr/>
            </a:pPr>
            <a:r>
              <a:rPr lang="en-US" dirty="0">
                <a:ea typeface="ＭＳ Ｐゴシック" pitchFamily="-107" charset="-128"/>
              </a:rPr>
              <a:t>network. In this type of configuration, internal firewalls serve three purposes:</a:t>
            </a:r>
          </a:p>
          <a:p>
            <a:pPr marL="228600" indent="-228600">
              <a:buFontTx/>
              <a:buAutoNum type="arabicPeriod"/>
              <a:defRPr/>
            </a:pPr>
            <a:endParaRPr lang="en-US" dirty="0">
              <a:ea typeface="ＭＳ Ｐゴシック" pitchFamily="-107" charset="-128"/>
            </a:endParaRPr>
          </a:p>
          <a:p>
            <a:pPr marL="228600" indent="-228600">
              <a:buFontTx/>
              <a:buAutoNum type="arabicPeriod"/>
              <a:defRPr/>
            </a:pPr>
            <a:r>
              <a:rPr lang="en-US" dirty="0">
                <a:ea typeface="ＭＳ Ｐゴシック" pitchFamily="-107" charset="-128"/>
              </a:rPr>
              <a:t>The internal firewall adds more stringent filtering capability, compared to t</a:t>
            </a:r>
          </a:p>
          <a:p>
            <a:pPr>
              <a:defRPr/>
            </a:pPr>
            <a:endParaRPr lang="en-US" dirty="0">
              <a:ea typeface="ＭＳ Ｐゴシック" pitchFamily="-107" charset="-128"/>
            </a:endParaRPr>
          </a:p>
          <a:p>
            <a:pPr>
              <a:defRPr/>
            </a:pPr>
            <a:r>
              <a:rPr lang="en-US" dirty="0">
                <a:ea typeface="ＭＳ Ｐゴシック" pitchFamily="-107" charset="-128"/>
              </a:rPr>
              <a:t>2.  The internal firewall provides two-way protection with respect to the DMZ.</a:t>
            </a:r>
          </a:p>
          <a:p>
            <a:pPr>
              <a:defRPr/>
            </a:pPr>
            <a:r>
              <a:rPr lang="en-US" dirty="0">
                <a:ea typeface="ＭＳ Ｐゴシック" pitchFamily="-107" charset="-128"/>
              </a:rPr>
              <a:t>First, the internal firewall protects the remainder of the network from</a:t>
            </a:r>
          </a:p>
          <a:p>
            <a:pPr>
              <a:defRPr/>
            </a:pPr>
            <a:r>
              <a:rPr lang="en-US" dirty="0">
                <a:ea typeface="ＭＳ Ｐゴシック" pitchFamily="-107" charset="-128"/>
              </a:rPr>
              <a:t>attacks launched from DMZ systems. Such attacks might originate from worms,</a:t>
            </a:r>
          </a:p>
          <a:p>
            <a:pPr>
              <a:defRPr/>
            </a:pPr>
            <a:r>
              <a:rPr lang="en-US" dirty="0">
                <a:ea typeface="ＭＳ Ｐゴシック" pitchFamily="-107" charset="-128"/>
              </a:rPr>
              <a:t>rootkits, bots, or other malware lodged in a DMZ system. Second, an internal</a:t>
            </a:r>
          </a:p>
          <a:p>
            <a:pPr>
              <a:defRPr/>
            </a:pPr>
            <a:r>
              <a:rPr lang="en-US" dirty="0">
                <a:ea typeface="ＭＳ Ｐゴシック" pitchFamily="-107" charset="-128"/>
              </a:rPr>
              <a:t>firewall can protect the DMZ systems from attack from the internal</a:t>
            </a:r>
          </a:p>
          <a:p>
            <a:pPr>
              <a:defRPr/>
            </a:pPr>
            <a:r>
              <a:rPr lang="en-US" dirty="0">
                <a:ea typeface="ＭＳ Ｐゴシック" pitchFamily="-107" charset="-128"/>
              </a:rPr>
              <a:t>protected network.</a:t>
            </a:r>
          </a:p>
          <a:p>
            <a:pPr>
              <a:defRPr/>
            </a:pPr>
            <a:endParaRPr lang="en-US" dirty="0">
              <a:ea typeface="ＭＳ Ｐゴシック" pitchFamily="-107" charset="-128"/>
            </a:endParaRPr>
          </a:p>
          <a:p>
            <a:pPr>
              <a:defRPr/>
            </a:pPr>
            <a:r>
              <a:rPr lang="en-US" dirty="0">
                <a:ea typeface="ＭＳ Ｐゴシック" pitchFamily="-107" charset="-128"/>
              </a:rPr>
              <a:t>3.  Multiple internal firewalls can be used to protect portions of the internal</a:t>
            </a:r>
          </a:p>
          <a:p>
            <a:pPr>
              <a:defRPr/>
            </a:pPr>
            <a:r>
              <a:rPr lang="en-US" dirty="0">
                <a:ea typeface="ＭＳ Ｐゴシック" pitchFamily="-107" charset="-128"/>
              </a:rPr>
              <a:t>network from each other. For example, firewalls can be configured so that</a:t>
            </a:r>
          </a:p>
          <a:p>
            <a:pPr>
              <a:defRPr/>
            </a:pPr>
            <a:r>
              <a:rPr lang="en-US" dirty="0">
                <a:ea typeface="ＭＳ Ｐゴシック" pitchFamily="-107" charset="-128"/>
              </a:rPr>
              <a:t>internal servers are protected from internal workstations and vice versa.</a:t>
            </a:r>
          </a:p>
          <a:p>
            <a:pPr>
              <a:defRPr/>
            </a:pPr>
            <a:r>
              <a:rPr lang="en-US" dirty="0">
                <a:ea typeface="ＭＳ Ｐゴシック" pitchFamily="-107" charset="-128"/>
              </a:rPr>
              <a:t>A common practice is to place the DMZ on a different network interface on</a:t>
            </a:r>
          </a:p>
          <a:p>
            <a:pPr>
              <a:defRPr/>
            </a:pPr>
            <a:r>
              <a:rPr lang="en-US" dirty="0">
                <a:ea typeface="ＭＳ Ｐゴシック" pitchFamily="-107" charset="-128"/>
              </a:rPr>
              <a:t>the external firewall from that used to access the internal networks.</a:t>
            </a:r>
          </a:p>
        </p:txBody>
      </p:sp>
      <p:sp>
        <p:nvSpPr>
          <p:cNvPr id="890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ea typeface="MS PGothic" panose="020B0600070205080204" pitchFamily="34" charset="-128"/>
              </a:defRPr>
            </a:lvl1pPr>
            <a:lvl2pPr marL="742950" indent="-285750" eaLnBrk="0" hangingPunct="0">
              <a:spcBef>
                <a:spcPct val="30000"/>
              </a:spcBef>
              <a:defRPr sz="12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9pPr>
          </a:lstStyle>
          <a:p>
            <a:pPr eaLnBrk="1" hangingPunct="1">
              <a:spcBef>
                <a:spcPct val="0"/>
              </a:spcBef>
            </a:pPr>
            <a:fld id="{5BEE4899-8886-4879-9449-3FB2DD1C366B}" type="slidenum">
              <a:rPr lang="en-AU" altLang="en-US"/>
              <a:pPr eaLnBrk="1" hangingPunct="1">
                <a:spcBef>
                  <a:spcPct val="0"/>
                </a:spcBef>
              </a:pPr>
              <a:t>32</a:t>
            </a:fld>
            <a:endParaRPr lang="en-AU" altLang="en-US"/>
          </a:p>
        </p:txBody>
      </p:sp>
    </p:spTree>
    <p:extLst>
      <p:ext uri="{BB962C8B-B14F-4D97-AF65-F5344CB8AC3E}">
        <p14:creationId xmlns:p14="http://schemas.microsoft.com/office/powerpoint/2010/main" val="34868850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p:cNvSpPr>
            <a:spLocks noGrp="1" noRot="1" noChangeAspect="1" noTextEdit="1"/>
          </p:cNvSpPr>
          <p:nvPr>
            <p:ph type="sldImg"/>
          </p:nvPr>
        </p:nvSpPr>
        <p:spPr>
          <a:ln/>
        </p:spPr>
      </p:sp>
      <p:sp>
        <p:nvSpPr>
          <p:cNvPr id="901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 A distributed firewall configuration involves stand-alone firewall devices plus</a:t>
            </a:r>
          </a:p>
          <a:p>
            <a:r>
              <a:rPr lang="en-US" altLang="en-US">
                <a:latin typeface="Arial" panose="020B0604020202020204" pitchFamily="34" charset="0"/>
              </a:rPr>
              <a:t>host-based firewalls working together under a central administrative control.</a:t>
            </a:r>
          </a:p>
          <a:p>
            <a:r>
              <a:rPr lang="en-US" altLang="en-US">
                <a:latin typeface="Arial" panose="020B0604020202020204" pitchFamily="34" charset="0"/>
              </a:rPr>
              <a:t>Figure 12.5 suggests a distributed firewall configuration. Administrators can configure</a:t>
            </a:r>
          </a:p>
          <a:p>
            <a:r>
              <a:rPr lang="en-US" altLang="en-US">
                <a:latin typeface="Arial" panose="020B0604020202020204" pitchFamily="34" charset="0"/>
              </a:rPr>
              <a:t>host-resident firewalls on hundreds of servers and workstations as well as</a:t>
            </a:r>
          </a:p>
          <a:p>
            <a:r>
              <a:rPr lang="en-US" altLang="en-US">
                <a:latin typeface="Arial" panose="020B0604020202020204" pitchFamily="34" charset="0"/>
              </a:rPr>
              <a:t>configure personal firewalls on local and remote user systems. Tools let the network</a:t>
            </a:r>
          </a:p>
          <a:p>
            <a:r>
              <a:rPr lang="en-US" altLang="en-US">
                <a:latin typeface="Arial" panose="020B0604020202020204" pitchFamily="34" charset="0"/>
              </a:rPr>
              <a:t>administrator set policies and monitor security across the entire network. These</a:t>
            </a:r>
          </a:p>
          <a:p>
            <a:r>
              <a:rPr lang="en-US" altLang="en-US">
                <a:latin typeface="Arial" panose="020B0604020202020204" pitchFamily="34" charset="0"/>
              </a:rPr>
              <a:t>firewalls protect against internal attacks and provide protection tailored to specific</a:t>
            </a:r>
          </a:p>
          <a:p>
            <a:r>
              <a:rPr lang="en-US" altLang="en-US">
                <a:latin typeface="Arial" panose="020B0604020202020204" pitchFamily="34" charset="0"/>
              </a:rPr>
              <a:t>machines and applications. Stand-alone firewalls provide global protection, including</a:t>
            </a:r>
          </a:p>
          <a:p>
            <a:r>
              <a:rPr lang="en-US" altLang="en-US">
                <a:latin typeface="Arial" panose="020B0604020202020204" pitchFamily="34" charset="0"/>
              </a:rPr>
              <a:t>internal firewalls and an external firewall, as discussed previously.</a:t>
            </a:r>
          </a:p>
          <a:p>
            <a:endParaRPr lang="en-US" altLang="en-US">
              <a:latin typeface="Arial" panose="020B0604020202020204" pitchFamily="34" charset="0"/>
            </a:endParaRPr>
          </a:p>
          <a:p>
            <a:r>
              <a:rPr lang="en-US" altLang="en-US">
                <a:latin typeface="Arial" panose="020B0604020202020204" pitchFamily="34" charset="0"/>
              </a:rPr>
              <a:t>With distributed firewalls, it may make sense to establish both an internal</a:t>
            </a:r>
          </a:p>
          <a:p>
            <a:r>
              <a:rPr lang="en-US" altLang="en-US">
                <a:latin typeface="Arial" panose="020B0604020202020204" pitchFamily="34" charset="0"/>
              </a:rPr>
              <a:t>and an external DMZ. Web servers that need less protection because they have</a:t>
            </a:r>
          </a:p>
          <a:p>
            <a:r>
              <a:rPr lang="en-US" altLang="en-US">
                <a:latin typeface="Arial" panose="020B0604020202020204" pitchFamily="34" charset="0"/>
              </a:rPr>
              <a:t>less critical information on them could be placed in an external DMZ, outside the</a:t>
            </a:r>
          </a:p>
          <a:p>
            <a:r>
              <a:rPr lang="en-US" altLang="en-US">
                <a:latin typeface="Arial" panose="020B0604020202020204" pitchFamily="34" charset="0"/>
              </a:rPr>
              <a:t>external firewall. What protection is needed is provided by host-based firewalls on</a:t>
            </a:r>
          </a:p>
          <a:p>
            <a:r>
              <a:rPr lang="en-US" altLang="en-US">
                <a:latin typeface="Arial" panose="020B0604020202020204" pitchFamily="34" charset="0"/>
              </a:rPr>
              <a:t>these servers.</a:t>
            </a:r>
          </a:p>
          <a:p>
            <a:endParaRPr lang="en-US" altLang="en-US">
              <a:latin typeface="Arial" panose="020B0604020202020204" pitchFamily="34" charset="0"/>
            </a:endParaRPr>
          </a:p>
          <a:p>
            <a:r>
              <a:rPr lang="en-US" altLang="en-US">
                <a:latin typeface="Arial" panose="020B0604020202020204" pitchFamily="34" charset="0"/>
              </a:rPr>
              <a:t>An important aspect of a distributed firewall configuration is security</a:t>
            </a:r>
          </a:p>
          <a:p>
            <a:r>
              <a:rPr lang="en-US" altLang="en-US">
                <a:latin typeface="Arial" panose="020B0604020202020204" pitchFamily="34" charset="0"/>
              </a:rPr>
              <a:t>monitoring. Such monitoring typically includes log aggregation and analysis, firewall</a:t>
            </a:r>
          </a:p>
          <a:p>
            <a:r>
              <a:rPr lang="en-US" altLang="en-US">
                <a:latin typeface="Arial" panose="020B0604020202020204" pitchFamily="34" charset="0"/>
              </a:rPr>
              <a:t>statistics, and fine-grained remote monitoring of individual hosts if needed.</a:t>
            </a:r>
          </a:p>
        </p:txBody>
      </p:sp>
      <p:sp>
        <p:nvSpPr>
          <p:cNvPr id="901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ea typeface="MS PGothic" panose="020B0600070205080204" pitchFamily="34" charset="-128"/>
              </a:defRPr>
            </a:lvl1pPr>
            <a:lvl2pPr marL="742950" indent="-285750" eaLnBrk="0" hangingPunct="0">
              <a:spcBef>
                <a:spcPct val="30000"/>
              </a:spcBef>
              <a:defRPr sz="12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9pPr>
          </a:lstStyle>
          <a:p>
            <a:pPr eaLnBrk="1" hangingPunct="1">
              <a:spcBef>
                <a:spcPct val="0"/>
              </a:spcBef>
            </a:pPr>
            <a:fld id="{74DFB815-FDD3-4C5B-A08B-38163307F064}" type="slidenum">
              <a:rPr lang="en-AU" altLang="en-US"/>
              <a:pPr eaLnBrk="1" hangingPunct="1">
                <a:spcBef>
                  <a:spcPct val="0"/>
                </a:spcBef>
              </a:pPr>
              <a:t>35</a:t>
            </a:fld>
            <a:endParaRPr lang="en-AU" altLang="en-US"/>
          </a:p>
        </p:txBody>
      </p:sp>
    </p:spTree>
    <p:extLst>
      <p:ext uri="{BB962C8B-B14F-4D97-AF65-F5344CB8AC3E}">
        <p14:creationId xmlns:p14="http://schemas.microsoft.com/office/powerpoint/2010/main" val="18712596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p:cNvSpPr/>
          <p:nvPr/>
        </p:nvSpPr>
        <p:spPr>
          <a:xfrm>
            <a:off x="4250268" y="268289"/>
            <a:ext cx="7558617" cy="390048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5" name="Rectangle 4"/>
          <p:cNvSpPr/>
          <p:nvPr/>
        </p:nvSpPr>
        <p:spPr>
          <a:xfrm>
            <a:off x="357718" y="268288"/>
            <a:ext cx="245533" cy="3886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ctrTitle"/>
          </p:nvPr>
        </p:nvSpPr>
        <p:spPr>
          <a:xfrm>
            <a:off x="4267200" y="4208929"/>
            <a:ext cx="7278624" cy="1048684"/>
          </a:xfrm>
        </p:spPr>
        <p:txBody>
          <a:bodyPr rtlCol="0">
            <a:normAutofit/>
          </a:bodyPr>
          <a:lstStyle>
            <a:lvl1pPr algn="l" defTabSz="914400" rtl="0" eaLnBrk="1" latinLnBrk="0" hangingPunct="1">
              <a:spcBef>
                <a:spcPct val="0"/>
              </a:spcBef>
              <a:buNone/>
              <a:defRPr sz="4600"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4267200" y="5257800"/>
            <a:ext cx="7278624" cy="621792"/>
          </a:xfrm>
        </p:spPr>
        <p:txBody>
          <a:bodyPr rtlCol="0">
            <a:normAutofit/>
          </a:bodyPr>
          <a:lstStyle>
            <a:lvl1pPr marL="0" indent="0" algn="l" defTabSz="914400" rtl="0" eaLnBrk="1" latinLnBrk="0" hangingPunct="1">
              <a:spcBef>
                <a:spcPts val="0"/>
              </a:spcBef>
              <a:buClr>
                <a:schemeClr val="accent1"/>
              </a:buClr>
              <a:buSzPct val="100000"/>
              <a:buFont typeface="Wingdings 2" pitchFamily="18" charset="2"/>
              <a:buNone/>
              <a:defRPr sz="1600" kern="1200">
                <a:solidFill>
                  <a:schemeClr val="tx2"/>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6" name="Date Placeholder 3"/>
          <p:cNvSpPr>
            <a:spLocks noGrp="1"/>
          </p:cNvSpPr>
          <p:nvPr>
            <p:ph type="dt" sz="half" idx="10"/>
          </p:nvPr>
        </p:nvSpPr>
        <p:spPr>
          <a:xfrm>
            <a:off x="4368800" y="390526"/>
            <a:ext cx="7340600" cy="365125"/>
          </a:xfrm>
        </p:spPr>
        <p:txBody>
          <a:bodyPr/>
          <a:lstStyle>
            <a:lvl1pPr marL="0" algn="r" defTabSz="914400" rtl="0" eaLnBrk="1" latinLnBrk="0" hangingPunct="1">
              <a:defRPr sz="2200" b="0" kern="1200" baseline="0">
                <a:solidFill>
                  <a:schemeClr val="bg1"/>
                </a:solidFill>
                <a:latin typeface="+mn-lt"/>
                <a:ea typeface="+mn-ea"/>
                <a:cs typeface="+mn-cs"/>
              </a:defRPr>
            </a:lvl1pPr>
          </a:lstStyle>
          <a:p>
            <a:pPr>
              <a:defRPr/>
            </a:pPr>
            <a:endParaRPr lang="en-US"/>
          </a:p>
        </p:txBody>
      </p:sp>
      <p:sp>
        <p:nvSpPr>
          <p:cNvPr id="7" name="Footer Placeholder 4"/>
          <p:cNvSpPr>
            <a:spLocks noGrp="1"/>
          </p:cNvSpPr>
          <p:nvPr>
            <p:ph type="ftr" sz="quarter" idx="11"/>
          </p:nvPr>
        </p:nvSpPr>
        <p:spPr>
          <a:xfrm>
            <a:off x="4292601" y="6356351"/>
            <a:ext cx="6314017" cy="365125"/>
          </a:xfrm>
        </p:spPr>
        <p:txBody>
          <a:bodyPr/>
          <a:lstStyle>
            <a:lvl1pPr marL="0" algn="l" defTabSz="914400" rtl="0" eaLnBrk="1" latinLnBrk="0" hangingPunct="1">
              <a:defRPr sz="1100" b="1" kern="1200">
                <a:solidFill>
                  <a:schemeClr val="tx2">
                    <a:lumMod val="60000"/>
                    <a:lumOff val="40000"/>
                  </a:schemeClr>
                </a:solidFill>
                <a:latin typeface="+mn-lt"/>
                <a:ea typeface="+mn-ea"/>
                <a:cs typeface="+mn-cs"/>
              </a:defRPr>
            </a:lvl1pPr>
          </a:lstStyle>
          <a:p>
            <a:pPr>
              <a:defRPr/>
            </a:pPr>
            <a:endParaRPr lang="en-US"/>
          </a:p>
        </p:txBody>
      </p:sp>
      <p:sp>
        <p:nvSpPr>
          <p:cNvPr id="8" name="Slide Number Placeholder 5"/>
          <p:cNvSpPr>
            <a:spLocks noGrp="1"/>
          </p:cNvSpPr>
          <p:nvPr>
            <p:ph type="sldNum" sz="quarter" idx="12"/>
          </p:nvPr>
        </p:nvSpPr>
        <p:spPr>
          <a:xfrm>
            <a:off x="11008784" y="6356351"/>
            <a:ext cx="914400" cy="365125"/>
          </a:xfrm>
        </p:spPr>
        <p:txBody>
          <a:bodyPr/>
          <a:lstStyle>
            <a:lvl1pPr>
              <a:defRPr sz="1100">
                <a:solidFill>
                  <a:srgbClr val="858585"/>
                </a:solidFill>
                <a:latin typeface="Century Gothic" panose="020B0502020202020204" pitchFamily="34" charset="0"/>
              </a:defRPr>
            </a:lvl1pPr>
          </a:lstStyle>
          <a:p>
            <a:fld id="{DAD9BD65-3A52-4785-9CEA-23DDB0A7F001}" type="slidenum">
              <a:rPr lang="en-US" altLang="en-US"/>
              <a:pPr/>
              <a:t>‹#›</a:t>
            </a:fld>
            <a:endParaRPr lang="en-US" altLang="en-US"/>
          </a:p>
        </p:txBody>
      </p:sp>
    </p:spTree>
    <p:extLst>
      <p:ext uri="{BB962C8B-B14F-4D97-AF65-F5344CB8AC3E}">
        <p14:creationId xmlns:p14="http://schemas.microsoft.com/office/powerpoint/2010/main" val="41623580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p:cNvSpPr/>
          <p:nvPr/>
        </p:nvSpPr>
        <p:spPr>
          <a:xfrm>
            <a:off x="10416118" y="44451"/>
            <a:ext cx="1631949" cy="12239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title"/>
          </p:nvPr>
        </p:nvSpPr>
        <p:spPr>
          <a:xfrm>
            <a:off x="609600" y="914400"/>
            <a:ext cx="9518848" cy="1143000"/>
          </a:xfrm>
        </p:spPr>
        <p:txBody>
          <a:bodyPr/>
          <a:lstStyle>
            <a:lvl1pPr>
              <a:defRPr sz="4000" b="1"/>
            </a:lvl1pPr>
          </a:lstStyle>
          <a:p>
            <a:r>
              <a:rPr lang="en-US" dirty="0"/>
              <a:t>Click to edit Master title style</a:t>
            </a:r>
            <a:endParaRPr dirty="0"/>
          </a:p>
        </p:txBody>
      </p:sp>
      <p:sp>
        <p:nvSpPr>
          <p:cNvPr id="3" name="Content Placeholder 2"/>
          <p:cNvSpPr>
            <a:spLocks noGrp="1"/>
          </p:cNvSpPr>
          <p:nvPr>
            <p:ph idx="1"/>
          </p:nvPr>
        </p:nvSpPr>
        <p:spPr>
          <a:xfrm>
            <a:off x="623392" y="2204865"/>
            <a:ext cx="11041227" cy="3916363"/>
          </a:xfrm>
        </p:spPr>
        <p:txBody>
          <a:bodyPr/>
          <a:lstStyle>
            <a:lvl1pPr>
              <a:defRPr sz="2400">
                <a:solidFill>
                  <a:schemeClr val="tx1"/>
                </a:solidFill>
                <a:latin typeface="Adobe Caslon Pro" pitchFamily="18" charset="0"/>
              </a:defRPr>
            </a:lvl1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Date Placeholder 3"/>
          <p:cNvSpPr>
            <a:spLocks noGrp="1"/>
          </p:cNvSpPr>
          <p:nvPr>
            <p:ph type="dt" sz="half" idx="10"/>
          </p:nvPr>
        </p:nvSpPr>
        <p:spPr>
          <a:xfrm>
            <a:off x="9616017" y="6356351"/>
            <a:ext cx="2336800" cy="365125"/>
          </a:xfrm>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7EE40F6F-493F-4869-BCA7-FB23B7D2463E}" type="slidenum">
              <a:rPr lang="en-US" altLang="en-US"/>
              <a:pPr/>
              <a:t>‹#›</a:t>
            </a:fld>
            <a:endParaRPr lang="en-US" altLang="en-US"/>
          </a:p>
        </p:txBody>
      </p:sp>
    </p:spTree>
    <p:extLst>
      <p:ext uri="{BB962C8B-B14F-4D97-AF65-F5344CB8AC3E}">
        <p14:creationId xmlns:p14="http://schemas.microsoft.com/office/powerpoint/2010/main" val="1249764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5" name="Rectangle 4"/>
          <p:cNvSpPr/>
          <p:nvPr/>
        </p:nvSpPr>
        <p:spPr>
          <a:xfrm>
            <a:off x="4250268" y="268289"/>
            <a:ext cx="7558617" cy="25606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6" name="Rectangle 5"/>
          <p:cNvSpPr/>
          <p:nvPr/>
        </p:nvSpPr>
        <p:spPr>
          <a:xfrm>
            <a:off x="357718" y="268288"/>
            <a:ext cx="245533" cy="3886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ctrTitle"/>
          </p:nvPr>
        </p:nvSpPr>
        <p:spPr>
          <a:xfrm>
            <a:off x="4267200" y="4171950"/>
            <a:ext cx="7277225" cy="1085850"/>
          </a:xfrm>
        </p:spPr>
        <p:txBody>
          <a:bodyPr>
            <a:normAutofit/>
          </a:bodyPr>
          <a:lstStyle>
            <a:lvl1pPr>
              <a:defRPr sz="4600"/>
            </a:lvl1pPr>
          </a:lstStyle>
          <a:p>
            <a:r>
              <a:rPr lang="en-US"/>
              <a:t>Click to edit Master title style</a:t>
            </a:r>
            <a:endParaRPr/>
          </a:p>
        </p:txBody>
      </p:sp>
      <p:sp>
        <p:nvSpPr>
          <p:cNvPr id="3" name="Subtitle 2"/>
          <p:cNvSpPr>
            <a:spLocks noGrp="1"/>
          </p:cNvSpPr>
          <p:nvPr>
            <p:ph type="subTitle" idx="1"/>
          </p:nvPr>
        </p:nvSpPr>
        <p:spPr>
          <a:xfrm>
            <a:off x="4267201" y="5257800"/>
            <a:ext cx="7277224" cy="618565"/>
          </a:xfrm>
        </p:spPr>
        <p:txBody>
          <a:bodyPr>
            <a:normAutofit/>
          </a:bodyPr>
          <a:lstStyle>
            <a:lvl1pPr marL="0" indent="0" algn="l">
              <a:spcBef>
                <a:spcPct val="0"/>
              </a:spcBef>
              <a:buNone/>
              <a:defRPr sz="1600">
                <a:solidFill>
                  <a:schemeClr val="tx2"/>
                </a:solidFill>
              </a:defRPr>
            </a:lvl1pPr>
            <a:lvl2pPr marL="457200" indent="0" algn="ctr">
              <a:spcBef>
                <a:spcPct val="0"/>
              </a:spcBef>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9" name="Picture Placeholder 8"/>
          <p:cNvSpPr>
            <a:spLocks noGrp="1"/>
          </p:cNvSpPr>
          <p:nvPr>
            <p:ph type="pic" sz="quarter" idx="13"/>
          </p:nvPr>
        </p:nvSpPr>
        <p:spPr>
          <a:xfrm>
            <a:off x="4267201" y="2877671"/>
            <a:ext cx="7529156" cy="1280160"/>
          </a:xfrm>
        </p:spPr>
        <p:txBody>
          <a:bodyPr rtlCol="0">
            <a:normAutofit/>
          </a:bodyPr>
          <a:lstStyle>
            <a:lvl1pPr>
              <a:buNone/>
              <a:defRPr/>
            </a:lvl1pPr>
          </a:lstStyle>
          <a:p>
            <a:pPr lvl="0"/>
            <a:r>
              <a:rPr lang="en-US" noProof="0"/>
              <a:t>Drag picture to placeholder or click icon to add</a:t>
            </a:r>
            <a:endParaRPr noProof="0"/>
          </a:p>
        </p:txBody>
      </p:sp>
      <p:sp>
        <p:nvSpPr>
          <p:cNvPr id="7" name="Date Placeholder 3"/>
          <p:cNvSpPr>
            <a:spLocks noGrp="1"/>
          </p:cNvSpPr>
          <p:nvPr>
            <p:ph type="dt" sz="half" idx="14"/>
          </p:nvPr>
        </p:nvSpPr>
        <p:spPr>
          <a:xfrm>
            <a:off x="4368800" y="390526"/>
            <a:ext cx="7332133" cy="365125"/>
          </a:xfrm>
        </p:spPr>
        <p:txBody>
          <a:bodyPr/>
          <a:lstStyle>
            <a:lvl1pPr>
              <a:defRPr sz="2200" b="0" baseline="0">
                <a:solidFill>
                  <a:schemeClr val="bg1"/>
                </a:solidFill>
              </a:defRPr>
            </a:lvl1pPr>
          </a:lstStyle>
          <a:p>
            <a:pPr>
              <a:defRPr/>
            </a:pPr>
            <a:endParaRPr lang="en-US"/>
          </a:p>
        </p:txBody>
      </p:sp>
      <p:sp>
        <p:nvSpPr>
          <p:cNvPr id="8" name="Footer Placeholder 4"/>
          <p:cNvSpPr>
            <a:spLocks noGrp="1"/>
          </p:cNvSpPr>
          <p:nvPr>
            <p:ph type="ftr" sz="quarter" idx="15"/>
          </p:nvPr>
        </p:nvSpPr>
        <p:spPr>
          <a:xfrm>
            <a:off x="4284134" y="6356351"/>
            <a:ext cx="6314017" cy="365125"/>
          </a:xfrm>
        </p:spPr>
        <p:txBody>
          <a:bodyPr/>
          <a:lstStyle>
            <a:lvl1pPr>
              <a:defRPr/>
            </a:lvl1pPr>
          </a:lstStyle>
          <a:p>
            <a:pPr>
              <a:defRPr/>
            </a:pPr>
            <a:endParaRPr lang="en-US"/>
          </a:p>
        </p:txBody>
      </p:sp>
      <p:sp>
        <p:nvSpPr>
          <p:cNvPr id="10" name="Slide Number Placeholder 5"/>
          <p:cNvSpPr>
            <a:spLocks noGrp="1"/>
          </p:cNvSpPr>
          <p:nvPr>
            <p:ph type="sldNum" sz="quarter" idx="16"/>
          </p:nvPr>
        </p:nvSpPr>
        <p:spPr>
          <a:xfrm>
            <a:off x="11021484" y="6356351"/>
            <a:ext cx="914400" cy="365125"/>
          </a:xfrm>
        </p:spPr>
        <p:txBody>
          <a:bodyPr/>
          <a:lstStyle>
            <a:lvl1pPr>
              <a:defRPr sz="1100">
                <a:solidFill>
                  <a:srgbClr val="858585"/>
                </a:solidFill>
                <a:latin typeface="Century Gothic" panose="020B0502020202020204" pitchFamily="34" charset="0"/>
              </a:defRPr>
            </a:lvl1pPr>
          </a:lstStyle>
          <a:p>
            <a:fld id="{33651444-B057-4FDC-9799-80261E5777F8}" type="slidenum">
              <a:rPr lang="en-US" altLang="en-US"/>
              <a:pPr/>
              <a:t>‹#›</a:t>
            </a:fld>
            <a:endParaRPr lang="en-US" altLang="en-US"/>
          </a:p>
        </p:txBody>
      </p:sp>
    </p:spTree>
    <p:extLst>
      <p:ext uri="{BB962C8B-B14F-4D97-AF65-F5344CB8AC3E}">
        <p14:creationId xmlns:p14="http://schemas.microsoft.com/office/powerpoint/2010/main" val="15880608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Content, and Picture">
    <p:spTree>
      <p:nvGrpSpPr>
        <p:cNvPr id="1" name=""/>
        <p:cNvGrpSpPr/>
        <p:nvPr/>
      </p:nvGrpSpPr>
      <p:grpSpPr>
        <a:xfrm>
          <a:off x="0" y="0"/>
          <a:ext cx="0" cy="0"/>
          <a:chOff x="0" y="0"/>
          <a:chExt cx="0" cy="0"/>
        </a:xfrm>
      </p:grpSpPr>
      <p:sp>
        <p:nvSpPr>
          <p:cNvPr id="5" name="Rectangle 4"/>
          <p:cNvSpPr/>
          <p:nvPr/>
        </p:nvSpPr>
        <p:spPr>
          <a:xfrm>
            <a:off x="359833" y="268289"/>
            <a:ext cx="2194984" cy="16462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title"/>
          </p:nvPr>
        </p:nvSpPr>
        <p:spPr>
          <a:xfrm>
            <a:off x="2904565" y="914400"/>
            <a:ext cx="8677836" cy="1143000"/>
          </a:xfrm>
        </p:spPr>
        <p:txBody>
          <a:bodyPr/>
          <a:lstStyle/>
          <a:p>
            <a:r>
              <a:rPr lang="en-US"/>
              <a:t>Click to edit Master title style</a:t>
            </a:r>
            <a:endParaRPr/>
          </a:p>
        </p:txBody>
      </p:sp>
      <p:sp>
        <p:nvSpPr>
          <p:cNvPr id="3" name="Content Placeholder 2"/>
          <p:cNvSpPr>
            <a:spLocks noGrp="1"/>
          </p:cNvSpPr>
          <p:nvPr>
            <p:ph idx="1"/>
          </p:nvPr>
        </p:nvSpPr>
        <p:spPr>
          <a:xfrm>
            <a:off x="2904565" y="2209801"/>
            <a:ext cx="8677836" cy="3916363"/>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9" name="Picture Placeholder 8"/>
          <p:cNvSpPr>
            <a:spLocks noGrp="1"/>
          </p:cNvSpPr>
          <p:nvPr>
            <p:ph type="pic" sz="quarter" idx="13"/>
          </p:nvPr>
        </p:nvSpPr>
        <p:spPr>
          <a:xfrm>
            <a:off x="359833" y="1976718"/>
            <a:ext cx="2194560" cy="4625788"/>
          </a:xfrm>
        </p:spPr>
        <p:txBody>
          <a:bodyPr rtlCol="0">
            <a:normAutofit/>
          </a:bodyPr>
          <a:lstStyle>
            <a:lvl1pPr>
              <a:buNone/>
              <a:defRPr/>
            </a:lvl1pPr>
          </a:lstStyle>
          <a:p>
            <a:pPr lvl="0"/>
            <a:r>
              <a:rPr lang="en-US" noProof="0"/>
              <a:t>Drag picture to placeholder or click icon to add</a:t>
            </a:r>
            <a:endParaRPr noProof="0"/>
          </a:p>
        </p:txBody>
      </p:sp>
      <p:sp>
        <p:nvSpPr>
          <p:cNvPr id="6" name="Date Placeholder 3"/>
          <p:cNvSpPr>
            <a:spLocks noGrp="1"/>
          </p:cNvSpPr>
          <p:nvPr>
            <p:ph type="dt" sz="half" idx="14"/>
          </p:nvPr>
        </p:nvSpPr>
        <p:spPr>
          <a:xfrm>
            <a:off x="9616017" y="6356351"/>
            <a:ext cx="2336800" cy="365125"/>
          </a:xfrm>
        </p:spPr>
        <p:txBody>
          <a:bodyPr/>
          <a:lstStyle>
            <a:lvl1pPr>
              <a:defRPr/>
            </a:lvl1pPr>
          </a:lstStyle>
          <a:p>
            <a:pPr>
              <a:defRPr/>
            </a:pPr>
            <a:endParaRPr lang="en-US"/>
          </a:p>
        </p:txBody>
      </p:sp>
      <p:sp>
        <p:nvSpPr>
          <p:cNvPr id="7" name="Footer Placeholder 4"/>
          <p:cNvSpPr>
            <a:spLocks noGrp="1"/>
          </p:cNvSpPr>
          <p:nvPr>
            <p:ph type="ftr" sz="quarter" idx="15"/>
          </p:nvPr>
        </p:nvSpPr>
        <p:spPr>
          <a:xfrm>
            <a:off x="2904067" y="6356351"/>
            <a:ext cx="6570133" cy="365125"/>
          </a:xfrm>
        </p:spPr>
        <p:txBody>
          <a:bodyPr/>
          <a:lstStyle>
            <a:lvl1pPr>
              <a:defRPr/>
            </a:lvl1pPr>
          </a:lstStyle>
          <a:p>
            <a:pPr>
              <a:defRPr/>
            </a:pPr>
            <a:endParaRPr lang="en-US"/>
          </a:p>
        </p:txBody>
      </p:sp>
      <p:sp>
        <p:nvSpPr>
          <p:cNvPr id="8" name="Slide Number Placeholder 5"/>
          <p:cNvSpPr>
            <a:spLocks noGrp="1"/>
          </p:cNvSpPr>
          <p:nvPr>
            <p:ph type="sldNum" sz="quarter" idx="16"/>
          </p:nvPr>
        </p:nvSpPr>
        <p:spPr>
          <a:xfrm>
            <a:off x="442384" y="360364"/>
            <a:ext cx="675216" cy="365125"/>
          </a:xfrm>
        </p:spPr>
        <p:txBody>
          <a:bodyPr/>
          <a:lstStyle>
            <a:lvl1pPr>
              <a:defRPr/>
            </a:lvl1pPr>
          </a:lstStyle>
          <a:p>
            <a:fld id="{18FE587C-8142-439F-9E27-98EFC3123717}" type="slidenum">
              <a:rPr lang="en-US" altLang="en-US"/>
              <a:pPr/>
              <a:t>‹#›</a:t>
            </a:fld>
            <a:endParaRPr lang="en-US" altLang="en-US"/>
          </a:p>
        </p:txBody>
      </p:sp>
    </p:spTree>
    <p:extLst>
      <p:ext uri="{BB962C8B-B14F-4D97-AF65-F5344CB8AC3E}">
        <p14:creationId xmlns:p14="http://schemas.microsoft.com/office/powerpoint/2010/main" val="35576915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Rectangle 3"/>
          <p:cNvSpPr/>
          <p:nvPr/>
        </p:nvSpPr>
        <p:spPr>
          <a:xfrm>
            <a:off x="10346267" y="268288"/>
            <a:ext cx="1464733" cy="635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title"/>
          </p:nvPr>
        </p:nvSpPr>
        <p:spPr>
          <a:xfrm>
            <a:off x="2946401" y="3429000"/>
            <a:ext cx="6621928" cy="1398494"/>
          </a:xfrm>
        </p:spPr>
        <p:txBody>
          <a:bodyPr/>
          <a:lstStyle>
            <a:lvl1pPr algn="r">
              <a:defRPr sz="4600" b="0" cap="none" baseline="0"/>
            </a:lvl1pPr>
          </a:lstStyle>
          <a:p>
            <a:r>
              <a:rPr lang="en-US"/>
              <a:t>Click to edit Master title style</a:t>
            </a:r>
            <a:endParaRPr/>
          </a:p>
        </p:txBody>
      </p:sp>
      <p:sp>
        <p:nvSpPr>
          <p:cNvPr id="3" name="Text Placeholder 2"/>
          <p:cNvSpPr>
            <a:spLocks noGrp="1"/>
          </p:cNvSpPr>
          <p:nvPr>
            <p:ph type="body" idx="1"/>
          </p:nvPr>
        </p:nvSpPr>
        <p:spPr>
          <a:xfrm>
            <a:off x="2946401" y="4824414"/>
            <a:ext cx="6621928" cy="1320800"/>
          </a:xfrm>
        </p:spPr>
        <p:txBody>
          <a:bodyPr>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Date Placeholder 3"/>
          <p:cNvSpPr>
            <a:spLocks noGrp="1"/>
          </p:cNvSpPr>
          <p:nvPr>
            <p:ph type="dt" sz="half" idx="10"/>
          </p:nvPr>
        </p:nvSpPr>
        <p:spPr>
          <a:xfrm>
            <a:off x="7416801" y="6356351"/>
            <a:ext cx="2163233" cy="365125"/>
          </a:xfrm>
        </p:spPr>
        <p:txBody>
          <a:bodyPr/>
          <a:lstStyle>
            <a:lvl1pPr>
              <a:defRPr/>
            </a:lvl1pPr>
          </a:lstStyle>
          <a:p>
            <a:pPr>
              <a:defRPr/>
            </a:pPr>
            <a:endParaRPr lang="en-US"/>
          </a:p>
        </p:txBody>
      </p:sp>
      <p:sp>
        <p:nvSpPr>
          <p:cNvPr id="6" name="Footer Placeholder 4"/>
          <p:cNvSpPr>
            <a:spLocks noGrp="1"/>
          </p:cNvSpPr>
          <p:nvPr>
            <p:ph type="ftr" sz="quarter" idx="11"/>
          </p:nvPr>
        </p:nvSpPr>
        <p:spPr>
          <a:xfrm>
            <a:off x="232834" y="6356351"/>
            <a:ext cx="7082367" cy="365125"/>
          </a:xfrm>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6E55DA0A-0CDB-4598-9980-667B8FA34EEE}" type="slidenum">
              <a:rPr lang="en-US" altLang="en-US"/>
              <a:pPr/>
              <a:t>‹#›</a:t>
            </a:fld>
            <a:endParaRPr lang="en-US" altLang="en-US"/>
          </a:p>
        </p:txBody>
      </p:sp>
    </p:spTree>
    <p:extLst>
      <p:ext uri="{BB962C8B-B14F-4D97-AF65-F5344CB8AC3E}">
        <p14:creationId xmlns:p14="http://schemas.microsoft.com/office/powerpoint/2010/main" val="38273371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5" name="Rectangle 4"/>
          <p:cNvSpPr/>
          <p:nvPr/>
        </p:nvSpPr>
        <p:spPr>
          <a:xfrm>
            <a:off x="359833" y="4773614"/>
            <a:ext cx="3962400" cy="18446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title"/>
          </p:nvPr>
        </p:nvSpPr>
        <p:spPr>
          <a:xfrm>
            <a:off x="4960472" y="3429001"/>
            <a:ext cx="6621928" cy="1398494"/>
          </a:xfrm>
        </p:spPr>
        <p:txBody>
          <a:bodyPr/>
          <a:lstStyle>
            <a:lvl1pPr algn="r">
              <a:defRPr sz="4600" b="0" cap="none" baseline="0"/>
            </a:lvl1pPr>
          </a:lstStyle>
          <a:p>
            <a:r>
              <a:rPr lang="en-US"/>
              <a:t>Click to edit Master title style</a:t>
            </a:r>
            <a:endParaRPr/>
          </a:p>
        </p:txBody>
      </p:sp>
      <p:sp>
        <p:nvSpPr>
          <p:cNvPr id="3" name="Text Placeholder 2"/>
          <p:cNvSpPr>
            <a:spLocks noGrp="1"/>
          </p:cNvSpPr>
          <p:nvPr>
            <p:ph type="body" idx="1"/>
          </p:nvPr>
        </p:nvSpPr>
        <p:spPr>
          <a:xfrm>
            <a:off x="4960472" y="4824414"/>
            <a:ext cx="6621928" cy="1320800"/>
          </a:xfrm>
        </p:spPr>
        <p:txBody>
          <a:bodyPr>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Picture Placeholder 8"/>
          <p:cNvSpPr>
            <a:spLocks noGrp="1"/>
          </p:cNvSpPr>
          <p:nvPr>
            <p:ph type="pic" sz="quarter" idx="13"/>
          </p:nvPr>
        </p:nvSpPr>
        <p:spPr>
          <a:xfrm>
            <a:off x="359832" y="268288"/>
            <a:ext cx="3962400" cy="4438650"/>
          </a:xfrm>
        </p:spPr>
        <p:txBody>
          <a:bodyPr rtlCol="0">
            <a:normAutofit/>
          </a:bodyPr>
          <a:lstStyle>
            <a:lvl1pPr>
              <a:buNone/>
              <a:defRPr/>
            </a:lvl1pPr>
          </a:lstStyle>
          <a:p>
            <a:pPr lvl="0"/>
            <a:r>
              <a:rPr lang="en-US" noProof="0"/>
              <a:t>Drag picture to placeholder or click icon to add</a:t>
            </a:r>
            <a:endParaRPr noProof="0"/>
          </a:p>
        </p:txBody>
      </p:sp>
      <p:sp>
        <p:nvSpPr>
          <p:cNvPr id="6" name="Slide Number Placeholder 5"/>
          <p:cNvSpPr>
            <a:spLocks noGrp="1"/>
          </p:cNvSpPr>
          <p:nvPr>
            <p:ph type="sldNum" sz="quarter" idx="14"/>
          </p:nvPr>
        </p:nvSpPr>
        <p:spPr>
          <a:xfrm>
            <a:off x="467784" y="6105526"/>
            <a:ext cx="675216" cy="365125"/>
          </a:xfrm>
        </p:spPr>
        <p:txBody>
          <a:bodyPr/>
          <a:lstStyle>
            <a:lvl1pPr>
              <a:defRPr/>
            </a:lvl1pPr>
          </a:lstStyle>
          <a:p>
            <a:fld id="{DF262CBB-E632-4E78-B71D-4635367A75CF}" type="slidenum">
              <a:rPr lang="en-US" altLang="en-US"/>
              <a:pPr/>
              <a:t>‹#›</a:t>
            </a:fld>
            <a:endParaRPr lang="en-US" altLang="en-US"/>
          </a:p>
        </p:txBody>
      </p:sp>
    </p:spTree>
    <p:extLst>
      <p:ext uri="{BB962C8B-B14F-4D97-AF65-F5344CB8AC3E}">
        <p14:creationId xmlns:p14="http://schemas.microsoft.com/office/powerpoint/2010/main" val="13343987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Rectangle 4"/>
          <p:cNvSpPr/>
          <p:nvPr/>
        </p:nvSpPr>
        <p:spPr>
          <a:xfrm>
            <a:off x="10864852" y="268289"/>
            <a:ext cx="958849" cy="16462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title"/>
          </p:nvPr>
        </p:nvSpPr>
        <p:spPr>
          <a:xfrm>
            <a:off x="609600" y="914400"/>
            <a:ext cx="9855201" cy="1143000"/>
          </a:xfrm>
        </p:spPr>
        <p:txBody>
          <a:bodyPr/>
          <a:lstStyle/>
          <a:p>
            <a:r>
              <a:rPr lang="en-US"/>
              <a:t>Click to edit Master title style</a:t>
            </a:r>
            <a:endParaRPr/>
          </a:p>
        </p:txBody>
      </p:sp>
      <p:sp>
        <p:nvSpPr>
          <p:cNvPr id="3" name="Content Placeholder 2"/>
          <p:cNvSpPr>
            <a:spLocks noGrp="1"/>
          </p:cNvSpPr>
          <p:nvPr>
            <p:ph sz="half" idx="1"/>
          </p:nvPr>
        </p:nvSpPr>
        <p:spPr>
          <a:xfrm>
            <a:off x="60960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570992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6" name="Date Placeholder 4"/>
          <p:cNvSpPr>
            <a:spLocks noGrp="1"/>
          </p:cNvSpPr>
          <p:nvPr>
            <p:ph type="dt" sz="half" idx="10"/>
          </p:nvPr>
        </p:nvSpPr>
        <p:spPr/>
        <p:txBody>
          <a:bodyPr/>
          <a:lstStyle>
            <a:lvl1pPr>
              <a:defRPr/>
            </a:lvl1pPr>
          </a:lstStyle>
          <a:p>
            <a:pPr>
              <a:defRPr/>
            </a:pPr>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fld id="{505DF458-1D7C-45A5-B4B0-231718192E20}" type="slidenum">
              <a:rPr lang="en-US" altLang="en-US"/>
              <a:pPr/>
              <a:t>‹#›</a:t>
            </a:fld>
            <a:endParaRPr lang="en-US" altLang="en-US"/>
          </a:p>
        </p:txBody>
      </p:sp>
    </p:spTree>
    <p:extLst>
      <p:ext uri="{BB962C8B-B14F-4D97-AF65-F5344CB8AC3E}">
        <p14:creationId xmlns:p14="http://schemas.microsoft.com/office/powerpoint/2010/main" val="9799651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7" name="Rectangle 6"/>
          <p:cNvSpPr/>
          <p:nvPr/>
        </p:nvSpPr>
        <p:spPr>
          <a:xfrm>
            <a:off x="10864852" y="268289"/>
            <a:ext cx="958849" cy="16462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title"/>
          </p:nvPr>
        </p:nvSpPr>
        <p:spPr>
          <a:xfrm>
            <a:off x="609599" y="914400"/>
            <a:ext cx="9851136" cy="1143000"/>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609600" y="2054132"/>
            <a:ext cx="475488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689412"/>
            <a:ext cx="475488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5705855" y="2054132"/>
            <a:ext cx="475488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705855" y="2689412"/>
            <a:ext cx="475488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8" name="Date Placeholder 6"/>
          <p:cNvSpPr>
            <a:spLocks noGrp="1"/>
          </p:cNvSpPr>
          <p:nvPr>
            <p:ph type="dt" sz="half" idx="10"/>
          </p:nvPr>
        </p:nvSpPr>
        <p:spPr/>
        <p:txBody>
          <a:bodyPr/>
          <a:lstStyle>
            <a:lvl1pPr>
              <a:defRPr/>
            </a:lvl1pPr>
          </a:lstStyle>
          <a:p>
            <a:pPr>
              <a:defRPr/>
            </a:pPr>
            <a:endParaRPr lang="en-US"/>
          </a:p>
        </p:txBody>
      </p:sp>
      <p:sp>
        <p:nvSpPr>
          <p:cNvPr id="9" name="Footer Placeholder 7"/>
          <p:cNvSpPr>
            <a:spLocks noGrp="1"/>
          </p:cNvSpPr>
          <p:nvPr>
            <p:ph type="ftr" sz="quarter" idx="11"/>
          </p:nvPr>
        </p:nvSpPr>
        <p:spPr/>
        <p:txBody>
          <a:bodyPr/>
          <a:lstStyle>
            <a:lvl1pPr>
              <a:defRPr/>
            </a:lvl1pPr>
          </a:lstStyle>
          <a:p>
            <a:pPr>
              <a:defRPr/>
            </a:pPr>
            <a:endParaRPr lang="en-US"/>
          </a:p>
        </p:txBody>
      </p:sp>
      <p:sp>
        <p:nvSpPr>
          <p:cNvPr id="10" name="Slide Number Placeholder 8"/>
          <p:cNvSpPr>
            <a:spLocks noGrp="1"/>
          </p:cNvSpPr>
          <p:nvPr>
            <p:ph type="sldNum" sz="quarter" idx="12"/>
          </p:nvPr>
        </p:nvSpPr>
        <p:spPr/>
        <p:txBody>
          <a:bodyPr/>
          <a:lstStyle>
            <a:lvl1pPr>
              <a:defRPr/>
            </a:lvl1pPr>
          </a:lstStyle>
          <a:p>
            <a:fld id="{249498C2-58CB-4CAE-97F1-C34D2D32B0C8}" type="slidenum">
              <a:rPr lang="en-US" altLang="en-US"/>
              <a:pPr/>
              <a:t>‹#›</a:t>
            </a:fld>
            <a:endParaRPr lang="en-US" altLang="en-US"/>
          </a:p>
        </p:txBody>
      </p:sp>
    </p:spTree>
    <p:extLst>
      <p:ext uri="{BB962C8B-B14F-4D97-AF65-F5344CB8AC3E}">
        <p14:creationId xmlns:p14="http://schemas.microsoft.com/office/powerpoint/2010/main" val="33334653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5" name="Rectangle 4"/>
          <p:cNvSpPr/>
          <p:nvPr/>
        </p:nvSpPr>
        <p:spPr>
          <a:xfrm>
            <a:off x="10864852" y="268289"/>
            <a:ext cx="958849" cy="16462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title"/>
          </p:nvPr>
        </p:nvSpPr>
        <p:spPr>
          <a:xfrm>
            <a:off x="609600" y="914400"/>
            <a:ext cx="9855201" cy="1143000"/>
          </a:xfrm>
        </p:spPr>
        <p:txBody>
          <a:bodyPr/>
          <a:lstStyle/>
          <a:p>
            <a:r>
              <a:rPr lang="en-US"/>
              <a:t>Click to edit Master title style</a:t>
            </a:r>
            <a:endParaRPr/>
          </a:p>
        </p:txBody>
      </p:sp>
      <p:sp>
        <p:nvSpPr>
          <p:cNvPr id="3" name="Content Placeholder 2"/>
          <p:cNvSpPr>
            <a:spLocks noGrp="1"/>
          </p:cNvSpPr>
          <p:nvPr>
            <p:ph sz="half" idx="1"/>
          </p:nvPr>
        </p:nvSpPr>
        <p:spPr>
          <a:xfrm>
            <a:off x="609599" y="2214562"/>
            <a:ext cx="9861551"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9" name="Content Placeholder 2"/>
          <p:cNvSpPr>
            <a:spLocks noGrp="1"/>
          </p:cNvSpPr>
          <p:nvPr>
            <p:ph sz="half" idx="13"/>
          </p:nvPr>
        </p:nvSpPr>
        <p:spPr>
          <a:xfrm>
            <a:off x="609599" y="4224973"/>
            <a:ext cx="9861551"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6" name="Date Placeholder 4"/>
          <p:cNvSpPr>
            <a:spLocks noGrp="1"/>
          </p:cNvSpPr>
          <p:nvPr>
            <p:ph type="dt" sz="half" idx="14"/>
          </p:nvPr>
        </p:nvSpPr>
        <p:spPr/>
        <p:txBody>
          <a:bodyPr/>
          <a:lstStyle>
            <a:lvl1pPr>
              <a:defRPr/>
            </a:lvl1pPr>
          </a:lstStyle>
          <a:p>
            <a:pPr>
              <a:defRPr/>
            </a:pPr>
            <a:endParaRPr lang="en-US"/>
          </a:p>
        </p:txBody>
      </p:sp>
      <p:sp>
        <p:nvSpPr>
          <p:cNvPr id="7" name="Footer Placeholder 5"/>
          <p:cNvSpPr>
            <a:spLocks noGrp="1"/>
          </p:cNvSpPr>
          <p:nvPr>
            <p:ph type="ftr" sz="quarter" idx="15"/>
          </p:nvPr>
        </p:nvSpPr>
        <p:spPr/>
        <p:txBody>
          <a:bodyPr/>
          <a:lstStyle>
            <a:lvl1pPr>
              <a:defRPr/>
            </a:lvl1pPr>
          </a:lstStyle>
          <a:p>
            <a:pPr>
              <a:defRPr/>
            </a:pPr>
            <a:endParaRPr lang="en-US"/>
          </a:p>
        </p:txBody>
      </p:sp>
      <p:sp>
        <p:nvSpPr>
          <p:cNvPr id="8" name="Slide Number Placeholder 6"/>
          <p:cNvSpPr>
            <a:spLocks noGrp="1"/>
          </p:cNvSpPr>
          <p:nvPr>
            <p:ph type="sldNum" sz="quarter" idx="16"/>
          </p:nvPr>
        </p:nvSpPr>
        <p:spPr/>
        <p:txBody>
          <a:bodyPr/>
          <a:lstStyle>
            <a:lvl1pPr>
              <a:defRPr/>
            </a:lvl1pPr>
          </a:lstStyle>
          <a:p>
            <a:fld id="{F54EFC5B-9B8D-4A82-BB4B-7871F6A1FBBD}" type="slidenum">
              <a:rPr lang="en-US" altLang="en-US"/>
              <a:pPr/>
              <a:t>‹#›</a:t>
            </a:fld>
            <a:endParaRPr lang="en-US" altLang="en-US"/>
          </a:p>
        </p:txBody>
      </p:sp>
    </p:spTree>
    <p:extLst>
      <p:ext uri="{BB962C8B-B14F-4D97-AF65-F5344CB8AC3E}">
        <p14:creationId xmlns:p14="http://schemas.microsoft.com/office/powerpoint/2010/main" val="2025424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6" name="Rectangle 5"/>
          <p:cNvSpPr/>
          <p:nvPr/>
        </p:nvSpPr>
        <p:spPr>
          <a:xfrm>
            <a:off x="10864852" y="268289"/>
            <a:ext cx="958849" cy="16462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title"/>
          </p:nvPr>
        </p:nvSpPr>
        <p:spPr>
          <a:xfrm>
            <a:off x="609600" y="914400"/>
            <a:ext cx="9855201" cy="1143000"/>
          </a:xfrm>
        </p:spPr>
        <p:txBody>
          <a:bodyPr/>
          <a:lstStyle/>
          <a:p>
            <a:r>
              <a:rPr lang="en-US"/>
              <a:t>Click to edit Master title style</a:t>
            </a:r>
            <a:endParaRPr/>
          </a:p>
        </p:txBody>
      </p:sp>
      <p:sp>
        <p:nvSpPr>
          <p:cNvPr id="3" name="Content Placeholder 2"/>
          <p:cNvSpPr>
            <a:spLocks noGrp="1"/>
          </p:cNvSpPr>
          <p:nvPr>
            <p:ph sz="half" idx="1"/>
          </p:nvPr>
        </p:nvSpPr>
        <p:spPr>
          <a:xfrm>
            <a:off x="570992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9" name="Content Placeholder 2"/>
          <p:cNvSpPr>
            <a:spLocks noGrp="1"/>
          </p:cNvSpPr>
          <p:nvPr>
            <p:ph sz="half" idx="13"/>
          </p:nvPr>
        </p:nvSpPr>
        <p:spPr>
          <a:xfrm>
            <a:off x="570992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0" name="Content Placeholder 2"/>
          <p:cNvSpPr>
            <a:spLocks noGrp="1"/>
          </p:cNvSpPr>
          <p:nvPr>
            <p:ph sz="half" idx="14"/>
          </p:nvPr>
        </p:nvSpPr>
        <p:spPr>
          <a:xfrm>
            <a:off x="60960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4"/>
          <p:cNvSpPr>
            <a:spLocks noGrp="1"/>
          </p:cNvSpPr>
          <p:nvPr>
            <p:ph type="dt" sz="half" idx="15"/>
          </p:nvPr>
        </p:nvSpPr>
        <p:spPr/>
        <p:txBody>
          <a:bodyPr/>
          <a:lstStyle>
            <a:lvl1pPr>
              <a:defRPr/>
            </a:lvl1pPr>
          </a:lstStyle>
          <a:p>
            <a:pPr>
              <a:defRPr/>
            </a:pPr>
            <a:endParaRPr lang="en-US"/>
          </a:p>
        </p:txBody>
      </p:sp>
      <p:sp>
        <p:nvSpPr>
          <p:cNvPr id="8" name="Footer Placeholder 5"/>
          <p:cNvSpPr>
            <a:spLocks noGrp="1"/>
          </p:cNvSpPr>
          <p:nvPr>
            <p:ph type="ftr" sz="quarter" idx="16"/>
          </p:nvPr>
        </p:nvSpPr>
        <p:spPr/>
        <p:txBody>
          <a:bodyPr/>
          <a:lstStyle>
            <a:lvl1pPr>
              <a:defRPr/>
            </a:lvl1pPr>
          </a:lstStyle>
          <a:p>
            <a:pPr>
              <a:defRPr/>
            </a:pPr>
            <a:endParaRPr lang="en-US"/>
          </a:p>
        </p:txBody>
      </p:sp>
      <p:sp>
        <p:nvSpPr>
          <p:cNvPr id="11" name="Slide Number Placeholder 6"/>
          <p:cNvSpPr>
            <a:spLocks noGrp="1"/>
          </p:cNvSpPr>
          <p:nvPr>
            <p:ph type="sldNum" sz="quarter" idx="17"/>
          </p:nvPr>
        </p:nvSpPr>
        <p:spPr/>
        <p:txBody>
          <a:bodyPr/>
          <a:lstStyle>
            <a:lvl1pPr>
              <a:defRPr/>
            </a:lvl1pPr>
          </a:lstStyle>
          <a:p>
            <a:fld id="{1B6DF739-B98B-43E8-A34D-42D6C7073B4E}" type="slidenum">
              <a:rPr lang="en-US" altLang="en-US"/>
              <a:pPr/>
              <a:t>‹#›</a:t>
            </a:fld>
            <a:endParaRPr lang="en-US" altLang="en-US"/>
          </a:p>
        </p:txBody>
      </p:sp>
    </p:spTree>
    <p:extLst>
      <p:ext uri="{BB962C8B-B14F-4D97-AF65-F5344CB8AC3E}">
        <p14:creationId xmlns:p14="http://schemas.microsoft.com/office/powerpoint/2010/main" val="11389645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7" name="Rectangle 6"/>
          <p:cNvSpPr/>
          <p:nvPr/>
        </p:nvSpPr>
        <p:spPr>
          <a:xfrm>
            <a:off x="10864852" y="268289"/>
            <a:ext cx="958849" cy="16462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title"/>
          </p:nvPr>
        </p:nvSpPr>
        <p:spPr>
          <a:xfrm>
            <a:off x="609600" y="914400"/>
            <a:ext cx="9855201" cy="1143000"/>
          </a:xfrm>
        </p:spPr>
        <p:txBody>
          <a:bodyPr/>
          <a:lstStyle/>
          <a:p>
            <a:r>
              <a:rPr lang="en-US"/>
              <a:t>Click to edit Master title style</a:t>
            </a:r>
            <a:endParaRPr/>
          </a:p>
        </p:txBody>
      </p:sp>
      <p:sp>
        <p:nvSpPr>
          <p:cNvPr id="3" name="Content Placeholder 2"/>
          <p:cNvSpPr>
            <a:spLocks noGrp="1"/>
          </p:cNvSpPr>
          <p:nvPr>
            <p:ph sz="half" idx="1"/>
          </p:nvPr>
        </p:nvSpPr>
        <p:spPr>
          <a:xfrm>
            <a:off x="570992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9" name="Content Placeholder 2"/>
          <p:cNvSpPr>
            <a:spLocks noGrp="1"/>
          </p:cNvSpPr>
          <p:nvPr>
            <p:ph sz="half" idx="13"/>
          </p:nvPr>
        </p:nvSpPr>
        <p:spPr>
          <a:xfrm>
            <a:off x="570992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1" name="Content Placeholder 2"/>
          <p:cNvSpPr>
            <a:spLocks noGrp="1"/>
          </p:cNvSpPr>
          <p:nvPr>
            <p:ph sz="half" idx="14"/>
          </p:nvPr>
        </p:nvSpPr>
        <p:spPr>
          <a:xfrm>
            <a:off x="60960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2" name="Content Placeholder 2"/>
          <p:cNvSpPr>
            <a:spLocks noGrp="1"/>
          </p:cNvSpPr>
          <p:nvPr>
            <p:ph sz="half" idx="15"/>
          </p:nvPr>
        </p:nvSpPr>
        <p:spPr>
          <a:xfrm>
            <a:off x="60960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8" name="Date Placeholder 4"/>
          <p:cNvSpPr>
            <a:spLocks noGrp="1"/>
          </p:cNvSpPr>
          <p:nvPr>
            <p:ph type="dt" sz="half" idx="16"/>
          </p:nvPr>
        </p:nvSpPr>
        <p:spPr/>
        <p:txBody>
          <a:bodyPr/>
          <a:lstStyle>
            <a:lvl1pPr>
              <a:defRPr/>
            </a:lvl1pPr>
          </a:lstStyle>
          <a:p>
            <a:pPr>
              <a:defRPr/>
            </a:pPr>
            <a:endParaRPr lang="en-US"/>
          </a:p>
        </p:txBody>
      </p:sp>
      <p:sp>
        <p:nvSpPr>
          <p:cNvPr id="10" name="Footer Placeholder 5"/>
          <p:cNvSpPr>
            <a:spLocks noGrp="1"/>
          </p:cNvSpPr>
          <p:nvPr>
            <p:ph type="ftr" sz="quarter" idx="17"/>
          </p:nvPr>
        </p:nvSpPr>
        <p:spPr/>
        <p:txBody>
          <a:bodyPr/>
          <a:lstStyle>
            <a:lvl1pPr>
              <a:defRPr/>
            </a:lvl1pPr>
          </a:lstStyle>
          <a:p>
            <a:pPr>
              <a:defRPr/>
            </a:pPr>
            <a:endParaRPr lang="en-US"/>
          </a:p>
        </p:txBody>
      </p:sp>
      <p:sp>
        <p:nvSpPr>
          <p:cNvPr id="13" name="Slide Number Placeholder 6"/>
          <p:cNvSpPr>
            <a:spLocks noGrp="1"/>
          </p:cNvSpPr>
          <p:nvPr>
            <p:ph type="sldNum" sz="quarter" idx="18"/>
          </p:nvPr>
        </p:nvSpPr>
        <p:spPr/>
        <p:txBody>
          <a:bodyPr/>
          <a:lstStyle>
            <a:lvl1pPr>
              <a:defRPr/>
            </a:lvl1pPr>
          </a:lstStyle>
          <a:p>
            <a:fld id="{616D1C0E-BBED-4DC2-8B50-A750E43D2C23}" type="slidenum">
              <a:rPr lang="en-US" altLang="en-US"/>
              <a:pPr/>
              <a:t>‹#›</a:t>
            </a:fld>
            <a:endParaRPr lang="en-US" altLang="en-US"/>
          </a:p>
        </p:txBody>
      </p:sp>
    </p:spTree>
    <p:extLst>
      <p:ext uri="{BB962C8B-B14F-4D97-AF65-F5344CB8AC3E}">
        <p14:creationId xmlns:p14="http://schemas.microsoft.com/office/powerpoint/2010/main" val="19179921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Rectangle 2"/>
          <p:cNvSpPr/>
          <p:nvPr/>
        </p:nvSpPr>
        <p:spPr>
          <a:xfrm>
            <a:off x="10864852" y="268289"/>
            <a:ext cx="958849" cy="16462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title"/>
          </p:nvPr>
        </p:nvSpPr>
        <p:spPr/>
        <p:txBody>
          <a:bodyPr/>
          <a:lstStyle/>
          <a:p>
            <a:r>
              <a:rPr lang="en-US"/>
              <a:t>Click to edit Master title style</a:t>
            </a:r>
            <a:endParaRPr/>
          </a:p>
        </p:txBody>
      </p:sp>
      <p:sp>
        <p:nvSpPr>
          <p:cNvPr id="4" name="Date Placeholder 2"/>
          <p:cNvSpPr>
            <a:spLocks noGrp="1"/>
          </p:cNvSpPr>
          <p:nvPr>
            <p:ph type="dt" sz="half" idx="10"/>
          </p:nvPr>
        </p:nvSpPr>
        <p:spPr/>
        <p:txBody>
          <a:bodyPr/>
          <a:lstStyle>
            <a:lvl1pPr>
              <a:defRPr/>
            </a:lvl1pPr>
          </a:lstStyle>
          <a:p>
            <a:pPr>
              <a:defRPr/>
            </a:pPr>
            <a:endParaRPr lang="en-US"/>
          </a:p>
        </p:txBody>
      </p:sp>
      <p:sp>
        <p:nvSpPr>
          <p:cNvPr id="5" name="Footer Placeholder 3"/>
          <p:cNvSpPr>
            <a:spLocks noGrp="1"/>
          </p:cNvSpPr>
          <p:nvPr>
            <p:ph type="ftr" sz="quarter" idx="11"/>
          </p:nvPr>
        </p:nvSpPr>
        <p:spPr/>
        <p:txBody>
          <a:bodyPr/>
          <a:lstStyle>
            <a:lvl1pPr>
              <a:defRPr/>
            </a:lvl1pPr>
          </a:lstStyle>
          <a:p>
            <a:pPr>
              <a:defRPr/>
            </a:pPr>
            <a:endParaRPr lang="en-US"/>
          </a:p>
        </p:txBody>
      </p:sp>
      <p:sp>
        <p:nvSpPr>
          <p:cNvPr id="6" name="Slide Number Placeholder 4"/>
          <p:cNvSpPr>
            <a:spLocks noGrp="1"/>
          </p:cNvSpPr>
          <p:nvPr>
            <p:ph type="sldNum" sz="quarter" idx="12"/>
          </p:nvPr>
        </p:nvSpPr>
        <p:spPr/>
        <p:txBody>
          <a:bodyPr/>
          <a:lstStyle>
            <a:lvl1pPr>
              <a:defRPr/>
            </a:lvl1pPr>
          </a:lstStyle>
          <a:p>
            <a:fld id="{33DFBD5F-8CE8-4B55-BCDF-EE89E3BFFD28}" type="slidenum">
              <a:rPr lang="en-US" altLang="en-US"/>
              <a:pPr/>
              <a:t>‹#›</a:t>
            </a:fld>
            <a:endParaRPr lang="en-US" altLang="en-US"/>
          </a:p>
        </p:txBody>
      </p:sp>
    </p:spTree>
    <p:extLst>
      <p:ext uri="{BB962C8B-B14F-4D97-AF65-F5344CB8AC3E}">
        <p14:creationId xmlns:p14="http://schemas.microsoft.com/office/powerpoint/2010/main" val="42596595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p:cNvSpPr/>
          <p:nvPr/>
        </p:nvSpPr>
        <p:spPr>
          <a:xfrm>
            <a:off x="10864852" y="268289"/>
            <a:ext cx="958849" cy="5667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3" name="Date Placeholder 1"/>
          <p:cNvSpPr>
            <a:spLocks noGrp="1"/>
          </p:cNvSpPr>
          <p:nvPr>
            <p:ph type="dt" sz="half" idx="10"/>
          </p:nvPr>
        </p:nvSpPr>
        <p:spPr/>
        <p:txBody>
          <a:bodyPr/>
          <a:lstStyle>
            <a:lvl1pPr>
              <a:defRPr/>
            </a:lvl1pPr>
          </a:lstStyle>
          <a:p>
            <a:pPr>
              <a:defRPr/>
            </a:pPr>
            <a:endParaRPr lang="en-US"/>
          </a:p>
        </p:txBody>
      </p:sp>
      <p:sp>
        <p:nvSpPr>
          <p:cNvPr id="4" name="Footer Placeholder 2"/>
          <p:cNvSpPr>
            <a:spLocks noGrp="1"/>
          </p:cNvSpPr>
          <p:nvPr>
            <p:ph type="ftr" sz="quarter" idx="11"/>
          </p:nvPr>
        </p:nvSpPr>
        <p:spPr/>
        <p:txBody>
          <a:bodyPr/>
          <a:lstStyle>
            <a:lvl1pPr>
              <a:defRPr/>
            </a:lvl1pPr>
          </a:lstStyle>
          <a:p>
            <a:pPr>
              <a:defRPr/>
            </a:pPr>
            <a:endParaRPr lang="en-US"/>
          </a:p>
        </p:txBody>
      </p:sp>
      <p:sp>
        <p:nvSpPr>
          <p:cNvPr id="5" name="Slide Number Placeholder 3"/>
          <p:cNvSpPr>
            <a:spLocks noGrp="1"/>
          </p:cNvSpPr>
          <p:nvPr>
            <p:ph type="sldNum" sz="quarter" idx="12"/>
          </p:nvPr>
        </p:nvSpPr>
        <p:spPr/>
        <p:txBody>
          <a:bodyPr/>
          <a:lstStyle>
            <a:lvl1pPr>
              <a:defRPr/>
            </a:lvl1pPr>
          </a:lstStyle>
          <a:p>
            <a:fld id="{63833FF5-9C7F-49F7-97E4-E654F9B057B8}" type="slidenum">
              <a:rPr lang="en-US" altLang="en-US"/>
              <a:pPr/>
              <a:t>‹#›</a:t>
            </a:fld>
            <a:endParaRPr lang="en-US" altLang="en-US"/>
          </a:p>
        </p:txBody>
      </p:sp>
    </p:spTree>
    <p:extLst>
      <p:ext uri="{BB962C8B-B14F-4D97-AF65-F5344CB8AC3E}">
        <p14:creationId xmlns:p14="http://schemas.microsoft.com/office/powerpoint/2010/main" val="36559842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ectangle 4"/>
          <p:cNvSpPr/>
          <p:nvPr/>
        </p:nvSpPr>
        <p:spPr>
          <a:xfrm>
            <a:off x="10864852" y="268289"/>
            <a:ext cx="958849" cy="5667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title"/>
          </p:nvPr>
        </p:nvSpPr>
        <p:spPr>
          <a:xfrm>
            <a:off x="609599" y="995082"/>
            <a:ext cx="4754880" cy="1035424"/>
          </a:xfrm>
        </p:spPr>
        <p:txBody>
          <a:bodyPr/>
          <a:lstStyle>
            <a:lvl1pPr algn="l">
              <a:defRPr sz="2800" b="0"/>
            </a:lvl1pPr>
          </a:lstStyle>
          <a:p>
            <a:r>
              <a:rPr lang="en-US"/>
              <a:t>Click to edit Master title style</a:t>
            </a:r>
            <a:endParaRPr/>
          </a:p>
        </p:txBody>
      </p:sp>
      <p:sp>
        <p:nvSpPr>
          <p:cNvPr id="3" name="Content Placeholder 2"/>
          <p:cNvSpPr>
            <a:spLocks noGrp="1"/>
          </p:cNvSpPr>
          <p:nvPr>
            <p:ph idx="1"/>
          </p:nvPr>
        </p:nvSpPr>
        <p:spPr>
          <a:xfrm>
            <a:off x="6349403" y="990600"/>
            <a:ext cx="4754880" cy="51355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609599" y="2057401"/>
            <a:ext cx="475488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p:cNvSpPr>
            <a:spLocks noGrp="1"/>
          </p:cNvSpPr>
          <p:nvPr>
            <p:ph type="dt" sz="half" idx="10"/>
          </p:nvPr>
        </p:nvSpPr>
        <p:spPr/>
        <p:txBody>
          <a:bodyPr/>
          <a:lstStyle>
            <a:lvl1pPr>
              <a:defRPr/>
            </a:lvl1pPr>
          </a:lstStyle>
          <a:p>
            <a:pPr>
              <a:defRPr/>
            </a:pPr>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fld id="{CF26A2DE-5B2C-4A87-8C8B-43BAFCBE83AF}" type="slidenum">
              <a:rPr lang="en-US" altLang="en-US"/>
              <a:pPr/>
              <a:t>‹#›</a:t>
            </a:fld>
            <a:endParaRPr lang="en-US" altLang="en-US"/>
          </a:p>
        </p:txBody>
      </p:sp>
    </p:spTree>
    <p:extLst>
      <p:ext uri="{BB962C8B-B14F-4D97-AF65-F5344CB8AC3E}">
        <p14:creationId xmlns:p14="http://schemas.microsoft.com/office/powerpoint/2010/main" val="1752721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5" name="Rectangle 4"/>
          <p:cNvSpPr/>
          <p:nvPr/>
        </p:nvSpPr>
        <p:spPr>
          <a:xfrm>
            <a:off x="6328833" y="268289"/>
            <a:ext cx="5486400" cy="5667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title"/>
          </p:nvPr>
        </p:nvSpPr>
        <p:spPr>
          <a:xfrm>
            <a:off x="609599" y="995082"/>
            <a:ext cx="4754880" cy="1035424"/>
          </a:xfrm>
        </p:spPr>
        <p:txBody>
          <a:bodyPr/>
          <a:lstStyle>
            <a:lvl1pPr algn="l">
              <a:defRPr sz="2800" b="0"/>
            </a:lvl1pPr>
          </a:lstStyle>
          <a:p>
            <a:r>
              <a:rPr lang="en-US"/>
              <a:t>Click to edit Master title style</a:t>
            </a:r>
            <a:endParaRPr/>
          </a:p>
        </p:txBody>
      </p:sp>
      <p:sp>
        <p:nvSpPr>
          <p:cNvPr id="4" name="Text Placeholder 3"/>
          <p:cNvSpPr>
            <a:spLocks noGrp="1"/>
          </p:cNvSpPr>
          <p:nvPr>
            <p:ph type="body" sz="half" idx="2"/>
          </p:nvPr>
        </p:nvSpPr>
        <p:spPr>
          <a:xfrm>
            <a:off x="609599" y="2057401"/>
            <a:ext cx="475488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Picture Placeholder 9"/>
          <p:cNvSpPr>
            <a:spLocks noGrp="1"/>
          </p:cNvSpPr>
          <p:nvPr>
            <p:ph type="pic" sz="quarter" idx="13"/>
          </p:nvPr>
        </p:nvSpPr>
        <p:spPr>
          <a:xfrm>
            <a:off x="6347011" y="990600"/>
            <a:ext cx="5462016" cy="5611813"/>
          </a:xfrm>
        </p:spPr>
        <p:txBody>
          <a:bodyPr rtlCol="0">
            <a:normAutofit/>
          </a:bodyPr>
          <a:lstStyle>
            <a:lvl1pPr>
              <a:buNone/>
              <a:defRPr/>
            </a:lvl1pPr>
          </a:lstStyle>
          <a:p>
            <a:pPr lvl="0"/>
            <a:r>
              <a:rPr lang="en-US" noProof="0"/>
              <a:t>Drag picture to placeholder or click icon to add</a:t>
            </a:r>
            <a:endParaRPr noProof="0"/>
          </a:p>
        </p:txBody>
      </p:sp>
      <p:sp>
        <p:nvSpPr>
          <p:cNvPr id="6" name="Date Placeholder 4"/>
          <p:cNvSpPr>
            <a:spLocks noGrp="1"/>
          </p:cNvSpPr>
          <p:nvPr>
            <p:ph type="dt" sz="half" idx="14"/>
          </p:nvPr>
        </p:nvSpPr>
        <p:spPr>
          <a:xfrm>
            <a:off x="215900" y="6124576"/>
            <a:ext cx="2336800" cy="365125"/>
          </a:xfrm>
        </p:spPr>
        <p:txBody>
          <a:bodyPr/>
          <a:lstStyle>
            <a:lvl1pPr algn="l">
              <a:defRPr/>
            </a:lvl1pPr>
          </a:lstStyle>
          <a:p>
            <a:pPr>
              <a:defRPr/>
            </a:pPr>
            <a:endParaRPr lang="en-US"/>
          </a:p>
        </p:txBody>
      </p:sp>
      <p:sp>
        <p:nvSpPr>
          <p:cNvPr id="7" name="Footer Placeholder 5"/>
          <p:cNvSpPr>
            <a:spLocks noGrp="1"/>
          </p:cNvSpPr>
          <p:nvPr>
            <p:ph type="ftr" sz="quarter" idx="15"/>
          </p:nvPr>
        </p:nvSpPr>
        <p:spPr>
          <a:xfrm>
            <a:off x="232834" y="6356351"/>
            <a:ext cx="5151967" cy="365125"/>
          </a:xfrm>
        </p:spPr>
        <p:txBody>
          <a:bodyPr/>
          <a:lstStyle>
            <a:lvl1pPr>
              <a:defRPr/>
            </a:lvl1pPr>
          </a:lstStyle>
          <a:p>
            <a:pPr>
              <a:defRPr/>
            </a:pPr>
            <a:endParaRPr lang="en-US"/>
          </a:p>
        </p:txBody>
      </p:sp>
      <p:sp>
        <p:nvSpPr>
          <p:cNvPr id="8" name="Slide Number Placeholder 6"/>
          <p:cNvSpPr>
            <a:spLocks noGrp="1"/>
          </p:cNvSpPr>
          <p:nvPr>
            <p:ph type="sldNum" sz="quarter" idx="16"/>
          </p:nvPr>
        </p:nvSpPr>
        <p:spPr/>
        <p:txBody>
          <a:bodyPr/>
          <a:lstStyle>
            <a:lvl1pPr>
              <a:defRPr/>
            </a:lvl1pPr>
          </a:lstStyle>
          <a:p>
            <a:fld id="{DF1236F9-EF88-4FBA-A8CD-A1E995AEFFAD}" type="slidenum">
              <a:rPr lang="en-US" altLang="en-US"/>
              <a:pPr/>
              <a:t>‹#›</a:t>
            </a:fld>
            <a:endParaRPr lang="en-US" altLang="en-US"/>
          </a:p>
        </p:txBody>
      </p:sp>
    </p:spTree>
    <p:extLst>
      <p:ext uri="{BB962C8B-B14F-4D97-AF65-F5344CB8AC3E}">
        <p14:creationId xmlns:p14="http://schemas.microsoft.com/office/powerpoint/2010/main" val="10686418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5" name="Rectangle 4"/>
          <p:cNvSpPr/>
          <p:nvPr/>
        </p:nvSpPr>
        <p:spPr>
          <a:xfrm>
            <a:off x="9622367" y="268288"/>
            <a:ext cx="2186517" cy="36385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title"/>
          </p:nvPr>
        </p:nvSpPr>
        <p:spPr>
          <a:xfrm>
            <a:off x="611717" y="4267200"/>
            <a:ext cx="8636000" cy="566738"/>
          </a:xfrm>
        </p:spPr>
        <p:txBody>
          <a:bodyPr/>
          <a:lstStyle>
            <a:lvl1pPr algn="l">
              <a:defRPr sz="2800" b="0"/>
            </a:lvl1pPr>
          </a:lstStyle>
          <a:p>
            <a:r>
              <a:rPr lang="en-US"/>
              <a:t>Click to edit Master title style</a:t>
            </a:r>
            <a:endParaRPr/>
          </a:p>
        </p:txBody>
      </p:sp>
      <p:sp>
        <p:nvSpPr>
          <p:cNvPr id="3" name="Picture Placeholder 2"/>
          <p:cNvSpPr>
            <a:spLocks noGrp="1"/>
          </p:cNvSpPr>
          <p:nvPr>
            <p:ph type="pic" idx="1"/>
          </p:nvPr>
        </p:nvSpPr>
        <p:spPr>
          <a:xfrm>
            <a:off x="359832" y="268288"/>
            <a:ext cx="9144000" cy="363931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Drag picture to placeholder or click icon to add</a:t>
            </a:r>
            <a:endParaRPr noProof="0"/>
          </a:p>
        </p:txBody>
      </p:sp>
      <p:sp>
        <p:nvSpPr>
          <p:cNvPr id="4" name="Text Placeholder 3"/>
          <p:cNvSpPr>
            <a:spLocks noGrp="1"/>
          </p:cNvSpPr>
          <p:nvPr>
            <p:ph type="body" sz="half" idx="2"/>
          </p:nvPr>
        </p:nvSpPr>
        <p:spPr>
          <a:xfrm>
            <a:off x="611717" y="4840942"/>
            <a:ext cx="8633883"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p:cNvSpPr>
            <a:spLocks noGrp="1"/>
          </p:cNvSpPr>
          <p:nvPr>
            <p:ph type="dt" sz="half" idx="10"/>
          </p:nvPr>
        </p:nvSpPr>
        <p:spPr/>
        <p:txBody>
          <a:bodyPr/>
          <a:lstStyle>
            <a:lvl1pPr>
              <a:defRPr/>
            </a:lvl1pPr>
          </a:lstStyle>
          <a:p>
            <a:pPr>
              <a:defRPr/>
            </a:pPr>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fld id="{43064F61-269F-4F32-839E-51150C5A7125}" type="slidenum">
              <a:rPr lang="en-US" altLang="en-US"/>
              <a:pPr/>
              <a:t>‹#›</a:t>
            </a:fld>
            <a:endParaRPr lang="en-US" altLang="en-US"/>
          </a:p>
        </p:txBody>
      </p:sp>
    </p:spTree>
    <p:extLst>
      <p:ext uri="{BB962C8B-B14F-4D97-AF65-F5344CB8AC3E}">
        <p14:creationId xmlns:p14="http://schemas.microsoft.com/office/powerpoint/2010/main" val="11168198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4 Pictures with Caption">
    <p:spTree>
      <p:nvGrpSpPr>
        <p:cNvPr id="1" name=""/>
        <p:cNvGrpSpPr/>
        <p:nvPr/>
      </p:nvGrpSpPr>
      <p:grpSpPr>
        <a:xfrm>
          <a:off x="0" y="0"/>
          <a:ext cx="0" cy="0"/>
          <a:chOff x="0" y="0"/>
          <a:chExt cx="0" cy="0"/>
        </a:xfrm>
      </p:grpSpPr>
      <p:sp>
        <p:nvSpPr>
          <p:cNvPr id="8" name="Rectangle 7"/>
          <p:cNvSpPr/>
          <p:nvPr/>
        </p:nvSpPr>
        <p:spPr>
          <a:xfrm>
            <a:off x="10847918" y="268288"/>
            <a:ext cx="960967" cy="36385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title"/>
          </p:nvPr>
        </p:nvSpPr>
        <p:spPr>
          <a:xfrm>
            <a:off x="611717" y="4267200"/>
            <a:ext cx="8636000" cy="566738"/>
          </a:xfrm>
        </p:spPr>
        <p:txBody>
          <a:bodyPr/>
          <a:lstStyle>
            <a:lvl1pPr algn="l">
              <a:defRPr sz="2800" b="0"/>
            </a:lvl1pPr>
          </a:lstStyle>
          <a:p>
            <a:r>
              <a:rPr lang="en-US"/>
              <a:t>Click to edit Master title style</a:t>
            </a:r>
            <a:endParaRPr/>
          </a:p>
        </p:txBody>
      </p:sp>
      <p:sp>
        <p:nvSpPr>
          <p:cNvPr id="3" name="Picture Placeholder 2"/>
          <p:cNvSpPr>
            <a:spLocks noGrp="1"/>
          </p:cNvSpPr>
          <p:nvPr>
            <p:ph type="pic" idx="1"/>
          </p:nvPr>
        </p:nvSpPr>
        <p:spPr>
          <a:xfrm>
            <a:off x="359832" y="268288"/>
            <a:ext cx="4008968" cy="363931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Drag picture to placeholder or click icon to add</a:t>
            </a:r>
            <a:endParaRPr noProof="0"/>
          </a:p>
        </p:txBody>
      </p:sp>
      <p:sp>
        <p:nvSpPr>
          <p:cNvPr id="4" name="Text Placeholder 3"/>
          <p:cNvSpPr>
            <a:spLocks noGrp="1"/>
          </p:cNvSpPr>
          <p:nvPr>
            <p:ph type="body" sz="half" idx="2"/>
          </p:nvPr>
        </p:nvSpPr>
        <p:spPr>
          <a:xfrm>
            <a:off x="611717" y="4840942"/>
            <a:ext cx="8633883"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Picture Placeholder 2"/>
          <p:cNvSpPr>
            <a:spLocks noGrp="1"/>
          </p:cNvSpPr>
          <p:nvPr>
            <p:ph type="pic" idx="13"/>
          </p:nvPr>
        </p:nvSpPr>
        <p:spPr>
          <a:xfrm>
            <a:off x="4470400" y="268289"/>
            <a:ext cx="6269317"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Drag picture to placeholder or click icon to add</a:t>
            </a:r>
            <a:endParaRPr noProof="0"/>
          </a:p>
        </p:txBody>
      </p:sp>
      <p:sp>
        <p:nvSpPr>
          <p:cNvPr id="11" name="Picture Placeholder 2"/>
          <p:cNvSpPr>
            <a:spLocks noGrp="1"/>
          </p:cNvSpPr>
          <p:nvPr>
            <p:ph type="pic" idx="14"/>
          </p:nvPr>
        </p:nvSpPr>
        <p:spPr>
          <a:xfrm>
            <a:off x="4470400" y="2131936"/>
            <a:ext cx="3072384"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Drag picture to placeholder or click icon to add</a:t>
            </a:r>
            <a:endParaRPr noProof="0"/>
          </a:p>
        </p:txBody>
      </p:sp>
      <p:sp>
        <p:nvSpPr>
          <p:cNvPr id="12" name="Picture Placeholder 2"/>
          <p:cNvSpPr>
            <a:spLocks noGrp="1"/>
          </p:cNvSpPr>
          <p:nvPr>
            <p:ph type="pic" idx="15"/>
          </p:nvPr>
        </p:nvSpPr>
        <p:spPr>
          <a:xfrm>
            <a:off x="7667333" y="2131936"/>
            <a:ext cx="3072384"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Drag picture to placeholder or click icon to add</a:t>
            </a:r>
            <a:endParaRPr noProof="0"/>
          </a:p>
        </p:txBody>
      </p:sp>
      <p:sp>
        <p:nvSpPr>
          <p:cNvPr id="9" name="Date Placeholder 4"/>
          <p:cNvSpPr>
            <a:spLocks noGrp="1"/>
          </p:cNvSpPr>
          <p:nvPr>
            <p:ph type="dt" sz="half" idx="16"/>
          </p:nvPr>
        </p:nvSpPr>
        <p:spPr/>
        <p:txBody>
          <a:bodyPr/>
          <a:lstStyle>
            <a:lvl1pPr>
              <a:defRPr/>
            </a:lvl1pPr>
          </a:lstStyle>
          <a:p>
            <a:pPr>
              <a:defRPr/>
            </a:pPr>
            <a:endParaRPr lang="en-US"/>
          </a:p>
        </p:txBody>
      </p:sp>
      <p:sp>
        <p:nvSpPr>
          <p:cNvPr id="13" name="Footer Placeholder 5"/>
          <p:cNvSpPr>
            <a:spLocks noGrp="1"/>
          </p:cNvSpPr>
          <p:nvPr>
            <p:ph type="ftr" sz="quarter" idx="17"/>
          </p:nvPr>
        </p:nvSpPr>
        <p:spPr/>
        <p:txBody>
          <a:bodyPr/>
          <a:lstStyle>
            <a:lvl1pPr>
              <a:defRPr/>
            </a:lvl1pPr>
          </a:lstStyle>
          <a:p>
            <a:pPr>
              <a:defRPr/>
            </a:pPr>
            <a:endParaRPr lang="en-US"/>
          </a:p>
        </p:txBody>
      </p:sp>
      <p:sp>
        <p:nvSpPr>
          <p:cNvPr id="14" name="Slide Number Placeholder 6"/>
          <p:cNvSpPr>
            <a:spLocks noGrp="1"/>
          </p:cNvSpPr>
          <p:nvPr>
            <p:ph type="sldNum" sz="quarter" idx="18"/>
          </p:nvPr>
        </p:nvSpPr>
        <p:spPr/>
        <p:txBody>
          <a:bodyPr/>
          <a:lstStyle>
            <a:lvl1pPr>
              <a:defRPr/>
            </a:lvl1pPr>
          </a:lstStyle>
          <a:p>
            <a:fld id="{BF65D844-5C48-405A-8BD9-30EA87F2D5A2}" type="slidenum">
              <a:rPr lang="en-US" altLang="en-US"/>
              <a:pPr/>
              <a:t>‹#›</a:t>
            </a:fld>
            <a:endParaRPr lang="en-US" altLang="en-US"/>
          </a:p>
        </p:txBody>
      </p:sp>
    </p:spTree>
    <p:extLst>
      <p:ext uri="{BB962C8B-B14F-4D97-AF65-F5344CB8AC3E}">
        <p14:creationId xmlns:p14="http://schemas.microsoft.com/office/powerpoint/2010/main" val="17042142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4" name="Rectangle 3"/>
          <p:cNvSpPr/>
          <p:nvPr/>
        </p:nvSpPr>
        <p:spPr>
          <a:xfrm>
            <a:off x="9616018" y="268289"/>
            <a:ext cx="2194983" cy="16462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D1B5A904-E50E-4AC2-A420-A62B75759187}" type="slidenum">
              <a:rPr lang="en-US" altLang="en-US"/>
              <a:pPr/>
              <a:t>‹#›</a:t>
            </a:fld>
            <a:endParaRPr lang="en-US" altLang="en-US"/>
          </a:p>
        </p:txBody>
      </p:sp>
    </p:spTree>
    <p:extLst>
      <p:ext uri="{BB962C8B-B14F-4D97-AF65-F5344CB8AC3E}">
        <p14:creationId xmlns:p14="http://schemas.microsoft.com/office/powerpoint/2010/main" val="3886505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4" name="Rectangle 3"/>
          <p:cNvSpPr/>
          <p:nvPr/>
        </p:nvSpPr>
        <p:spPr>
          <a:xfrm>
            <a:off x="10864852" y="268289"/>
            <a:ext cx="958849" cy="5667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Vertical Title 1"/>
          <p:cNvSpPr>
            <a:spLocks noGrp="1"/>
          </p:cNvSpPr>
          <p:nvPr>
            <p:ph type="title" orient="vert"/>
          </p:nvPr>
        </p:nvSpPr>
        <p:spPr>
          <a:xfrm>
            <a:off x="10058399" y="1035425"/>
            <a:ext cx="1763060" cy="5090739"/>
          </a:xfrm>
        </p:spPr>
        <p:txBody>
          <a:bodyPr vert="eaVert" anchor="t"/>
          <a:lstStyle/>
          <a:p>
            <a:r>
              <a:rPr lang="en-US"/>
              <a:t>Click to edit Master title style</a:t>
            </a:r>
            <a:endParaRPr/>
          </a:p>
        </p:txBody>
      </p:sp>
      <p:sp>
        <p:nvSpPr>
          <p:cNvPr id="3" name="Vertical Text Placeholder 2"/>
          <p:cNvSpPr>
            <a:spLocks noGrp="1"/>
          </p:cNvSpPr>
          <p:nvPr>
            <p:ph type="body" orient="vert" idx="1"/>
          </p:nvPr>
        </p:nvSpPr>
        <p:spPr>
          <a:xfrm>
            <a:off x="609600" y="1035425"/>
            <a:ext cx="8026400" cy="5109789"/>
          </a:xfrm>
        </p:spPr>
        <p:txBody>
          <a:bodyPr vert="eaVert"/>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1C80EAC6-0EAC-48EB-A228-CB4428538B09}" type="slidenum">
              <a:rPr lang="en-US" altLang="en-US"/>
              <a:pPr/>
              <a:t>‹#›</a:t>
            </a:fld>
            <a:endParaRPr lang="en-US" altLang="en-US"/>
          </a:p>
        </p:txBody>
      </p:sp>
    </p:spTree>
    <p:extLst>
      <p:ext uri="{BB962C8B-B14F-4D97-AF65-F5344CB8AC3E}">
        <p14:creationId xmlns:p14="http://schemas.microsoft.com/office/powerpoint/2010/main" val="23663843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Closing">
    <p:spTree>
      <p:nvGrpSpPr>
        <p:cNvPr id="1" name=""/>
        <p:cNvGrpSpPr/>
        <p:nvPr/>
      </p:nvGrpSpPr>
      <p:grpSpPr>
        <a:xfrm>
          <a:off x="0" y="0"/>
          <a:ext cx="0" cy="0"/>
          <a:chOff x="0" y="0"/>
          <a:chExt cx="0" cy="0"/>
        </a:xfrm>
      </p:grpSpPr>
      <p:sp>
        <p:nvSpPr>
          <p:cNvPr id="2" name="Date Placeholder 2"/>
          <p:cNvSpPr>
            <a:spLocks noGrp="1"/>
          </p:cNvSpPr>
          <p:nvPr>
            <p:ph type="dt" sz="half" idx="10"/>
          </p:nvPr>
        </p:nvSpPr>
        <p:spPr bwMode="auto">
          <a:effectLst>
            <a:outerShdw blurRad="50800" dist="38100" dir="2700000" algn="tl" rotWithShape="0">
              <a:srgbClr val="808080">
                <a:alpha val="39999"/>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effectLst>
                  <a:outerShdw blurRad="38100" dist="12700" dir="2700000" algn="tl" rotWithShape="0">
                    <a:prstClr val="black">
                      <a:alpha val="60000"/>
                    </a:prstClr>
                  </a:outerShdw>
                </a:effectLst>
              </a:defRPr>
            </a:lvl1pPr>
          </a:lstStyle>
          <a:p>
            <a:pPr>
              <a:defRPr/>
            </a:pPr>
            <a:endParaRPr lang="en-US"/>
          </a:p>
        </p:txBody>
      </p:sp>
      <p:sp>
        <p:nvSpPr>
          <p:cNvPr id="3" name="Footer Placeholder 3"/>
          <p:cNvSpPr>
            <a:spLocks noGrp="1"/>
          </p:cNvSpPr>
          <p:nvPr>
            <p:ph type="ftr" sz="quarter" idx="11"/>
          </p:nvPr>
        </p:nvSpPr>
        <p:spPr bwMode="auto">
          <a:effectLst>
            <a:outerShdw blurRad="50800" dist="38100" dir="2700000" algn="tl" rotWithShape="0">
              <a:srgbClr val="808080">
                <a:alpha val="39999"/>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effectLst>
                  <a:outerShdw blurRad="38100" dist="12700" dir="2700000" algn="tl" rotWithShape="0">
                    <a:prstClr val="black">
                      <a:alpha val="60000"/>
                    </a:prstClr>
                  </a:outerShdw>
                </a:effectLst>
              </a:defRPr>
            </a:lvl1pPr>
          </a:lstStyle>
          <a:p>
            <a:pPr>
              <a:defRPr/>
            </a:pPr>
            <a:endParaRPr lang="en-US"/>
          </a:p>
        </p:txBody>
      </p:sp>
      <p:sp>
        <p:nvSpPr>
          <p:cNvPr id="4" name="Slide Number Placeholder 4"/>
          <p:cNvSpPr>
            <a:spLocks noGrp="1"/>
          </p:cNvSpPr>
          <p:nvPr>
            <p:ph type="sldNum" sz="quarter" idx="12"/>
          </p:nvPr>
        </p:nvSpPr>
        <p:spPr bwMode="auto">
          <a:effectLst>
            <a:outerShdw blurRad="50800" dist="38100" dir="2700000" algn="tl" rotWithShape="0">
              <a:srgbClr val="808080">
                <a:alpha val="39999"/>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effectLst>
                  <a:outerShdw blurRad="38100" dist="38100" dir="2700000" algn="tl">
                    <a:srgbClr val="C0C0C0"/>
                  </a:outerShdw>
                </a:effectLst>
              </a:defRPr>
            </a:lvl1pPr>
          </a:lstStyle>
          <a:p>
            <a:fld id="{5973CD34-8FE9-4BBE-90F6-16D98032EFFC}" type="slidenum">
              <a:rPr lang="en-US" altLang="en-US"/>
              <a:pPr/>
              <a:t>‹#›</a:t>
            </a:fld>
            <a:endParaRPr lang="en-US" altLang="en-US"/>
          </a:p>
        </p:txBody>
      </p:sp>
    </p:spTree>
    <p:extLst>
      <p:ext uri="{BB962C8B-B14F-4D97-AF65-F5344CB8AC3E}">
        <p14:creationId xmlns:p14="http://schemas.microsoft.com/office/powerpoint/2010/main" val="38796501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914400"/>
            <a:ext cx="867833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609600" y="2209801"/>
            <a:ext cx="8678333" cy="391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9599084" y="6356351"/>
            <a:ext cx="2336800" cy="365125"/>
          </a:xfrm>
          <a:prstGeom prst="rect">
            <a:avLst/>
          </a:prstGeom>
        </p:spPr>
        <p:txBody>
          <a:bodyPr vert="horz" lIns="91440" tIns="45720" rIns="91440" bIns="45720" rtlCol="0" anchor="ctr"/>
          <a:lstStyle>
            <a:lvl1pPr algn="r">
              <a:defRPr sz="1100" b="1">
                <a:solidFill>
                  <a:schemeClr val="tx2">
                    <a:lumMod val="60000"/>
                    <a:lumOff val="40000"/>
                  </a:schemeClr>
                </a:solidFill>
                <a:latin typeface="Arial" charset="0"/>
                <a:ea typeface="ＭＳ Ｐゴシック" charset="0"/>
                <a:cs typeface="ＭＳ Ｐゴシック" charset="0"/>
              </a:defRPr>
            </a:lvl1pPr>
          </a:lstStyle>
          <a:p>
            <a:pPr>
              <a:defRPr/>
            </a:pPr>
            <a:endParaRPr lang="en-US"/>
          </a:p>
        </p:txBody>
      </p:sp>
      <p:sp>
        <p:nvSpPr>
          <p:cNvPr id="5" name="Footer Placeholder 4"/>
          <p:cNvSpPr>
            <a:spLocks noGrp="1"/>
          </p:cNvSpPr>
          <p:nvPr>
            <p:ph type="ftr" sz="quarter" idx="3"/>
          </p:nvPr>
        </p:nvSpPr>
        <p:spPr>
          <a:xfrm>
            <a:off x="232833" y="6356351"/>
            <a:ext cx="8009467" cy="365125"/>
          </a:xfrm>
          <a:prstGeom prst="rect">
            <a:avLst/>
          </a:prstGeom>
        </p:spPr>
        <p:txBody>
          <a:bodyPr vert="horz" lIns="91440" tIns="45720" rIns="91440" bIns="45720" rtlCol="0" anchor="ctr"/>
          <a:lstStyle>
            <a:lvl1pPr algn="l">
              <a:defRPr sz="1100" b="1">
                <a:solidFill>
                  <a:schemeClr val="tx2">
                    <a:lumMod val="60000"/>
                    <a:lumOff val="40000"/>
                  </a:schemeClr>
                </a:solidFill>
                <a:latin typeface="Arial" charset="0"/>
                <a:ea typeface="ＭＳ Ｐゴシック" charset="0"/>
                <a:cs typeface="ＭＳ Ｐゴシック" charset="0"/>
              </a:defRPr>
            </a:lvl1pPr>
          </a:lstStyle>
          <a:p>
            <a:pPr>
              <a:defRPr/>
            </a:pPr>
            <a:endParaRPr lang="en-US"/>
          </a:p>
        </p:txBody>
      </p:sp>
      <p:sp>
        <p:nvSpPr>
          <p:cNvPr id="6" name="Slide Number Placeholder 5"/>
          <p:cNvSpPr>
            <a:spLocks noGrp="1"/>
          </p:cNvSpPr>
          <p:nvPr>
            <p:ph type="sldNum" sz="quarter" idx="4"/>
          </p:nvPr>
        </p:nvSpPr>
        <p:spPr>
          <a:xfrm>
            <a:off x="11008784" y="360364"/>
            <a:ext cx="675216" cy="365125"/>
          </a:xfrm>
          <a:prstGeom prst="rect">
            <a:avLst/>
          </a:prstGeom>
        </p:spPr>
        <p:txBody>
          <a:bodyPr vert="horz" wrap="square" lIns="91440" tIns="45720" rIns="91440" bIns="45720" numCol="1" anchor="ctr" anchorCtr="0" compatLnSpc="1">
            <a:prstTxWarp prst="textNoShape">
              <a:avLst/>
            </a:prstTxWarp>
          </a:bodyPr>
          <a:lstStyle>
            <a:lvl1pPr algn="r">
              <a:defRPr sz="2200" b="1">
                <a:solidFill>
                  <a:schemeClr val="bg1"/>
                </a:solidFill>
              </a:defRPr>
            </a:lvl1pPr>
          </a:lstStyle>
          <a:p>
            <a:fld id="{EEFF2D9C-B317-4185-973B-0D0EEF2C41B8}" type="slidenum">
              <a:rPr lang="en-US" altLang="en-US"/>
              <a:pPr/>
              <a:t>‹#›</a:t>
            </a:fld>
            <a:endParaRPr lang="en-US" altLang="en-US"/>
          </a:p>
        </p:txBody>
      </p:sp>
    </p:spTree>
    <p:extLst>
      <p:ext uri="{BB962C8B-B14F-4D97-AF65-F5344CB8AC3E}">
        <p14:creationId xmlns:p14="http://schemas.microsoft.com/office/powerpoint/2010/main" val="34465900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Lst>
  <p:txStyles>
    <p:titleStyle>
      <a:lvl1pPr algn="l" rtl="0" eaLnBrk="0" fontAlgn="base" hangingPunct="0">
        <a:spcBef>
          <a:spcPct val="0"/>
        </a:spcBef>
        <a:spcAft>
          <a:spcPct val="0"/>
        </a:spcAft>
        <a:defRPr sz="3600" kern="1200">
          <a:solidFill>
            <a:schemeClr val="accent1"/>
          </a:solidFill>
          <a:latin typeface="+mj-lt"/>
          <a:ea typeface="MS PGothic" panose="020B0600070205080204" pitchFamily="34" charset="-128"/>
          <a:cs typeface="ＭＳ Ｐゴシック" charset="0"/>
        </a:defRPr>
      </a:lvl1pPr>
      <a:lvl2pPr algn="l" rtl="0" eaLnBrk="0" fontAlgn="base" hangingPunct="0">
        <a:spcBef>
          <a:spcPct val="0"/>
        </a:spcBef>
        <a:spcAft>
          <a:spcPct val="0"/>
        </a:spcAft>
        <a:defRPr sz="3600">
          <a:solidFill>
            <a:schemeClr val="accent1"/>
          </a:solidFill>
          <a:latin typeface="Century Gothic" charset="0"/>
          <a:ea typeface="MS PGothic" panose="020B0600070205080204" pitchFamily="34" charset="-128"/>
          <a:cs typeface="ＭＳ Ｐゴシック" charset="0"/>
        </a:defRPr>
      </a:lvl2pPr>
      <a:lvl3pPr algn="l" rtl="0" eaLnBrk="0" fontAlgn="base" hangingPunct="0">
        <a:spcBef>
          <a:spcPct val="0"/>
        </a:spcBef>
        <a:spcAft>
          <a:spcPct val="0"/>
        </a:spcAft>
        <a:defRPr sz="3600">
          <a:solidFill>
            <a:schemeClr val="accent1"/>
          </a:solidFill>
          <a:latin typeface="Century Gothic" charset="0"/>
          <a:ea typeface="MS PGothic" panose="020B0600070205080204" pitchFamily="34" charset="-128"/>
          <a:cs typeface="ＭＳ Ｐゴシック" charset="0"/>
        </a:defRPr>
      </a:lvl3pPr>
      <a:lvl4pPr algn="l" rtl="0" eaLnBrk="0" fontAlgn="base" hangingPunct="0">
        <a:spcBef>
          <a:spcPct val="0"/>
        </a:spcBef>
        <a:spcAft>
          <a:spcPct val="0"/>
        </a:spcAft>
        <a:defRPr sz="3600">
          <a:solidFill>
            <a:schemeClr val="accent1"/>
          </a:solidFill>
          <a:latin typeface="Century Gothic" charset="0"/>
          <a:ea typeface="MS PGothic" panose="020B0600070205080204" pitchFamily="34" charset="-128"/>
          <a:cs typeface="ＭＳ Ｐゴシック" charset="0"/>
        </a:defRPr>
      </a:lvl4pPr>
      <a:lvl5pPr algn="l" rtl="0" eaLnBrk="0" fontAlgn="base" hangingPunct="0">
        <a:spcBef>
          <a:spcPct val="0"/>
        </a:spcBef>
        <a:spcAft>
          <a:spcPct val="0"/>
        </a:spcAft>
        <a:defRPr sz="3600">
          <a:solidFill>
            <a:schemeClr val="accent1"/>
          </a:solidFill>
          <a:latin typeface="Century Gothic" charset="0"/>
          <a:ea typeface="MS PGothic" panose="020B0600070205080204" pitchFamily="34" charset="-128"/>
          <a:cs typeface="ＭＳ Ｐゴシック" charset="0"/>
        </a:defRPr>
      </a:lvl5pPr>
      <a:lvl6pPr marL="457200" algn="l" rtl="0" fontAlgn="base">
        <a:spcBef>
          <a:spcPct val="0"/>
        </a:spcBef>
        <a:spcAft>
          <a:spcPct val="0"/>
        </a:spcAft>
        <a:defRPr sz="3600">
          <a:solidFill>
            <a:schemeClr val="accent1"/>
          </a:solidFill>
          <a:latin typeface="Century Gothic" charset="0"/>
          <a:ea typeface="ＭＳ Ｐゴシック" charset="0"/>
          <a:cs typeface="ＭＳ Ｐゴシック" charset="0"/>
        </a:defRPr>
      </a:lvl6pPr>
      <a:lvl7pPr marL="914400" algn="l" rtl="0" fontAlgn="base">
        <a:spcBef>
          <a:spcPct val="0"/>
        </a:spcBef>
        <a:spcAft>
          <a:spcPct val="0"/>
        </a:spcAft>
        <a:defRPr sz="3600">
          <a:solidFill>
            <a:schemeClr val="accent1"/>
          </a:solidFill>
          <a:latin typeface="Century Gothic" charset="0"/>
          <a:ea typeface="ＭＳ Ｐゴシック" charset="0"/>
          <a:cs typeface="ＭＳ Ｐゴシック" charset="0"/>
        </a:defRPr>
      </a:lvl7pPr>
      <a:lvl8pPr marL="1371600" algn="l" rtl="0" fontAlgn="base">
        <a:spcBef>
          <a:spcPct val="0"/>
        </a:spcBef>
        <a:spcAft>
          <a:spcPct val="0"/>
        </a:spcAft>
        <a:defRPr sz="3600">
          <a:solidFill>
            <a:schemeClr val="accent1"/>
          </a:solidFill>
          <a:latin typeface="Century Gothic" charset="0"/>
          <a:ea typeface="ＭＳ Ｐゴシック" charset="0"/>
          <a:cs typeface="ＭＳ Ｐゴシック" charset="0"/>
        </a:defRPr>
      </a:lvl8pPr>
      <a:lvl9pPr marL="1828800" algn="l" rtl="0" fontAlgn="base">
        <a:spcBef>
          <a:spcPct val="0"/>
        </a:spcBef>
        <a:spcAft>
          <a:spcPct val="0"/>
        </a:spcAft>
        <a:defRPr sz="3600">
          <a:solidFill>
            <a:schemeClr val="accent1"/>
          </a:solidFill>
          <a:latin typeface="Century Gothic" charset="0"/>
          <a:ea typeface="ＭＳ Ｐゴシック" charset="0"/>
          <a:cs typeface="ＭＳ Ｐゴシック" charset="0"/>
        </a:defRPr>
      </a:lvl9pPr>
    </p:titleStyle>
    <p:bodyStyle>
      <a:lvl1pPr marL="228600" indent="-228600" algn="l" rtl="0" eaLnBrk="0" fontAlgn="base" hangingPunct="0">
        <a:spcBef>
          <a:spcPts val="1800"/>
        </a:spcBef>
        <a:spcAft>
          <a:spcPct val="0"/>
        </a:spcAft>
        <a:buClr>
          <a:schemeClr val="accent1"/>
        </a:buClr>
        <a:buSzPct val="100000"/>
        <a:buFont typeface="Wingdings 2" panose="05020102010507070707" pitchFamily="18" charset="2"/>
        <a:buChar char="¡"/>
        <a:defRPr sz="2000" kern="1200">
          <a:solidFill>
            <a:schemeClr val="tx2"/>
          </a:solidFill>
          <a:latin typeface="+mn-lt"/>
          <a:ea typeface="MS PGothic" panose="020B0600070205080204" pitchFamily="34" charset="-128"/>
          <a:cs typeface="ＭＳ Ｐゴシック" charset="0"/>
        </a:defRPr>
      </a:lvl1pPr>
      <a:lvl2pPr marL="457200" indent="-228600" algn="l" rtl="0" eaLnBrk="0" fontAlgn="base" hangingPunct="0">
        <a:spcBef>
          <a:spcPts val="600"/>
        </a:spcBef>
        <a:spcAft>
          <a:spcPct val="0"/>
        </a:spcAft>
        <a:buClr>
          <a:srgbClr val="4D0000"/>
        </a:buClr>
        <a:buSzPct val="100000"/>
        <a:buFont typeface="Wingdings 2" panose="05020102010507070707" pitchFamily="18" charset="2"/>
        <a:buChar char="¡"/>
        <a:defRPr kern="1200">
          <a:solidFill>
            <a:schemeClr val="tx2"/>
          </a:solidFill>
          <a:latin typeface="+mn-lt"/>
          <a:ea typeface="MS PGothic" panose="020B0600070205080204" pitchFamily="34" charset="-128"/>
          <a:cs typeface="+mn-cs"/>
        </a:defRPr>
      </a:lvl2pPr>
      <a:lvl3pPr marL="685800" indent="-228600" algn="l" rtl="0" eaLnBrk="0" fontAlgn="base" hangingPunct="0">
        <a:spcBef>
          <a:spcPts val="600"/>
        </a:spcBef>
        <a:spcAft>
          <a:spcPct val="0"/>
        </a:spcAft>
        <a:buClr>
          <a:schemeClr val="accent1"/>
        </a:buClr>
        <a:buSzPct val="100000"/>
        <a:buFont typeface="Wingdings 2" panose="05020102010507070707" pitchFamily="18" charset="2"/>
        <a:buChar char="¡"/>
        <a:defRPr kern="1200">
          <a:solidFill>
            <a:schemeClr val="tx2"/>
          </a:solidFill>
          <a:latin typeface="+mn-lt"/>
          <a:ea typeface="MS PGothic" panose="020B0600070205080204" pitchFamily="34" charset="-128"/>
          <a:cs typeface="+mn-cs"/>
        </a:defRPr>
      </a:lvl3pPr>
      <a:lvl4pPr marL="914400" indent="-228600" algn="l" rtl="0" eaLnBrk="0" fontAlgn="base" hangingPunct="0">
        <a:spcBef>
          <a:spcPts val="600"/>
        </a:spcBef>
        <a:spcAft>
          <a:spcPct val="0"/>
        </a:spcAft>
        <a:buClr>
          <a:srgbClr val="4D0000"/>
        </a:buClr>
        <a:buSzPct val="100000"/>
        <a:buFont typeface="Wingdings 2" panose="05020102010507070707" pitchFamily="18" charset="2"/>
        <a:buChar char="¡"/>
        <a:defRPr kern="1200">
          <a:solidFill>
            <a:schemeClr val="tx2"/>
          </a:solidFill>
          <a:latin typeface="+mn-lt"/>
          <a:ea typeface="MS PGothic" panose="020B0600070205080204" pitchFamily="34" charset="-128"/>
          <a:cs typeface="+mn-cs"/>
        </a:defRPr>
      </a:lvl4pPr>
      <a:lvl5pPr marL="1143000" indent="-228600" algn="l" rtl="0" eaLnBrk="0" fontAlgn="base" hangingPunct="0">
        <a:spcBef>
          <a:spcPts val="600"/>
        </a:spcBef>
        <a:spcAft>
          <a:spcPct val="0"/>
        </a:spcAft>
        <a:buClr>
          <a:schemeClr val="accent1"/>
        </a:buClr>
        <a:buSzPct val="100000"/>
        <a:buFont typeface="Wingdings 2" panose="05020102010507070707" pitchFamily="18" charset="2"/>
        <a:buChar char="¡"/>
        <a:defRPr kern="1200">
          <a:solidFill>
            <a:schemeClr val="tx2"/>
          </a:solidFill>
          <a:latin typeface="+mn-lt"/>
          <a:ea typeface="MS PGothic" panose="020B0600070205080204" pitchFamily="34" charset="-128"/>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0.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0.xml"/><Relationship Id="rId1" Type="http://schemas.openxmlformats.org/officeDocument/2006/relationships/slideLayout" Target="../slideLayouts/slideLayout20.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ctrTitle"/>
          </p:nvPr>
        </p:nvSpPr>
        <p:spPr>
          <a:xfrm>
            <a:off x="4727576" y="4508500"/>
            <a:ext cx="5459413" cy="1049338"/>
          </a:xfrm>
        </p:spPr>
        <p:txBody>
          <a:bodyPr>
            <a:noAutofit/>
          </a:bodyPr>
          <a:lstStyle/>
          <a:p>
            <a:pPr fontAlgn="auto">
              <a:spcBef>
                <a:spcPts val="0"/>
              </a:spcBef>
              <a:spcAft>
                <a:spcPts val="0"/>
              </a:spcAft>
              <a:defRPr/>
            </a:pPr>
            <a:r>
              <a:rPr lang="en-US" sz="4400" b="1" dirty="0">
                <a:solidFill>
                  <a:srgbClr val="002060"/>
                </a:solidFill>
                <a:ea typeface="+mn-ea"/>
                <a:cs typeface="+mn-cs"/>
              </a:rPr>
              <a:t>Internet Firewalls and Security</a:t>
            </a:r>
          </a:p>
        </p:txBody>
      </p:sp>
    </p:spTree>
    <p:extLst>
      <p:ext uri="{BB962C8B-B14F-4D97-AF65-F5344CB8AC3E}">
        <p14:creationId xmlns:p14="http://schemas.microsoft.com/office/powerpoint/2010/main" val="100479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p:cNvSpPr>
            <a:spLocks noGrp="1" noChangeArrowheads="1"/>
          </p:cNvSpPr>
          <p:nvPr>
            <p:ph idx="1"/>
          </p:nvPr>
        </p:nvSpPr>
        <p:spPr>
          <a:xfrm>
            <a:off x="2303464" y="1557338"/>
            <a:ext cx="7907337" cy="4919662"/>
          </a:xfrm>
        </p:spPr>
        <p:txBody>
          <a:bodyPr/>
          <a:lstStyle/>
          <a:p>
            <a:pPr eaLnBrk="1" hangingPunct="1">
              <a:buFont typeface="Calisto MT" panose="02040603050505030304" pitchFamily="18" charset="0"/>
              <a:buNone/>
            </a:pPr>
            <a:r>
              <a:rPr lang="en-US" altLang="en-US" sz="2800" dirty="0">
                <a:solidFill>
                  <a:srgbClr val="050505"/>
                </a:solidFill>
              </a:rPr>
              <a:t>The function of a strong position is to make the forces holding it practically unassailable.</a:t>
            </a:r>
            <a:r>
              <a:rPr lang="en-AU" altLang="en-US" sz="2800" i="1" dirty="0">
                <a:solidFill>
                  <a:srgbClr val="050505"/>
                </a:solidFill>
              </a:rPr>
              <a:t>	</a:t>
            </a:r>
          </a:p>
          <a:p>
            <a:pPr algn="r" eaLnBrk="1" hangingPunct="1">
              <a:buFont typeface="Calisto MT" panose="02040603050505030304" pitchFamily="18" charset="0"/>
              <a:buNone/>
            </a:pPr>
            <a:r>
              <a:rPr lang="en-AU" altLang="en-US" sz="2800" b="1" i="1" dirty="0">
                <a:solidFill>
                  <a:srgbClr val="050505"/>
                </a:solidFill>
              </a:rPr>
              <a:t>—</a:t>
            </a:r>
            <a:r>
              <a:rPr lang="en-US" altLang="en-US" sz="2800" dirty="0">
                <a:solidFill>
                  <a:srgbClr val="050505"/>
                </a:solidFill>
              </a:rPr>
              <a:t> </a:t>
            </a:r>
            <a:r>
              <a:rPr lang="en-US" altLang="en-US" sz="2800" b="1" i="1" dirty="0">
                <a:solidFill>
                  <a:srgbClr val="050505"/>
                </a:solidFill>
              </a:rPr>
              <a:t>On War</a:t>
            </a:r>
            <a:r>
              <a:rPr lang="en-AU" altLang="en-US" sz="2800" b="1" i="1" dirty="0">
                <a:solidFill>
                  <a:srgbClr val="050505"/>
                </a:solidFill>
              </a:rPr>
              <a:t>, </a:t>
            </a:r>
            <a:r>
              <a:rPr lang="en-US" altLang="en-US" sz="2800" b="1" dirty="0">
                <a:solidFill>
                  <a:srgbClr val="050505"/>
                </a:solidFill>
              </a:rPr>
              <a:t>Carl Von Clausewitz</a:t>
            </a:r>
          </a:p>
          <a:p>
            <a:pPr eaLnBrk="1" hangingPunct="1">
              <a:buFont typeface="Calisto MT" panose="02040603050505030304" pitchFamily="18" charset="0"/>
              <a:buNone/>
            </a:pPr>
            <a:endParaRPr lang="en-US" altLang="en-US" sz="2800" i="1" dirty="0">
              <a:solidFill>
                <a:srgbClr val="050505"/>
              </a:solidFill>
            </a:endParaRPr>
          </a:p>
          <a:p>
            <a:pPr eaLnBrk="1" hangingPunct="1">
              <a:buFont typeface="Calisto MT" panose="02040603050505030304" pitchFamily="18" charset="0"/>
              <a:buNone/>
            </a:pPr>
            <a:r>
              <a:rPr lang="en-US" altLang="en-US" sz="2800" dirty="0">
                <a:solidFill>
                  <a:srgbClr val="050505"/>
                </a:solidFill>
              </a:rPr>
              <a:t>On the day that you take up your command, block the frontier passes, destroy the official tallies, and stop the passage of all emissaries.</a:t>
            </a:r>
          </a:p>
          <a:p>
            <a:pPr algn="r" eaLnBrk="1" hangingPunct="1">
              <a:buFont typeface="Calisto MT" panose="02040603050505030304" pitchFamily="18" charset="0"/>
              <a:buNone/>
            </a:pPr>
            <a:r>
              <a:rPr lang="en-US" altLang="en-US" sz="2800" b="1" i="1" dirty="0">
                <a:solidFill>
                  <a:srgbClr val="050505"/>
                </a:solidFill>
              </a:rPr>
              <a:t>—The Art of War,</a:t>
            </a:r>
            <a:r>
              <a:rPr lang="en-US" altLang="en-US" sz="2800" dirty="0"/>
              <a:t> </a:t>
            </a:r>
            <a:r>
              <a:rPr lang="en-US" altLang="en-US" sz="2800" b="1" dirty="0">
                <a:solidFill>
                  <a:srgbClr val="050505"/>
                </a:solidFill>
              </a:rPr>
              <a:t>Sun Tzu</a:t>
            </a:r>
            <a:endParaRPr lang="en-AU" altLang="en-US" sz="2800" b="1" dirty="0">
              <a:solidFill>
                <a:srgbClr val="050505"/>
              </a:solidFill>
            </a:endParaRPr>
          </a:p>
          <a:p>
            <a:pPr eaLnBrk="1" hangingPunct="1">
              <a:buFont typeface="Wingdings" panose="05000000000000000000" pitchFamily="2" charset="2"/>
              <a:buChar char="Ø"/>
            </a:pPr>
            <a:endParaRPr lang="en-AU" altLang="en-US" sz="3600" i="1" dirty="0"/>
          </a:p>
        </p:txBody>
      </p:sp>
    </p:spTree>
    <p:extLst>
      <p:ext uri="{BB962C8B-B14F-4D97-AF65-F5344CB8AC3E}">
        <p14:creationId xmlns:p14="http://schemas.microsoft.com/office/powerpoint/2010/main" val="17665386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p:cNvSpPr>
            <a:spLocks noGrp="1"/>
          </p:cNvSpPr>
          <p:nvPr>
            <p:ph type="title"/>
          </p:nvPr>
        </p:nvSpPr>
        <p:spPr>
          <a:xfrm>
            <a:off x="530659" y="243401"/>
            <a:ext cx="9518848" cy="1143000"/>
          </a:xfrm>
        </p:spPr>
        <p:txBody>
          <a:bodyPr/>
          <a:lstStyle/>
          <a:p>
            <a:r>
              <a:rPr lang="en-US" altLang="en-US" dirty="0"/>
              <a:t>Defenses</a:t>
            </a:r>
          </a:p>
        </p:txBody>
      </p:sp>
      <p:pic>
        <p:nvPicPr>
          <p:cNvPr id="1638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525016" y="1621579"/>
            <a:ext cx="7018338" cy="5181600"/>
          </a:xfrm>
          <a:noFill/>
        </p:spPr>
      </p:pic>
    </p:spTree>
    <p:extLst>
      <p:ext uri="{BB962C8B-B14F-4D97-AF65-F5344CB8AC3E}">
        <p14:creationId xmlns:p14="http://schemas.microsoft.com/office/powerpoint/2010/main" val="34929027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p:cNvSpPr>
            <a:spLocks noGrp="1"/>
          </p:cNvSpPr>
          <p:nvPr>
            <p:ph type="title"/>
          </p:nvPr>
        </p:nvSpPr>
        <p:spPr>
          <a:xfrm>
            <a:off x="431983" y="59206"/>
            <a:ext cx="9518848" cy="1143000"/>
          </a:xfrm>
        </p:spPr>
        <p:txBody>
          <a:bodyPr/>
          <a:lstStyle/>
          <a:p>
            <a:r>
              <a:rPr lang="en-US" altLang="en-US" dirty="0"/>
              <a:t>Firewalls</a:t>
            </a:r>
          </a:p>
        </p:txBody>
      </p:sp>
      <p:pic>
        <p:nvPicPr>
          <p:cNvPr id="1843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228988" y="1397914"/>
            <a:ext cx="7531100" cy="5257800"/>
          </a:xfrm>
          <a:noFill/>
        </p:spPr>
      </p:pic>
    </p:spTree>
    <p:extLst>
      <p:ext uri="{BB962C8B-B14F-4D97-AF65-F5344CB8AC3E}">
        <p14:creationId xmlns:p14="http://schemas.microsoft.com/office/powerpoint/2010/main" val="22904247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2063750" y="333375"/>
            <a:ext cx="6508750" cy="935038"/>
          </a:xfrm>
        </p:spPr>
        <p:txBody>
          <a:bodyPr/>
          <a:lstStyle/>
          <a:p>
            <a:r>
              <a:rPr lang="en-US" altLang="en-US"/>
              <a:t>Introduction</a:t>
            </a:r>
          </a:p>
        </p:txBody>
      </p:sp>
      <p:sp>
        <p:nvSpPr>
          <p:cNvPr id="3" name="Content Placeholder 2"/>
          <p:cNvSpPr>
            <a:spLocks noGrp="1"/>
          </p:cNvSpPr>
          <p:nvPr>
            <p:ph idx="1"/>
          </p:nvPr>
        </p:nvSpPr>
        <p:spPr>
          <a:xfrm>
            <a:off x="1919288" y="1628775"/>
            <a:ext cx="8424862" cy="4464050"/>
          </a:xfrm>
        </p:spPr>
        <p:txBody>
          <a:bodyPr/>
          <a:lstStyle/>
          <a:p>
            <a:pPr>
              <a:lnSpc>
                <a:spcPct val="114000"/>
              </a:lnSpc>
              <a:defRPr/>
            </a:pPr>
            <a:r>
              <a:rPr lang="en-US" sz="2200" dirty="0">
                <a:ea typeface="ＭＳ Ｐゴシック" charset="0"/>
              </a:rPr>
              <a:t>Increasing concerns about the security of organization’s networks when they expose their private data and networking infrastructure to Internet</a:t>
            </a:r>
          </a:p>
          <a:p>
            <a:pPr>
              <a:lnSpc>
                <a:spcPct val="114000"/>
              </a:lnSpc>
              <a:defRPr/>
            </a:pPr>
            <a:r>
              <a:rPr lang="en-US" sz="2200" dirty="0">
                <a:ea typeface="ＭＳ Ｐゴシック" charset="0"/>
              </a:rPr>
              <a:t>Organization needs a security policy to prevent unauthorized users from accessing resources on the private network and to protect against the unauthorized export of private information</a:t>
            </a:r>
          </a:p>
          <a:p>
            <a:pPr>
              <a:lnSpc>
                <a:spcPct val="114000"/>
              </a:lnSpc>
              <a:defRPr/>
            </a:pPr>
            <a:r>
              <a:rPr lang="en-US" sz="2200" dirty="0">
                <a:ea typeface="ＭＳ Ｐゴシック" charset="0"/>
              </a:rPr>
              <a:t>Organization needs to also establish an internal security policy to manage user access to portions of the network and protect sensitive or secret information.</a:t>
            </a:r>
          </a:p>
          <a:p>
            <a:pPr marL="228600" lvl="1">
              <a:lnSpc>
                <a:spcPct val="114000"/>
              </a:lnSpc>
              <a:spcBef>
                <a:spcPts val="1800"/>
              </a:spcBef>
              <a:buClr>
                <a:schemeClr val="accent1"/>
              </a:buClr>
              <a:defRPr/>
            </a:pPr>
            <a:r>
              <a:rPr lang="en-AU" sz="2200" dirty="0">
                <a:solidFill>
                  <a:schemeClr val="tx2">
                    <a:lumMod val="10000"/>
                  </a:schemeClr>
                </a:solidFill>
                <a:latin typeface="Adobe Caslon Pro" pitchFamily="18" charset="0"/>
                <a:ea typeface="ＭＳ Ｐゴシック" charset="0"/>
              </a:rPr>
              <a:t>While it is possible to equip each workstation and server on the premises network with strong security features, this may not be sufficient and in some cases is not cost-effective</a:t>
            </a:r>
          </a:p>
          <a:p>
            <a:pPr>
              <a:lnSpc>
                <a:spcPct val="114000"/>
              </a:lnSpc>
              <a:defRPr/>
            </a:pPr>
            <a:endParaRPr lang="en-US" sz="2200" dirty="0">
              <a:ea typeface="ＭＳ Ｐゴシック" charset="0"/>
            </a:endParaRPr>
          </a:p>
        </p:txBody>
      </p:sp>
    </p:spTree>
    <p:extLst>
      <p:ext uri="{BB962C8B-B14F-4D97-AF65-F5344CB8AC3E}">
        <p14:creationId xmlns:p14="http://schemas.microsoft.com/office/powerpoint/2010/main" val="4249120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2063750" y="63501"/>
            <a:ext cx="8604250" cy="773113"/>
          </a:xfrm>
        </p:spPr>
        <p:txBody>
          <a:bodyPr/>
          <a:lstStyle/>
          <a:p>
            <a:pPr eaLnBrk="1" hangingPunct="1"/>
            <a:r>
              <a:rPr lang="en-US" altLang="en-US"/>
              <a:t>What is a Firewall?</a:t>
            </a:r>
            <a:endParaRPr lang="en-AU" altLang="en-US"/>
          </a:p>
        </p:txBody>
      </p:sp>
      <p:sp>
        <p:nvSpPr>
          <p:cNvPr id="46083" name="Rectangle 3"/>
          <p:cNvSpPr>
            <a:spLocks noGrp="1" noChangeArrowheads="1"/>
          </p:cNvSpPr>
          <p:nvPr>
            <p:ph idx="1"/>
          </p:nvPr>
        </p:nvSpPr>
        <p:spPr>
          <a:xfrm>
            <a:off x="743361" y="1412875"/>
            <a:ext cx="9673814" cy="5501041"/>
          </a:xfrm>
        </p:spPr>
        <p:txBody>
          <a:bodyPr rtlCol="0">
            <a:noAutofit/>
          </a:bodyPr>
          <a:lstStyle/>
          <a:p>
            <a:pPr eaLnBrk="1" fontAlgn="auto" hangingPunct="1">
              <a:spcBef>
                <a:spcPts val="600"/>
              </a:spcBef>
              <a:spcAft>
                <a:spcPts val="0"/>
              </a:spcAft>
              <a:buFont typeface="Calisto MT" pitchFamily="18" charset="0"/>
              <a:buChar char="•"/>
              <a:defRPr/>
            </a:pPr>
            <a:r>
              <a:rPr lang="en-AU" sz="2800" dirty="0">
                <a:solidFill>
                  <a:schemeClr val="tx2">
                    <a:lumMod val="10000"/>
                  </a:schemeClr>
                </a:solidFill>
                <a:ea typeface="+mn-ea"/>
                <a:cs typeface="+mn-cs"/>
              </a:rPr>
              <a:t>Firewall</a:t>
            </a:r>
          </a:p>
          <a:p>
            <a:pPr lvl="1" eaLnBrk="1" fontAlgn="auto" hangingPunct="1">
              <a:spcAft>
                <a:spcPts val="0"/>
              </a:spcAft>
              <a:buClr>
                <a:schemeClr val="tx1"/>
              </a:buClr>
              <a:buSzPct val="77000"/>
              <a:buFont typeface="Courier New" panose="02070309020205020404" pitchFamily="49" charset="0"/>
              <a:buChar char="o"/>
              <a:defRPr/>
            </a:pPr>
            <a:r>
              <a:rPr lang="en-AU" sz="2400" dirty="0">
                <a:solidFill>
                  <a:schemeClr val="tx1"/>
                </a:solidFill>
                <a:latin typeface="Adobe Caslon Pro" pitchFamily="18" charset="0"/>
                <a:ea typeface="ＭＳ Ｐゴシック" charset="0"/>
              </a:rPr>
              <a:t>An alternative, or at least complement, to host-based security services</a:t>
            </a:r>
          </a:p>
          <a:p>
            <a:pPr lvl="1" eaLnBrk="1" fontAlgn="auto" hangingPunct="1">
              <a:spcAft>
                <a:spcPts val="0"/>
              </a:spcAft>
              <a:buClr>
                <a:schemeClr val="tx1"/>
              </a:buClr>
              <a:buSzPct val="77000"/>
              <a:buFont typeface="Courier New" panose="02070309020205020404" pitchFamily="49" charset="0"/>
              <a:buChar char="o"/>
              <a:defRPr/>
            </a:pPr>
            <a:r>
              <a:rPr lang="en-US" sz="2400" dirty="0">
                <a:solidFill>
                  <a:schemeClr val="tx1"/>
                </a:solidFill>
                <a:latin typeface="Adobe Caslon Pro" pitchFamily="18" charset="0"/>
                <a:ea typeface="ＭＳ Ｐゴシック" charset="0"/>
              </a:rPr>
              <a:t>Is a system or group of systems (combination of hardware and software) that enforces a security policy between an organization's network and the Internet. </a:t>
            </a:r>
          </a:p>
          <a:p>
            <a:pPr lvl="1" eaLnBrk="1" fontAlgn="auto" hangingPunct="1">
              <a:spcAft>
                <a:spcPts val="0"/>
              </a:spcAft>
              <a:buClr>
                <a:schemeClr val="tx1"/>
              </a:buClr>
              <a:buSzPct val="77000"/>
              <a:buFont typeface="Courier New" panose="02070309020205020404" pitchFamily="49" charset="0"/>
              <a:buChar char="o"/>
              <a:defRPr/>
            </a:pPr>
            <a:r>
              <a:rPr lang="en-AU" sz="2400" dirty="0">
                <a:solidFill>
                  <a:schemeClr val="tx1"/>
                </a:solidFill>
                <a:latin typeface="Adobe Caslon Pro" pitchFamily="18" charset="0"/>
                <a:ea typeface="+mn-ea"/>
              </a:rPr>
              <a:t>Is inserted between the premises network and the Internet to establish a controlled link and to erect an outer security wall or perimeter</a:t>
            </a:r>
          </a:p>
          <a:p>
            <a:pPr lvl="1" eaLnBrk="1" fontAlgn="auto" hangingPunct="1">
              <a:spcAft>
                <a:spcPts val="0"/>
              </a:spcAft>
              <a:buClr>
                <a:schemeClr val="tx1"/>
              </a:buClr>
              <a:buSzPct val="77000"/>
              <a:buFont typeface="Courier New" panose="02070309020205020404" pitchFamily="49" charset="0"/>
              <a:buChar char="o"/>
              <a:defRPr/>
            </a:pPr>
            <a:r>
              <a:rPr lang="en-US" sz="2400" dirty="0">
                <a:solidFill>
                  <a:schemeClr val="tx1"/>
                </a:solidFill>
                <a:latin typeface="Adobe Caslon Pro" pitchFamily="18" charset="0"/>
                <a:ea typeface="+mn-ea"/>
              </a:rPr>
              <a:t>Part of an overall security policy that creates a perimeter defense designed to protect the information resources of the organization</a:t>
            </a:r>
            <a:endParaRPr lang="en-AU" sz="2400" dirty="0">
              <a:solidFill>
                <a:schemeClr val="tx1"/>
              </a:solidFill>
              <a:latin typeface="Adobe Caslon Pro" pitchFamily="18" charset="0"/>
              <a:ea typeface="+mn-ea"/>
            </a:endParaRPr>
          </a:p>
          <a:p>
            <a:pPr lvl="1" eaLnBrk="1" fontAlgn="auto" hangingPunct="1">
              <a:spcAft>
                <a:spcPts val="0"/>
              </a:spcAft>
              <a:buClr>
                <a:schemeClr val="tx1"/>
              </a:buClr>
              <a:buSzPct val="77000"/>
              <a:buFont typeface="Courier New" panose="02070309020205020404" pitchFamily="49" charset="0"/>
              <a:buChar char="o"/>
              <a:defRPr/>
            </a:pPr>
            <a:r>
              <a:rPr lang="en-AU" sz="2400" dirty="0">
                <a:solidFill>
                  <a:schemeClr val="tx1"/>
                </a:solidFill>
                <a:latin typeface="Adobe Caslon Pro" pitchFamily="18" charset="0"/>
                <a:ea typeface="+mn-ea"/>
              </a:rPr>
              <a:t>The aim of this perimeter is to protect the premises network from Internet-based attacks and to provide a single choke point where security and auditing can be imposed</a:t>
            </a:r>
          </a:p>
          <a:p>
            <a:pPr marL="0" indent="0" eaLnBrk="1" fontAlgn="auto" hangingPunct="1">
              <a:spcBef>
                <a:spcPts val="600"/>
              </a:spcBef>
              <a:spcAft>
                <a:spcPts val="0"/>
              </a:spcAft>
              <a:buNone/>
              <a:defRPr/>
            </a:pPr>
            <a:endParaRPr lang="en-AU" sz="2800" dirty="0">
              <a:solidFill>
                <a:schemeClr val="tx2">
                  <a:lumMod val="10000"/>
                </a:schemeClr>
              </a:solidFill>
              <a:ea typeface="+mn-ea"/>
              <a:cs typeface="+mn-cs"/>
            </a:endParaRPr>
          </a:p>
          <a:p>
            <a:pPr eaLnBrk="1" fontAlgn="auto" hangingPunct="1">
              <a:spcBef>
                <a:spcPts val="600"/>
              </a:spcBef>
              <a:spcAft>
                <a:spcPts val="0"/>
              </a:spcAft>
              <a:buFont typeface="Calisto MT" pitchFamily="18" charset="0"/>
              <a:buChar char="•"/>
              <a:defRPr/>
            </a:pPr>
            <a:endParaRPr lang="en-AU" sz="2800" dirty="0">
              <a:solidFill>
                <a:schemeClr val="tx2">
                  <a:lumMod val="10000"/>
                </a:schemeClr>
              </a:solidFill>
              <a:ea typeface="+mn-ea"/>
              <a:cs typeface="+mn-cs"/>
            </a:endParaRPr>
          </a:p>
          <a:p>
            <a:pPr eaLnBrk="1" fontAlgn="auto" hangingPunct="1">
              <a:spcBef>
                <a:spcPts val="600"/>
              </a:spcBef>
              <a:spcAft>
                <a:spcPts val="0"/>
              </a:spcAft>
              <a:buFont typeface="Calisto MT" pitchFamily="18" charset="0"/>
              <a:buChar char="•"/>
              <a:defRPr/>
            </a:pPr>
            <a:endParaRPr lang="en-AU" sz="2800" dirty="0">
              <a:solidFill>
                <a:schemeClr val="tx2">
                  <a:lumMod val="10000"/>
                </a:schemeClr>
              </a:solidFill>
              <a:ea typeface="+mn-ea"/>
              <a:cs typeface="+mn-cs"/>
            </a:endParaRPr>
          </a:p>
        </p:txBody>
      </p:sp>
    </p:spTree>
    <p:extLst>
      <p:ext uri="{BB962C8B-B14F-4D97-AF65-F5344CB8AC3E}">
        <p14:creationId xmlns:p14="http://schemas.microsoft.com/office/powerpoint/2010/main" val="14986602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1" name="Content Placeholder 3" descr="F13-09.jpg"/>
          <p:cNvPicPr>
            <a:picLocks noGrp="1" noChangeAspect="1"/>
          </p:cNvPicPr>
          <p:nvPr>
            <p:ph idx="1"/>
          </p:nvPr>
        </p:nvPicPr>
        <p:blipFill>
          <a:blip r:embed="rId3" cstate="print">
            <a:extLst>
              <a:ext uri="{28A0092B-C50C-407E-A947-70E740481C1C}">
                <a14:useLocalDpi xmlns:a14="http://schemas.microsoft.com/office/drawing/2010/main" val="0"/>
              </a:ext>
            </a:extLst>
          </a:blip>
          <a:srcRect t="-2084" b="-2084"/>
          <a:stretch>
            <a:fillRect/>
          </a:stretch>
        </p:blipFill>
        <p:spPr>
          <a:xfrm>
            <a:off x="1190693" y="2204865"/>
            <a:ext cx="9367667" cy="3916363"/>
          </a:xfrm>
        </p:spPr>
      </p:pic>
    </p:spTree>
    <p:extLst>
      <p:ext uri="{BB962C8B-B14F-4D97-AF65-F5344CB8AC3E}">
        <p14:creationId xmlns:p14="http://schemas.microsoft.com/office/powerpoint/2010/main" val="8502837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524000" y="63501"/>
            <a:ext cx="9144000" cy="701675"/>
          </a:xfrm>
        </p:spPr>
        <p:txBody>
          <a:bodyPr/>
          <a:lstStyle/>
          <a:p>
            <a:pPr eaLnBrk="1" hangingPunct="1"/>
            <a:r>
              <a:rPr lang="en-AU" altLang="en-US"/>
              <a:t>Firewall characteristics</a:t>
            </a:r>
          </a:p>
        </p:txBody>
      </p:sp>
      <p:sp>
        <p:nvSpPr>
          <p:cNvPr id="26627" name="Rectangle 3"/>
          <p:cNvSpPr>
            <a:spLocks noGrp="1" noChangeArrowheads="1"/>
          </p:cNvSpPr>
          <p:nvPr>
            <p:ph idx="1"/>
          </p:nvPr>
        </p:nvSpPr>
        <p:spPr>
          <a:xfrm>
            <a:off x="874929" y="836613"/>
            <a:ext cx="9542246" cy="2736850"/>
          </a:xfrm>
        </p:spPr>
        <p:txBody>
          <a:bodyPr/>
          <a:lstStyle/>
          <a:p>
            <a:pPr eaLnBrk="1" hangingPunct="1">
              <a:buFont typeface="Calisto MT" panose="02040603050505030304" pitchFamily="18" charset="0"/>
              <a:buChar char="•"/>
            </a:pPr>
            <a:r>
              <a:rPr lang="en-AU" altLang="en-US" sz="2200" dirty="0">
                <a:solidFill>
                  <a:srgbClr val="050505"/>
                </a:solidFill>
              </a:rPr>
              <a:t>Design goals for a firewall:</a:t>
            </a:r>
          </a:p>
          <a:p>
            <a:pPr lvl="1" eaLnBrk="1" hangingPunct="1">
              <a:buClr>
                <a:schemeClr val="bg1"/>
              </a:buClr>
              <a:buFont typeface="Calisto MT" panose="02040603050505030304" pitchFamily="18" charset="0"/>
              <a:buChar char="•"/>
            </a:pPr>
            <a:r>
              <a:rPr lang="en-AU" altLang="en-US" sz="2200" dirty="0">
                <a:solidFill>
                  <a:srgbClr val="050505"/>
                </a:solidFill>
                <a:latin typeface="Adobe Caslon Pro" panose="0205050205050A020403" pitchFamily="18" charset="0"/>
              </a:rPr>
              <a:t>All traffic from inside to outside, and vice versa, must pass through the firewall</a:t>
            </a:r>
          </a:p>
          <a:p>
            <a:pPr lvl="1" eaLnBrk="1" hangingPunct="1">
              <a:buClr>
                <a:schemeClr val="bg1"/>
              </a:buClr>
              <a:buFont typeface="Calisto MT" panose="02040603050505030304" pitchFamily="18" charset="0"/>
              <a:buChar char="•"/>
            </a:pPr>
            <a:r>
              <a:rPr lang="en-AU" altLang="en-US" sz="2200" dirty="0">
                <a:solidFill>
                  <a:srgbClr val="050505"/>
                </a:solidFill>
                <a:latin typeface="Adobe Caslon Pro" panose="0205050205050A020403" pitchFamily="18" charset="0"/>
              </a:rPr>
              <a:t>Only authorized traffic, as defined by the local security policy, will be allowed to pass</a:t>
            </a:r>
          </a:p>
          <a:p>
            <a:pPr lvl="1" eaLnBrk="1" hangingPunct="1">
              <a:buClr>
                <a:schemeClr val="bg1"/>
              </a:buClr>
              <a:buFont typeface="Calisto MT" panose="02040603050505030304" pitchFamily="18" charset="0"/>
              <a:buChar char="•"/>
            </a:pPr>
            <a:r>
              <a:rPr lang="en-AU" altLang="en-US" sz="2200" dirty="0">
                <a:solidFill>
                  <a:srgbClr val="050505"/>
                </a:solidFill>
                <a:latin typeface="Adobe Caslon Pro" panose="0205050205050A020403" pitchFamily="18" charset="0"/>
              </a:rPr>
              <a:t>The firewall itself is immune to penetration</a:t>
            </a:r>
          </a:p>
          <a:p>
            <a:pPr eaLnBrk="1" hangingPunct="1">
              <a:buFont typeface="Calisto MT" panose="02040603050505030304" pitchFamily="18" charset="0"/>
              <a:buChar char="•"/>
            </a:pPr>
            <a:r>
              <a:rPr lang="en-AU" altLang="en-US" sz="2200" dirty="0">
                <a:solidFill>
                  <a:srgbClr val="050505"/>
                </a:solidFill>
              </a:rPr>
              <a:t>Techniques that firewalls use to control access and enforce the site’s security policy:</a:t>
            </a:r>
          </a:p>
        </p:txBody>
      </p:sp>
      <p:graphicFrame>
        <p:nvGraphicFramePr>
          <p:cNvPr id="4" name="Diagram 3"/>
          <p:cNvGraphicFramePr/>
          <p:nvPr>
            <p:extLst>
              <p:ext uri="{D42A27DB-BD31-4B8C-83A1-F6EECF244321}">
                <p14:modId xmlns:p14="http://schemas.microsoft.com/office/powerpoint/2010/main" val="2784633707"/>
              </p:ext>
            </p:extLst>
          </p:nvPr>
        </p:nvGraphicFramePr>
        <p:xfrm>
          <a:off x="1203850" y="3361571"/>
          <a:ext cx="9428654" cy="34964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7334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1524000" y="63501"/>
            <a:ext cx="9144000" cy="773113"/>
          </a:xfrm>
        </p:spPr>
        <p:txBody>
          <a:bodyPr/>
          <a:lstStyle/>
          <a:p>
            <a:pPr eaLnBrk="1" hangingPunct="1"/>
            <a:r>
              <a:rPr lang="en-US" altLang="en-US"/>
              <a:t>Benefits of an Internet Firewall</a:t>
            </a:r>
          </a:p>
        </p:txBody>
      </p:sp>
      <p:graphicFrame>
        <p:nvGraphicFramePr>
          <p:cNvPr id="4" name="Content Placeholder 3"/>
          <p:cNvGraphicFramePr>
            <a:graphicFrameLocks noGrp="1"/>
          </p:cNvGraphicFramePr>
          <p:nvPr>
            <p:ph idx="1"/>
          </p:nvPr>
        </p:nvGraphicFramePr>
        <p:xfrm>
          <a:off x="1991545" y="1052736"/>
          <a:ext cx="7704855" cy="54242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521537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1524000" y="63501"/>
            <a:ext cx="9144000" cy="773113"/>
          </a:xfrm>
        </p:spPr>
        <p:txBody>
          <a:bodyPr/>
          <a:lstStyle/>
          <a:p>
            <a:pPr eaLnBrk="1" hangingPunct="1"/>
            <a:r>
              <a:rPr lang="en-US" altLang="en-US"/>
              <a:t>Firewall limitations</a:t>
            </a:r>
          </a:p>
        </p:txBody>
      </p:sp>
      <p:graphicFrame>
        <p:nvGraphicFramePr>
          <p:cNvPr id="7" name="Diagram 6"/>
          <p:cNvGraphicFramePr/>
          <p:nvPr/>
        </p:nvGraphicFramePr>
        <p:xfrm>
          <a:off x="1524000" y="1268760"/>
          <a:ext cx="9296400" cy="51320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8676" name="TextBox 8"/>
          <p:cNvSpPr txBox="1">
            <a:spLocks noChangeArrowheads="1"/>
          </p:cNvSpPr>
          <p:nvPr/>
        </p:nvSpPr>
        <p:spPr bwMode="auto">
          <a:xfrm>
            <a:off x="5399088" y="3644901"/>
            <a:ext cx="1828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1800"/>
              </a:spcBef>
              <a:buClr>
                <a:schemeClr val="accent1"/>
              </a:buClr>
              <a:buSzPct val="100000"/>
              <a:buFont typeface="Wingdings 2" panose="05020102010507070707" pitchFamily="18" charset="2"/>
              <a:buChar char="¡"/>
              <a:defRPr sz="2000">
                <a:solidFill>
                  <a:schemeClr val="tx2"/>
                </a:solidFill>
                <a:latin typeface="Century Gothic" panose="020B0502020202020204" pitchFamily="34" charset="0"/>
                <a:ea typeface="MS PGothic" panose="020B0600070205080204" pitchFamily="34" charset="-128"/>
              </a:defRPr>
            </a:lvl1pPr>
            <a:lvl2pPr marL="742950" indent="-285750" eaLnBrk="0" hangingPunct="0">
              <a:spcBef>
                <a:spcPts val="600"/>
              </a:spcBef>
              <a:buClr>
                <a:srgbClr val="4D0000"/>
              </a:buClr>
              <a:buSzPct val="100000"/>
              <a:buFont typeface="Wingdings 2" panose="05020102010507070707" pitchFamily="18" charset="2"/>
              <a:buChar char="¡"/>
              <a:defRPr>
                <a:solidFill>
                  <a:schemeClr val="tx2"/>
                </a:solidFill>
                <a:latin typeface="Century Gothic" panose="020B0502020202020204" pitchFamily="34" charset="0"/>
                <a:ea typeface="MS PGothic" panose="020B0600070205080204" pitchFamily="34" charset="-128"/>
              </a:defRPr>
            </a:lvl2pPr>
            <a:lvl3pPr marL="1143000" indent="-228600" eaLnBrk="0" hangingPunct="0">
              <a:spcBef>
                <a:spcPts val="600"/>
              </a:spcBef>
              <a:buClr>
                <a:schemeClr val="accent1"/>
              </a:buClr>
              <a:buSzPct val="100000"/>
              <a:buFont typeface="Wingdings 2" panose="05020102010507070707" pitchFamily="18" charset="2"/>
              <a:buChar char="¡"/>
              <a:defRPr>
                <a:solidFill>
                  <a:schemeClr val="tx2"/>
                </a:solidFill>
                <a:latin typeface="Century Gothic" panose="020B0502020202020204" pitchFamily="34" charset="0"/>
                <a:ea typeface="MS PGothic" panose="020B0600070205080204" pitchFamily="34" charset="-128"/>
              </a:defRPr>
            </a:lvl3pPr>
            <a:lvl4pPr marL="1600200" indent="-228600" eaLnBrk="0" hangingPunct="0">
              <a:spcBef>
                <a:spcPts val="600"/>
              </a:spcBef>
              <a:buClr>
                <a:srgbClr val="4D0000"/>
              </a:buClr>
              <a:buSzPct val="100000"/>
              <a:buFont typeface="Wingdings 2" panose="05020102010507070707" pitchFamily="18" charset="2"/>
              <a:buChar char="¡"/>
              <a:defRPr>
                <a:solidFill>
                  <a:schemeClr val="tx2"/>
                </a:solidFill>
                <a:latin typeface="Century Gothic" panose="020B0502020202020204" pitchFamily="34" charset="0"/>
                <a:ea typeface="MS PGothic" panose="020B0600070205080204" pitchFamily="34" charset="-128"/>
              </a:defRPr>
            </a:lvl4pPr>
            <a:lvl5pPr marL="2057400" indent="-228600" eaLnBrk="0" hangingPunct="0">
              <a:spcBef>
                <a:spcPts val="600"/>
              </a:spcBef>
              <a:buClr>
                <a:schemeClr val="accent1"/>
              </a:buClr>
              <a:buSzPct val="100000"/>
              <a:buFont typeface="Wingdings 2" panose="05020102010507070707" pitchFamily="18" charset="2"/>
              <a:buChar char="¡"/>
              <a:defRPr>
                <a:solidFill>
                  <a:schemeClr val="tx2"/>
                </a:solidFill>
                <a:latin typeface="Century Gothic" panose="020B0502020202020204" pitchFamily="34" charset="0"/>
                <a:ea typeface="MS PGothic" panose="020B0600070205080204" pitchFamily="34" charset="-128"/>
              </a:defRPr>
            </a:lvl5pPr>
            <a:lvl6pPr marL="25146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Century Gothic" panose="020B0502020202020204" pitchFamily="34" charset="0"/>
                <a:ea typeface="MS PGothic" panose="020B0600070205080204" pitchFamily="34" charset="-128"/>
              </a:defRPr>
            </a:lvl6pPr>
            <a:lvl7pPr marL="29718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Century Gothic" panose="020B0502020202020204" pitchFamily="34" charset="0"/>
                <a:ea typeface="MS PGothic" panose="020B0600070205080204" pitchFamily="34" charset="-128"/>
              </a:defRPr>
            </a:lvl7pPr>
            <a:lvl8pPr marL="34290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Century Gothic" panose="020B0502020202020204" pitchFamily="34" charset="0"/>
                <a:ea typeface="MS PGothic" panose="020B0600070205080204" pitchFamily="34" charset="-128"/>
              </a:defRPr>
            </a:lvl8pPr>
            <a:lvl9pPr marL="38862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Century Gothic" panose="020B0502020202020204" pitchFamily="34" charset="0"/>
                <a:ea typeface="MS PGothic" panose="020B0600070205080204" pitchFamily="34" charset="-128"/>
              </a:defRPr>
            </a:lvl9pPr>
          </a:lstStyle>
          <a:p>
            <a:pPr eaLnBrk="1" hangingPunct="1">
              <a:spcBef>
                <a:spcPct val="0"/>
              </a:spcBef>
              <a:buClrTx/>
              <a:buSzTx/>
              <a:buFontTx/>
              <a:buNone/>
            </a:pPr>
            <a:r>
              <a:rPr lang="en-US" altLang="en-US" sz="2800" b="1">
                <a:solidFill>
                  <a:srgbClr val="002060"/>
                </a:solidFill>
                <a:latin typeface="Arial" panose="020B0604020202020204" pitchFamily="34" charset="0"/>
              </a:rPr>
              <a:t>Firewall</a:t>
            </a:r>
          </a:p>
        </p:txBody>
      </p:sp>
    </p:spTree>
    <p:extLst>
      <p:ext uri="{BB962C8B-B14F-4D97-AF65-F5344CB8AC3E}">
        <p14:creationId xmlns:p14="http://schemas.microsoft.com/office/powerpoint/2010/main" val="253809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1992314" y="115889"/>
            <a:ext cx="7138987" cy="649287"/>
          </a:xfrm>
        </p:spPr>
        <p:txBody>
          <a:bodyPr/>
          <a:lstStyle/>
          <a:p>
            <a:r>
              <a:rPr lang="en-US" altLang="en-US" sz="3600"/>
              <a:t>Basic Firewall Design Decisions</a:t>
            </a:r>
          </a:p>
        </p:txBody>
      </p:sp>
      <p:sp>
        <p:nvSpPr>
          <p:cNvPr id="29699" name="Content Placeholder 2"/>
          <p:cNvSpPr>
            <a:spLocks noGrp="1"/>
          </p:cNvSpPr>
          <p:nvPr>
            <p:ph idx="1"/>
          </p:nvPr>
        </p:nvSpPr>
        <p:spPr>
          <a:xfrm>
            <a:off x="861772" y="1178428"/>
            <a:ext cx="10860967" cy="4708525"/>
          </a:xfrm>
        </p:spPr>
        <p:txBody>
          <a:bodyPr/>
          <a:lstStyle/>
          <a:p>
            <a:r>
              <a:rPr lang="en-US" altLang="en-US" i="1" dirty="0"/>
              <a:t>Stance of the Firewall : </a:t>
            </a:r>
            <a:r>
              <a:rPr lang="en-US" altLang="en-US" dirty="0"/>
              <a:t>describes the fundamental security philosophy of the organization.</a:t>
            </a:r>
          </a:p>
          <a:p>
            <a:pPr lvl="1"/>
            <a:r>
              <a:rPr lang="en-US" altLang="en-US" i="1" dirty="0"/>
              <a:t>Everything not specifically permitted is denied (Recommended, security vs. ease of use)</a:t>
            </a:r>
          </a:p>
          <a:p>
            <a:pPr lvl="1"/>
            <a:r>
              <a:rPr lang="en-US" altLang="en-US" i="1" dirty="0"/>
              <a:t>Everything not specifically denied is permitted</a:t>
            </a:r>
            <a:r>
              <a:rPr lang="en-US" altLang="en-US" dirty="0"/>
              <a:t> </a:t>
            </a:r>
          </a:p>
          <a:p>
            <a:r>
              <a:rPr lang="en-US" altLang="en-US" i="1" dirty="0"/>
              <a:t>Security Policy of the Organization</a:t>
            </a:r>
          </a:p>
          <a:p>
            <a:pPr lvl="1"/>
            <a:r>
              <a:rPr lang="en-US" altLang="en-US" i="1" dirty="0"/>
              <a:t>The security policy must be based on a carefully conducted security analysis, risk assessment, and business needs analysis</a:t>
            </a:r>
          </a:p>
          <a:p>
            <a:pPr lvl="1"/>
            <a:r>
              <a:rPr lang="en-US" altLang="en-US" i="1" dirty="0"/>
              <a:t>If an organization does not have a detailed security policy, the most carefully crafted firewall can be circumvented to expose the entire private network to attack</a:t>
            </a:r>
          </a:p>
          <a:p>
            <a:r>
              <a:rPr lang="en-US" altLang="en-US" i="1" dirty="0"/>
              <a:t>Cost of the Firewall</a:t>
            </a:r>
          </a:p>
          <a:p>
            <a:pPr lvl="1"/>
            <a:r>
              <a:rPr lang="en-US" altLang="en-US" i="1" dirty="0"/>
              <a:t>Development, deployment costs, c</a:t>
            </a:r>
            <a:r>
              <a:rPr lang="en-US" altLang="en-US" dirty="0"/>
              <a:t>ontinuing support for administration, general maintenance, software updates, security patches, and incident handling</a:t>
            </a:r>
          </a:p>
          <a:p>
            <a:r>
              <a:rPr lang="en-US" altLang="en-US" i="1" dirty="0"/>
              <a:t>Type of Firewall System</a:t>
            </a:r>
          </a:p>
        </p:txBody>
      </p:sp>
    </p:spTree>
    <p:extLst>
      <p:ext uri="{BB962C8B-B14F-4D97-AF65-F5344CB8AC3E}">
        <p14:creationId xmlns:p14="http://schemas.microsoft.com/office/powerpoint/2010/main" val="28323591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Box 3"/>
          <p:cNvSpPr txBox="1">
            <a:spLocks noChangeArrowheads="1"/>
          </p:cNvSpPr>
          <p:nvPr/>
        </p:nvSpPr>
        <p:spPr bwMode="auto">
          <a:xfrm>
            <a:off x="4456114" y="3463925"/>
            <a:ext cx="1857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1800"/>
              </a:spcBef>
              <a:buClr>
                <a:schemeClr val="accent1"/>
              </a:buClr>
              <a:buSzPct val="100000"/>
              <a:buFont typeface="Wingdings 2" panose="05020102010507070707" pitchFamily="18" charset="2"/>
              <a:buChar char="¡"/>
              <a:defRPr sz="2000">
                <a:solidFill>
                  <a:schemeClr val="tx2"/>
                </a:solidFill>
                <a:latin typeface="Century Gothic" panose="020B0502020202020204" pitchFamily="34" charset="0"/>
                <a:ea typeface="MS PGothic" panose="020B0600070205080204" pitchFamily="34" charset="-128"/>
              </a:defRPr>
            </a:lvl1pPr>
            <a:lvl2pPr marL="742950" indent="-285750" eaLnBrk="0" hangingPunct="0">
              <a:spcBef>
                <a:spcPts val="600"/>
              </a:spcBef>
              <a:buClr>
                <a:srgbClr val="4D0000"/>
              </a:buClr>
              <a:buSzPct val="100000"/>
              <a:buFont typeface="Wingdings 2" panose="05020102010507070707" pitchFamily="18" charset="2"/>
              <a:buChar char="¡"/>
              <a:defRPr>
                <a:solidFill>
                  <a:schemeClr val="tx2"/>
                </a:solidFill>
                <a:latin typeface="Century Gothic" panose="020B0502020202020204" pitchFamily="34" charset="0"/>
                <a:ea typeface="MS PGothic" panose="020B0600070205080204" pitchFamily="34" charset="-128"/>
              </a:defRPr>
            </a:lvl2pPr>
            <a:lvl3pPr marL="1143000" indent="-228600" eaLnBrk="0" hangingPunct="0">
              <a:spcBef>
                <a:spcPts val="600"/>
              </a:spcBef>
              <a:buClr>
                <a:schemeClr val="accent1"/>
              </a:buClr>
              <a:buSzPct val="100000"/>
              <a:buFont typeface="Wingdings 2" panose="05020102010507070707" pitchFamily="18" charset="2"/>
              <a:buChar char="¡"/>
              <a:defRPr>
                <a:solidFill>
                  <a:schemeClr val="tx2"/>
                </a:solidFill>
                <a:latin typeface="Century Gothic" panose="020B0502020202020204" pitchFamily="34" charset="0"/>
                <a:ea typeface="MS PGothic" panose="020B0600070205080204" pitchFamily="34" charset="-128"/>
              </a:defRPr>
            </a:lvl3pPr>
            <a:lvl4pPr marL="1600200" indent="-228600" eaLnBrk="0" hangingPunct="0">
              <a:spcBef>
                <a:spcPts val="600"/>
              </a:spcBef>
              <a:buClr>
                <a:srgbClr val="4D0000"/>
              </a:buClr>
              <a:buSzPct val="100000"/>
              <a:buFont typeface="Wingdings 2" panose="05020102010507070707" pitchFamily="18" charset="2"/>
              <a:buChar char="¡"/>
              <a:defRPr>
                <a:solidFill>
                  <a:schemeClr val="tx2"/>
                </a:solidFill>
                <a:latin typeface="Century Gothic" panose="020B0502020202020204" pitchFamily="34" charset="0"/>
                <a:ea typeface="MS PGothic" panose="020B0600070205080204" pitchFamily="34" charset="-128"/>
              </a:defRPr>
            </a:lvl4pPr>
            <a:lvl5pPr marL="2057400" indent="-228600" eaLnBrk="0" hangingPunct="0">
              <a:spcBef>
                <a:spcPts val="600"/>
              </a:spcBef>
              <a:buClr>
                <a:schemeClr val="accent1"/>
              </a:buClr>
              <a:buSzPct val="100000"/>
              <a:buFont typeface="Wingdings 2" panose="05020102010507070707" pitchFamily="18" charset="2"/>
              <a:buChar char="¡"/>
              <a:defRPr>
                <a:solidFill>
                  <a:schemeClr val="tx2"/>
                </a:solidFill>
                <a:latin typeface="Century Gothic" panose="020B0502020202020204" pitchFamily="34" charset="0"/>
                <a:ea typeface="MS PGothic" panose="020B0600070205080204" pitchFamily="34" charset="-128"/>
              </a:defRPr>
            </a:lvl5pPr>
            <a:lvl6pPr marL="25146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Century Gothic" panose="020B0502020202020204" pitchFamily="34" charset="0"/>
                <a:ea typeface="MS PGothic" panose="020B0600070205080204" pitchFamily="34" charset="-128"/>
              </a:defRPr>
            </a:lvl6pPr>
            <a:lvl7pPr marL="29718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Century Gothic" panose="020B0502020202020204" pitchFamily="34" charset="0"/>
                <a:ea typeface="MS PGothic" panose="020B0600070205080204" pitchFamily="34" charset="-128"/>
              </a:defRPr>
            </a:lvl7pPr>
            <a:lvl8pPr marL="34290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Century Gothic" panose="020B0502020202020204" pitchFamily="34" charset="0"/>
                <a:ea typeface="MS PGothic" panose="020B0600070205080204" pitchFamily="34" charset="-128"/>
              </a:defRPr>
            </a:lvl8pPr>
            <a:lvl9pPr marL="38862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Century Gothic" panose="020B0502020202020204" pitchFamily="34" charset="0"/>
                <a:ea typeface="MS PGothic" panose="020B0600070205080204" pitchFamily="34" charset="-128"/>
              </a:defRPr>
            </a:lvl9pPr>
          </a:lstStyle>
          <a:p>
            <a:pPr eaLnBrk="1" hangingPunct="1">
              <a:spcBef>
                <a:spcPct val="0"/>
              </a:spcBef>
              <a:buClrTx/>
              <a:buSzTx/>
              <a:buFontTx/>
              <a:buNone/>
            </a:pPr>
            <a:endParaRPr lang="en-US" altLang="en-US" sz="1800">
              <a:solidFill>
                <a:schemeClr val="tx1"/>
              </a:solidFill>
              <a:latin typeface="Arial" panose="020B0604020202020204" pitchFamily="34" charset="0"/>
            </a:endParaRPr>
          </a:p>
        </p:txBody>
      </p:sp>
      <p:pic>
        <p:nvPicPr>
          <p:cNvPr id="30723" name="Picture 5" descr="f1.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432176" y="0"/>
            <a:ext cx="5299075" cy="6858000"/>
          </a:xfrm>
          <a:prstGeom prst="rect">
            <a:avLst/>
          </a:prstGeom>
          <a:noFill/>
          <a:ln w="19050">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8345026"/>
      </p:ext>
    </p:extLst>
  </p:cSld>
  <p:clrMapOvr>
    <a:masterClrMapping/>
  </p:clrMapOvr>
  <p:transition>
    <p:dissolv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a:xfrm>
            <a:off x="1919289" y="404814"/>
            <a:ext cx="7138987" cy="936625"/>
          </a:xfrm>
        </p:spPr>
        <p:txBody>
          <a:bodyPr/>
          <a:lstStyle/>
          <a:p>
            <a:r>
              <a:rPr lang="en-US" altLang="en-US" dirty="0"/>
              <a:t>Packet Filtering Firewalls</a:t>
            </a:r>
          </a:p>
        </p:txBody>
      </p:sp>
      <p:sp>
        <p:nvSpPr>
          <p:cNvPr id="31747" name="Content Placeholder 2"/>
          <p:cNvSpPr>
            <a:spLocks noGrp="1"/>
          </p:cNvSpPr>
          <p:nvPr>
            <p:ph idx="1"/>
          </p:nvPr>
        </p:nvSpPr>
        <p:spPr>
          <a:xfrm>
            <a:off x="1223586" y="1844675"/>
            <a:ext cx="9407135" cy="4852988"/>
          </a:xfrm>
        </p:spPr>
        <p:txBody>
          <a:bodyPr/>
          <a:lstStyle/>
          <a:p>
            <a:r>
              <a:rPr lang="en-US" altLang="en-US" dirty="0"/>
              <a:t>Firewall may act as a packet filter</a:t>
            </a:r>
          </a:p>
          <a:p>
            <a:pPr lvl="1"/>
            <a:r>
              <a:rPr lang="en-US" altLang="en-US" dirty="0"/>
              <a:t>Can operate as positive or negative filter</a:t>
            </a:r>
          </a:p>
          <a:p>
            <a:r>
              <a:rPr lang="en-US" altLang="en-US" dirty="0"/>
              <a:t>Packet filtering firewalls examine header information of data packets, determining whether the datagram should be allowed to pass or should be dropped based on administrator-specific rules</a:t>
            </a:r>
          </a:p>
          <a:p>
            <a:r>
              <a:rPr lang="en-US" altLang="en-US" dirty="0"/>
              <a:t>Simple firewall models enforce rules designed to prohibit packets with certain addresses or partial addresses</a:t>
            </a:r>
          </a:p>
          <a:p>
            <a:r>
              <a:rPr lang="en-US" altLang="en-US" dirty="0"/>
              <a:t>Accomplished though access control lists (ACLs), which are created and modified by the firewall administrators</a:t>
            </a:r>
          </a:p>
          <a:p>
            <a:r>
              <a:rPr lang="en-US" altLang="en-US" dirty="0"/>
              <a:t>The firewall is typically configured to filter packets going in both directions (from and to the internal network).</a:t>
            </a:r>
          </a:p>
        </p:txBody>
      </p:sp>
    </p:spTree>
    <p:extLst>
      <p:ext uri="{BB962C8B-B14F-4D97-AF65-F5344CB8AC3E}">
        <p14:creationId xmlns:p14="http://schemas.microsoft.com/office/powerpoint/2010/main" val="20500847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1847850" y="188913"/>
            <a:ext cx="7138988" cy="1143000"/>
          </a:xfrm>
        </p:spPr>
        <p:txBody>
          <a:bodyPr/>
          <a:lstStyle/>
          <a:p>
            <a:r>
              <a:rPr lang="en-US" altLang="en-US" dirty="0"/>
              <a:t>Packet Filtering Firewalls</a:t>
            </a:r>
          </a:p>
        </p:txBody>
      </p:sp>
      <p:sp>
        <p:nvSpPr>
          <p:cNvPr id="32771" name="Content Placeholder 2"/>
          <p:cNvSpPr>
            <a:spLocks noGrp="1"/>
          </p:cNvSpPr>
          <p:nvPr>
            <p:ph idx="1"/>
          </p:nvPr>
        </p:nvSpPr>
        <p:spPr>
          <a:xfrm>
            <a:off x="953870" y="1700213"/>
            <a:ext cx="9926831" cy="3916362"/>
          </a:xfrm>
        </p:spPr>
        <p:txBody>
          <a:bodyPr/>
          <a:lstStyle/>
          <a:p>
            <a:pPr>
              <a:lnSpc>
                <a:spcPct val="114000"/>
              </a:lnSpc>
            </a:pPr>
            <a:r>
              <a:rPr lang="en-US" altLang="en-US" dirty="0"/>
              <a:t>Filtering decisions are based on information contained in a network packet.</a:t>
            </a:r>
          </a:p>
          <a:p>
            <a:pPr lvl="1">
              <a:lnSpc>
                <a:spcPct val="114000"/>
              </a:lnSpc>
            </a:pPr>
            <a:r>
              <a:rPr lang="en-US" altLang="en-US" sz="2000" b="1" dirty="0"/>
              <a:t>Source IP address: </a:t>
            </a:r>
            <a:r>
              <a:rPr lang="en-US" altLang="en-US" sz="2000" dirty="0"/>
              <a:t>The IP address of the system that originated the IP packet.</a:t>
            </a:r>
          </a:p>
          <a:p>
            <a:pPr lvl="1">
              <a:lnSpc>
                <a:spcPct val="114000"/>
              </a:lnSpc>
            </a:pPr>
            <a:r>
              <a:rPr lang="en-US" altLang="en-US" sz="2000" b="1" dirty="0"/>
              <a:t>Destination IP address: </a:t>
            </a:r>
            <a:r>
              <a:rPr lang="en-US" altLang="en-US" sz="2000" dirty="0"/>
              <a:t>The IP address of the system where  the IP packet is trying to reach.</a:t>
            </a:r>
          </a:p>
          <a:p>
            <a:pPr lvl="1">
              <a:lnSpc>
                <a:spcPct val="114000"/>
              </a:lnSpc>
            </a:pPr>
            <a:r>
              <a:rPr lang="en-US" altLang="en-US" sz="2000" b="1" dirty="0"/>
              <a:t>Source and destination transport-level address : </a:t>
            </a:r>
            <a:r>
              <a:rPr lang="en-US" altLang="en-US" sz="2000" dirty="0"/>
              <a:t>The transport level (e.g., TCP or UDP) port number, which defines applications such as SNMP or TELNET.</a:t>
            </a:r>
          </a:p>
          <a:p>
            <a:pPr lvl="1">
              <a:lnSpc>
                <a:spcPct val="114000"/>
              </a:lnSpc>
            </a:pPr>
            <a:r>
              <a:rPr lang="en-US" altLang="en-US" sz="2000" b="1" dirty="0"/>
              <a:t>IP protocol field : </a:t>
            </a:r>
            <a:r>
              <a:rPr lang="en-US" altLang="en-US" sz="2000" dirty="0"/>
              <a:t>Defines the transport protocol (TCP, UDP, ICMP, OSPF, and so on)</a:t>
            </a:r>
          </a:p>
          <a:p>
            <a:pPr lvl="1">
              <a:lnSpc>
                <a:spcPct val="114000"/>
              </a:lnSpc>
            </a:pPr>
            <a:r>
              <a:rPr lang="en-US" altLang="en-US" sz="2000" b="1" dirty="0"/>
              <a:t>Interface:</a:t>
            </a:r>
            <a:r>
              <a:rPr lang="en-US" altLang="en-US" sz="2000" dirty="0"/>
              <a:t> For a firewall with three or more ports, which interface of the firewall the packet came from or which interface of the firewall the packet is destined for.</a:t>
            </a:r>
            <a:br>
              <a:rPr lang="en-US" altLang="en-US" sz="2000" dirty="0"/>
            </a:br>
            <a:endParaRPr lang="en-US" altLang="en-US" sz="2000" dirty="0"/>
          </a:p>
          <a:p>
            <a:pPr>
              <a:lnSpc>
                <a:spcPct val="114000"/>
              </a:lnSpc>
            </a:pPr>
            <a:endParaRPr lang="en-US" altLang="en-US" dirty="0"/>
          </a:p>
        </p:txBody>
      </p:sp>
    </p:spTree>
    <p:extLst>
      <p:ext uri="{BB962C8B-B14F-4D97-AF65-F5344CB8AC3E}">
        <p14:creationId xmlns:p14="http://schemas.microsoft.com/office/powerpoint/2010/main" val="37204110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1992314" y="115889"/>
            <a:ext cx="7138987" cy="649287"/>
          </a:xfrm>
        </p:spPr>
        <p:txBody>
          <a:bodyPr/>
          <a:lstStyle/>
          <a:p>
            <a:r>
              <a:rPr lang="en-US" altLang="en-US" sz="3600" dirty="0"/>
              <a:t>Packet Filtering Firewalls</a:t>
            </a:r>
          </a:p>
        </p:txBody>
      </p:sp>
      <p:sp>
        <p:nvSpPr>
          <p:cNvPr id="33795" name="Content Placeholder 2"/>
          <p:cNvSpPr>
            <a:spLocks noGrp="1"/>
          </p:cNvSpPr>
          <p:nvPr>
            <p:ph idx="1"/>
          </p:nvPr>
        </p:nvSpPr>
        <p:spPr>
          <a:xfrm>
            <a:off x="901244" y="1268413"/>
            <a:ext cx="10170232" cy="5461308"/>
          </a:xfrm>
        </p:spPr>
        <p:txBody>
          <a:bodyPr/>
          <a:lstStyle/>
          <a:p>
            <a:r>
              <a:rPr lang="en-US" altLang="en-US" sz="2200" dirty="0"/>
              <a:t>The packet filter is typically set up as a list of rules based on matches to fields in the IP or TCP header. If there is a match to one of the rules, that rule is invoked to determine whether to forward or discard the packet.</a:t>
            </a:r>
          </a:p>
          <a:p>
            <a:r>
              <a:rPr lang="en-US" altLang="en-US" sz="2200" dirty="0"/>
              <a:t>If there is no match to any rule, then a default action is taken. Two default policies are possible:</a:t>
            </a:r>
          </a:p>
          <a:p>
            <a:pPr lvl="1"/>
            <a:r>
              <a:rPr lang="en-US" altLang="en-US" b="1" dirty="0"/>
              <a:t>Default </a:t>
            </a:r>
            <a:r>
              <a:rPr lang="en-US" altLang="en-US" dirty="0"/>
              <a:t>= </a:t>
            </a:r>
            <a:r>
              <a:rPr lang="en-US" altLang="en-US" i="1" dirty="0"/>
              <a:t>discard</a:t>
            </a:r>
            <a:r>
              <a:rPr lang="en-US" altLang="en-US" dirty="0"/>
              <a:t>: That which is not expressly permitted is prohibited.</a:t>
            </a:r>
          </a:p>
          <a:p>
            <a:pPr lvl="1"/>
            <a:r>
              <a:rPr lang="en-US" altLang="en-US" b="1" dirty="0"/>
              <a:t>Default </a:t>
            </a:r>
            <a:r>
              <a:rPr lang="en-US" altLang="en-US" dirty="0"/>
              <a:t>= </a:t>
            </a:r>
            <a:r>
              <a:rPr lang="en-US" altLang="en-US" i="1" dirty="0"/>
              <a:t>forward</a:t>
            </a:r>
            <a:r>
              <a:rPr lang="en-US" altLang="en-US" dirty="0"/>
              <a:t>: That which is not expressly prohibited is permitted.</a:t>
            </a:r>
          </a:p>
          <a:p>
            <a:r>
              <a:rPr lang="en-US" altLang="en-US" sz="2200" dirty="0"/>
              <a:t>The default discard policy is more conservative. Initially, everything is blocked, and services must be added on a case-by-case basis. </a:t>
            </a:r>
          </a:p>
          <a:p>
            <a:r>
              <a:rPr lang="en-US" altLang="en-US" sz="2200" dirty="0"/>
              <a:t>The default forward policy increases ease of use for end users but provides reduced security; the security administrator must, in essence, react to each new security threat as it becomes known.</a:t>
            </a:r>
            <a:br>
              <a:rPr lang="en-US" altLang="en-US" sz="2200" dirty="0"/>
            </a:br>
            <a:endParaRPr lang="en-US" altLang="en-US" sz="2200" dirty="0"/>
          </a:p>
        </p:txBody>
      </p:sp>
    </p:spTree>
    <p:extLst>
      <p:ext uri="{BB962C8B-B14F-4D97-AF65-F5344CB8AC3E}">
        <p14:creationId xmlns:p14="http://schemas.microsoft.com/office/powerpoint/2010/main" val="1059946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a:xfrm>
            <a:off x="2135189" y="115889"/>
            <a:ext cx="7138987" cy="865187"/>
          </a:xfrm>
        </p:spPr>
        <p:txBody>
          <a:bodyPr/>
          <a:lstStyle/>
          <a:p>
            <a:r>
              <a:rPr lang="en-US" altLang="en-US" sz="3600" dirty="0">
                <a:solidFill>
                  <a:srgbClr val="990000"/>
                </a:solidFill>
              </a:rPr>
              <a:t>Packet Filtering Firewalls</a:t>
            </a:r>
            <a:endParaRPr lang="en-US" altLang="en-US" dirty="0"/>
          </a:p>
        </p:txBody>
      </p:sp>
      <p:sp>
        <p:nvSpPr>
          <p:cNvPr id="34819" name="Content Placeholder 2"/>
          <p:cNvSpPr>
            <a:spLocks noGrp="1"/>
          </p:cNvSpPr>
          <p:nvPr>
            <p:ph idx="1"/>
          </p:nvPr>
        </p:nvSpPr>
        <p:spPr>
          <a:xfrm>
            <a:off x="894664" y="1348576"/>
            <a:ext cx="10104449" cy="5464974"/>
          </a:xfrm>
        </p:spPr>
        <p:txBody>
          <a:bodyPr/>
          <a:lstStyle/>
          <a:p>
            <a:r>
              <a:rPr lang="en-US" altLang="en-US" sz="2200" dirty="0"/>
              <a:t>Filtering can also be based on whether or not the TCP ACK bit is set. </a:t>
            </a:r>
          </a:p>
          <a:p>
            <a:pPr lvl="1"/>
            <a:r>
              <a:rPr lang="en-US" altLang="en-US" sz="2000" dirty="0"/>
              <a:t>Useful if an organization wants to let its internal clients connect to external servers but wants to prevent external clients from connecting to internal servers.</a:t>
            </a:r>
          </a:p>
          <a:p>
            <a:r>
              <a:rPr lang="en-US" altLang="en-US" sz="2200" dirty="0"/>
              <a:t>Recall that the first segment in every TCP connection has the ACK bit set to 0, whereas all the other segments in the connection have the ACK bit set to 1. </a:t>
            </a:r>
          </a:p>
          <a:p>
            <a:r>
              <a:rPr lang="en-US" altLang="en-US" sz="2200" dirty="0"/>
              <a:t>If an organization wants to prevent external clients from initiating connections to internal servers, it simply filters all incoming segments with the ACK bit set to 0. </a:t>
            </a:r>
          </a:p>
          <a:p>
            <a:r>
              <a:rPr lang="en-US" altLang="en-US" sz="2200" dirty="0"/>
              <a:t>This policy kills all TCP connections originating from the outside, but permits connections originating internally.</a:t>
            </a:r>
          </a:p>
          <a:p>
            <a:r>
              <a:rPr lang="en-US" altLang="en-US" sz="2200" dirty="0"/>
              <a:t>Firewall rules are implemented in routers with </a:t>
            </a:r>
            <a:r>
              <a:rPr lang="en-US" altLang="en-US" sz="2200" b="1" dirty="0"/>
              <a:t>access control lists</a:t>
            </a:r>
            <a:r>
              <a:rPr lang="en-US" altLang="en-US" sz="2200" dirty="0"/>
              <a:t>, with each router interface having its own list.</a:t>
            </a:r>
          </a:p>
        </p:txBody>
      </p:sp>
    </p:spTree>
    <p:extLst>
      <p:ext uri="{BB962C8B-B14F-4D97-AF65-F5344CB8AC3E}">
        <p14:creationId xmlns:p14="http://schemas.microsoft.com/office/powerpoint/2010/main" val="16633780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175403" y="241277"/>
            <a:ext cx="7138987" cy="1143000"/>
          </a:xfrm>
        </p:spPr>
        <p:txBody>
          <a:bodyPr/>
          <a:lstStyle/>
          <a:p>
            <a:r>
              <a:rPr lang="en-US" altLang="en-US" sz="3600" dirty="0"/>
              <a:t>Security Policy of the Organization</a:t>
            </a:r>
          </a:p>
        </p:txBody>
      </p:sp>
      <p:pic>
        <p:nvPicPr>
          <p:cNvPr id="35843"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757843" y="1824015"/>
            <a:ext cx="8211156" cy="4530736"/>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354918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92314" y="3894138"/>
            <a:ext cx="8289925" cy="29527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36867" name="Title 1"/>
          <p:cNvSpPr>
            <a:spLocks noGrp="1"/>
          </p:cNvSpPr>
          <p:nvPr>
            <p:ph type="title"/>
          </p:nvPr>
        </p:nvSpPr>
        <p:spPr>
          <a:xfrm>
            <a:off x="1992314" y="188914"/>
            <a:ext cx="8072437" cy="936625"/>
          </a:xfrm>
        </p:spPr>
        <p:txBody>
          <a:bodyPr/>
          <a:lstStyle/>
          <a:p>
            <a:r>
              <a:rPr lang="en-US" altLang="en-US" sz="3200" b="1" dirty="0"/>
              <a:t>Example of Access Control List</a:t>
            </a:r>
            <a:br>
              <a:rPr lang="en-US" altLang="en-US" sz="3200" b="1" dirty="0"/>
            </a:br>
            <a:r>
              <a:rPr lang="en-US" altLang="en-US" sz="3200" b="1" dirty="0"/>
              <a:t>Simple Ruleset for SMTP Traffic</a:t>
            </a:r>
          </a:p>
        </p:txBody>
      </p:sp>
      <p:sp>
        <p:nvSpPr>
          <p:cNvPr id="36868" name="TextBox 2"/>
          <p:cNvSpPr txBox="1">
            <a:spLocks noChangeArrowheads="1"/>
          </p:cNvSpPr>
          <p:nvPr/>
        </p:nvSpPr>
        <p:spPr bwMode="auto">
          <a:xfrm>
            <a:off x="1922463" y="1268413"/>
            <a:ext cx="8966200" cy="344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1800"/>
              </a:spcBef>
              <a:buClr>
                <a:schemeClr val="accent1"/>
              </a:buClr>
              <a:buSzPct val="100000"/>
              <a:buFont typeface="Wingdings 2" panose="05020102010507070707" pitchFamily="18" charset="2"/>
              <a:buChar char="¡"/>
              <a:defRPr sz="2000">
                <a:solidFill>
                  <a:schemeClr val="tx2"/>
                </a:solidFill>
                <a:latin typeface="Century Gothic" panose="020B0502020202020204" pitchFamily="34" charset="0"/>
                <a:ea typeface="MS PGothic" panose="020B0600070205080204" pitchFamily="34" charset="-128"/>
              </a:defRPr>
            </a:lvl1pPr>
            <a:lvl2pPr eaLnBrk="0" hangingPunct="0">
              <a:spcBef>
                <a:spcPts val="600"/>
              </a:spcBef>
              <a:buClr>
                <a:srgbClr val="4D0000"/>
              </a:buClr>
              <a:buSzPct val="100000"/>
              <a:buFont typeface="Wingdings 2" panose="05020102010507070707" pitchFamily="18" charset="2"/>
              <a:buChar char="¡"/>
              <a:defRPr>
                <a:solidFill>
                  <a:schemeClr val="tx2"/>
                </a:solidFill>
                <a:latin typeface="Century Gothic" panose="020B0502020202020204" pitchFamily="34" charset="0"/>
                <a:ea typeface="MS PGothic" panose="020B0600070205080204" pitchFamily="34" charset="-128"/>
              </a:defRPr>
            </a:lvl2pPr>
            <a:lvl3pPr marL="1143000" indent="-228600" eaLnBrk="0" hangingPunct="0">
              <a:spcBef>
                <a:spcPts val="600"/>
              </a:spcBef>
              <a:buClr>
                <a:schemeClr val="accent1"/>
              </a:buClr>
              <a:buSzPct val="100000"/>
              <a:buFont typeface="Wingdings 2" panose="05020102010507070707" pitchFamily="18" charset="2"/>
              <a:buChar char="¡"/>
              <a:defRPr>
                <a:solidFill>
                  <a:schemeClr val="tx2"/>
                </a:solidFill>
                <a:latin typeface="Century Gothic" panose="020B0502020202020204" pitchFamily="34" charset="0"/>
                <a:ea typeface="MS PGothic" panose="020B0600070205080204" pitchFamily="34" charset="-128"/>
              </a:defRPr>
            </a:lvl3pPr>
            <a:lvl4pPr marL="1600200" indent="-228600" eaLnBrk="0" hangingPunct="0">
              <a:spcBef>
                <a:spcPts val="600"/>
              </a:spcBef>
              <a:buClr>
                <a:srgbClr val="4D0000"/>
              </a:buClr>
              <a:buSzPct val="100000"/>
              <a:buFont typeface="Wingdings 2" panose="05020102010507070707" pitchFamily="18" charset="2"/>
              <a:buChar char="¡"/>
              <a:defRPr>
                <a:solidFill>
                  <a:schemeClr val="tx2"/>
                </a:solidFill>
                <a:latin typeface="Century Gothic" panose="020B0502020202020204" pitchFamily="34" charset="0"/>
                <a:ea typeface="MS PGothic" panose="020B0600070205080204" pitchFamily="34" charset="-128"/>
              </a:defRPr>
            </a:lvl4pPr>
            <a:lvl5pPr marL="2057400" indent="-228600" eaLnBrk="0" hangingPunct="0">
              <a:spcBef>
                <a:spcPts val="600"/>
              </a:spcBef>
              <a:buClr>
                <a:schemeClr val="accent1"/>
              </a:buClr>
              <a:buSzPct val="100000"/>
              <a:buFont typeface="Wingdings 2" panose="05020102010507070707" pitchFamily="18" charset="2"/>
              <a:buChar char="¡"/>
              <a:defRPr>
                <a:solidFill>
                  <a:schemeClr val="tx2"/>
                </a:solidFill>
                <a:latin typeface="Century Gothic" panose="020B0502020202020204" pitchFamily="34" charset="0"/>
                <a:ea typeface="MS PGothic" panose="020B0600070205080204" pitchFamily="34" charset="-128"/>
              </a:defRPr>
            </a:lvl5pPr>
            <a:lvl6pPr marL="25146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Century Gothic" panose="020B0502020202020204" pitchFamily="34" charset="0"/>
                <a:ea typeface="MS PGothic" panose="020B0600070205080204" pitchFamily="34" charset="-128"/>
              </a:defRPr>
            </a:lvl6pPr>
            <a:lvl7pPr marL="29718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Century Gothic" panose="020B0502020202020204" pitchFamily="34" charset="0"/>
                <a:ea typeface="MS PGothic" panose="020B0600070205080204" pitchFamily="34" charset="-128"/>
              </a:defRPr>
            </a:lvl7pPr>
            <a:lvl8pPr marL="34290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Century Gothic" panose="020B0502020202020204" pitchFamily="34" charset="0"/>
                <a:ea typeface="MS PGothic" panose="020B0600070205080204" pitchFamily="34" charset="-128"/>
              </a:defRPr>
            </a:lvl8pPr>
            <a:lvl9pPr marL="38862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Century Gothic" panose="020B0502020202020204" pitchFamily="34" charset="0"/>
                <a:ea typeface="MS PGothic" panose="020B0600070205080204" pitchFamily="34" charset="-128"/>
              </a:defRPr>
            </a:lvl9pPr>
          </a:lstStyle>
          <a:p>
            <a:pPr eaLnBrk="1" hangingPunct="1">
              <a:spcBef>
                <a:spcPct val="0"/>
              </a:spcBef>
              <a:buClrTx/>
              <a:buSzTx/>
              <a:buFontTx/>
              <a:buNone/>
            </a:pPr>
            <a:r>
              <a:rPr lang="en-US" altLang="en-US" sz="2200">
                <a:solidFill>
                  <a:schemeClr val="tx1"/>
                </a:solidFill>
                <a:latin typeface="Arial" panose="020B0604020202020204" pitchFamily="34" charset="0"/>
              </a:rPr>
              <a:t>Allow inbound and outbound e-mail traffic but block all </a:t>
            </a:r>
          </a:p>
          <a:p>
            <a:pPr eaLnBrk="1" hangingPunct="1">
              <a:spcBef>
                <a:spcPct val="0"/>
              </a:spcBef>
              <a:buClrTx/>
              <a:buSzTx/>
              <a:buFontTx/>
              <a:buNone/>
            </a:pPr>
            <a:r>
              <a:rPr lang="en-US" altLang="en-US" sz="2200">
                <a:solidFill>
                  <a:schemeClr val="tx1"/>
                </a:solidFill>
                <a:latin typeface="Arial" panose="020B0604020202020204" pitchFamily="34" charset="0"/>
              </a:rPr>
              <a:t>other traffic</a:t>
            </a:r>
          </a:p>
          <a:p>
            <a:pPr eaLnBrk="1" hangingPunct="1">
              <a:spcBef>
                <a:spcPct val="0"/>
              </a:spcBef>
              <a:buClrTx/>
              <a:buSzTx/>
              <a:buFontTx/>
              <a:buNone/>
            </a:pPr>
            <a:endParaRPr lang="en-US" altLang="en-US" sz="2200">
              <a:solidFill>
                <a:schemeClr val="tx1"/>
              </a:solidFill>
              <a:latin typeface="Arial" panose="020B0604020202020204" pitchFamily="34" charset="0"/>
            </a:endParaRPr>
          </a:p>
          <a:p>
            <a:pPr marL="0" lvl="1" eaLnBrk="1" hangingPunct="1">
              <a:spcBef>
                <a:spcPct val="0"/>
              </a:spcBef>
              <a:buClrTx/>
              <a:buSzTx/>
              <a:buNone/>
            </a:pPr>
            <a:r>
              <a:rPr lang="en-US" altLang="en-US" sz="2000">
                <a:latin typeface="Arial" panose="020B0604020202020204" pitchFamily="34" charset="0"/>
                <a:cs typeface="Arial" panose="020B0604020202020204" pitchFamily="34" charset="0"/>
              </a:rPr>
              <a:t>SMTP operates by setting up a TCP connection between client and server, </a:t>
            </a:r>
          </a:p>
          <a:p>
            <a:pPr marL="0" lvl="1" eaLnBrk="1" hangingPunct="1">
              <a:spcBef>
                <a:spcPct val="0"/>
              </a:spcBef>
              <a:buClrTx/>
              <a:buSzTx/>
              <a:buNone/>
            </a:pPr>
            <a:r>
              <a:rPr lang="en-US" altLang="en-US" sz="2000">
                <a:latin typeface="Arial" panose="020B0604020202020204" pitchFamily="34" charset="0"/>
                <a:cs typeface="Arial" panose="020B0604020202020204" pitchFamily="34" charset="0"/>
              </a:rPr>
              <a:t>in which the TCP server port number, which identifies the SMTP server </a:t>
            </a:r>
          </a:p>
          <a:p>
            <a:pPr marL="0" lvl="1" eaLnBrk="1" hangingPunct="1">
              <a:spcBef>
                <a:spcPct val="0"/>
              </a:spcBef>
              <a:buClrTx/>
              <a:buSzTx/>
              <a:buNone/>
            </a:pPr>
            <a:r>
              <a:rPr lang="en-US" altLang="en-US" sz="2000">
                <a:latin typeface="Arial" panose="020B0604020202020204" pitchFamily="34" charset="0"/>
                <a:cs typeface="Arial" panose="020B0604020202020204" pitchFamily="34" charset="0"/>
              </a:rPr>
              <a:t>application, is 25.  The TCP port number for the SMTP client is a number b/w </a:t>
            </a:r>
          </a:p>
          <a:p>
            <a:pPr marL="0" lvl="1" eaLnBrk="1" hangingPunct="1">
              <a:spcBef>
                <a:spcPct val="0"/>
              </a:spcBef>
              <a:buClrTx/>
              <a:buSzTx/>
              <a:buNone/>
            </a:pPr>
            <a:r>
              <a:rPr lang="en-US" altLang="en-US" sz="2000">
                <a:latin typeface="Arial" panose="020B0604020202020204" pitchFamily="34" charset="0"/>
                <a:cs typeface="Arial" panose="020B0604020202020204" pitchFamily="34" charset="0"/>
              </a:rPr>
              <a:t>1024 and 65535 that is generated by the SMTP client</a:t>
            </a:r>
          </a:p>
          <a:p>
            <a:pPr eaLnBrk="1" hangingPunct="1">
              <a:spcBef>
                <a:spcPct val="0"/>
              </a:spcBef>
              <a:buClrTx/>
              <a:buSzTx/>
              <a:buFontTx/>
              <a:buNone/>
            </a:pPr>
            <a:endParaRPr lang="en-US" altLang="en-US" sz="2400">
              <a:solidFill>
                <a:schemeClr val="tx1"/>
              </a:solidFill>
              <a:latin typeface="Arial" panose="020B0604020202020204" pitchFamily="34" charset="0"/>
              <a:cs typeface="Arial" panose="020B0604020202020204" pitchFamily="34" charset="0"/>
            </a:endParaRPr>
          </a:p>
          <a:p>
            <a:pPr eaLnBrk="1" hangingPunct="1">
              <a:spcBef>
                <a:spcPct val="0"/>
              </a:spcBef>
              <a:buClrTx/>
              <a:buSzTx/>
              <a:buFontTx/>
              <a:buNone/>
            </a:pPr>
            <a:endParaRPr lang="en-US" altLang="en-US" sz="2400">
              <a:solidFill>
                <a:schemeClr val="tx1"/>
              </a:solidFill>
              <a:latin typeface="Arial" panose="020B0604020202020204" pitchFamily="34" charset="0"/>
              <a:cs typeface="Arial" panose="020B0604020202020204" pitchFamily="34" charset="0"/>
            </a:endParaRPr>
          </a:p>
          <a:p>
            <a:pPr eaLnBrk="1" hangingPunct="1">
              <a:spcBef>
                <a:spcPct val="0"/>
              </a:spcBef>
              <a:buClrTx/>
              <a:buSzTx/>
              <a:buFontTx/>
              <a:buNone/>
            </a:pPr>
            <a:endParaRPr lang="en-US" altLang="en-US" sz="240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04762247"/>
      </p:ext>
    </p:extLst>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2063750" y="692150"/>
            <a:ext cx="7056438" cy="1143000"/>
          </a:xfrm>
        </p:spPr>
        <p:txBody>
          <a:bodyPr/>
          <a:lstStyle/>
          <a:p>
            <a:r>
              <a:rPr lang="en-US" altLang="en-US" b="1" dirty="0"/>
              <a:t>Example Legitimate Traffic based on the Ruleset</a:t>
            </a:r>
          </a:p>
        </p:txBody>
      </p:sp>
      <p:pic>
        <p:nvPicPr>
          <p:cNvPr id="3789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9080" y="2548383"/>
            <a:ext cx="9948137" cy="11881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789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7629" y="4749617"/>
            <a:ext cx="9956390" cy="12893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759992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2"/>
          <p:cNvSpPr>
            <a:spLocks noGrp="1"/>
          </p:cNvSpPr>
          <p:nvPr>
            <p:ph type="title"/>
          </p:nvPr>
        </p:nvSpPr>
        <p:spPr>
          <a:xfrm>
            <a:off x="886477" y="128782"/>
            <a:ext cx="7138987" cy="1143000"/>
          </a:xfrm>
        </p:spPr>
        <p:txBody>
          <a:bodyPr/>
          <a:lstStyle/>
          <a:p>
            <a:r>
              <a:rPr lang="en-US" altLang="en-US" dirty="0"/>
              <a:t>Problems with the Firewall Rules</a:t>
            </a:r>
          </a:p>
        </p:txBody>
      </p:sp>
      <p:sp>
        <p:nvSpPr>
          <p:cNvPr id="38915" name="Content Placeholder 3"/>
          <p:cNvSpPr>
            <a:spLocks noGrp="1"/>
          </p:cNvSpPr>
          <p:nvPr>
            <p:ph idx="1"/>
          </p:nvPr>
        </p:nvSpPr>
        <p:spPr>
          <a:xfrm>
            <a:off x="1026233" y="1582738"/>
            <a:ext cx="10150498" cy="4654550"/>
          </a:xfrm>
        </p:spPr>
        <p:txBody>
          <a:bodyPr/>
          <a:lstStyle/>
          <a:p>
            <a:r>
              <a:rPr lang="en-US" altLang="en-US" dirty="0"/>
              <a:t>Rule D allows external traffic any destination port above 1023</a:t>
            </a:r>
          </a:p>
          <a:p>
            <a:r>
              <a:rPr lang="en-US" altLang="en-US" dirty="0"/>
              <a:t>Let’s suppose host 192.168.3.4 (external attacker) attempts to open a connection from port 5150 on his end to the web proxy server on port 8080 on machine inside the network (172.16.1.1)</a:t>
            </a:r>
          </a:p>
          <a:p>
            <a:r>
              <a:rPr lang="en-US" altLang="en-US" dirty="0"/>
              <a:t>Rule D allows this TCP connection (supposed to be forbidden)</a:t>
            </a:r>
          </a:p>
          <a:p>
            <a:endParaRPr lang="en-US" altLang="en-US" dirty="0"/>
          </a:p>
          <a:p>
            <a:endParaRPr lang="en-US" altLang="en-US" dirty="0"/>
          </a:p>
          <a:p>
            <a:r>
              <a:rPr lang="en-US" altLang="en-US" dirty="0"/>
              <a:t>To counter: Add source port field to each row</a:t>
            </a:r>
          </a:p>
          <a:p>
            <a:pPr lvl="1"/>
            <a:r>
              <a:rPr lang="en-US" altLang="en-US" sz="2000" dirty="0">
                <a:latin typeface="Adobe Caslon Pro" panose="0205050205050A020403" pitchFamily="18" charset="0"/>
              </a:rPr>
              <a:t>Rules B and D: source port is 25</a:t>
            </a:r>
          </a:p>
          <a:p>
            <a:pPr lvl="1"/>
            <a:r>
              <a:rPr lang="en-US" altLang="en-US" sz="2000" dirty="0">
                <a:latin typeface="Adobe Caslon Pro" panose="0205050205050A020403" pitchFamily="18" charset="0"/>
              </a:rPr>
              <a:t>Rules A and C: source port is &gt;1023</a:t>
            </a:r>
          </a:p>
          <a:p>
            <a:pPr lvl="1"/>
            <a:endParaRPr lang="en-US" altLang="en-US" sz="2000" dirty="0">
              <a:latin typeface="Adobe Caslon Pro" panose="0205050205050A020403" pitchFamily="18" charset="0"/>
            </a:endParaRPr>
          </a:p>
        </p:txBody>
      </p:sp>
      <p:pic>
        <p:nvPicPr>
          <p:cNvPr id="3891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3944" y="3960207"/>
            <a:ext cx="9594844" cy="11578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309215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1981200" y="692150"/>
            <a:ext cx="7138988" cy="865188"/>
          </a:xfrm>
        </p:spPr>
        <p:txBody>
          <a:bodyPr/>
          <a:lstStyle/>
          <a:p>
            <a:r>
              <a:rPr lang="en-US" altLang="en-US"/>
              <a:t>Modified Firewall Ruleset</a:t>
            </a:r>
          </a:p>
        </p:txBody>
      </p:sp>
      <p:pic>
        <p:nvPicPr>
          <p:cNvPr id="39939"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919289" y="2205039"/>
            <a:ext cx="8497887" cy="1881187"/>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974065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1524000" y="404813"/>
            <a:ext cx="9144000" cy="773112"/>
          </a:xfrm>
        </p:spPr>
        <p:txBody>
          <a:bodyPr/>
          <a:lstStyle/>
          <a:p>
            <a:pPr eaLnBrk="1" hangingPunct="1"/>
            <a:r>
              <a:rPr lang="en-AU" altLang="en-US"/>
              <a:t>Application Level</a:t>
            </a:r>
            <a:br>
              <a:rPr lang="en-AU" altLang="en-US"/>
            </a:br>
            <a:r>
              <a:rPr lang="en-AU" altLang="en-US"/>
              <a:t>Gateway</a:t>
            </a:r>
          </a:p>
        </p:txBody>
      </p:sp>
      <p:sp>
        <p:nvSpPr>
          <p:cNvPr id="55299" name="Rectangle 3"/>
          <p:cNvSpPr>
            <a:spLocks noGrp="1" noChangeArrowheads="1"/>
          </p:cNvSpPr>
          <p:nvPr>
            <p:ph idx="1"/>
          </p:nvPr>
        </p:nvSpPr>
        <p:spPr>
          <a:xfrm>
            <a:off x="2063751" y="2133601"/>
            <a:ext cx="7902575" cy="3916363"/>
          </a:xfrm>
        </p:spPr>
        <p:txBody>
          <a:bodyPr rtlCol="0">
            <a:noAutofit/>
          </a:bodyPr>
          <a:lstStyle/>
          <a:p>
            <a:pPr>
              <a:defRPr/>
            </a:pPr>
            <a:r>
              <a:rPr lang="en-US" sz="2200" dirty="0">
                <a:ea typeface="ＭＳ Ｐゴシック" charset="0"/>
              </a:rPr>
              <a:t>What if an organization wants to provide a Telnet service to a restricted set of internal users (as opposed to IP addresses)?</a:t>
            </a:r>
          </a:p>
          <a:p>
            <a:pPr>
              <a:defRPr/>
            </a:pPr>
            <a:r>
              <a:rPr lang="en-US" sz="2200" dirty="0">
                <a:ea typeface="ＭＳ Ｐゴシック" charset="0"/>
              </a:rPr>
              <a:t>And what if the organization wants such privileged users to authenticate themselves first before being allowed to create Telnet sessions to the outside world?</a:t>
            </a:r>
          </a:p>
          <a:p>
            <a:pPr>
              <a:defRPr/>
            </a:pPr>
            <a:r>
              <a:rPr lang="en-US" sz="2200" dirty="0">
                <a:ea typeface="ＭＳ Ｐゴシック" charset="0"/>
              </a:rPr>
              <a:t>Application gateways look beyond the IP/TCP/UDP headers and make policy decisions based on application data</a:t>
            </a:r>
          </a:p>
          <a:p>
            <a:pPr>
              <a:defRPr/>
            </a:pPr>
            <a:r>
              <a:rPr lang="en-US" sz="2200" dirty="0">
                <a:ea typeface="ＭＳ Ｐゴシック" charset="0"/>
              </a:rPr>
              <a:t>An </a:t>
            </a:r>
            <a:r>
              <a:rPr lang="en-US" sz="2200" b="1" dirty="0">
                <a:ea typeface="ＭＳ Ｐゴシック" charset="0"/>
              </a:rPr>
              <a:t>application gateway </a:t>
            </a:r>
            <a:r>
              <a:rPr lang="en-US" sz="2200" dirty="0">
                <a:ea typeface="ＭＳ Ｐゴシック" charset="0"/>
              </a:rPr>
              <a:t>is an application-specific server through which all application data (inbound and outbound) must pass. </a:t>
            </a:r>
          </a:p>
          <a:p>
            <a:pPr>
              <a:defRPr/>
            </a:pPr>
            <a:r>
              <a:rPr lang="en-US" sz="2200" dirty="0">
                <a:ea typeface="ＭＳ Ｐゴシック" charset="0"/>
              </a:rPr>
              <a:t>Multiple application gateways can run on the same host, but each gateway is a separate server with its own processes.</a:t>
            </a:r>
            <a:endParaRPr lang="en-AU" sz="2200" dirty="0">
              <a:solidFill>
                <a:schemeClr val="tx2">
                  <a:lumMod val="10000"/>
                </a:schemeClr>
              </a:solidFill>
              <a:ea typeface="+mn-ea"/>
            </a:endParaRPr>
          </a:p>
        </p:txBody>
      </p:sp>
      <p:pic>
        <p:nvPicPr>
          <p:cNvPr id="48132" name="Picture 3" descr="Ch20. Firewall Types.pdf                                       002F6F4DMacintosh HD                   B83AE914:"/>
          <p:cNvPicPr>
            <a:picLocks noChangeAspect="1" noChangeArrowheads="1"/>
          </p:cNvPicPr>
          <p:nvPr/>
        </p:nvPicPr>
        <p:blipFill>
          <a:blip r:embed="rId3">
            <a:extLst>
              <a:ext uri="{28A0092B-C50C-407E-A947-70E740481C1C}">
                <a14:useLocalDpi xmlns:a14="http://schemas.microsoft.com/office/drawing/2010/main" val="0"/>
              </a:ext>
            </a:extLst>
          </a:blip>
          <a:srcRect l="9265" t="32216" r="9265" b="42955"/>
          <a:stretch>
            <a:fillRect/>
          </a:stretch>
        </p:blipFill>
        <p:spPr bwMode="auto">
          <a:xfrm>
            <a:off x="6248400" y="0"/>
            <a:ext cx="4565650" cy="2133600"/>
          </a:xfrm>
          <a:prstGeom prst="rect">
            <a:avLst/>
          </a:prstGeom>
          <a:noFill/>
          <a:ln>
            <a:noFill/>
          </a:ln>
          <a:extLst>
            <a:ext uri="{909E8E84-426E-40DD-AFC4-6F175D3DCCD1}">
              <a14:hiddenFill xmlns:a14="http://schemas.microsoft.com/office/drawing/2010/main">
                <a:solidFill>
                  <a:srgbClr val="FFFFFF">
                    <a:alpha val="70195"/>
                  </a:srgbClr>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804508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a:xfrm>
            <a:off x="1981200" y="914400"/>
            <a:ext cx="7138988" cy="1143000"/>
          </a:xfrm>
        </p:spPr>
        <p:txBody>
          <a:bodyPr/>
          <a:lstStyle/>
          <a:p>
            <a:r>
              <a:rPr lang="en-US" altLang="en-US" sz="3600"/>
              <a:t>Firewall consisting of an application gateway and a filter</a:t>
            </a:r>
          </a:p>
        </p:txBody>
      </p:sp>
      <p:pic>
        <p:nvPicPr>
          <p:cNvPr id="49155"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789363" y="2205038"/>
            <a:ext cx="4686300" cy="3916362"/>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277975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1524000" y="404813"/>
            <a:ext cx="9144000" cy="773112"/>
          </a:xfrm>
        </p:spPr>
        <p:txBody>
          <a:bodyPr/>
          <a:lstStyle/>
          <a:p>
            <a:pPr eaLnBrk="1" hangingPunct="1"/>
            <a:r>
              <a:rPr lang="en-AU" altLang="en-US"/>
              <a:t>Application Level</a:t>
            </a:r>
            <a:br>
              <a:rPr lang="en-AU" altLang="en-US"/>
            </a:br>
            <a:r>
              <a:rPr lang="en-AU" altLang="en-US"/>
              <a:t>Gateway</a:t>
            </a:r>
          </a:p>
        </p:txBody>
      </p:sp>
      <p:sp>
        <p:nvSpPr>
          <p:cNvPr id="55299" name="Rectangle 3"/>
          <p:cNvSpPr>
            <a:spLocks noGrp="1" noChangeArrowheads="1"/>
          </p:cNvSpPr>
          <p:nvPr>
            <p:ph idx="1"/>
          </p:nvPr>
        </p:nvSpPr>
        <p:spPr>
          <a:xfrm>
            <a:off x="527282" y="1671141"/>
            <a:ext cx="10886032" cy="4676264"/>
          </a:xfrm>
        </p:spPr>
        <p:txBody>
          <a:bodyPr rtlCol="0">
            <a:noAutofit/>
          </a:bodyPr>
          <a:lstStyle/>
          <a:p>
            <a:pPr eaLnBrk="1" fontAlgn="auto" hangingPunct="1">
              <a:spcBef>
                <a:spcPts val="600"/>
              </a:spcBef>
              <a:spcAft>
                <a:spcPts val="600"/>
              </a:spcAft>
              <a:buFont typeface="Calisto MT" pitchFamily="18" charset="0"/>
              <a:buChar char="•"/>
              <a:defRPr/>
            </a:pPr>
            <a:r>
              <a:rPr lang="en-AU" dirty="0">
                <a:solidFill>
                  <a:schemeClr val="tx2">
                    <a:lumMod val="10000"/>
                  </a:schemeClr>
                </a:solidFill>
                <a:ea typeface="+mn-ea"/>
                <a:cs typeface="+mn-cs"/>
              </a:rPr>
              <a:t>Also called an </a:t>
            </a:r>
            <a:r>
              <a:rPr lang="en-AU" i="1" dirty="0">
                <a:solidFill>
                  <a:schemeClr val="tx2">
                    <a:lumMod val="10000"/>
                  </a:schemeClr>
                </a:solidFill>
                <a:ea typeface="+mn-ea"/>
                <a:cs typeface="+mn-cs"/>
              </a:rPr>
              <a:t>application proxy</a:t>
            </a:r>
          </a:p>
          <a:p>
            <a:pPr eaLnBrk="1" fontAlgn="auto" hangingPunct="1">
              <a:spcBef>
                <a:spcPts val="600"/>
              </a:spcBef>
              <a:spcAft>
                <a:spcPts val="600"/>
              </a:spcAft>
              <a:buFont typeface="Calisto MT" pitchFamily="18" charset="0"/>
              <a:buChar char="•"/>
              <a:defRPr/>
            </a:pPr>
            <a:r>
              <a:rPr lang="en-AU" dirty="0">
                <a:solidFill>
                  <a:schemeClr val="tx2">
                    <a:lumMod val="10000"/>
                  </a:schemeClr>
                </a:solidFill>
                <a:ea typeface="+mn-ea"/>
                <a:cs typeface="+mn-cs"/>
              </a:rPr>
              <a:t>Acts as a relay of application-level traffic</a:t>
            </a:r>
          </a:p>
          <a:p>
            <a:pPr eaLnBrk="1" fontAlgn="auto" hangingPunct="1">
              <a:spcBef>
                <a:spcPts val="0"/>
              </a:spcBef>
              <a:spcAft>
                <a:spcPts val="600"/>
              </a:spcAft>
              <a:buFont typeface="Calisto MT" pitchFamily="18" charset="0"/>
              <a:buChar char="•"/>
              <a:defRPr/>
            </a:pPr>
            <a:r>
              <a:rPr lang="en-AU" dirty="0">
                <a:solidFill>
                  <a:schemeClr val="tx2">
                    <a:lumMod val="10000"/>
                  </a:schemeClr>
                </a:solidFill>
                <a:ea typeface="+mn-ea"/>
                <a:cs typeface="+mn-cs"/>
              </a:rPr>
              <a:t>If the gateway does not implement the proxy code for a specific application, the service is not supported and cannot be forwarded across the firewall</a:t>
            </a:r>
          </a:p>
          <a:p>
            <a:pPr lvl="2" eaLnBrk="1" hangingPunct="1">
              <a:spcBef>
                <a:spcPts val="0"/>
              </a:spcBef>
              <a:spcAft>
                <a:spcPts val="600"/>
              </a:spcAft>
              <a:defRPr/>
            </a:pPr>
            <a:r>
              <a:rPr lang="en-AU" dirty="0">
                <a:ea typeface="ＭＳ Ｐゴシック" charset="0"/>
              </a:rPr>
              <a:t>user requests service from proxy </a:t>
            </a:r>
          </a:p>
          <a:p>
            <a:pPr lvl="2" eaLnBrk="1" hangingPunct="1">
              <a:spcBef>
                <a:spcPts val="0"/>
              </a:spcBef>
              <a:spcAft>
                <a:spcPts val="600"/>
              </a:spcAft>
              <a:defRPr/>
            </a:pPr>
            <a:r>
              <a:rPr lang="en-AU" dirty="0">
                <a:ea typeface="ＭＳ Ｐゴシック" charset="0"/>
              </a:rPr>
              <a:t>proxy validates request as legal  (user authentication)</a:t>
            </a:r>
          </a:p>
          <a:p>
            <a:pPr lvl="2" eaLnBrk="1" hangingPunct="1">
              <a:spcBef>
                <a:spcPts val="0"/>
              </a:spcBef>
              <a:spcAft>
                <a:spcPts val="600"/>
              </a:spcAft>
              <a:defRPr/>
            </a:pPr>
            <a:r>
              <a:rPr lang="en-AU" dirty="0">
                <a:ea typeface="ＭＳ Ｐゴシック" charset="0"/>
              </a:rPr>
              <a:t>Proxy contacts application on host and relays TCP segment with application data between two end points</a:t>
            </a:r>
          </a:p>
          <a:p>
            <a:pPr lvl="2" eaLnBrk="1" hangingPunct="1">
              <a:spcBef>
                <a:spcPts val="0"/>
              </a:spcBef>
              <a:spcAft>
                <a:spcPts val="600"/>
              </a:spcAft>
              <a:defRPr/>
            </a:pPr>
            <a:r>
              <a:rPr lang="en-AU" dirty="0">
                <a:ea typeface="ＭＳ Ｐゴシック" charset="0"/>
              </a:rPr>
              <a:t>can log / audit traffic at application level </a:t>
            </a:r>
          </a:p>
          <a:p>
            <a:pPr eaLnBrk="1" fontAlgn="auto" hangingPunct="1">
              <a:spcBef>
                <a:spcPts val="600"/>
              </a:spcBef>
              <a:spcAft>
                <a:spcPts val="600"/>
              </a:spcAft>
              <a:buFont typeface="Calisto MT" pitchFamily="18" charset="0"/>
              <a:buChar char="•"/>
              <a:defRPr/>
            </a:pPr>
            <a:r>
              <a:rPr lang="en-AU" dirty="0">
                <a:solidFill>
                  <a:schemeClr val="tx2">
                    <a:lumMod val="10000"/>
                  </a:schemeClr>
                </a:solidFill>
                <a:ea typeface="+mn-ea"/>
                <a:cs typeface="+mn-cs"/>
              </a:rPr>
              <a:t>The gateway can be configured to support only specific features of an application that the network administrator considers acceptable while denying all other features</a:t>
            </a:r>
          </a:p>
          <a:p>
            <a:pPr eaLnBrk="1" fontAlgn="auto" hangingPunct="1">
              <a:spcBef>
                <a:spcPts val="600"/>
              </a:spcBef>
              <a:spcAft>
                <a:spcPts val="600"/>
              </a:spcAft>
              <a:buFont typeface="Calisto MT" pitchFamily="18" charset="0"/>
              <a:buChar char="•"/>
              <a:defRPr/>
            </a:pPr>
            <a:r>
              <a:rPr lang="en-AU" dirty="0">
                <a:solidFill>
                  <a:schemeClr val="tx2">
                    <a:lumMod val="10000"/>
                  </a:schemeClr>
                </a:solidFill>
                <a:ea typeface="+mn-ea"/>
                <a:cs typeface="+mn-cs"/>
              </a:rPr>
              <a:t>Tend to be more secure than packet filters</a:t>
            </a:r>
          </a:p>
          <a:p>
            <a:pPr eaLnBrk="1" fontAlgn="auto" hangingPunct="1">
              <a:spcBef>
                <a:spcPts val="600"/>
              </a:spcBef>
              <a:spcAft>
                <a:spcPts val="600"/>
              </a:spcAft>
              <a:buFont typeface="Calisto MT" pitchFamily="18" charset="0"/>
              <a:buChar char="•"/>
              <a:defRPr/>
            </a:pPr>
            <a:r>
              <a:rPr lang="en-AU" dirty="0">
                <a:solidFill>
                  <a:schemeClr val="tx2">
                    <a:lumMod val="10000"/>
                  </a:schemeClr>
                </a:solidFill>
                <a:ea typeface="+mn-ea"/>
                <a:cs typeface="+mn-cs"/>
              </a:rPr>
              <a:t>Disadvantage: </a:t>
            </a:r>
            <a:r>
              <a:rPr lang="en-AU" dirty="0">
                <a:solidFill>
                  <a:schemeClr val="tx2">
                    <a:lumMod val="10000"/>
                  </a:schemeClr>
                </a:solidFill>
                <a:ea typeface="+mn-ea"/>
              </a:rPr>
              <a:t>The additional processing overhead on each connection</a:t>
            </a:r>
          </a:p>
        </p:txBody>
      </p:sp>
      <p:pic>
        <p:nvPicPr>
          <p:cNvPr id="50180" name="Picture 3" descr="Ch20. Firewall Types.pdf                                       002F6F4DMacintosh HD                   B83AE914:"/>
          <p:cNvPicPr>
            <a:picLocks noChangeAspect="1" noChangeArrowheads="1"/>
          </p:cNvPicPr>
          <p:nvPr/>
        </p:nvPicPr>
        <p:blipFill>
          <a:blip r:embed="rId3">
            <a:extLst>
              <a:ext uri="{28A0092B-C50C-407E-A947-70E740481C1C}">
                <a14:useLocalDpi xmlns:a14="http://schemas.microsoft.com/office/drawing/2010/main" val="0"/>
              </a:ext>
            </a:extLst>
          </a:blip>
          <a:srcRect l="9265" t="32216" r="9265" b="42955"/>
          <a:stretch>
            <a:fillRect/>
          </a:stretch>
        </p:blipFill>
        <p:spPr bwMode="auto">
          <a:xfrm>
            <a:off x="7258050" y="25400"/>
            <a:ext cx="4933950" cy="2305050"/>
          </a:xfrm>
          <a:prstGeom prst="rect">
            <a:avLst/>
          </a:prstGeom>
          <a:noFill/>
          <a:ln>
            <a:noFill/>
          </a:ln>
          <a:extLst>
            <a:ext uri="{909E8E84-426E-40DD-AFC4-6F175D3DCCD1}">
              <a14:hiddenFill xmlns:a14="http://schemas.microsoft.com/office/drawing/2010/main">
                <a:solidFill>
                  <a:srgbClr val="FFFFFF">
                    <a:alpha val="70195"/>
                  </a:srgbClr>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287353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1847850" y="115888"/>
            <a:ext cx="7138988" cy="792162"/>
          </a:xfrm>
        </p:spPr>
        <p:txBody>
          <a:bodyPr/>
          <a:lstStyle/>
          <a:p>
            <a:pPr eaLnBrk="1" hangingPunct="1"/>
            <a:r>
              <a:rPr lang="en-AU" altLang="en-US" dirty="0"/>
              <a:t>Bastion Host</a:t>
            </a:r>
          </a:p>
        </p:txBody>
      </p:sp>
      <p:sp>
        <p:nvSpPr>
          <p:cNvPr id="51203" name="Rectangle 3"/>
          <p:cNvSpPr>
            <a:spLocks noGrp="1" noChangeArrowheads="1"/>
          </p:cNvSpPr>
          <p:nvPr>
            <p:ph idx="1"/>
          </p:nvPr>
        </p:nvSpPr>
        <p:spPr>
          <a:xfrm>
            <a:off x="634074" y="1047889"/>
            <a:ext cx="11259800" cy="5506899"/>
          </a:xfrm>
        </p:spPr>
        <p:txBody>
          <a:bodyPr/>
          <a:lstStyle/>
          <a:p>
            <a:pPr eaLnBrk="1" hangingPunct="1">
              <a:lnSpc>
                <a:spcPct val="80000"/>
              </a:lnSpc>
              <a:buFont typeface="Calisto MT" panose="02040603050505030304" pitchFamily="18" charset="0"/>
              <a:buChar char="•"/>
            </a:pPr>
            <a:r>
              <a:rPr lang="en-US" altLang="en-US" sz="2200" dirty="0"/>
              <a:t>A bastion host is a computer that is fully exposed to attack .</a:t>
            </a:r>
          </a:p>
          <a:p>
            <a:pPr lvl="1" eaLnBrk="1" hangingPunct="1">
              <a:lnSpc>
                <a:spcPct val="80000"/>
              </a:lnSpc>
              <a:buFont typeface="Calisto MT" panose="02040603050505030304" pitchFamily="18" charset="0"/>
              <a:buChar char="•"/>
            </a:pPr>
            <a:r>
              <a:rPr lang="en-US" altLang="en-US" sz="1600" dirty="0"/>
              <a:t>Public side of DMZ</a:t>
            </a:r>
          </a:p>
          <a:p>
            <a:pPr lvl="1" eaLnBrk="1" hangingPunct="1">
              <a:lnSpc>
                <a:spcPct val="80000"/>
              </a:lnSpc>
              <a:buFont typeface="Calisto MT" panose="02040603050505030304" pitchFamily="18" charset="0"/>
              <a:buChar char="•"/>
            </a:pPr>
            <a:r>
              <a:rPr lang="en-US" altLang="en-US" sz="1600" dirty="0"/>
              <a:t>Unprotected by Firewalls</a:t>
            </a:r>
          </a:p>
          <a:p>
            <a:pPr eaLnBrk="1" hangingPunct="1">
              <a:lnSpc>
                <a:spcPct val="80000"/>
              </a:lnSpc>
              <a:buFont typeface="Calisto MT" panose="02040603050505030304" pitchFamily="18" charset="0"/>
              <a:buChar char="•"/>
            </a:pPr>
            <a:r>
              <a:rPr lang="en-AU" altLang="en-US" sz="2200" dirty="0">
                <a:solidFill>
                  <a:srgbClr val="050505"/>
                </a:solidFill>
              </a:rPr>
              <a:t>A system identified by the firewall administrator as a critical strong point in the network’s security</a:t>
            </a:r>
          </a:p>
          <a:p>
            <a:pPr eaLnBrk="1" hangingPunct="1">
              <a:lnSpc>
                <a:spcPct val="80000"/>
              </a:lnSpc>
              <a:buFont typeface="Calisto MT" panose="02040603050505030304" pitchFamily="18" charset="0"/>
              <a:buChar char="•"/>
            </a:pPr>
            <a:r>
              <a:rPr lang="en-US" altLang="en-US" sz="2200" dirty="0"/>
              <a:t>Firewalls and routers can also be considered bastion hosts.</a:t>
            </a:r>
          </a:p>
          <a:p>
            <a:pPr eaLnBrk="1" hangingPunct="1">
              <a:lnSpc>
                <a:spcPct val="80000"/>
              </a:lnSpc>
              <a:buFont typeface="Calisto MT" panose="02040603050505030304" pitchFamily="18" charset="0"/>
              <a:buChar char="•"/>
            </a:pPr>
            <a:r>
              <a:rPr lang="en-AU" altLang="en-US" sz="2200" dirty="0">
                <a:solidFill>
                  <a:srgbClr val="050505"/>
                </a:solidFill>
              </a:rPr>
              <a:t>Common characteristics:</a:t>
            </a:r>
          </a:p>
          <a:p>
            <a:pPr lvl="1" eaLnBrk="1" hangingPunct="1">
              <a:buClrTx/>
              <a:buFont typeface="Wingdings" panose="05000000000000000000" pitchFamily="2" charset="2"/>
              <a:buChar char="§"/>
            </a:pPr>
            <a:r>
              <a:rPr lang="en-AU" altLang="en-US" dirty="0">
                <a:solidFill>
                  <a:srgbClr val="050505"/>
                </a:solidFill>
              </a:rPr>
              <a:t>Executes a secure version of its operating system, making it a hardened system</a:t>
            </a:r>
          </a:p>
          <a:p>
            <a:pPr lvl="1" eaLnBrk="1" hangingPunct="1">
              <a:buClrTx/>
              <a:buFont typeface="Wingdings" panose="05000000000000000000" pitchFamily="2" charset="2"/>
              <a:buChar char="§"/>
            </a:pPr>
            <a:r>
              <a:rPr lang="en-AU" altLang="en-US" dirty="0">
                <a:solidFill>
                  <a:srgbClr val="050505"/>
                </a:solidFill>
              </a:rPr>
              <a:t>Only the services that the network administrator considers essential are installed</a:t>
            </a:r>
          </a:p>
          <a:p>
            <a:pPr lvl="1" eaLnBrk="1" hangingPunct="1">
              <a:buClrTx/>
              <a:buFont typeface="Wingdings" panose="05000000000000000000" pitchFamily="2" charset="2"/>
              <a:buChar char="§"/>
            </a:pPr>
            <a:r>
              <a:rPr lang="en-AU" altLang="en-US" dirty="0">
                <a:solidFill>
                  <a:srgbClr val="050505"/>
                </a:solidFill>
              </a:rPr>
              <a:t>May require additional authentication before a user is allowed access to the proxy services</a:t>
            </a:r>
          </a:p>
          <a:p>
            <a:pPr lvl="1" eaLnBrk="1" hangingPunct="1">
              <a:buClrTx/>
              <a:buFont typeface="Wingdings" panose="05000000000000000000" pitchFamily="2" charset="2"/>
              <a:buChar char="§"/>
            </a:pPr>
            <a:r>
              <a:rPr lang="en-AU" altLang="en-US" dirty="0">
                <a:solidFill>
                  <a:srgbClr val="050505"/>
                </a:solidFill>
              </a:rPr>
              <a:t>Each proxy is configured to support only a subset of the standard application’s command set</a:t>
            </a:r>
          </a:p>
          <a:p>
            <a:pPr lvl="1" eaLnBrk="1" hangingPunct="1">
              <a:buClrTx/>
              <a:buFont typeface="Wingdings" panose="05000000000000000000" pitchFamily="2" charset="2"/>
              <a:buChar char="§"/>
            </a:pPr>
            <a:r>
              <a:rPr lang="en-AU" altLang="en-US" dirty="0">
                <a:solidFill>
                  <a:srgbClr val="050505"/>
                </a:solidFill>
              </a:rPr>
              <a:t>Each proxy is configured to allow access only to specific host systems</a:t>
            </a:r>
          </a:p>
          <a:p>
            <a:pPr lvl="1" eaLnBrk="1" hangingPunct="1">
              <a:buClrTx/>
              <a:buFont typeface="Wingdings" panose="05000000000000000000" pitchFamily="2" charset="2"/>
              <a:buChar char="§"/>
            </a:pPr>
            <a:r>
              <a:rPr lang="en-AU" altLang="en-US" dirty="0">
                <a:solidFill>
                  <a:srgbClr val="050505"/>
                </a:solidFill>
              </a:rPr>
              <a:t>Each proxy maintains detailed audit information by logging all traffic, each connection, and the duration of each connection</a:t>
            </a:r>
          </a:p>
          <a:p>
            <a:pPr lvl="1" eaLnBrk="1" hangingPunct="1">
              <a:buClrTx/>
              <a:buFont typeface="Wingdings" panose="05000000000000000000" pitchFamily="2" charset="2"/>
              <a:buChar char="§"/>
            </a:pPr>
            <a:r>
              <a:rPr lang="en-AU" altLang="en-US" dirty="0">
                <a:solidFill>
                  <a:srgbClr val="050505"/>
                </a:solidFill>
              </a:rPr>
              <a:t>A proxy generally performs no disk access other than  to read its initial configuration file</a:t>
            </a:r>
          </a:p>
          <a:p>
            <a:pPr lvl="1" eaLnBrk="1" hangingPunct="1">
              <a:buClrTx/>
              <a:buFont typeface="Wingdings" panose="05000000000000000000" pitchFamily="2" charset="2"/>
              <a:buChar char="§"/>
            </a:pPr>
            <a:r>
              <a:rPr lang="en-AU" altLang="en-US" dirty="0">
                <a:solidFill>
                  <a:srgbClr val="050505"/>
                </a:solidFill>
              </a:rPr>
              <a:t>Each proxy runs as a </a:t>
            </a:r>
            <a:r>
              <a:rPr lang="en-AU" altLang="en-US" dirty="0" err="1">
                <a:solidFill>
                  <a:srgbClr val="050505"/>
                </a:solidFill>
              </a:rPr>
              <a:t>nonprivileged</a:t>
            </a:r>
            <a:r>
              <a:rPr lang="en-AU" altLang="en-US" dirty="0">
                <a:solidFill>
                  <a:srgbClr val="050505"/>
                </a:solidFill>
              </a:rPr>
              <a:t> user in a private and secured directory on the bastion host</a:t>
            </a:r>
          </a:p>
        </p:txBody>
      </p:sp>
    </p:spTree>
    <p:extLst>
      <p:ext uri="{BB962C8B-B14F-4D97-AF65-F5344CB8AC3E}">
        <p14:creationId xmlns:p14="http://schemas.microsoft.com/office/powerpoint/2010/main" val="36645413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a:xfrm>
            <a:off x="1919289" y="260350"/>
            <a:ext cx="7138987" cy="1143000"/>
          </a:xfrm>
        </p:spPr>
        <p:txBody>
          <a:bodyPr/>
          <a:lstStyle/>
          <a:p>
            <a:pPr eaLnBrk="1" hangingPunct="1"/>
            <a:r>
              <a:rPr lang="en-US" altLang="en-US"/>
              <a:t>Host-Based Firewall</a:t>
            </a:r>
          </a:p>
        </p:txBody>
      </p:sp>
      <p:sp>
        <p:nvSpPr>
          <p:cNvPr id="3" name="Content Placeholder 2"/>
          <p:cNvSpPr>
            <a:spLocks noGrp="1"/>
          </p:cNvSpPr>
          <p:nvPr>
            <p:ph idx="1"/>
          </p:nvPr>
        </p:nvSpPr>
        <p:spPr>
          <a:xfrm>
            <a:off x="2208214" y="1700213"/>
            <a:ext cx="7583487" cy="4648200"/>
          </a:xfrm>
        </p:spPr>
        <p:txBody>
          <a:bodyPr rtlCol="0">
            <a:normAutofit/>
          </a:bodyPr>
          <a:lstStyle/>
          <a:p>
            <a:pPr eaLnBrk="1" fontAlgn="auto" hangingPunct="1">
              <a:spcAft>
                <a:spcPts val="0"/>
              </a:spcAft>
              <a:buFont typeface="Calisto MT" pitchFamily="18" charset="0"/>
              <a:buChar char="•"/>
              <a:defRPr/>
            </a:pPr>
            <a:r>
              <a:rPr lang="en-US" dirty="0">
                <a:solidFill>
                  <a:schemeClr val="tx2">
                    <a:lumMod val="10000"/>
                  </a:schemeClr>
                </a:solidFill>
                <a:ea typeface="+mn-ea"/>
                <a:cs typeface="+mn-cs"/>
              </a:rPr>
              <a:t>A software module used to secure an individual host</a:t>
            </a:r>
          </a:p>
          <a:p>
            <a:pPr eaLnBrk="1" fontAlgn="auto" hangingPunct="1">
              <a:spcAft>
                <a:spcPts val="0"/>
              </a:spcAft>
              <a:buFont typeface="Calisto MT" pitchFamily="18" charset="0"/>
              <a:buChar char="•"/>
              <a:defRPr/>
            </a:pPr>
            <a:r>
              <a:rPr lang="en-US" dirty="0">
                <a:solidFill>
                  <a:schemeClr val="tx2">
                    <a:lumMod val="10000"/>
                  </a:schemeClr>
                </a:solidFill>
                <a:ea typeface="+mn-ea"/>
                <a:cs typeface="+mn-cs"/>
              </a:rPr>
              <a:t>Is available in many operating systems or can be provided as an add-on package</a:t>
            </a:r>
          </a:p>
          <a:p>
            <a:pPr eaLnBrk="1" fontAlgn="auto" hangingPunct="1">
              <a:spcAft>
                <a:spcPts val="0"/>
              </a:spcAft>
              <a:buFont typeface="Calisto MT" pitchFamily="18" charset="0"/>
              <a:buChar char="•"/>
              <a:defRPr/>
            </a:pPr>
            <a:r>
              <a:rPr lang="en-US" dirty="0">
                <a:solidFill>
                  <a:schemeClr val="tx2">
                    <a:lumMod val="10000"/>
                  </a:schemeClr>
                </a:solidFill>
                <a:ea typeface="+mn-ea"/>
                <a:cs typeface="+mn-cs"/>
              </a:rPr>
              <a:t>Filters and restricts the flow of packets</a:t>
            </a:r>
          </a:p>
          <a:p>
            <a:pPr eaLnBrk="1" fontAlgn="auto" hangingPunct="1">
              <a:spcAft>
                <a:spcPts val="0"/>
              </a:spcAft>
              <a:buFont typeface="Calisto MT" pitchFamily="18" charset="0"/>
              <a:buChar char="•"/>
              <a:defRPr/>
            </a:pPr>
            <a:r>
              <a:rPr lang="en-US" dirty="0">
                <a:solidFill>
                  <a:schemeClr val="tx2">
                    <a:lumMod val="10000"/>
                  </a:schemeClr>
                </a:solidFill>
                <a:ea typeface="+mn-ea"/>
                <a:cs typeface="+mn-cs"/>
              </a:rPr>
              <a:t>Common location is a server (or workstation)</a:t>
            </a:r>
          </a:p>
          <a:p>
            <a:pPr eaLnBrk="1" fontAlgn="auto" hangingPunct="1">
              <a:spcAft>
                <a:spcPts val="0"/>
              </a:spcAft>
              <a:buFont typeface="Calisto MT" pitchFamily="18" charset="0"/>
              <a:buChar char="•"/>
              <a:defRPr/>
            </a:pPr>
            <a:r>
              <a:rPr lang="en-US" dirty="0">
                <a:solidFill>
                  <a:schemeClr val="tx2">
                    <a:lumMod val="10000"/>
                  </a:schemeClr>
                </a:solidFill>
                <a:ea typeface="+mn-ea"/>
                <a:cs typeface="+mn-cs"/>
              </a:rPr>
              <a:t>Advantages:</a:t>
            </a:r>
          </a:p>
          <a:p>
            <a:pPr lvl="1" eaLnBrk="1" fontAlgn="auto" hangingPunct="1">
              <a:spcAft>
                <a:spcPts val="0"/>
              </a:spcAft>
              <a:buClr>
                <a:schemeClr val="tx1"/>
              </a:buClr>
              <a:buFont typeface="Wingdings" panose="05000000000000000000" pitchFamily="2" charset="2"/>
              <a:buChar char="§"/>
              <a:defRPr/>
            </a:pPr>
            <a:r>
              <a:rPr lang="en-US" dirty="0">
                <a:solidFill>
                  <a:schemeClr val="tx2">
                    <a:lumMod val="10000"/>
                  </a:schemeClr>
                </a:solidFill>
                <a:ea typeface="+mn-ea"/>
              </a:rPr>
              <a:t>Filtering rules can be tailored to the host environment</a:t>
            </a:r>
          </a:p>
          <a:p>
            <a:pPr lvl="1" eaLnBrk="1" fontAlgn="auto" hangingPunct="1">
              <a:spcAft>
                <a:spcPts val="0"/>
              </a:spcAft>
              <a:buClr>
                <a:schemeClr val="tx1"/>
              </a:buClr>
              <a:buFont typeface="Wingdings" panose="05000000000000000000" pitchFamily="2" charset="2"/>
              <a:buChar char="§"/>
              <a:defRPr/>
            </a:pPr>
            <a:r>
              <a:rPr lang="en-US" dirty="0">
                <a:solidFill>
                  <a:schemeClr val="tx2">
                    <a:lumMod val="10000"/>
                  </a:schemeClr>
                </a:solidFill>
                <a:ea typeface="+mn-ea"/>
              </a:rPr>
              <a:t>Protection is provided independent of topology</a:t>
            </a:r>
          </a:p>
          <a:p>
            <a:pPr lvl="1" eaLnBrk="1" fontAlgn="auto" hangingPunct="1">
              <a:spcAft>
                <a:spcPts val="0"/>
              </a:spcAft>
              <a:buClr>
                <a:schemeClr val="tx1"/>
              </a:buClr>
              <a:buFont typeface="Wingdings" panose="05000000000000000000" pitchFamily="2" charset="2"/>
              <a:buChar char="§"/>
              <a:defRPr/>
            </a:pPr>
            <a:r>
              <a:rPr lang="en-US" dirty="0">
                <a:solidFill>
                  <a:schemeClr val="tx2">
                    <a:lumMod val="10000"/>
                  </a:schemeClr>
                </a:solidFill>
                <a:ea typeface="+mn-ea"/>
              </a:rPr>
              <a:t>Used in conjunction with stand-alone firewalls, provides an additional layer of protection</a:t>
            </a:r>
          </a:p>
        </p:txBody>
      </p:sp>
    </p:spTree>
    <p:extLst>
      <p:ext uri="{BB962C8B-B14F-4D97-AF65-F5344CB8AC3E}">
        <p14:creationId xmlns:p14="http://schemas.microsoft.com/office/powerpoint/2010/main" val="13800131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a:xfrm>
            <a:off x="1992314" y="115888"/>
            <a:ext cx="7138987" cy="1143000"/>
          </a:xfrm>
        </p:spPr>
        <p:txBody>
          <a:bodyPr/>
          <a:lstStyle/>
          <a:p>
            <a:pPr eaLnBrk="1" hangingPunct="1"/>
            <a:r>
              <a:rPr lang="en-US" altLang="en-US"/>
              <a:t>Personal Firewall</a:t>
            </a:r>
          </a:p>
        </p:txBody>
      </p:sp>
      <p:sp>
        <p:nvSpPr>
          <p:cNvPr id="3" name="Content Placeholder 2"/>
          <p:cNvSpPr>
            <a:spLocks noGrp="1"/>
          </p:cNvSpPr>
          <p:nvPr>
            <p:ph idx="1"/>
          </p:nvPr>
        </p:nvSpPr>
        <p:spPr>
          <a:xfrm>
            <a:off x="1992314" y="1916113"/>
            <a:ext cx="7991475" cy="3916362"/>
          </a:xfrm>
        </p:spPr>
        <p:txBody>
          <a:bodyPr rtlCol="0">
            <a:normAutofit fontScale="85000" lnSpcReduction="20000"/>
          </a:bodyPr>
          <a:lstStyle/>
          <a:p>
            <a:pPr eaLnBrk="1" fontAlgn="auto" hangingPunct="1">
              <a:spcAft>
                <a:spcPts val="0"/>
              </a:spcAft>
              <a:buFont typeface="Calisto MT" pitchFamily="18" charset="0"/>
              <a:buChar char="•"/>
              <a:defRPr/>
            </a:pPr>
            <a:r>
              <a:rPr lang="en-US" dirty="0">
                <a:solidFill>
                  <a:schemeClr val="tx2">
                    <a:lumMod val="10000"/>
                  </a:schemeClr>
                </a:solidFill>
                <a:ea typeface="+mn-ea"/>
                <a:cs typeface="+mn-cs"/>
              </a:rPr>
              <a:t>Controls the traffic between a personal computer or workstation on one side and the Internet or enterprise network on the other side</a:t>
            </a:r>
          </a:p>
          <a:p>
            <a:pPr eaLnBrk="1" fontAlgn="auto" hangingPunct="1">
              <a:spcAft>
                <a:spcPts val="0"/>
              </a:spcAft>
              <a:buFont typeface="Calisto MT" pitchFamily="18" charset="0"/>
              <a:buChar char="•"/>
              <a:defRPr/>
            </a:pPr>
            <a:r>
              <a:rPr lang="en-US" dirty="0">
                <a:solidFill>
                  <a:schemeClr val="tx2">
                    <a:lumMod val="10000"/>
                  </a:schemeClr>
                </a:solidFill>
                <a:ea typeface="+mn-ea"/>
                <a:cs typeface="+mn-cs"/>
              </a:rPr>
              <a:t>Can be used in the home environment and on corporate intranets</a:t>
            </a:r>
          </a:p>
          <a:p>
            <a:pPr eaLnBrk="1" fontAlgn="auto" hangingPunct="1">
              <a:spcAft>
                <a:spcPts val="0"/>
              </a:spcAft>
              <a:buFont typeface="Calisto MT" pitchFamily="18" charset="0"/>
              <a:buChar char="•"/>
              <a:defRPr/>
            </a:pPr>
            <a:r>
              <a:rPr lang="en-US" dirty="0">
                <a:solidFill>
                  <a:schemeClr val="tx2">
                    <a:lumMod val="10000"/>
                  </a:schemeClr>
                </a:solidFill>
                <a:ea typeface="+mn-ea"/>
                <a:cs typeface="+mn-cs"/>
              </a:rPr>
              <a:t>Typically is a software module on the personal computer</a:t>
            </a:r>
          </a:p>
          <a:p>
            <a:pPr eaLnBrk="1" fontAlgn="auto" hangingPunct="1">
              <a:spcAft>
                <a:spcPts val="0"/>
              </a:spcAft>
              <a:buFont typeface="Calisto MT" pitchFamily="18" charset="0"/>
              <a:buChar char="•"/>
              <a:defRPr/>
            </a:pPr>
            <a:r>
              <a:rPr lang="en-US" dirty="0">
                <a:solidFill>
                  <a:schemeClr val="tx2">
                    <a:lumMod val="10000"/>
                  </a:schemeClr>
                </a:solidFill>
                <a:ea typeface="+mn-ea"/>
                <a:cs typeface="+mn-cs"/>
              </a:rPr>
              <a:t>Can also be housed in a router that connects all of the home computers to a DSL, cable modem, or other Internet interface</a:t>
            </a:r>
          </a:p>
          <a:p>
            <a:pPr eaLnBrk="1" fontAlgn="auto" hangingPunct="1">
              <a:spcAft>
                <a:spcPts val="0"/>
              </a:spcAft>
              <a:buFont typeface="Calisto MT" pitchFamily="18" charset="0"/>
              <a:buChar char="•"/>
              <a:defRPr/>
            </a:pPr>
            <a:r>
              <a:rPr lang="en-US" dirty="0">
                <a:solidFill>
                  <a:schemeClr val="tx2">
                    <a:lumMod val="10000"/>
                  </a:schemeClr>
                </a:solidFill>
                <a:ea typeface="+mn-ea"/>
                <a:cs typeface="+mn-cs"/>
              </a:rPr>
              <a:t>Primary role is to deny unauthorized remote access to the computer</a:t>
            </a:r>
          </a:p>
          <a:p>
            <a:pPr eaLnBrk="1" fontAlgn="auto" hangingPunct="1">
              <a:spcAft>
                <a:spcPts val="0"/>
              </a:spcAft>
              <a:buFont typeface="Calisto MT" pitchFamily="18" charset="0"/>
              <a:buChar char="•"/>
              <a:defRPr/>
            </a:pPr>
            <a:r>
              <a:rPr lang="en-US" dirty="0">
                <a:solidFill>
                  <a:schemeClr val="tx2">
                    <a:lumMod val="10000"/>
                  </a:schemeClr>
                </a:solidFill>
                <a:ea typeface="+mn-ea"/>
                <a:cs typeface="+mn-cs"/>
              </a:rPr>
              <a:t>Can also monitor outgoing activity in an attempt to detect and block worms and other malware</a:t>
            </a:r>
          </a:p>
          <a:p>
            <a:pPr eaLnBrk="1" fontAlgn="auto" hangingPunct="1">
              <a:spcAft>
                <a:spcPts val="0"/>
              </a:spcAft>
              <a:buFont typeface="Calisto MT" pitchFamily="18" charset="0"/>
              <a:buChar char="•"/>
              <a:defRPr/>
            </a:pPr>
            <a:endParaRPr lang="en-US" dirty="0">
              <a:solidFill>
                <a:schemeClr val="tx2">
                  <a:lumMod val="10000"/>
                </a:schemeClr>
              </a:solidFill>
              <a:ea typeface="+mn-ea"/>
              <a:cs typeface="+mn-cs"/>
            </a:endParaRPr>
          </a:p>
        </p:txBody>
      </p:sp>
    </p:spTree>
    <p:extLst>
      <p:ext uri="{BB962C8B-B14F-4D97-AF65-F5344CB8AC3E}">
        <p14:creationId xmlns:p14="http://schemas.microsoft.com/office/powerpoint/2010/main" val="35598518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3" descr="f2.pdf"/>
          <p:cNvPicPr>
            <a:picLocks noChangeAspect="1"/>
          </p:cNvPicPr>
          <p:nvPr/>
        </p:nvPicPr>
        <p:blipFill>
          <a:blip r:embed="rId3">
            <a:extLst>
              <a:ext uri="{28A0092B-C50C-407E-A947-70E740481C1C}">
                <a14:useLocalDpi xmlns:a14="http://schemas.microsoft.com/office/drawing/2010/main" val="0"/>
              </a:ext>
            </a:extLst>
          </a:blip>
          <a:srcRect t="5090" b="34183"/>
          <a:stretch>
            <a:fillRect/>
          </a:stretch>
        </p:blipFill>
        <p:spPr bwMode="auto">
          <a:xfrm>
            <a:off x="2590801" y="304801"/>
            <a:ext cx="6907213" cy="560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2590800" y="6021388"/>
            <a:ext cx="6934200" cy="369332"/>
          </a:xfrm>
          <a:prstGeom prst="rect">
            <a:avLst/>
          </a:prstGeom>
        </p:spPr>
        <p:txBody>
          <a:bodyPr>
            <a:spAutoFit/>
          </a:bodyPr>
          <a:lstStyle/>
          <a:p>
            <a:pPr algn="ctr">
              <a:defRPr/>
            </a:pPr>
            <a:r>
              <a:rPr lang="en-US" dirty="0"/>
              <a:t>Example Personal Firewall Interface</a:t>
            </a:r>
          </a:p>
        </p:txBody>
      </p:sp>
    </p:spTree>
    <p:extLst>
      <p:ext uri="{BB962C8B-B14F-4D97-AF65-F5344CB8AC3E}">
        <p14:creationId xmlns:p14="http://schemas.microsoft.com/office/powerpoint/2010/main" val="410047997"/>
      </p:ext>
    </p:extLst>
  </p:cSld>
  <p:clrMapOvr>
    <a:masterClrMapping/>
  </p:clrMapOvr>
  <p:transition spd="med">
    <p:wipe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a:xfrm>
            <a:off x="1847850" y="115888"/>
            <a:ext cx="7138988" cy="1143000"/>
          </a:xfrm>
        </p:spPr>
        <p:txBody>
          <a:bodyPr/>
          <a:lstStyle/>
          <a:p>
            <a:r>
              <a:rPr lang="en-US" altLang="en-US"/>
              <a:t>Firewall Locations and Configurations</a:t>
            </a:r>
          </a:p>
        </p:txBody>
      </p:sp>
      <p:pic>
        <p:nvPicPr>
          <p:cNvPr id="55299"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640014" y="1557338"/>
            <a:ext cx="6264275" cy="1998662"/>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5300" name="Rectangle 4"/>
          <p:cNvSpPr>
            <a:spLocks noChangeArrowheads="1"/>
          </p:cNvSpPr>
          <p:nvPr/>
        </p:nvSpPr>
        <p:spPr bwMode="auto">
          <a:xfrm>
            <a:off x="1992313" y="3933826"/>
            <a:ext cx="8856662"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1800"/>
              </a:spcBef>
              <a:buClr>
                <a:schemeClr val="accent1"/>
              </a:buClr>
              <a:buSzPct val="100000"/>
              <a:buFont typeface="Wingdings 2" panose="05020102010507070707" pitchFamily="18" charset="2"/>
              <a:buChar char="¡"/>
              <a:defRPr sz="2000">
                <a:solidFill>
                  <a:schemeClr val="tx2"/>
                </a:solidFill>
                <a:latin typeface="Century Gothic" panose="020B0502020202020204" pitchFamily="34" charset="0"/>
                <a:ea typeface="MS PGothic" panose="020B0600070205080204" pitchFamily="34" charset="-128"/>
              </a:defRPr>
            </a:lvl1pPr>
            <a:lvl2pPr marL="742950" indent="-285750" eaLnBrk="0" hangingPunct="0">
              <a:spcBef>
                <a:spcPts val="600"/>
              </a:spcBef>
              <a:buClr>
                <a:srgbClr val="4D0000"/>
              </a:buClr>
              <a:buSzPct val="100000"/>
              <a:buFont typeface="Wingdings 2" panose="05020102010507070707" pitchFamily="18" charset="2"/>
              <a:buChar char="¡"/>
              <a:defRPr>
                <a:solidFill>
                  <a:schemeClr val="tx2"/>
                </a:solidFill>
                <a:latin typeface="Century Gothic" panose="020B0502020202020204" pitchFamily="34" charset="0"/>
                <a:ea typeface="MS PGothic" panose="020B0600070205080204" pitchFamily="34" charset="-128"/>
              </a:defRPr>
            </a:lvl2pPr>
            <a:lvl3pPr marL="1143000" indent="-228600" eaLnBrk="0" hangingPunct="0">
              <a:spcBef>
                <a:spcPts val="600"/>
              </a:spcBef>
              <a:buClr>
                <a:schemeClr val="accent1"/>
              </a:buClr>
              <a:buSzPct val="100000"/>
              <a:buFont typeface="Wingdings 2" panose="05020102010507070707" pitchFamily="18" charset="2"/>
              <a:buChar char="¡"/>
              <a:defRPr>
                <a:solidFill>
                  <a:schemeClr val="tx2"/>
                </a:solidFill>
                <a:latin typeface="Century Gothic" panose="020B0502020202020204" pitchFamily="34" charset="0"/>
                <a:ea typeface="MS PGothic" panose="020B0600070205080204" pitchFamily="34" charset="-128"/>
              </a:defRPr>
            </a:lvl3pPr>
            <a:lvl4pPr marL="1600200" indent="-228600" eaLnBrk="0" hangingPunct="0">
              <a:spcBef>
                <a:spcPts val="600"/>
              </a:spcBef>
              <a:buClr>
                <a:srgbClr val="4D0000"/>
              </a:buClr>
              <a:buSzPct val="100000"/>
              <a:buFont typeface="Wingdings 2" panose="05020102010507070707" pitchFamily="18" charset="2"/>
              <a:buChar char="¡"/>
              <a:defRPr>
                <a:solidFill>
                  <a:schemeClr val="tx2"/>
                </a:solidFill>
                <a:latin typeface="Century Gothic" panose="020B0502020202020204" pitchFamily="34" charset="0"/>
                <a:ea typeface="MS PGothic" panose="020B0600070205080204" pitchFamily="34" charset="-128"/>
              </a:defRPr>
            </a:lvl4pPr>
            <a:lvl5pPr marL="2057400" indent="-228600" eaLnBrk="0" hangingPunct="0">
              <a:spcBef>
                <a:spcPts val="600"/>
              </a:spcBef>
              <a:buClr>
                <a:schemeClr val="accent1"/>
              </a:buClr>
              <a:buSzPct val="100000"/>
              <a:buFont typeface="Wingdings 2" panose="05020102010507070707" pitchFamily="18" charset="2"/>
              <a:buChar char="¡"/>
              <a:defRPr>
                <a:solidFill>
                  <a:schemeClr val="tx2"/>
                </a:solidFill>
                <a:latin typeface="Century Gothic" panose="020B0502020202020204" pitchFamily="34" charset="0"/>
                <a:ea typeface="MS PGothic" panose="020B0600070205080204" pitchFamily="34" charset="-128"/>
              </a:defRPr>
            </a:lvl5pPr>
            <a:lvl6pPr marL="25146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Century Gothic" panose="020B0502020202020204" pitchFamily="34" charset="0"/>
                <a:ea typeface="MS PGothic" panose="020B0600070205080204" pitchFamily="34" charset="-128"/>
              </a:defRPr>
            </a:lvl6pPr>
            <a:lvl7pPr marL="29718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Century Gothic" panose="020B0502020202020204" pitchFamily="34" charset="0"/>
                <a:ea typeface="MS PGothic" panose="020B0600070205080204" pitchFamily="34" charset="-128"/>
              </a:defRPr>
            </a:lvl7pPr>
            <a:lvl8pPr marL="34290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Century Gothic" panose="020B0502020202020204" pitchFamily="34" charset="0"/>
                <a:ea typeface="MS PGothic" panose="020B0600070205080204" pitchFamily="34" charset="-128"/>
              </a:defRPr>
            </a:lvl8pPr>
            <a:lvl9pPr marL="3886200" indent="-228600" eaLnBrk="0" fontAlgn="base" hangingPunct="0">
              <a:spcBef>
                <a:spcPts val="600"/>
              </a:spcBef>
              <a:spcAft>
                <a:spcPct val="0"/>
              </a:spcAft>
              <a:buClr>
                <a:schemeClr val="accent1"/>
              </a:buClr>
              <a:buSzPct val="100000"/>
              <a:buFont typeface="Wingdings 2" panose="05020102010507070707" pitchFamily="18" charset="2"/>
              <a:buChar char="¡"/>
              <a:defRPr>
                <a:solidFill>
                  <a:schemeClr val="tx2"/>
                </a:solidFill>
                <a:latin typeface="Century Gothic" panose="020B0502020202020204" pitchFamily="34" charset="0"/>
                <a:ea typeface="MS PGothic" panose="020B0600070205080204" pitchFamily="34" charset="-128"/>
              </a:defRPr>
            </a:lvl9pPr>
          </a:lstStyle>
          <a:p>
            <a:pPr eaLnBrk="1" hangingPunct="1">
              <a:spcBef>
                <a:spcPct val="0"/>
              </a:spcBef>
              <a:buClrTx/>
              <a:buSzTx/>
              <a:buFontTx/>
              <a:buNone/>
            </a:pPr>
            <a:r>
              <a:rPr lang="en-US" altLang="en-US" sz="2400">
                <a:solidFill>
                  <a:schemeClr val="tx1"/>
                </a:solidFill>
                <a:latin typeface="Adobe Caslon Pro" panose="0205050205050A020403" pitchFamily="18" charset="0"/>
              </a:rPr>
              <a:t>In general, firewall is positioned to provide a protective barrier</a:t>
            </a:r>
          </a:p>
          <a:p>
            <a:pPr eaLnBrk="1" hangingPunct="1">
              <a:spcBef>
                <a:spcPct val="0"/>
              </a:spcBef>
              <a:buClrTx/>
              <a:buSzTx/>
              <a:buFontTx/>
              <a:buNone/>
            </a:pPr>
            <a:r>
              <a:rPr lang="en-US" altLang="en-US" sz="2400">
                <a:solidFill>
                  <a:schemeClr val="tx1"/>
                </a:solidFill>
                <a:latin typeface="Adobe Caslon Pro" panose="0205050205050A020403" pitchFamily="18" charset="0"/>
              </a:rPr>
              <a:t>between an external, potentially untrusted source of traffic and an internal network</a:t>
            </a:r>
          </a:p>
          <a:p>
            <a:pPr eaLnBrk="1" hangingPunct="1">
              <a:spcBef>
                <a:spcPct val="0"/>
              </a:spcBef>
              <a:buClrTx/>
              <a:buSzTx/>
              <a:buFontTx/>
              <a:buNone/>
            </a:pPr>
            <a:endParaRPr lang="en-US" altLang="en-US" sz="2400">
              <a:solidFill>
                <a:schemeClr val="tx1"/>
              </a:solidFill>
              <a:latin typeface="Adobe Caslon Pro" panose="0205050205050A020403" pitchFamily="18" charset="0"/>
            </a:endParaRPr>
          </a:p>
          <a:p>
            <a:pPr eaLnBrk="1" hangingPunct="1">
              <a:spcBef>
                <a:spcPct val="0"/>
              </a:spcBef>
              <a:buClrTx/>
              <a:buSzTx/>
              <a:buFontTx/>
              <a:buNone/>
            </a:pPr>
            <a:r>
              <a:rPr lang="en-US" altLang="en-US" sz="2400">
                <a:solidFill>
                  <a:schemeClr val="tx1"/>
                </a:solidFill>
                <a:latin typeface="Adobe Caslon Pro" panose="0205050205050A020403" pitchFamily="18" charset="0"/>
              </a:rPr>
              <a:t>Security administrator must decide on the location and on the number of firewalls needed</a:t>
            </a:r>
          </a:p>
        </p:txBody>
      </p:sp>
    </p:spTree>
    <p:extLst>
      <p:ext uri="{BB962C8B-B14F-4D97-AF65-F5344CB8AC3E}">
        <p14:creationId xmlns:p14="http://schemas.microsoft.com/office/powerpoint/2010/main" val="7653025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a:xfrm>
            <a:off x="1919289" y="188914"/>
            <a:ext cx="7138987" cy="719137"/>
          </a:xfrm>
        </p:spPr>
        <p:txBody>
          <a:bodyPr/>
          <a:lstStyle/>
          <a:p>
            <a:r>
              <a:rPr lang="en-US" altLang="en-US"/>
              <a:t>DMZ Networks Configuration</a:t>
            </a:r>
          </a:p>
        </p:txBody>
      </p:sp>
      <p:sp>
        <p:nvSpPr>
          <p:cNvPr id="56323" name="Content Placeholder 2"/>
          <p:cNvSpPr>
            <a:spLocks noGrp="1"/>
          </p:cNvSpPr>
          <p:nvPr>
            <p:ph idx="1"/>
          </p:nvPr>
        </p:nvSpPr>
        <p:spPr>
          <a:xfrm>
            <a:off x="1269634" y="1412876"/>
            <a:ext cx="9887361" cy="5645766"/>
          </a:xfrm>
        </p:spPr>
        <p:txBody>
          <a:bodyPr/>
          <a:lstStyle/>
          <a:p>
            <a:r>
              <a:rPr lang="en-US" altLang="en-US" dirty="0"/>
              <a:t>An external firewall is placed at the edge of a local or enterprise network, just inside the boundary router that connects to the Internet or some wide area network (WAN).</a:t>
            </a:r>
          </a:p>
          <a:p>
            <a:r>
              <a:rPr lang="en-US" altLang="en-US" dirty="0"/>
              <a:t>One or more internal firewalls protect the bulk of the enterprise network. </a:t>
            </a:r>
          </a:p>
          <a:p>
            <a:r>
              <a:rPr lang="en-US" altLang="en-US" dirty="0"/>
              <a:t>Between these two types of firewalls are one or more networked devices in a region referred to as a DMZ (demilitarized zone) network</a:t>
            </a:r>
          </a:p>
          <a:p>
            <a:r>
              <a:rPr lang="en-US" dirty="0"/>
              <a:t>A DMZ in a computer network acts as a buffer zone between the Internet, where no controls exist, and the inner, secure network, where an organization has security policies in place. </a:t>
            </a:r>
          </a:p>
          <a:p>
            <a:r>
              <a:rPr lang="en-US" altLang="en-US" dirty="0"/>
              <a:t>Systems that are externally accessible (require external connectivity) but need some protections are usually located on DMZ networks.</a:t>
            </a:r>
          </a:p>
          <a:p>
            <a:pPr lvl="1"/>
            <a:r>
              <a:rPr lang="en-US" altLang="en-US" sz="2000" dirty="0"/>
              <a:t>corporate Web site, an e-mail server, or a DNS server</a:t>
            </a:r>
          </a:p>
        </p:txBody>
      </p:sp>
    </p:spTree>
    <p:extLst>
      <p:ext uri="{BB962C8B-B14F-4D97-AF65-F5344CB8AC3E}">
        <p14:creationId xmlns:p14="http://schemas.microsoft.com/office/powerpoint/2010/main" val="16477309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a:xfrm>
            <a:off x="1485626" y="1124363"/>
            <a:ext cx="5486400" cy="563563"/>
          </a:xfrm>
        </p:spPr>
        <p:txBody>
          <a:bodyPr/>
          <a:lstStyle/>
          <a:p>
            <a:pPr eaLnBrk="1" hangingPunct="1"/>
            <a:r>
              <a:rPr lang="en-US" altLang="en-US" dirty="0">
                <a:ea typeface="ヒラギノ角ゴ Pro W3" charset="-128"/>
              </a:rPr>
              <a:t>The DMZ and Zones of Trust</a:t>
            </a:r>
          </a:p>
        </p:txBody>
      </p:sp>
      <p:pic>
        <p:nvPicPr>
          <p:cNvPr id="21506" name="Content Placeholder 3" descr="F09-11.jpg"/>
          <p:cNvPicPr>
            <a:picLocks noGrp="1" noChangeAspect="1"/>
          </p:cNvPicPr>
          <p:nvPr>
            <p:ph idx="1"/>
          </p:nvPr>
        </p:nvPicPr>
        <p:blipFill>
          <a:blip r:embed="rId3" cstate="print">
            <a:extLst>
              <a:ext uri="{28A0092B-C50C-407E-A947-70E740481C1C}">
                <a14:useLocalDpi xmlns:a14="http://schemas.microsoft.com/office/drawing/2010/main" val="0"/>
              </a:ext>
            </a:extLst>
          </a:blip>
          <a:srcRect t="-17310" b="-17310"/>
          <a:stretch>
            <a:fillRect/>
          </a:stretch>
        </p:blipFill>
        <p:spPr>
          <a:xfrm>
            <a:off x="1368310" y="1954885"/>
            <a:ext cx="9454271" cy="3916363"/>
          </a:xfrm>
        </p:spPr>
      </p:pic>
    </p:spTree>
    <p:extLst>
      <p:ext uri="{BB962C8B-B14F-4D97-AF65-F5344CB8AC3E}">
        <p14:creationId xmlns:p14="http://schemas.microsoft.com/office/powerpoint/2010/main" val="1113331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4" descr="f3.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446464" y="0"/>
            <a:ext cx="52990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71437168"/>
      </p:ext>
    </p:extLst>
  </p:cSld>
  <p:clrMapOvr>
    <a:masterClrMapping/>
  </p:clrMapOvr>
  <p:transition spd="med">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1992314" y="260350"/>
            <a:ext cx="7138987" cy="642938"/>
          </a:xfrm>
        </p:spPr>
        <p:txBody>
          <a:bodyPr/>
          <a:lstStyle/>
          <a:p>
            <a:r>
              <a:rPr lang="en-US" altLang="en-US"/>
              <a:t>DMZ Networks Configuration</a:t>
            </a:r>
          </a:p>
        </p:txBody>
      </p:sp>
      <p:sp>
        <p:nvSpPr>
          <p:cNvPr id="58371" name="Content Placeholder 2"/>
          <p:cNvSpPr>
            <a:spLocks noGrp="1"/>
          </p:cNvSpPr>
          <p:nvPr>
            <p:ph idx="1"/>
          </p:nvPr>
        </p:nvSpPr>
        <p:spPr>
          <a:xfrm>
            <a:off x="1348576" y="1484314"/>
            <a:ext cx="8924137" cy="4637087"/>
          </a:xfrm>
        </p:spPr>
        <p:txBody>
          <a:bodyPr/>
          <a:lstStyle/>
          <a:p>
            <a:r>
              <a:rPr lang="en-US" altLang="en-US" dirty="0"/>
              <a:t>Internal firewall adds more stringent filtering capability</a:t>
            </a:r>
          </a:p>
          <a:p>
            <a:pPr lvl="1"/>
            <a:r>
              <a:rPr lang="en-US" altLang="en-US" dirty="0"/>
              <a:t>protect enterprise servers and workstations from external attack</a:t>
            </a:r>
          </a:p>
          <a:p>
            <a:r>
              <a:rPr lang="en-US" altLang="en-US" dirty="0"/>
              <a:t>Internal firewall provides two-way protection with respect to the DMZ</a:t>
            </a:r>
          </a:p>
          <a:p>
            <a:r>
              <a:rPr lang="en-US" altLang="en-US" dirty="0"/>
              <a:t>Multiple internal firewalls can be used to protect portions of the internal network from each other.</a:t>
            </a:r>
          </a:p>
          <a:p>
            <a:pPr lvl="1"/>
            <a:r>
              <a:rPr lang="en-US" altLang="en-US" dirty="0"/>
              <a:t>Example: firewalls can be configured so that internal servers are protected from internal workstations and vice versa</a:t>
            </a:r>
          </a:p>
          <a:p>
            <a:r>
              <a:rPr lang="en-US" altLang="en-US" dirty="0"/>
              <a:t>Common practice is to place the DMZ on a different network interface on the external firewall from that used to access the internal networks</a:t>
            </a:r>
          </a:p>
        </p:txBody>
      </p:sp>
    </p:spTree>
    <p:extLst>
      <p:ext uri="{BB962C8B-B14F-4D97-AF65-F5344CB8AC3E}">
        <p14:creationId xmlns:p14="http://schemas.microsoft.com/office/powerpoint/2010/main" val="32383923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a:xfrm>
            <a:off x="1992314" y="260350"/>
            <a:ext cx="7138987" cy="1143000"/>
          </a:xfrm>
        </p:spPr>
        <p:txBody>
          <a:bodyPr/>
          <a:lstStyle/>
          <a:p>
            <a:r>
              <a:rPr lang="en-US" altLang="en-US"/>
              <a:t>Distributed Firewalls Configuration</a:t>
            </a:r>
          </a:p>
        </p:txBody>
      </p:sp>
      <p:sp>
        <p:nvSpPr>
          <p:cNvPr id="59395" name="Content Placeholder 2"/>
          <p:cNvSpPr>
            <a:spLocks noGrp="1"/>
          </p:cNvSpPr>
          <p:nvPr>
            <p:ph idx="1"/>
          </p:nvPr>
        </p:nvSpPr>
        <p:spPr>
          <a:xfrm>
            <a:off x="1105174" y="1844676"/>
            <a:ext cx="9167539" cy="4276725"/>
          </a:xfrm>
        </p:spPr>
        <p:txBody>
          <a:bodyPr/>
          <a:lstStyle/>
          <a:p>
            <a:r>
              <a:rPr lang="en-US" altLang="en-US" dirty="0"/>
              <a:t>A distributed firewall configuration involves stand-alone firewall devices plus host based firewalls working together under a central administrative control</a:t>
            </a:r>
          </a:p>
          <a:p>
            <a:pPr lvl="1"/>
            <a:r>
              <a:rPr lang="en-US" altLang="en-US" dirty="0"/>
              <a:t>configure host resident firewalls on hundreds of servers and workstations as well as configure personal firewalls on local and remote user systems</a:t>
            </a:r>
          </a:p>
          <a:p>
            <a:r>
              <a:rPr lang="en-US" altLang="en-US" dirty="0"/>
              <a:t>Web servers that need less protection because they have less critical information on them could be placed in an external DMZ, outside the external firewall.</a:t>
            </a:r>
          </a:p>
          <a:p>
            <a:r>
              <a:rPr lang="en-US" altLang="en-US" dirty="0"/>
              <a:t>What protection is needed is provided by host-based firewalls on these servers.</a:t>
            </a:r>
          </a:p>
        </p:txBody>
      </p:sp>
    </p:spTree>
    <p:extLst>
      <p:ext uri="{BB962C8B-B14F-4D97-AF65-F5344CB8AC3E}">
        <p14:creationId xmlns:p14="http://schemas.microsoft.com/office/powerpoint/2010/main" val="9936918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Picture 4" descr="f5.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446464" y="0"/>
            <a:ext cx="52990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17168447"/>
      </p:ext>
    </p:extLst>
  </p:cSld>
  <p:clrMapOvr>
    <a:masterClrMapping/>
  </p:clrMapOvr>
  <p:transition spd="med">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4"/>
          <p:cNvSpPr>
            <a:spLocks noGrp="1"/>
          </p:cNvSpPr>
          <p:nvPr>
            <p:ph type="title"/>
          </p:nvPr>
        </p:nvSpPr>
        <p:spPr>
          <a:xfrm>
            <a:off x="1919289" y="260350"/>
            <a:ext cx="7138987" cy="787400"/>
          </a:xfrm>
        </p:spPr>
        <p:txBody>
          <a:bodyPr/>
          <a:lstStyle/>
          <a:p>
            <a:r>
              <a:rPr lang="en-US" altLang="en-US"/>
              <a:t>Problem #1</a:t>
            </a:r>
          </a:p>
        </p:txBody>
      </p:sp>
      <p:sp>
        <p:nvSpPr>
          <p:cNvPr id="63491" name="Content Placeholder 5"/>
          <p:cNvSpPr>
            <a:spLocks noGrp="1"/>
          </p:cNvSpPr>
          <p:nvPr>
            <p:ph idx="1"/>
          </p:nvPr>
        </p:nvSpPr>
        <p:spPr>
          <a:xfrm>
            <a:off x="1992313" y="1484314"/>
            <a:ext cx="8280400" cy="4637087"/>
          </a:xfrm>
        </p:spPr>
        <p:txBody>
          <a:bodyPr/>
          <a:lstStyle/>
          <a:p>
            <a:r>
              <a:rPr lang="en-US" altLang="en-US"/>
              <a:t>Table shows packet filter firewall ruleset for an imaginary network of IP address that range from 192.168.1.0 to 192.168.1.254. Describe the effect of each rule (Firewall address: 192.168.1.1)</a:t>
            </a:r>
          </a:p>
          <a:p>
            <a:endParaRPr lang="en-US" altLang="en-US"/>
          </a:p>
        </p:txBody>
      </p:sp>
      <p:pic>
        <p:nvPicPr>
          <p:cNvPr id="6349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4825" y="3136900"/>
            <a:ext cx="8497888" cy="3028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394756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p:cNvSpPr>
          <p:nvPr>
            <p:ph type="title"/>
          </p:nvPr>
        </p:nvSpPr>
        <p:spPr>
          <a:xfrm>
            <a:off x="1919289" y="549276"/>
            <a:ext cx="7138987" cy="498475"/>
          </a:xfrm>
        </p:spPr>
        <p:txBody>
          <a:bodyPr/>
          <a:lstStyle/>
          <a:p>
            <a:r>
              <a:rPr lang="en-US" altLang="en-US"/>
              <a:t>Problem #2</a:t>
            </a:r>
          </a:p>
        </p:txBody>
      </p:sp>
      <p:sp>
        <p:nvSpPr>
          <p:cNvPr id="3" name="Content Placeholder 2"/>
          <p:cNvSpPr>
            <a:spLocks noGrp="1"/>
          </p:cNvSpPr>
          <p:nvPr>
            <p:ph idx="1"/>
          </p:nvPr>
        </p:nvSpPr>
        <p:spPr>
          <a:xfrm>
            <a:off x="2135189" y="1628776"/>
            <a:ext cx="8281987" cy="3916363"/>
          </a:xfrm>
        </p:spPr>
        <p:txBody>
          <a:bodyPr/>
          <a:lstStyle/>
          <a:p>
            <a:pPr marL="457200" indent="-457200">
              <a:buFont typeface="+mj-lt"/>
              <a:buAutoNum type="arabicPeriod"/>
              <a:defRPr/>
            </a:pPr>
            <a:r>
              <a:rPr lang="en-US" dirty="0">
                <a:ea typeface="ＭＳ Ｐゴシック" charset="0"/>
              </a:rPr>
              <a:t>Describe the effect of each rule.</a:t>
            </a:r>
          </a:p>
          <a:p>
            <a:pPr>
              <a:defRPr/>
            </a:pPr>
            <a:endParaRPr lang="en-US" dirty="0">
              <a:ea typeface="ＭＳ Ｐゴシック" charset="0"/>
            </a:endParaRPr>
          </a:p>
        </p:txBody>
      </p:sp>
      <p:pic>
        <p:nvPicPr>
          <p:cNvPr id="6554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5189" y="2781300"/>
            <a:ext cx="8040687" cy="23637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953893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a:xfrm>
            <a:off x="1992314" y="115889"/>
            <a:ext cx="7138987" cy="865187"/>
          </a:xfrm>
        </p:spPr>
        <p:txBody>
          <a:bodyPr/>
          <a:lstStyle/>
          <a:p>
            <a:r>
              <a:rPr lang="en-US" altLang="en-US"/>
              <a:t>Problem #2 (Contd.)</a:t>
            </a:r>
          </a:p>
        </p:txBody>
      </p:sp>
      <p:sp>
        <p:nvSpPr>
          <p:cNvPr id="3" name="Content Placeholder 2"/>
          <p:cNvSpPr>
            <a:spLocks noGrp="1"/>
          </p:cNvSpPr>
          <p:nvPr>
            <p:ph idx="1"/>
          </p:nvPr>
        </p:nvSpPr>
        <p:spPr>
          <a:xfrm>
            <a:off x="1847850" y="1268413"/>
            <a:ext cx="8280400" cy="3916362"/>
          </a:xfrm>
        </p:spPr>
        <p:txBody>
          <a:bodyPr/>
          <a:lstStyle/>
          <a:p>
            <a:pPr marL="457200" indent="-457200">
              <a:buFont typeface="+mj-lt"/>
              <a:buAutoNum type="arabicPeriod" startAt="2"/>
              <a:defRPr/>
            </a:pPr>
            <a:r>
              <a:rPr lang="en-US" sz="2000" dirty="0">
                <a:ea typeface="ＭＳ Ｐゴシック" charset="0"/>
              </a:rPr>
              <a:t>Your host in this example has IP address 172.16.1.1. Someone tries to send e-mail from a remote host with IP address 192.168.3.4. If successful, this generates an SMTP dialogue between the remote user and the SMTP server on your host consisting of SMTP commands and mail. Additionally, assume that a user on your host tries to send e-mail to the SMTP server on the remote system. Four typical packets for this scenario are as shown below:</a:t>
            </a:r>
          </a:p>
          <a:p>
            <a:pPr>
              <a:defRPr/>
            </a:pPr>
            <a:r>
              <a:rPr lang="en-US" sz="2000" dirty="0">
                <a:ea typeface="ＭＳ Ｐゴシック" charset="0"/>
              </a:rPr>
              <a:t>Indicate which packets are permitted or denied and </a:t>
            </a:r>
            <a:r>
              <a:rPr lang="en-US" sz="2000" b="1" dirty="0">
                <a:ea typeface="ＭＳ Ｐゴシック" charset="0"/>
              </a:rPr>
              <a:t>which rule is used in each case.</a:t>
            </a:r>
          </a:p>
          <a:p>
            <a:pPr>
              <a:defRPr/>
            </a:pPr>
            <a:endParaRPr lang="en-US" sz="2000" dirty="0">
              <a:ea typeface="ＭＳ Ｐゴシック" charset="0"/>
            </a:endParaRPr>
          </a:p>
          <a:p>
            <a:pPr>
              <a:defRPr/>
            </a:pPr>
            <a:endParaRPr lang="en-US" sz="2000" dirty="0">
              <a:ea typeface="ＭＳ Ｐゴシック" charset="0"/>
            </a:endParaRPr>
          </a:p>
        </p:txBody>
      </p:sp>
      <p:pic>
        <p:nvPicPr>
          <p:cNvPr id="6656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4400" y="4365626"/>
            <a:ext cx="7956550" cy="19478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10262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p:cNvSpPr>
          <p:nvPr>
            <p:ph type="title"/>
          </p:nvPr>
        </p:nvSpPr>
        <p:spPr>
          <a:xfrm>
            <a:off x="1992314" y="476250"/>
            <a:ext cx="7138987" cy="787400"/>
          </a:xfrm>
        </p:spPr>
        <p:txBody>
          <a:bodyPr/>
          <a:lstStyle/>
          <a:p>
            <a:r>
              <a:rPr lang="en-US" altLang="en-US"/>
              <a:t>Problem #2 (Contd.)</a:t>
            </a:r>
          </a:p>
        </p:txBody>
      </p:sp>
      <p:sp>
        <p:nvSpPr>
          <p:cNvPr id="3" name="Content Placeholder 2"/>
          <p:cNvSpPr>
            <a:spLocks noGrp="1"/>
          </p:cNvSpPr>
          <p:nvPr>
            <p:ph idx="1"/>
          </p:nvPr>
        </p:nvSpPr>
        <p:spPr>
          <a:xfrm>
            <a:off x="1992313" y="1844676"/>
            <a:ext cx="8280400" cy="4276725"/>
          </a:xfrm>
        </p:spPr>
        <p:txBody>
          <a:bodyPr/>
          <a:lstStyle/>
          <a:p>
            <a:pPr marL="457200" indent="-457200">
              <a:buFont typeface="+mj-lt"/>
              <a:buAutoNum type="arabicPeriod" startAt="3"/>
              <a:defRPr/>
            </a:pPr>
            <a:r>
              <a:rPr lang="en-US" dirty="0">
                <a:ea typeface="ＭＳ Ｐゴシック" charset="0"/>
              </a:rPr>
              <a:t>Someone from the outside world (10.1.2.3) attempts to open a connection from port 5150 on a remote host to the Web proxy server on port 8080 on one of your local hosts (172.16.3.4), in order to carry out an attack. Typical packets are as follows: </a:t>
            </a:r>
          </a:p>
          <a:p>
            <a:pPr>
              <a:defRPr/>
            </a:pPr>
            <a:endParaRPr lang="en-US" dirty="0">
              <a:ea typeface="ＭＳ Ｐゴシック" charset="0"/>
            </a:endParaRPr>
          </a:p>
          <a:p>
            <a:pPr>
              <a:defRPr/>
            </a:pPr>
            <a:endParaRPr lang="en-US" dirty="0">
              <a:ea typeface="ＭＳ Ｐゴシック" charset="0"/>
            </a:endParaRPr>
          </a:p>
          <a:p>
            <a:pPr>
              <a:defRPr/>
            </a:pPr>
            <a:endParaRPr lang="en-US" dirty="0">
              <a:ea typeface="ＭＳ Ｐゴシック" charset="0"/>
            </a:endParaRPr>
          </a:p>
          <a:p>
            <a:pPr>
              <a:defRPr/>
            </a:pPr>
            <a:r>
              <a:rPr lang="en-US" dirty="0">
                <a:ea typeface="ＭＳ Ｐゴシック" charset="0"/>
              </a:rPr>
              <a:t>Will the attack succeed? Give details.</a:t>
            </a:r>
          </a:p>
        </p:txBody>
      </p:sp>
      <p:pic>
        <p:nvPicPr>
          <p:cNvPr id="6758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750" y="4149726"/>
            <a:ext cx="7956550" cy="1222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955432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p:cNvSpPr>
          <p:nvPr>
            <p:ph type="title"/>
          </p:nvPr>
        </p:nvSpPr>
        <p:spPr>
          <a:xfrm>
            <a:off x="1992314" y="549275"/>
            <a:ext cx="7138987" cy="1143000"/>
          </a:xfrm>
        </p:spPr>
        <p:txBody>
          <a:bodyPr/>
          <a:lstStyle/>
          <a:p>
            <a:r>
              <a:rPr lang="en-US" altLang="en-US"/>
              <a:t>Problem #3</a:t>
            </a:r>
            <a:br>
              <a:rPr lang="en-US" altLang="en-US"/>
            </a:br>
            <a:r>
              <a:rPr lang="en-US" altLang="en-US" sz="2400"/>
              <a:t>Figure1: Multiple DMZ with split DNS servers</a:t>
            </a:r>
          </a:p>
        </p:txBody>
      </p:sp>
      <p:pic>
        <p:nvPicPr>
          <p:cNvPr id="69635"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359150" y="2060576"/>
            <a:ext cx="5226050" cy="4392613"/>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76316737"/>
      </p:ext>
    </p:extLst>
  </p:cSld>
  <p:clrMapOvr>
    <a:masterClrMapping/>
  </p:clrMapOvr>
</p:sld>
</file>

<file path=ppt/theme/theme1.xml><?xml version="1.0" encoding="utf-8"?>
<a:theme xmlns:a="http://schemas.openxmlformats.org/drawingml/2006/main" name="Plaza">
  <a:themeElements>
    <a:clrScheme name="Plaza">
      <a:dk1>
        <a:sysClr val="windowText" lastClr="000000"/>
      </a:dk1>
      <a:lt1>
        <a:sysClr val="window" lastClr="FFFFFF"/>
      </a:lt1>
      <a:dk2>
        <a:srgbClr val="333333"/>
      </a:dk2>
      <a:lt2>
        <a:srgbClr val="CCCCCC"/>
      </a:lt2>
      <a:accent1>
        <a:srgbClr val="990000"/>
      </a:accent1>
      <a:accent2>
        <a:srgbClr val="580101"/>
      </a:accent2>
      <a:accent3>
        <a:srgbClr val="E94A00"/>
      </a:accent3>
      <a:accent4>
        <a:srgbClr val="EB8F00"/>
      </a:accent4>
      <a:accent5>
        <a:srgbClr val="A4A4A4"/>
      </a:accent5>
      <a:accent6>
        <a:srgbClr val="666666"/>
      </a:accent6>
      <a:hlink>
        <a:srgbClr val="D01010"/>
      </a:hlink>
      <a:folHlink>
        <a:srgbClr val="E6682E"/>
      </a:folHlink>
    </a:clrScheme>
    <a:fontScheme name="Plaza">
      <a:majorFont>
        <a:latin typeface="Century Gothic"/>
        <a:ea typeface=""/>
        <a:cs typeface=""/>
        <a:font script="Jpan" typeface="メイリオ"/>
        <a:font script="Hans" typeface="宋体"/>
        <a:font script="Hant" typeface="新細明體"/>
      </a:majorFont>
      <a:minorFont>
        <a:latin typeface="Century Gothic"/>
        <a:ea typeface=""/>
        <a:cs typeface=""/>
        <a:font script="Jpan" typeface="メイリオ"/>
        <a:font script="Hans" typeface="宋体"/>
        <a:font script="Hant" typeface="新細明體"/>
      </a:minorFont>
    </a:fontScheme>
    <a:fmtScheme name="Plaza">
      <a:fillStyleLst>
        <a:solidFill>
          <a:schemeClr val="phClr"/>
        </a:solidFill>
        <a:gradFill rotWithShape="1">
          <a:gsLst>
            <a:gs pos="0">
              <a:schemeClr val="phClr">
                <a:tint val="100000"/>
                <a:shade val="60000"/>
                <a:satMod val="135000"/>
              </a:schemeClr>
            </a:gs>
            <a:gs pos="100000">
              <a:schemeClr val="phClr">
                <a:tint val="100000"/>
                <a:shade val="100000"/>
                <a:satMod val="135000"/>
              </a:schemeClr>
            </a:gs>
          </a:gsLst>
          <a:lin ang="16200000" scaled="1"/>
        </a:gradFill>
        <a:gradFill rotWithShape="1">
          <a:gsLst>
            <a:gs pos="0">
              <a:schemeClr val="phClr">
                <a:shade val="70000"/>
                <a:satMod val="120000"/>
              </a:schemeClr>
            </a:gs>
            <a:gs pos="35000">
              <a:schemeClr val="phClr">
                <a:shade val="100000"/>
                <a:satMod val="150000"/>
              </a:schemeClr>
            </a:gs>
            <a:gs pos="70000">
              <a:schemeClr val="phClr">
                <a:tint val="100000"/>
                <a:shade val="100000"/>
                <a:satMod val="200000"/>
                <a:greenMod val="100000"/>
              </a:schemeClr>
            </a:gs>
            <a:gs pos="100000">
              <a:schemeClr val="phClr">
                <a:tint val="100000"/>
                <a:shade val="100000"/>
                <a:satMod val="250000"/>
                <a:greenMod val="100000"/>
              </a:schemeClr>
            </a:gs>
          </a:gsLst>
          <a:lin ang="162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a:effectStyle>
        <a:effectStyle>
          <a:effectLst>
            <a:innerShdw blurRad="50800" dist="25400" dir="13500000">
              <a:srgbClr val="FFFFFF">
                <a:alpha val="75000"/>
              </a:srgbClr>
            </a:innerShdw>
            <a:outerShdw blurRad="88900" dist="38100" dir="6600000" sx="101000" sy="101000" rotWithShape="0">
              <a:srgbClr val="000000">
                <a:alpha val="50000"/>
              </a:srgbClr>
            </a:outerShdw>
          </a:effectLst>
          <a:scene3d>
            <a:camera prst="perspectiveFront" fov="3000000"/>
            <a:lightRig rig="morning" dir="tl">
              <a:rot lat="0" lon="0" rev="1800000"/>
            </a:lightRig>
          </a:scene3d>
          <a:sp3d contourW="38100" prstMaterial="softEdge">
            <a:bevelT w="25400" h="38100"/>
            <a:contourClr>
              <a:schemeClr val="phClr">
                <a:tint val="6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TotalTime>
  <Words>6153</Words>
  <Application>Microsoft Office PowerPoint</Application>
  <PresentationFormat>Widescreen</PresentationFormat>
  <Paragraphs>564</Paragraphs>
  <Slides>40</Slides>
  <Notes>20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40</vt:i4>
      </vt:variant>
    </vt:vector>
  </HeadingPairs>
  <TitlesOfParts>
    <vt:vector size="52" baseType="lpstr">
      <vt:lpstr>MS PGothic</vt:lpstr>
      <vt:lpstr>MS PGothic</vt:lpstr>
      <vt:lpstr>Adobe Caslon Pro</vt:lpstr>
      <vt:lpstr>Arial</vt:lpstr>
      <vt:lpstr>Calibri</vt:lpstr>
      <vt:lpstr>Calisto MT</vt:lpstr>
      <vt:lpstr>Century Gothic</vt:lpstr>
      <vt:lpstr>Courier New</vt:lpstr>
      <vt:lpstr>Wingdings</vt:lpstr>
      <vt:lpstr>Wingdings 2</vt:lpstr>
      <vt:lpstr>ヒラギノ角ゴ Pro W3</vt:lpstr>
      <vt:lpstr>Plaza</vt:lpstr>
      <vt:lpstr>Internet Firewalls and Security</vt:lpstr>
      <vt:lpstr>PowerPoint Presentation</vt:lpstr>
      <vt:lpstr>Defenses</vt:lpstr>
      <vt:lpstr>Firewalls</vt:lpstr>
      <vt:lpstr>Introduction</vt:lpstr>
      <vt:lpstr>What is a Firewall?</vt:lpstr>
      <vt:lpstr>PowerPoint Presentation</vt:lpstr>
      <vt:lpstr>Firewall characteristics</vt:lpstr>
      <vt:lpstr>Benefits of an Internet Firewall</vt:lpstr>
      <vt:lpstr>Firewall limitations</vt:lpstr>
      <vt:lpstr>Basic Firewall Design Decisions</vt:lpstr>
      <vt:lpstr>PowerPoint Presentation</vt:lpstr>
      <vt:lpstr>Packet Filtering Firewalls</vt:lpstr>
      <vt:lpstr>Packet Filtering Firewalls</vt:lpstr>
      <vt:lpstr>Packet Filtering Firewalls</vt:lpstr>
      <vt:lpstr>Packet Filtering Firewalls</vt:lpstr>
      <vt:lpstr>Security Policy of the Organization</vt:lpstr>
      <vt:lpstr>Example of Access Control List Simple Ruleset for SMTP Traffic</vt:lpstr>
      <vt:lpstr>Example Legitimate Traffic based on the Ruleset</vt:lpstr>
      <vt:lpstr>Problems with the Firewall Rules</vt:lpstr>
      <vt:lpstr>Modified Firewall Ruleset</vt:lpstr>
      <vt:lpstr>Application Level Gateway</vt:lpstr>
      <vt:lpstr>Firewall consisting of an application gateway and a filter</vt:lpstr>
      <vt:lpstr>Application Level Gateway</vt:lpstr>
      <vt:lpstr>Bastion Host</vt:lpstr>
      <vt:lpstr>Host-Based Firewall</vt:lpstr>
      <vt:lpstr>Personal Firewall</vt:lpstr>
      <vt:lpstr>PowerPoint Presentation</vt:lpstr>
      <vt:lpstr>Firewall Locations and Configurations</vt:lpstr>
      <vt:lpstr>DMZ Networks Configuration</vt:lpstr>
      <vt:lpstr>The DMZ and Zones of Trust</vt:lpstr>
      <vt:lpstr>PowerPoint Presentation</vt:lpstr>
      <vt:lpstr>DMZ Networks Configuration</vt:lpstr>
      <vt:lpstr>Distributed Firewalls Configuration</vt:lpstr>
      <vt:lpstr>PowerPoint Presentation</vt:lpstr>
      <vt:lpstr>Problem #1</vt:lpstr>
      <vt:lpstr>Problem #2</vt:lpstr>
      <vt:lpstr>Problem #2 (Contd.)</vt:lpstr>
      <vt:lpstr>Problem #2 (Contd.)</vt:lpstr>
      <vt:lpstr>Problem #3 Figure1: Multiple DMZ with split DNS servers</vt:lpstr>
    </vt:vector>
  </TitlesOfParts>
  <Company>UWB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 Firewalls and Security</dc:title>
  <dc:creator>Geethapriya Thamilarasu</dc:creator>
  <cp:lastModifiedBy>Ryan Peters</cp:lastModifiedBy>
  <cp:revision>8</cp:revision>
  <dcterms:created xsi:type="dcterms:W3CDTF">2018-01-30T21:24:37Z</dcterms:created>
  <dcterms:modified xsi:type="dcterms:W3CDTF">2018-01-31T01:16:14Z</dcterms:modified>
</cp:coreProperties>
</file>