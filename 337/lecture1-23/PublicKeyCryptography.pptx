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C2C8C-3C69-47D5-B95F-E3DD6EF52CF4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9C555-9DBF-4F7E-9163-CBCC21AC7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4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Diffie–Hellman key exchange is summarized in Figure 3.12.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F70061-053D-7C41-ACA2-89F3E01BB9A5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491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03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64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9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7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0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9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0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1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1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29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B7F95E63-B2FC-6340-819F-09B1386E07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4F62F1-22C1-4045-9A09-9CF772C9FABC}" type="datetimeFigureOut">
              <a:rPr lang="en-US" smtClean="0"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30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latin typeface="Tw Cen MT" panose="020B0602020104020603" pitchFamily="34" charset="0"/>
              </a:rPr>
              <a:t>Public-key Cryptography:</a:t>
            </a:r>
            <a:br>
              <a:rPr lang="en-US" altLang="en-US" dirty="0" smtClean="0">
                <a:latin typeface="Tw Cen MT" panose="020B0602020104020603" pitchFamily="34" charset="0"/>
              </a:rPr>
            </a:br>
            <a:r>
              <a:rPr lang="en-US" altLang="en-US" sz="6000" dirty="0" smtClean="0">
                <a:latin typeface="Tw Cen MT" panose="020B0602020104020603" pitchFamily="34" charset="0"/>
              </a:rPr>
              <a:t>RSA and </a:t>
            </a:r>
            <a:r>
              <a:rPr lang="en-US" altLang="en-US" sz="6000" dirty="0" err="1" smtClean="0">
                <a:latin typeface="Tw Cen MT" panose="020B0602020104020603" pitchFamily="34" charset="0"/>
              </a:rPr>
              <a:t>Diffie</a:t>
            </a:r>
            <a:r>
              <a:rPr lang="en-US" altLang="en-US" sz="6000" dirty="0" smtClean="0">
                <a:latin typeface="Tw Cen MT" panose="020B0602020104020603" pitchFamily="34" charset="0"/>
              </a:rPr>
              <a:t>-Hellman Key Exchange Algorithms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87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Public-Key Encryption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RSA </a:t>
            </a:r>
            <a:r>
              <a:rPr lang="en-US" dirty="0"/>
              <a:t>is a block cipher in which </a:t>
            </a:r>
            <a:r>
              <a:rPr lang="en-US" dirty="0" smtClean="0"/>
              <a:t>the plaintext </a:t>
            </a:r>
            <a:r>
              <a:rPr lang="en-US" dirty="0"/>
              <a:t>and </a:t>
            </a:r>
            <a:r>
              <a:rPr lang="en-US" dirty="0" err="1"/>
              <a:t>ciphertext</a:t>
            </a:r>
            <a:r>
              <a:rPr lang="en-US" dirty="0"/>
              <a:t> are integers between 0 and </a:t>
            </a:r>
            <a:r>
              <a:rPr lang="en-US" i="1" dirty="0"/>
              <a:t>n </a:t>
            </a:r>
            <a:r>
              <a:rPr lang="en-US" i="1" dirty="0" smtClean="0"/>
              <a:t>-</a:t>
            </a:r>
            <a:r>
              <a:rPr lang="en-US" dirty="0" smtClean="0"/>
              <a:t>1 </a:t>
            </a:r>
            <a:r>
              <a:rPr lang="en-US" dirty="0"/>
              <a:t>for some </a:t>
            </a:r>
            <a:r>
              <a:rPr lang="en-US" i="1" dirty="0" smtClean="0"/>
              <a:t>n</a:t>
            </a:r>
          </a:p>
          <a:p>
            <a:r>
              <a:rPr lang="en-US" dirty="0"/>
              <a:t>Encryption and decryption are of the following </a:t>
            </a:r>
            <a:r>
              <a:rPr lang="en-US" dirty="0" smtClean="0"/>
              <a:t>form for </a:t>
            </a:r>
            <a:r>
              <a:rPr lang="en-US" dirty="0"/>
              <a:t>some plaintext</a:t>
            </a:r>
          </a:p>
          <a:p>
            <a:r>
              <a:rPr lang="en-US" dirty="0"/>
              <a:t>block </a:t>
            </a:r>
            <a:r>
              <a:rPr lang="en-US" i="1" dirty="0"/>
              <a:t>M </a:t>
            </a:r>
            <a:r>
              <a:rPr lang="en-US" dirty="0"/>
              <a:t>and </a:t>
            </a:r>
            <a:r>
              <a:rPr lang="en-US" dirty="0" err="1"/>
              <a:t>ciphertext</a:t>
            </a:r>
            <a:r>
              <a:rPr lang="en-US" dirty="0"/>
              <a:t> block </a:t>
            </a:r>
            <a:r>
              <a:rPr lang="en-US" i="1" dirty="0"/>
              <a:t>C</a:t>
            </a:r>
            <a:r>
              <a:rPr lang="en-US" dirty="0"/>
              <a:t>:</a:t>
            </a:r>
          </a:p>
          <a:p>
            <a:r>
              <a:rPr lang="en-US" i="1" dirty="0"/>
              <a:t>C </a:t>
            </a:r>
            <a:r>
              <a:rPr lang="en-US" i="1" dirty="0" smtClean="0"/>
              <a:t>= M</a:t>
            </a:r>
            <a:r>
              <a:rPr lang="en-US" sz="2800" i="1" baseline="42000" dirty="0" smtClean="0"/>
              <a:t>e</a:t>
            </a:r>
            <a:r>
              <a:rPr lang="en-US" i="1" dirty="0" smtClean="0"/>
              <a:t> </a:t>
            </a:r>
            <a:r>
              <a:rPr lang="en-US" dirty="0"/>
              <a:t>mod </a:t>
            </a:r>
            <a:r>
              <a:rPr lang="en-US" i="1" dirty="0"/>
              <a:t>n</a:t>
            </a:r>
          </a:p>
          <a:p>
            <a:r>
              <a:rPr lang="da-DK" i="1" dirty="0" smtClean="0"/>
              <a:t>M = </a:t>
            </a:r>
            <a:r>
              <a:rPr lang="da-DK" i="1" dirty="0"/>
              <a:t>C</a:t>
            </a:r>
            <a:r>
              <a:rPr lang="da-DK" sz="2800" i="1" baseline="38000" dirty="0"/>
              <a:t>d</a:t>
            </a:r>
            <a:r>
              <a:rPr lang="da-DK" i="1" dirty="0"/>
              <a:t> </a:t>
            </a:r>
            <a:r>
              <a:rPr lang="da-DK" dirty="0"/>
              <a:t>mod </a:t>
            </a:r>
            <a:r>
              <a:rPr lang="da-DK" i="1" dirty="0"/>
              <a:t>n </a:t>
            </a:r>
            <a:endParaRPr lang="da-DK" i="1" dirty="0" smtClean="0"/>
          </a:p>
          <a:p>
            <a:r>
              <a:rPr lang="da-DK" i="1" dirty="0"/>
              <a:t> </a:t>
            </a:r>
            <a:r>
              <a:rPr lang="da-DK" i="1" dirty="0" smtClean="0"/>
              <a:t>   = </a:t>
            </a:r>
            <a:r>
              <a:rPr lang="da-DK" dirty="0" smtClean="0"/>
              <a:t>(</a:t>
            </a:r>
            <a:r>
              <a:rPr lang="da-DK" i="1" dirty="0"/>
              <a:t>M</a:t>
            </a:r>
            <a:r>
              <a:rPr lang="da-DK" i="1" baseline="30000" dirty="0"/>
              <a:t>e</a:t>
            </a:r>
            <a:r>
              <a:rPr lang="da-DK" dirty="0"/>
              <a:t>)</a:t>
            </a:r>
            <a:r>
              <a:rPr lang="da-DK" i="1" baseline="40000" dirty="0"/>
              <a:t>d </a:t>
            </a:r>
            <a:r>
              <a:rPr lang="da-DK" dirty="0"/>
              <a:t>mod </a:t>
            </a:r>
            <a:r>
              <a:rPr lang="da-DK" i="1" dirty="0"/>
              <a:t>n </a:t>
            </a:r>
            <a:endParaRPr lang="da-DK" i="1" dirty="0" smtClean="0"/>
          </a:p>
          <a:p>
            <a:r>
              <a:rPr lang="da-DK" i="1" dirty="0"/>
              <a:t> </a:t>
            </a:r>
            <a:r>
              <a:rPr lang="da-DK" i="1" dirty="0" smtClean="0"/>
              <a:t>   = M</a:t>
            </a:r>
            <a:r>
              <a:rPr lang="da-DK" i="1" baseline="40000" dirty="0" smtClean="0"/>
              <a:t>ed</a:t>
            </a:r>
            <a:r>
              <a:rPr lang="da-DK" i="1" dirty="0" smtClean="0"/>
              <a:t> </a:t>
            </a:r>
            <a:r>
              <a:rPr lang="da-DK" dirty="0"/>
              <a:t>mod </a:t>
            </a:r>
            <a:r>
              <a:rPr lang="da-DK" i="1" dirty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40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Public-Key Encryption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845734"/>
            <a:ext cx="10899648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Both sender and receiver must know the values of </a:t>
            </a:r>
            <a:r>
              <a:rPr lang="en-US" i="1" dirty="0"/>
              <a:t>n </a:t>
            </a:r>
            <a:r>
              <a:rPr lang="en-US" dirty="0"/>
              <a:t>and </a:t>
            </a:r>
            <a:r>
              <a:rPr lang="en-US" i="1" dirty="0"/>
              <a:t>e</a:t>
            </a:r>
            <a:r>
              <a:rPr lang="en-US" dirty="0"/>
              <a:t>, and only </a:t>
            </a:r>
            <a:r>
              <a:rPr lang="en-US" dirty="0" smtClean="0"/>
              <a:t>the receiver </a:t>
            </a:r>
            <a:r>
              <a:rPr lang="en-US" dirty="0"/>
              <a:t>knows the value of </a:t>
            </a:r>
            <a:r>
              <a:rPr lang="en-US" i="1" dirty="0"/>
              <a:t>d. </a:t>
            </a:r>
            <a:endParaRPr lang="en-US" i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is a public-key encryption algorithm with </a:t>
            </a:r>
            <a:endParaRPr lang="en-US" dirty="0" smtClean="0"/>
          </a:p>
          <a:p>
            <a:pPr lvl="1"/>
            <a:r>
              <a:rPr lang="en-US" dirty="0" smtClean="0"/>
              <a:t>a public key </a:t>
            </a:r>
            <a:r>
              <a:rPr lang="en-US" dirty="0"/>
              <a:t>of </a:t>
            </a:r>
            <a:r>
              <a:rPr lang="en-US" i="1" dirty="0"/>
              <a:t>KU </a:t>
            </a:r>
            <a:r>
              <a:rPr lang="en-US" i="1" dirty="0" smtClean="0"/>
              <a:t>= </a:t>
            </a:r>
            <a:r>
              <a:rPr lang="en-US" dirty="0" smtClean="0"/>
              <a:t>{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/>
              <a:t>} and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private key of </a:t>
            </a:r>
            <a:r>
              <a:rPr lang="en-US" i="1" dirty="0"/>
              <a:t>KR </a:t>
            </a:r>
            <a:r>
              <a:rPr lang="en-US" i="1" dirty="0" smtClean="0"/>
              <a:t>=</a:t>
            </a:r>
            <a:r>
              <a:rPr lang="en-US" dirty="0" smtClean="0"/>
              <a:t>{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 smtClean="0"/>
              <a:t>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 this algorithm to be </a:t>
            </a:r>
            <a:r>
              <a:rPr lang="en-US" dirty="0" smtClean="0"/>
              <a:t>satisfactory for </a:t>
            </a:r>
            <a:r>
              <a:rPr lang="en-US" dirty="0"/>
              <a:t>public-key encryption, the following requirements must be met.</a:t>
            </a:r>
          </a:p>
          <a:p>
            <a:r>
              <a:rPr lang="en-US" b="1" dirty="0"/>
              <a:t>1. </a:t>
            </a:r>
            <a:r>
              <a:rPr lang="en-US" dirty="0"/>
              <a:t>It is possible to find values of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n </a:t>
            </a:r>
            <a:r>
              <a:rPr lang="en-US" dirty="0"/>
              <a:t>such that </a:t>
            </a:r>
            <a:r>
              <a:rPr lang="en-US" i="1" dirty="0"/>
              <a:t>M</a:t>
            </a:r>
            <a:r>
              <a:rPr lang="en-US" i="1" baseline="30000" dirty="0"/>
              <a:t>ed </a:t>
            </a:r>
            <a:r>
              <a:rPr lang="en-US" dirty="0"/>
              <a:t>mod </a:t>
            </a:r>
            <a:r>
              <a:rPr lang="en-US" i="1" dirty="0"/>
              <a:t>n </a:t>
            </a:r>
            <a:r>
              <a:rPr lang="en-US" i="1" dirty="0" smtClean="0"/>
              <a:t>= M  </a:t>
            </a:r>
            <a:r>
              <a:rPr lang="en-US" dirty="0" smtClean="0"/>
              <a:t>for </a:t>
            </a:r>
            <a:r>
              <a:rPr lang="en-US" dirty="0"/>
              <a:t>all </a:t>
            </a:r>
            <a:r>
              <a:rPr lang="en-US" i="1" dirty="0"/>
              <a:t>M </a:t>
            </a:r>
            <a:r>
              <a:rPr lang="en-US" dirty="0"/>
              <a:t>&lt; </a:t>
            </a:r>
            <a:r>
              <a:rPr lang="en-US" i="1" dirty="0"/>
              <a:t>n.</a:t>
            </a:r>
          </a:p>
          <a:p>
            <a:r>
              <a:rPr lang="en-US" b="1" dirty="0"/>
              <a:t>2. </a:t>
            </a:r>
            <a:r>
              <a:rPr lang="en-US" dirty="0"/>
              <a:t>It is relatively easy to calculate </a:t>
            </a:r>
            <a:r>
              <a:rPr lang="en-US" i="1" dirty="0"/>
              <a:t>M</a:t>
            </a:r>
            <a:r>
              <a:rPr lang="en-US" i="1" baseline="30000" dirty="0"/>
              <a:t>e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C</a:t>
            </a:r>
            <a:r>
              <a:rPr lang="en-US" i="1" baseline="30000" dirty="0"/>
              <a:t>d </a:t>
            </a:r>
            <a:r>
              <a:rPr lang="en-US" dirty="0"/>
              <a:t>for all values of </a:t>
            </a:r>
            <a:r>
              <a:rPr lang="en-US" i="1" dirty="0"/>
              <a:t>M</a:t>
            </a:r>
            <a:r>
              <a:rPr lang="en-US" dirty="0"/>
              <a:t>&lt; </a:t>
            </a:r>
            <a:r>
              <a:rPr lang="en-US" i="1" dirty="0"/>
              <a:t>n.</a:t>
            </a:r>
          </a:p>
          <a:p>
            <a:r>
              <a:rPr lang="en-US" b="1" dirty="0"/>
              <a:t>3. </a:t>
            </a:r>
            <a:r>
              <a:rPr lang="en-US" dirty="0"/>
              <a:t>It is infeasible to determine </a:t>
            </a:r>
            <a:r>
              <a:rPr lang="en-US" i="1" dirty="0"/>
              <a:t>d </a:t>
            </a:r>
            <a:r>
              <a:rPr lang="en-US" dirty="0"/>
              <a:t>given </a:t>
            </a:r>
            <a:r>
              <a:rPr lang="en-US" i="1" dirty="0"/>
              <a:t>e </a:t>
            </a:r>
            <a:r>
              <a:rPr lang="en-US" dirty="0"/>
              <a:t>and </a:t>
            </a:r>
            <a:r>
              <a:rPr lang="en-US" i="1" dirty="0" smtClean="0"/>
              <a:t>n  (</a:t>
            </a:r>
            <a:r>
              <a:rPr lang="en-US" dirty="0"/>
              <a:t>can be </a:t>
            </a:r>
            <a:r>
              <a:rPr lang="en-US" dirty="0" smtClean="0"/>
              <a:t>met for </a:t>
            </a:r>
            <a:r>
              <a:rPr lang="en-US" dirty="0"/>
              <a:t>large values of </a:t>
            </a:r>
            <a:r>
              <a:rPr lang="en-US" i="1" dirty="0"/>
              <a:t>e </a:t>
            </a:r>
            <a:r>
              <a:rPr lang="en-US" dirty="0"/>
              <a:t>and </a:t>
            </a:r>
            <a:r>
              <a:rPr lang="en-US" i="1" dirty="0"/>
              <a:t>n</a:t>
            </a:r>
            <a:r>
              <a:rPr lang="en-US" i="1" dirty="0" smtClean="0"/>
              <a:t>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49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388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RSA Algorithm</a:t>
            </a:r>
            <a:endParaRPr lang="en-US" dirty="0"/>
          </a:p>
        </p:txBody>
      </p:sp>
      <p:pic>
        <p:nvPicPr>
          <p:cNvPr id="4" name="Content Placeholder 3" descr="f10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7273" b="19091"/>
              <a:stretch>
                <a:fillRect/>
              </a:stretch>
            </p:blipFill>
          </mc:Choice>
          <mc:Fallback>
            <p:blipFill>
              <a:blip r:embed="rId4"/>
              <a:srcRect t="7273" b="19091"/>
              <a:stretch>
                <a:fillRect/>
              </a:stretch>
            </p:blipFill>
          </mc:Fallback>
        </mc:AlternateContent>
        <p:spPr>
          <a:xfrm>
            <a:off x="2633032" y="810147"/>
            <a:ext cx="6346544" cy="60478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42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1. </a:t>
            </a:r>
            <a:r>
              <a:rPr lang="en-US" dirty="0"/>
              <a:t>Select two prime numbers, </a:t>
            </a:r>
            <a:r>
              <a:rPr lang="en-US" i="1" dirty="0"/>
              <a:t>p </a:t>
            </a:r>
            <a:r>
              <a:rPr lang="en-US" dirty="0"/>
              <a:t>17 and </a:t>
            </a:r>
            <a:r>
              <a:rPr lang="en-US" i="1" dirty="0"/>
              <a:t>q </a:t>
            </a:r>
            <a:r>
              <a:rPr lang="en-US" dirty="0"/>
              <a:t>11.</a:t>
            </a:r>
          </a:p>
          <a:p>
            <a:r>
              <a:rPr lang="pt-BR" b="1" dirty="0"/>
              <a:t>2. </a:t>
            </a:r>
            <a:r>
              <a:rPr lang="pt-BR" dirty="0"/>
              <a:t>Calculate </a:t>
            </a:r>
            <a:r>
              <a:rPr lang="pt-BR" i="1" dirty="0"/>
              <a:t>n </a:t>
            </a:r>
            <a:r>
              <a:rPr lang="pt-BR" dirty="0"/>
              <a:t>= </a:t>
            </a:r>
            <a:r>
              <a:rPr lang="pt-BR" i="1" dirty="0"/>
              <a:t>pq </a:t>
            </a:r>
            <a:r>
              <a:rPr lang="pt-BR" dirty="0"/>
              <a:t>= 17 × 11 = </a:t>
            </a:r>
            <a:r>
              <a:rPr lang="pt-BR" dirty="0" smtClean="0"/>
              <a:t>187</a:t>
            </a:r>
          </a:p>
          <a:p>
            <a:r>
              <a:rPr lang="pt-BR" b="1" dirty="0"/>
              <a:t>3. </a:t>
            </a:r>
            <a:r>
              <a:rPr lang="pt-BR" dirty="0"/>
              <a:t>Calculate </a:t>
            </a:r>
            <a:r>
              <a:rPr lang="pt-BR" dirty="0" smtClean="0"/>
              <a:t>Ø(</a:t>
            </a:r>
            <a:r>
              <a:rPr lang="pt-BR" i="1" dirty="0" smtClean="0"/>
              <a:t>n</a:t>
            </a:r>
            <a:r>
              <a:rPr lang="pt-BR" dirty="0"/>
              <a:t>) </a:t>
            </a:r>
            <a:r>
              <a:rPr lang="pt-BR" dirty="0" smtClean="0"/>
              <a:t>= (</a:t>
            </a:r>
            <a:r>
              <a:rPr lang="pt-BR" i="1" dirty="0"/>
              <a:t>p </a:t>
            </a:r>
            <a:r>
              <a:rPr lang="pt-BR" i="1" dirty="0" smtClean="0"/>
              <a:t>-</a:t>
            </a:r>
            <a:r>
              <a:rPr lang="pt-BR" dirty="0" smtClean="0"/>
              <a:t>1</a:t>
            </a:r>
            <a:r>
              <a:rPr lang="pt-BR" dirty="0"/>
              <a:t>)(</a:t>
            </a:r>
            <a:r>
              <a:rPr lang="pt-BR" i="1" dirty="0"/>
              <a:t>q </a:t>
            </a:r>
            <a:r>
              <a:rPr lang="pt-BR" i="1" dirty="0" smtClean="0"/>
              <a:t>-</a:t>
            </a:r>
            <a:r>
              <a:rPr lang="pt-BR" dirty="0" smtClean="0"/>
              <a:t>1</a:t>
            </a:r>
            <a:r>
              <a:rPr lang="pt-BR" dirty="0"/>
              <a:t>) </a:t>
            </a:r>
            <a:r>
              <a:rPr lang="pt-BR" dirty="0" smtClean="0"/>
              <a:t>= 16 </a:t>
            </a:r>
            <a:r>
              <a:rPr lang="pt-BR" dirty="0"/>
              <a:t>× 10 </a:t>
            </a:r>
            <a:r>
              <a:rPr lang="pt-BR" dirty="0" smtClean="0"/>
              <a:t>= 160</a:t>
            </a:r>
            <a:r>
              <a:rPr lang="pt-BR" dirty="0"/>
              <a:t>.</a:t>
            </a:r>
          </a:p>
          <a:p>
            <a:r>
              <a:rPr lang="en-US" b="1" dirty="0"/>
              <a:t>4. </a:t>
            </a:r>
            <a:r>
              <a:rPr lang="en-US" dirty="0"/>
              <a:t>Select </a:t>
            </a:r>
            <a:r>
              <a:rPr lang="en-US" i="1" dirty="0"/>
              <a:t>e </a:t>
            </a:r>
            <a:r>
              <a:rPr lang="en-US" dirty="0"/>
              <a:t>such that </a:t>
            </a:r>
            <a:r>
              <a:rPr lang="en-US" i="1" dirty="0"/>
              <a:t>e </a:t>
            </a:r>
            <a:r>
              <a:rPr lang="en-US" dirty="0"/>
              <a:t>is relatively prime to </a:t>
            </a:r>
            <a:r>
              <a:rPr lang="pt-BR" dirty="0"/>
              <a:t>Ø </a:t>
            </a:r>
            <a:r>
              <a:rPr lang="en-US" dirty="0" smtClean="0"/>
              <a:t>(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 smtClean="0"/>
              <a:t>= 160 </a:t>
            </a:r>
            <a:r>
              <a:rPr lang="en-US" dirty="0"/>
              <a:t>and less than </a:t>
            </a:r>
            <a:r>
              <a:rPr lang="pt-BR" dirty="0"/>
              <a:t>Ø </a:t>
            </a:r>
            <a:r>
              <a:rPr lang="en-US" dirty="0" smtClean="0"/>
              <a:t>(</a:t>
            </a:r>
            <a:r>
              <a:rPr lang="en-US" i="1" dirty="0"/>
              <a:t>n</a:t>
            </a:r>
            <a:r>
              <a:rPr lang="en-US" dirty="0"/>
              <a:t>); we </a:t>
            </a:r>
            <a:r>
              <a:rPr lang="en-US" dirty="0" smtClean="0"/>
              <a:t>choose </a:t>
            </a:r>
            <a:r>
              <a:rPr lang="en-US" i="1" dirty="0" smtClean="0"/>
              <a:t>e = </a:t>
            </a:r>
            <a:r>
              <a:rPr lang="en-US" dirty="0" smtClean="0"/>
              <a:t>7</a:t>
            </a:r>
            <a:r>
              <a:rPr lang="en-US" dirty="0"/>
              <a:t>.</a:t>
            </a:r>
          </a:p>
          <a:p>
            <a:r>
              <a:rPr lang="en-US" b="1" dirty="0"/>
              <a:t>5. </a:t>
            </a:r>
            <a:r>
              <a:rPr lang="en-US" dirty="0"/>
              <a:t>Determine </a:t>
            </a:r>
            <a:r>
              <a:rPr lang="en-US" i="1" dirty="0"/>
              <a:t>d </a:t>
            </a:r>
            <a:r>
              <a:rPr lang="en-US" dirty="0"/>
              <a:t>such that </a:t>
            </a:r>
            <a:r>
              <a:rPr lang="en-US" i="1" dirty="0" smtClean="0"/>
              <a:t>d</a:t>
            </a:r>
            <a:r>
              <a:rPr lang="en-US" i="1" dirty="0"/>
              <a:t>e</a:t>
            </a:r>
            <a:r>
              <a:rPr lang="en-US" i="1" dirty="0" smtClean="0"/>
              <a:t> </a:t>
            </a:r>
            <a:r>
              <a:rPr lang="en-US" dirty="0"/>
              <a:t>mod 160 </a:t>
            </a:r>
            <a:r>
              <a:rPr lang="en-US" dirty="0" smtClean="0"/>
              <a:t>= 1 </a:t>
            </a:r>
            <a:r>
              <a:rPr lang="en-US" dirty="0"/>
              <a:t>and </a:t>
            </a:r>
            <a:r>
              <a:rPr lang="en-US" i="1" dirty="0"/>
              <a:t>d </a:t>
            </a:r>
            <a:r>
              <a:rPr lang="en-US" dirty="0"/>
              <a:t>&lt; 160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correct value is </a:t>
            </a:r>
            <a:r>
              <a:rPr lang="en-US" i="1" dirty="0"/>
              <a:t>d </a:t>
            </a:r>
            <a:r>
              <a:rPr lang="en-US" dirty="0" smtClean="0"/>
              <a:t>23, because </a:t>
            </a:r>
            <a:r>
              <a:rPr lang="en-US" dirty="0"/>
              <a:t>23 × 7 </a:t>
            </a:r>
            <a:r>
              <a:rPr lang="en-US" dirty="0" smtClean="0"/>
              <a:t>=161 =(</a:t>
            </a:r>
            <a:r>
              <a:rPr lang="en-US" dirty="0"/>
              <a:t>1 × 160</a:t>
            </a:r>
            <a:r>
              <a:rPr lang="en-US" dirty="0" smtClean="0"/>
              <a:t>) + 1</a:t>
            </a:r>
          </a:p>
          <a:p>
            <a:endParaRPr lang="en-US" dirty="0"/>
          </a:p>
          <a:p>
            <a:r>
              <a:rPr lang="en-US" dirty="0"/>
              <a:t>The resulting keys are public key </a:t>
            </a:r>
            <a:r>
              <a:rPr lang="en-US" i="1" dirty="0"/>
              <a:t>PU </a:t>
            </a:r>
            <a:r>
              <a:rPr lang="en-US" dirty="0"/>
              <a:t>{7, 187} and private key </a:t>
            </a:r>
            <a:r>
              <a:rPr lang="en-US" i="1" dirty="0"/>
              <a:t>PR </a:t>
            </a:r>
            <a:r>
              <a:rPr lang="en-US" dirty="0"/>
              <a:t>{</a:t>
            </a:r>
            <a:r>
              <a:rPr lang="en-US" dirty="0" smtClean="0"/>
              <a:t>23, 187</a:t>
            </a:r>
            <a:r>
              <a:rPr lang="en-US" dirty="0"/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383632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b="0" dirty="0"/>
              <a:t>plaintext input of </a:t>
            </a:r>
            <a:r>
              <a:rPr lang="en-US" b="0" i="1" dirty="0"/>
              <a:t>M </a:t>
            </a:r>
            <a:r>
              <a:rPr lang="en-US" b="0" dirty="0"/>
              <a:t>= 88</a:t>
            </a:r>
            <a:endParaRPr lang="en-US" dirty="0"/>
          </a:p>
        </p:txBody>
      </p:sp>
      <p:pic>
        <p:nvPicPr>
          <p:cNvPr id="4" name="Content Placeholder 3" descr="f11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8182" t="21176" r="9091" b="24706"/>
              <a:stretch>
                <a:fillRect/>
              </a:stretch>
            </p:blipFill>
          </mc:Choice>
          <mc:Fallback>
            <p:blipFill>
              <a:blip r:embed="rId4"/>
              <a:srcRect l="8182" t="21176" r="9091" b="24706"/>
              <a:stretch>
                <a:fillRect/>
              </a:stretch>
            </p:blipFill>
          </mc:Fallback>
        </mc:AlternateContent>
        <p:spPr>
          <a:xfrm>
            <a:off x="2147202" y="1846263"/>
            <a:ext cx="7957922" cy="4022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7355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r>
              <a:rPr lang="en-US" dirty="0" smtClean="0"/>
              <a:t>: Encryption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88</a:t>
            </a:r>
            <a:r>
              <a:rPr lang="da-DK" baseline="30000" dirty="0"/>
              <a:t>7</a:t>
            </a:r>
            <a:r>
              <a:rPr lang="da-DK" dirty="0"/>
              <a:t> mod 187 [(88</a:t>
            </a:r>
            <a:r>
              <a:rPr lang="da-DK" baseline="30000" dirty="0"/>
              <a:t>4</a:t>
            </a:r>
            <a:r>
              <a:rPr lang="da-DK" dirty="0"/>
              <a:t> mod 187) × (88</a:t>
            </a:r>
            <a:r>
              <a:rPr lang="da-DK" baseline="30000" dirty="0"/>
              <a:t>2</a:t>
            </a:r>
            <a:r>
              <a:rPr lang="da-DK" dirty="0"/>
              <a:t> mod 187) × (88</a:t>
            </a:r>
            <a:r>
              <a:rPr lang="da-DK" baseline="30000" dirty="0"/>
              <a:t>1</a:t>
            </a:r>
            <a:r>
              <a:rPr lang="da-DK" dirty="0"/>
              <a:t> mod 187)] mod 187</a:t>
            </a:r>
          </a:p>
          <a:p>
            <a:r>
              <a:rPr lang="da-DK" dirty="0"/>
              <a:t>88</a:t>
            </a:r>
            <a:r>
              <a:rPr lang="da-DK" baseline="30000" dirty="0"/>
              <a:t>1</a:t>
            </a:r>
            <a:r>
              <a:rPr lang="da-DK" dirty="0"/>
              <a:t> mod 187 </a:t>
            </a:r>
            <a:r>
              <a:rPr lang="da-DK" dirty="0" smtClean="0"/>
              <a:t>= 88</a:t>
            </a:r>
            <a:endParaRPr lang="da-DK" dirty="0"/>
          </a:p>
          <a:p>
            <a:r>
              <a:rPr lang="da-DK" dirty="0"/>
              <a:t>88</a:t>
            </a:r>
            <a:r>
              <a:rPr lang="da-DK" baseline="30000" dirty="0"/>
              <a:t>2</a:t>
            </a:r>
            <a:r>
              <a:rPr lang="da-DK" dirty="0"/>
              <a:t> mod 187 </a:t>
            </a:r>
            <a:r>
              <a:rPr lang="da-DK" dirty="0" smtClean="0"/>
              <a:t>=7744 </a:t>
            </a:r>
            <a:r>
              <a:rPr lang="da-DK" dirty="0"/>
              <a:t>mod </a:t>
            </a:r>
            <a:r>
              <a:rPr lang="da-DK" dirty="0" smtClean="0"/>
              <a:t>187 = </a:t>
            </a:r>
            <a:r>
              <a:rPr lang="da-DK" dirty="0"/>
              <a:t>77</a:t>
            </a:r>
          </a:p>
          <a:p>
            <a:r>
              <a:rPr lang="da-DK" dirty="0"/>
              <a:t>88</a:t>
            </a:r>
            <a:r>
              <a:rPr lang="da-DK" baseline="30000" dirty="0"/>
              <a:t>4</a:t>
            </a:r>
            <a:r>
              <a:rPr lang="da-DK" dirty="0"/>
              <a:t> mod </a:t>
            </a:r>
            <a:r>
              <a:rPr lang="da-DK" dirty="0" smtClean="0"/>
              <a:t>187 = </a:t>
            </a:r>
            <a:r>
              <a:rPr lang="da-DK" dirty="0"/>
              <a:t>59,969,536 mod 187 </a:t>
            </a:r>
            <a:r>
              <a:rPr lang="da-DK" dirty="0" smtClean="0"/>
              <a:t>=132</a:t>
            </a:r>
            <a:endParaRPr lang="da-DK" dirty="0"/>
          </a:p>
          <a:p>
            <a:r>
              <a:rPr lang="da-DK" dirty="0"/>
              <a:t>88</a:t>
            </a:r>
            <a:r>
              <a:rPr lang="da-DK" baseline="30000" dirty="0"/>
              <a:t>7</a:t>
            </a:r>
            <a:r>
              <a:rPr lang="da-DK" dirty="0"/>
              <a:t> mod 187 </a:t>
            </a:r>
            <a:r>
              <a:rPr lang="da-DK" dirty="0" smtClean="0"/>
              <a:t>=(</a:t>
            </a:r>
            <a:r>
              <a:rPr lang="da-DK" dirty="0"/>
              <a:t>88 × 77 × 132) mod 187 </a:t>
            </a:r>
            <a:r>
              <a:rPr lang="da-DK" dirty="0" smtClean="0"/>
              <a:t>=894,432 </a:t>
            </a:r>
            <a:r>
              <a:rPr lang="da-DK" dirty="0"/>
              <a:t>mod 187 </a:t>
            </a:r>
            <a:r>
              <a:rPr lang="da-DK" dirty="0" smtClean="0"/>
              <a:t>=11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8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r>
              <a:rPr lang="en-US" dirty="0" smtClean="0"/>
              <a:t>: Decryption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decryption, we calculate </a:t>
            </a:r>
            <a:r>
              <a:rPr lang="en-US" i="1" dirty="0"/>
              <a:t>M </a:t>
            </a:r>
            <a:r>
              <a:rPr lang="en-US" i="1" dirty="0" smtClean="0"/>
              <a:t>=</a:t>
            </a:r>
            <a:r>
              <a:rPr lang="en-US" dirty="0" smtClean="0"/>
              <a:t>11</a:t>
            </a:r>
            <a:r>
              <a:rPr lang="en-US" baseline="30000" dirty="0" smtClean="0"/>
              <a:t>23</a:t>
            </a:r>
            <a:r>
              <a:rPr lang="en-US" dirty="0" smtClean="0"/>
              <a:t> </a:t>
            </a:r>
            <a:r>
              <a:rPr lang="en-US" dirty="0"/>
              <a:t>mod 187:</a:t>
            </a:r>
          </a:p>
          <a:p>
            <a:r>
              <a:rPr lang="da-DK" dirty="0"/>
              <a:t>11</a:t>
            </a:r>
            <a:r>
              <a:rPr lang="da-DK" baseline="30000" dirty="0"/>
              <a:t>23</a:t>
            </a:r>
            <a:r>
              <a:rPr lang="da-DK" dirty="0"/>
              <a:t> mod </a:t>
            </a:r>
            <a:r>
              <a:rPr lang="da-DK" dirty="0" smtClean="0"/>
              <a:t>187 = </a:t>
            </a:r>
            <a:r>
              <a:rPr lang="da-DK" dirty="0"/>
              <a:t>[(11</a:t>
            </a:r>
            <a:r>
              <a:rPr lang="da-DK" baseline="30000" dirty="0"/>
              <a:t>1</a:t>
            </a:r>
            <a:r>
              <a:rPr lang="da-DK" dirty="0"/>
              <a:t> mod 187) × (11</a:t>
            </a:r>
            <a:r>
              <a:rPr lang="da-DK" baseline="30000" dirty="0"/>
              <a:t>2</a:t>
            </a:r>
            <a:r>
              <a:rPr lang="da-DK" dirty="0"/>
              <a:t> mod 187) × (11</a:t>
            </a:r>
            <a:r>
              <a:rPr lang="da-DK" baseline="30000" dirty="0"/>
              <a:t>4</a:t>
            </a:r>
            <a:r>
              <a:rPr lang="da-DK" dirty="0"/>
              <a:t> mod 187) ×</a:t>
            </a:r>
          </a:p>
          <a:p>
            <a:r>
              <a:rPr lang="da-DK" dirty="0"/>
              <a:t>(11</a:t>
            </a:r>
            <a:r>
              <a:rPr lang="da-DK" baseline="30000" dirty="0"/>
              <a:t>8</a:t>
            </a:r>
            <a:r>
              <a:rPr lang="da-DK" dirty="0"/>
              <a:t> mod 187) × (11</a:t>
            </a:r>
            <a:r>
              <a:rPr lang="da-DK" baseline="30000" dirty="0"/>
              <a:t>8 </a:t>
            </a:r>
            <a:r>
              <a:rPr lang="da-DK" dirty="0"/>
              <a:t>mod 187)] mod 187</a:t>
            </a:r>
          </a:p>
          <a:p>
            <a:r>
              <a:rPr lang="en-US" dirty="0"/>
              <a:t>11</a:t>
            </a:r>
            <a:r>
              <a:rPr lang="en-US" baseline="30000" dirty="0"/>
              <a:t>1</a:t>
            </a:r>
            <a:r>
              <a:rPr lang="en-US" dirty="0"/>
              <a:t> mod </a:t>
            </a:r>
            <a:r>
              <a:rPr lang="en-US" dirty="0" smtClean="0"/>
              <a:t>187 =  </a:t>
            </a:r>
            <a:r>
              <a:rPr lang="en-US" dirty="0"/>
              <a:t>11</a:t>
            </a:r>
          </a:p>
          <a:p>
            <a:r>
              <a:rPr lang="en-US" dirty="0"/>
              <a:t>11</a:t>
            </a:r>
            <a:r>
              <a:rPr lang="en-US" baseline="30000" dirty="0"/>
              <a:t>2</a:t>
            </a:r>
            <a:r>
              <a:rPr lang="en-US" dirty="0"/>
              <a:t> mod 187 </a:t>
            </a:r>
            <a:r>
              <a:rPr lang="en-US" dirty="0" smtClean="0"/>
              <a:t>= 121</a:t>
            </a:r>
            <a:endParaRPr lang="en-US" dirty="0"/>
          </a:p>
          <a:p>
            <a:r>
              <a:rPr lang="da-DK" dirty="0"/>
              <a:t>11</a:t>
            </a:r>
            <a:r>
              <a:rPr lang="da-DK" baseline="30000" dirty="0"/>
              <a:t>4</a:t>
            </a:r>
            <a:r>
              <a:rPr lang="da-DK" dirty="0"/>
              <a:t> mod 187 </a:t>
            </a:r>
            <a:r>
              <a:rPr lang="da-DK" dirty="0" smtClean="0"/>
              <a:t>= 14,641 </a:t>
            </a:r>
            <a:r>
              <a:rPr lang="da-DK" dirty="0"/>
              <a:t>mod 187 </a:t>
            </a:r>
            <a:r>
              <a:rPr lang="da-DK" dirty="0" smtClean="0"/>
              <a:t>= 55</a:t>
            </a:r>
            <a:endParaRPr lang="da-DK" dirty="0"/>
          </a:p>
          <a:p>
            <a:r>
              <a:rPr lang="da-DK" dirty="0"/>
              <a:t>11</a:t>
            </a:r>
            <a:r>
              <a:rPr lang="da-DK" baseline="30000" dirty="0"/>
              <a:t>8</a:t>
            </a:r>
            <a:r>
              <a:rPr lang="da-DK" dirty="0"/>
              <a:t> mod 187 </a:t>
            </a:r>
            <a:r>
              <a:rPr lang="da-DK" dirty="0" smtClean="0"/>
              <a:t>= 214,358,881 </a:t>
            </a:r>
            <a:r>
              <a:rPr lang="da-DK" dirty="0"/>
              <a:t>mod 187 </a:t>
            </a:r>
            <a:r>
              <a:rPr lang="da-DK" dirty="0" smtClean="0"/>
              <a:t>= 33</a:t>
            </a:r>
            <a:endParaRPr lang="da-DK" dirty="0"/>
          </a:p>
          <a:p>
            <a:r>
              <a:rPr lang="da-DK" dirty="0"/>
              <a:t>11</a:t>
            </a:r>
            <a:r>
              <a:rPr lang="da-DK" baseline="30000" dirty="0"/>
              <a:t>23</a:t>
            </a:r>
            <a:r>
              <a:rPr lang="da-DK" dirty="0"/>
              <a:t> mod </a:t>
            </a:r>
            <a:r>
              <a:rPr lang="da-DK" dirty="0" smtClean="0"/>
              <a:t>187 = </a:t>
            </a:r>
            <a:r>
              <a:rPr lang="da-DK" dirty="0"/>
              <a:t>(11 × 121 × 55 × 33 × 33) mod 187</a:t>
            </a:r>
          </a:p>
          <a:p>
            <a:r>
              <a:rPr lang="en-US" dirty="0"/>
              <a:t>79,720,245 mod 187 </a:t>
            </a:r>
            <a:r>
              <a:rPr lang="en-US" dirty="0" smtClean="0"/>
              <a:t>= 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06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66709"/>
          </a:xfrm>
        </p:spPr>
        <p:txBody>
          <a:bodyPr/>
          <a:lstStyle/>
          <a:p>
            <a:r>
              <a:rPr lang="en-AU" dirty="0" err="1"/>
              <a:t>Diffie</a:t>
            </a:r>
            <a:r>
              <a:rPr lang="en-AU" dirty="0"/>
              <a:t>-Hellman Key Exchange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1369040" cy="501226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purpose of the algorithm is to enable two users to exchange a secret </a:t>
            </a:r>
            <a:r>
              <a:rPr lang="en-US" dirty="0" smtClean="0"/>
              <a:t>key securely </a:t>
            </a:r>
            <a:r>
              <a:rPr lang="en-US" dirty="0"/>
              <a:t>that then can be used for subsequent encryption of messages.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algorithm itself </a:t>
            </a:r>
            <a:r>
              <a:rPr lang="en-US" dirty="0"/>
              <a:t>is limited to the exchange of the keys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Diffie</a:t>
            </a:r>
            <a:r>
              <a:rPr lang="en-US" dirty="0"/>
              <a:t>-Hellman algorithm depends for its effectiveness on the difficulty </a:t>
            </a:r>
            <a:r>
              <a:rPr lang="en-US" dirty="0" smtClean="0"/>
              <a:t>of computing </a:t>
            </a:r>
            <a:r>
              <a:rPr lang="en-US" dirty="0"/>
              <a:t>discrete </a:t>
            </a:r>
            <a:r>
              <a:rPr lang="en-US" dirty="0" smtClean="0"/>
              <a:t>logarithms.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First, we define a primitive root of a prime number </a:t>
            </a:r>
            <a:r>
              <a:rPr lang="en-US" i="1" dirty="0"/>
              <a:t>p </a:t>
            </a:r>
            <a:r>
              <a:rPr lang="en-US" dirty="0"/>
              <a:t>as one </a:t>
            </a:r>
            <a:r>
              <a:rPr lang="en-US" dirty="0" smtClean="0"/>
              <a:t>whose powers </a:t>
            </a:r>
            <a:r>
              <a:rPr lang="en-US" dirty="0"/>
              <a:t>generate all the integers from 1 to </a:t>
            </a:r>
            <a:r>
              <a:rPr lang="en-US" i="1" dirty="0" smtClean="0"/>
              <a:t>p-</a:t>
            </a:r>
            <a:r>
              <a:rPr lang="en-US" dirty="0" smtClean="0"/>
              <a:t>1.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if </a:t>
            </a:r>
            <a:r>
              <a:rPr lang="en-US" i="1" dirty="0"/>
              <a:t>a </a:t>
            </a:r>
            <a:r>
              <a:rPr lang="en-US" dirty="0"/>
              <a:t>is a primitive root of </a:t>
            </a:r>
            <a:r>
              <a:rPr lang="en-US" dirty="0" smtClean="0"/>
              <a:t>the prime </a:t>
            </a:r>
            <a:r>
              <a:rPr lang="en-US" dirty="0"/>
              <a:t>number </a:t>
            </a:r>
            <a:r>
              <a:rPr lang="en-US" i="1" dirty="0"/>
              <a:t>p</a:t>
            </a:r>
            <a:r>
              <a:rPr lang="en-US" dirty="0"/>
              <a:t>, then the </a:t>
            </a:r>
            <a:r>
              <a:rPr lang="en-US" dirty="0" smtClean="0"/>
              <a:t>numbers </a:t>
            </a:r>
            <a:r>
              <a:rPr lang="da-DK" i="1" dirty="0" smtClean="0"/>
              <a:t>a </a:t>
            </a:r>
            <a:r>
              <a:rPr lang="da-DK" dirty="0"/>
              <a:t>mod </a:t>
            </a:r>
            <a:r>
              <a:rPr lang="da-DK" i="1" dirty="0"/>
              <a:t>p</a:t>
            </a:r>
            <a:r>
              <a:rPr lang="da-DK" dirty="0"/>
              <a:t>, </a:t>
            </a:r>
            <a:r>
              <a:rPr lang="da-DK" i="1" dirty="0"/>
              <a:t>a</a:t>
            </a:r>
            <a:r>
              <a:rPr lang="da-DK" baseline="30000" dirty="0"/>
              <a:t>2</a:t>
            </a:r>
            <a:r>
              <a:rPr lang="da-DK" dirty="0"/>
              <a:t> mod </a:t>
            </a:r>
            <a:r>
              <a:rPr lang="da-DK" i="1" dirty="0"/>
              <a:t>p</a:t>
            </a:r>
            <a:r>
              <a:rPr lang="da-DK" dirty="0"/>
              <a:t>, . . ., </a:t>
            </a:r>
            <a:r>
              <a:rPr lang="da-DK" i="1" dirty="0" smtClean="0"/>
              <a:t>a</a:t>
            </a:r>
            <a:r>
              <a:rPr lang="da-DK" i="1" baseline="30000" dirty="0" smtClean="0"/>
              <a:t>p-1</a:t>
            </a:r>
            <a:r>
              <a:rPr lang="da-DK" baseline="30000" dirty="0" smtClean="0"/>
              <a:t> </a:t>
            </a:r>
            <a:r>
              <a:rPr lang="da-DK" dirty="0"/>
              <a:t>mod </a:t>
            </a:r>
            <a:r>
              <a:rPr lang="da-DK" i="1" dirty="0" smtClean="0"/>
              <a:t>p </a:t>
            </a:r>
            <a:r>
              <a:rPr lang="en-US" dirty="0" smtClean="0"/>
              <a:t>are </a:t>
            </a:r>
            <a:r>
              <a:rPr lang="en-US" dirty="0"/>
              <a:t>distinct and consist of the integers from 1 through </a:t>
            </a:r>
            <a:r>
              <a:rPr lang="en-US" i="1" dirty="0" smtClean="0"/>
              <a:t>p-</a:t>
            </a:r>
            <a:r>
              <a:rPr lang="en-US" dirty="0" smtClean="0"/>
              <a:t>1 </a:t>
            </a:r>
            <a:r>
              <a:rPr lang="en-US" dirty="0"/>
              <a:t>in some </a:t>
            </a:r>
            <a:r>
              <a:rPr lang="en-US" dirty="0" smtClean="0"/>
              <a:t>permutation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 any integer </a:t>
            </a:r>
            <a:r>
              <a:rPr lang="en-US" i="1" dirty="0"/>
              <a:t>b </a:t>
            </a:r>
            <a:r>
              <a:rPr lang="en-US" dirty="0"/>
              <a:t>less than </a:t>
            </a:r>
            <a:r>
              <a:rPr lang="en-US" i="1" dirty="0"/>
              <a:t>p </a:t>
            </a:r>
            <a:r>
              <a:rPr lang="en-US" dirty="0"/>
              <a:t>and a primitive root </a:t>
            </a:r>
            <a:r>
              <a:rPr lang="en-US" i="1" dirty="0"/>
              <a:t>a </a:t>
            </a:r>
            <a:r>
              <a:rPr lang="en-US" dirty="0"/>
              <a:t>of prime number </a:t>
            </a:r>
            <a:r>
              <a:rPr lang="en-US" i="1" dirty="0"/>
              <a:t>p</a:t>
            </a:r>
            <a:r>
              <a:rPr lang="en-US" dirty="0"/>
              <a:t>, one </a:t>
            </a:r>
            <a:r>
              <a:rPr lang="en-US" dirty="0" smtClean="0"/>
              <a:t>can find </a:t>
            </a:r>
            <a:r>
              <a:rPr lang="en-US" dirty="0"/>
              <a:t>a unique exponent </a:t>
            </a:r>
            <a:r>
              <a:rPr lang="en-US" i="1" dirty="0"/>
              <a:t>i </a:t>
            </a:r>
            <a:r>
              <a:rPr lang="en-US" dirty="0"/>
              <a:t>such that</a:t>
            </a:r>
          </a:p>
          <a:p>
            <a:r>
              <a:rPr lang="en-US" i="1" dirty="0"/>
              <a:t>b </a:t>
            </a:r>
            <a:r>
              <a:rPr lang="en-US" i="1" dirty="0" smtClean="0"/>
              <a:t>= </a:t>
            </a:r>
            <a:r>
              <a:rPr lang="en-US" i="1" dirty="0" err="1" smtClean="0"/>
              <a:t>a</a:t>
            </a:r>
            <a:r>
              <a:rPr lang="en-US" i="1" baseline="30000" dirty="0" err="1" smtClean="0"/>
              <a:t>i</a:t>
            </a:r>
            <a:r>
              <a:rPr lang="en-US" i="1" baseline="30000" dirty="0" smtClean="0"/>
              <a:t> </a:t>
            </a:r>
            <a:r>
              <a:rPr lang="en-US" dirty="0"/>
              <a:t>mod </a:t>
            </a:r>
            <a:r>
              <a:rPr lang="en-US" i="1" dirty="0"/>
              <a:t>p </a:t>
            </a:r>
            <a:r>
              <a:rPr lang="en-US" i="1" dirty="0" smtClean="0"/>
              <a:t>; </a:t>
            </a:r>
            <a:r>
              <a:rPr lang="en-US" dirty="0" smtClean="0"/>
              <a:t>0 &lt;= </a:t>
            </a:r>
            <a:r>
              <a:rPr lang="en-US" i="1" dirty="0"/>
              <a:t>i</a:t>
            </a:r>
            <a:r>
              <a:rPr lang="en-US" i="1" dirty="0" smtClean="0"/>
              <a:t> &lt;= </a:t>
            </a:r>
            <a:r>
              <a:rPr lang="en-US" dirty="0" smtClean="0"/>
              <a:t>(</a:t>
            </a:r>
            <a:r>
              <a:rPr lang="en-US" i="1" dirty="0" smtClean="0"/>
              <a:t>p </a:t>
            </a:r>
            <a:r>
              <a:rPr lang="en-US" dirty="0"/>
              <a:t>1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</a:t>
            </a:r>
            <a:r>
              <a:rPr lang="en-US" dirty="0"/>
              <a:t>exponent </a:t>
            </a:r>
            <a:r>
              <a:rPr lang="en-US" i="1" dirty="0"/>
              <a:t>i </a:t>
            </a:r>
            <a:r>
              <a:rPr lang="en-US" dirty="0"/>
              <a:t>is referred to as the discrete logarithm, or index, of </a:t>
            </a:r>
            <a:r>
              <a:rPr lang="en-US" i="1" dirty="0"/>
              <a:t>b </a:t>
            </a:r>
            <a:r>
              <a:rPr lang="en-US" dirty="0"/>
              <a:t>for the base </a:t>
            </a:r>
            <a:r>
              <a:rPr lang="en-US" i="1" dirty="0" smtClean="0"/>
              <a:t>a</a:t>
            </a:r>
            <a:r>
              <a:rPr lang="en-US" dirty="0" smtClean="0"/>
              <a:t>, mod </a:t>
            </a:r>
            <a:r>
              <a:rPr lang="en-US" i="1" dirty="0"/>
              <a:t>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6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1818" b="21818"/>
              <a:stretch>
                <a:fillRect/>
              </a:stretch>
            </p:blipFill>
          </mc:Choice>
          <mc:Fallback>
            <p:blipFill>
              <a:blip r:embed="rId4"/>
              <a:srcRect t="1818" b="21818"/>
              <a:stretch>
                <a:fillRect/>
              </a:stretch>
            </p:blipFill>
          </mc:Fallback>
        </mc:AlternateContent>
        <p:spPr>
          <a:xfrm>
            <a:off x="2667000" y="0"/>
            <a:ext cx="6939634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2972539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718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00839"/>
            <a:ext cx="10058400" cy="5453349"/>
          </a:xfrm>
        </p:spPr>
        <p:txBody>
          <a:bodyPr>
            <a:noAutofit/>
          </a:bodyPr>
          <a:lstStyle/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/>
              <a:t>Key exchange is based on the use of the prime </a:t>
            </a:r>
            <a:r>
              <a:rPr lang="en-US" dirty="0" smtClean="0"/>
              <a:t>number </a:t>
            </a:r>
            <a:r>
              <a:rPr lang="en-US" i="1" dirty="0" smtClean="0"/>
              <a:t>q = </a:t>
            </a:r>
            <a:r>
              <a:rPr lang="en-US" dirty="0" smtClean="0"/>
              <a:t>353 </a:t>
            </a:r>
            <a:r>
              <a:rPr lang="en-US" dirty="0"/>
              <a:t>and a primitive root of 353, in this case α </a:t>
            </a:r>
            <a:r>
              <a:rPr lang="en-US" dirty="0" smtClean="0"/>
              <a:t>= 3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and B select secret </a:t>
            </a:r>
            <a:r>
              <a:rPr lang="en-US" dirty="0" smtClean="0"/>
              <a:t>keys </a:t>
            </a:r>
            <a:r>
              <a:rPr lang="en-US" i="1" dirty="0" smtClean="0"/>
              <a:t>X</a:t>
            </a:r>
            <a:r>
              <a:rPr lang="en-US" i="1" baseline="-25000" dirty="0" smtClean="0"/>
              <a:t>A</a:t>
            </a:r>
            <a:r>
              <a:rPr lang="en-US" i="1" dirty="0" smtClean="0"/>
              <a:t> = </a:t>
            </a:r>
            <a:r>
              <a:rPr lang="en-US" dirty="0" smtClean="0"/>
              <a:t>97 </a:t>
            </a:r>
            <a:r>
              <a:rPr lang="en-US" dirty="0"/>
              <a:t>and </a:t>
            </a:r>
            <a:r>
              <a:rPr lang="en-US" i="1" dirty="0"/>
              <a:t>X</a:t>
            </a:r>
            <a:r>
              <a:rPr lang="en-US" i="1" baseline="-25000" dirty="0"/>
              <a:t>B</a:t>
            </a:r>
            <a:r>
              <a:rPr lang="en-US" i="1" dirty="0"/>
              <a:t> </a:t>
            </a:r>
            <a:r>
              <a:rPr lang="en-US" i="1" dirty="0" smtClean="0"/>
              <a:t>= </a:t>
            </a:r>
            <a:r>
              <a:rPr lang="en-US" dirty="0" smtClean="0"/>
              <a:t>233</a:t>
            </a:r>
            <a:r>
              <a:rPr lang="en-US" dirty="0"/>
              <a:t>, respectively. </a:t>
            </a:r>
            <a:endParaRPr lang="en-US" dirty="0" smtClean="0"/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 smtClean="0"/>
              <a:t>Each </a:t>
            </a:r>
            <a:r>
              <a:rPr lang="en-US" dirty="0"/>
              <a:t>computes its public key:</a:t>
            </a:r>
          </a:p>
          <a:p>
            <a:pPr lvl="1"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s-ES" dirty="0"/>
              <a:t>A computes </a:t>
            </a:r>
            <a:r>
              <a:rPr lang="es-ES" i="1" dirty="0"/>
              <a:t>Y</a:t>
            </a:r>
            <a:r>
              <a:rPr lang="es-ES" i="1" baseline="-25000" dirty="0"/>
              <a:t>A </a:t>
            </a:r>
            <a:r>
              <a:rPr lang="es-ES" i="1" dirty="0" smtClean="0"/>
              <a:t>= </a:t>
            </a:r>
            <a:r>
              <a:rPr lang="es-ES" dirty="0" smtClean="0"/>
              <a:t>3</a:t>
            </a:r>
            <a:r>
              <a:rPr lang="es-ES" baseline="30000" dirty="0" smtClean="0"/>
              <a:t>97</a:t>
            </a:r>
            <a:r>
              <a:rPr lang="es-ES" dirty="0" smtClean="0"/>
              <a:t> </a:t>
            </a:r>
            <a:r>
              <a:rPr lang="es-ES" dirty="0" err="1"/>
              <a:t>mod</a:t>
            </a:r>
            <a:r>
              <a:rPr lang="es-ES" dirty="0"/>
              <a:t> 353 </a:t>
            </a:r>
            <a:r>
              <a:rPr lang="es-ES" dirty="0" smtClean="0"/>
              <a:t>= 40</a:t>
            </a:r>
            <a:r>
              <a:rPr lang="es-ES" dirty="0"/>
              <a:t>.</a:t>
            </a:r>
          </a:p>
          <a:p>
            <a:pPr lvl="1"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da-DK" dirty="0"/>
              <a:t>B computes </a:t>
            </a:r>
            <a:r>
              <a:rPr lang="da-DK" i="1" dirty="0"/>
              <a:t>Y</a:t>
            </a:r>
            <a:r>
              <a:rPr lang="da-DK" i="1" baseline="-25000" dirty="0"/>
              <a:t>B</a:t>
            </a:r>
            <a:r>
              <a:rPr lang="da-DK" i="1" dirty="0"/>
              <a:t> </a:t>
            </a:r>
            <a:r>
              <a:rPr lang="da-DK" i="1" dirty="0" smtClean="0"/>
              <a:t>= </a:t>
            </a:r>
            <a:r>
              <a:rPr lang="da-DK" dirty="0" smtClean="0"/>
              <a:t>3</a:t>
            </a:r>
            <a:r>
              <a:rPr lang="da-DK" baseline="30000" dirty="0" smtClean="0"/>
              <a:t>233</a:t>
            </a:r>
            <a:r>
              <a:rPr lang="da-DK" dirty="0" smtClean="0"/>
              <a:t> </a:t>
            </a:r>
            <a:r>
              <a:rPr lang="da-DK" dirty="0"/>
              <a:t>mod 353 </a:t>
            </a:r>
            <a:r>
              <a:rPr lang="da-DK" dirty="0" smtClean="0"/>
              <a:t>= 248</a:t>
            </a:r>
            <a:r>
              <a:rPr lang="da-DK" dirty="0"/>
              <a:t>.</a:t>
            </a:r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en-US" dirty="0"/>
              <a:t>After they exchange public keys, each can compute the common secret key:</a:t>
            </a:r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da-DK" dirty="0"/>
              <a:t>A computes </a:t>
            </a:r>
            <a:r>
              <a:rPr lang="da-DK" i="1" dirty="0"/>
              <a:t>K </a:t>
            </a:r>
            <a:r>
              <a:rPr lang="da-DK" dirty="0"/>
              <a:t>(</a:t>
            </a:r>
            <a:r>
              <a:rPr lang="da-DK" i="1" dirty="0"/>
              <a:t>Y</a:t>
            </a:r>
            <a:r>
              <a:rPr lang="da-DK" i="1" baseline="-25000" dirty="0"/>
              <a:t>B</a:t>
            </a:r>
            <a:r>
              <a:rPr lang="da-DK" dirty="0" smtClean="0"/>
              <a:t>) </a:t>
            </a:r>
            <a:r>
              <a:rPr lang="da-DK" baseline="42000" dirty="0" smtClean="0"/>
              <a:t>XA</a:t>
            </a:r>
            <a:r>
              <a:rPr lang="da-DK" dirty="0" smtClean="0"/>
              <a:t> </a:t>
            </a:r>
            <a:r>
              <a:rPr lang="da-DK" dirty="0"/>
              <a:t>mod 353 </a:t>
            </a:r>
            <a:r>
              <a:rPr lang="da-DK" dirty="0" smtClean="0"/>
              <a:t>= 248</a:t>
            </a:r>
            <a:r>
              <a:rPr lang="da-DK" baseline="30000" dirty="0" smtClean="0"/>
              <a:t>97</a:t>
            </a:r>
            <a:r>
              <a:rPr lang="da-DK" dirty="0" smtClean="0"/>
              <a:t> </a:t>
            </a:r>
            <a:r>
              <a:rPr lang="da-DK" dirty="0"/>
              <a:t>mod </a:t>
            </a:r>
            <a:r>
              <a:rPr lang="da-DK" dirty="0" smtClean="0"/>
              <a:t>353 = </a:t>
            </a:r>
            <a:r>
              <a:rPr lang="da-DK" dirty="0"/>
              <a:t>160.</a:t>
            </a:r>
          </a:p>
          <a:p>
            <a:pPr>
              <a:lnSpc>
                <a:spcPct val="124000"/>
              </a:lnSpc>
              <a:buFont typeface="Wingdings" panose="05000000000000000000" pitchFamily="2" charset="2"/>
              <a:buChar char="§"/>
            </a:pPr>
            <a:r>
              <a:rPr lang="da-DK" dirty="0"/>
              <a:t>B computes </a:t>
            </a:r>
            <a:r>
              <a:rPr lang="da-DK" i="1" dirty="0"/>
              <a:t>K </a:t>
            </a:r>
            <a:r>
              <a:rPr lang="da-DK" dirty="0"/>
              <a:t>(</a:t>
            </a:r>
            <a:r>
              <a:rPr lang="da-DK" i="1" dirty="0"/>
              <a:t>Y</a:t>
            </a:r>
            <a:r>
              <a:rPr lang="da-DK" i="1" baseline="-25000" dirty="0"/>
              <a:t>A</a:t>
            </a:r>
            <a:r>
              <a:rPr lang="da-DK" dirty="0"/>
              <a:t>) </a:t>
            </a:r>
            <a:r>
              <a:rPr lang="da-DK" baseline="40000" dirty="0" smtClean="0"/>
              <a:t>XB</a:t>
            </a:r>
            <a:r>
              <a:rPr lang="da-DK" dirty="0" smtClean="0"/>
              <a:t>mod </a:t>
            </a:r>
            <a:r>
              <a:rPr lang="da-DK" dirty="0"/>
              <a:t>353 </a:t>
            </a:r>
            <a:r>
              <a:rPr lang="da-DK" dirty="0" smtClean="0"/>
              <a:t>= 40</a:t>
            </a:r>
            <a:r>
              <a:rPr lang="da-DK" baseline="30000" dirty="0" smtClean="0"/>
              <a:t>233</a:t>
            </a:r>
            <a:r>
              <a:rPr lang="da-DK" dirty="0" smtClean="0"/>
              <a:t> </a:t>
            </a:r>
            <a:r>
              <a:rPr lang="da-DK" dirty="0"/>
              <a:t>mod 353 </a:t>
            </a:r>
            <a:r>
              <a:rPr lang="da-DK" dirty="0" smtClean="0"/>
              <a:t>=160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002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836</Words>
  <Application>Microsoft Office PowerPoint</Application>
  <PresentationFormat>Widescreen</PresentationFormat>
  <Paragraphs>65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Arial</vt:lpstr>
      <vt:lpstr>Calibri</vt:lpstr>
      <vt:lpstr>Calibri Light</vt:lpstr>
      <vt:lpstr>Tw Cen MT</vt:lpstr>
      <vt:lpstr>Wingdings</vt:lpstr>
      <vt:lpstr>Retrospect</vt:lpstr>
      <vt:lpstr>Public-key Cryptography: RSA and Diffie-Hellman Key Exchange Algorithms</vt:lpstr>
      <vt:lpstr>RSA Public-Key Encryption Algorithm</vt:lpstr>
      <vt:lpstr>RSA Public-Key Encryption Algorithm</vt:lpstr>
      <vt:lpstr>RSA Algorithm</vt:lpstr>
      <vt:lpstr>Example</vt:lpstr>
      <vt:lpstr>Example: plaintext input of M = 88</vt:lpstr>
      <vt:lpstr>Example: Encryption</vt:lpstr>
      <vt:lpstr>Example: Decryption</vt:lpstr>
      <vt:lpstr>Diffie-Hellman Key Exchange</vt:lpstr>
      <vt:lpstr>PowerPoint Presentation</vt:lpstr>
      <vt:lpstr>Example</vt:lpstr>
    </vt:vector>
  </TitlesOfParts>
  <Company>UWB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Public-key Cryptography: RSA and Diffie-Hellman Key Exchange Algorithms</dc:title>
  <dc:creator>Geethapriya Thamilarasu</dc:creator>
  <cp:lastModifiedBy>Geetha Thamilarasu</cp:lastModifiedBy>
  <cp:revision>9</cp:revision>
  <dcterms:created xsi:type="dcterms:W3CDTF">2018-01-23T18:41:46Z</dcterms:created>
  <dcterms:modified xsi:type="dcterms:W3CDTF">2018-01-24T00:37:23Z</dcterms:modified>
</cp:coreProperties>
</file>