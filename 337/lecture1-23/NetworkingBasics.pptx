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260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5B127B-7B54-4207-BE57-848F545E806A}" type="datetimeFigureOut">
              <a:rPr lang="en-US" smtClean="0"/>
              <a:t>1/23/2018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5338B9-1A34-4831-862D-8ADB5D9D7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61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701675" indent="-269875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2pPr>
            <a:lvl3pPr marL="1081088" indent="-215900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3pPr>
            <a:lvl4pPr marL="1512888" indent="-215900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4pPr>
            <a:lvl5pPr marL="1944688" indent="-215900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5pPr>
            <a:lvl6pPr marL="24018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6pPr>
            <a:lvl7pPr marL="28590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7pPr>
            <a:lvl8pPr marL="33162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8pPr>
            <a:lvl9pPr marL="37734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963BCD8-A612-434A-A068-F84467678ED4}" type="slidenum"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pPr eaLnBrk="1" hangingPunct="1"/>
              <a:t>2</a:t>
            </a:fld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34025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701675" indent="-269875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2pPr>
            <a:lvl3pPr marL="1081088" indent="-215900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3pPr>
            <a:lvl4pPr marL="1512888" indent="-215900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4pPr>
            <a:lvl5pPr marL="1944688" indent="-215900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5pPr>
            <a:lvl6pPr marL="24018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6pPr>
            <a:lvl7pPr marL="28590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7pPr>
            <a:lvl8pPr marL="33162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8pPr>
            <a:lvl9pPr marL="37734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77422A2-B455-47FA-B22F-EA1B895368ED}" type="slidenum"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pPr eaLnBrk="1" hangingPunct="1"/>
              <a:t>3</a:t>
            </a:fld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65194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701675" indent="-269875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2pPr>
            <a:lvl3pPr marL="1081088" indent="-215900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3pPr>
            <a:lvl4pPr marL="1512888" indent="-215900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4pPr>
            <a:lvl5pPr marL="1944688" indent="-215900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5pPr>
            <a:lvl6pPr marL="24018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6pPr>
            <a:lvl7pPr marL="28590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7pPr>
            <a:lvl8pPr marL="33162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8pPr>
            <a:lvl9pPr marL="37734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1EEF4E3-978D-42C3-817A-246418097827}" type="slidenum"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pPr eaLnBrk="1" hangingPunct="1"/>
              <a:t>5</a:t>
            </a:fld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268174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701675" indent="-269875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2pPr>
            <a:lvl3pPr marL="1081088" indent="-215900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3pPr>
            <a:lvl4pPr marL="1512888" indent="-215900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4pPr>
            <a:lvl5pPr marL="1944688" indent="-215900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5pPr>
            <a:lvl6pPr marL="24018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6pPr>
            <a:lvl7pPr marL="28590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7pPr>
            <a:lvl8pPr marL="33162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8pPr>
            <a:lvl9pPr marL="37734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92703E6-2F89-407D-86A0-58F06D2E77A7}" type="slidenum"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pPr eaLnBrk="1" hangingPunct="1"/>
              <a:t>6</a:t>
            </a:fld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074126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701675" indent="-269875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2pPr>
            <a:lvl3pPr marL="1081088" indent="-215900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3pPr>
            <a:lvl4pPr marL="1512888" indent="-215900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4pPr>
            <a:lvl5pPr marL="1944688" indent="-215900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5pPr>
            <a:lvl6pPr marL="24018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6pPr>
            <a:lvl7pPr marL="28590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7pPr>
            <a:lvl8pPr marL="33162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8pPr>
            <a:lvl9pPr marL="37734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250FBD2-0093-43FF-82F3-58CA7227FB8D}" type="slidenum"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pPr eaLnBrk="1" hangingPunct="1"/>
              <a:t>7</a:t>
            </a:fld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393727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A2741EF-8C59-48ED-A59B-201EF5F821C5}" type="slidenum">
              <a:rPr lang="en-US" altLang="en-US">
                <a:latin typeface="Times New Roman" panose="02020603050405020304" pitchFamily="18" charset="0"/>
              </a:rPr>
              <a:pPr eaLnBrk="1" hangingPunct="1"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7225655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mtClean="0">
                <a:latin typeface="Times New Roman" pitchFamily="18" charset="0"/>
              </a:rPr>
              <a:t>1.#</a:t>
            </a: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2378986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34D2885-53E2-4916-A692-837D71BAD0EA}" type="slidenum">
              <a:rPr lang="en-US" altLang="en-US">
                <a:latin typeface="Times New Roman" panose="02020603050405020304" pitchFamily="18" charset="0"/>
              </a:rPr>
              <a:pPr eaLnBrk="1" hangingPunct="1"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2520030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A4C2382-E75F-4854-860F-2D23B08F02BF}" type="slidenum">
              <a:rPr lang="en-US" altLang="en-US">
                <a:latin typeface="Times New Roman" panose="02020603050405020304" pitchFamily="18" charset="0"/>
              </a:rPr>
              <a:pPr eaLnBrk="1" hangingPunct="1"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5089813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7E6921E-06E6-4E1B-A098-2D0323F1E534}" type="slidenum">
              <a:rPr lang="en-US" altLang="en-US">
                <a:latin typeface="Times New Roman" panose="02020603050405020304" pitchFamily="18" charset="0"/>
              </a:rPr>
              <a:pPr eaLnBrk="1" hangingPunct="1"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2404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01675" indent="-2698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081088" indent="-2159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512888" indent="-2159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944688" indent="-2159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4018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8590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3162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7734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162A895-AFF4-4841-BF9D-16CB77040845}" type="slidenum"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pPr eaLnBrk="1" hangingPunct="1"/>
              <a:t>19</a:t>
            </a:fld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89043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01675" indent="-2698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081088" indent="-2159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512888" indent="-2159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944688" indent="-2159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4018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8590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3162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7734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1B58078-ACB9-4A53-9B92-2B5525668EC5}" type="slidenum"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pPr eaLnBrk="1" hangingPunct="1"/>
              <a:t>20</a:t>
            </a:fld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65028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01675" indent="-269875" defTabSz="9128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081088" indent="-215900" defTabSz="9128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512888" indent="-215900" defTabSz="9128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944688" indent="-215900" defTabSz="9128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401888" indent="-2159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859088" indent="-2159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316288" indent="-2159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773488" indent="-2159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CCB1353-45D1-456A-BFB8-B6D0C9171C55}" type="slidenum">
              <a:rPr lang="en-US" altLang="en-US" sz="11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pPr eaLnBrk="1" hangingPunct="1"/>
              <a:t>21</a:t>
            </a:fld>
            <a:endParaRPr lang="en-US" altLang="en-US" sz="1100">
              <a:solidFill>
                <a:srgbClr val="000000"/>
              </a:solidFill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92956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01675" indent="-2698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081088" indent="-2159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512888" indent="-2159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944688" indent="-2159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4018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8590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3162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7734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BEEFDE0-6C74-482E-8375-C6A4A246378B}" type="slidenum"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pPr eaLnBrk="1" hangingPunct="1"/>
              <a:t>25</a:t>
            </a:fld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248054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01675" indent="-2698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081088" indent="-2159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512888" indent="-2159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944688" indent="-2159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4018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8590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3162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7734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DF60CE5-B69D-4F6D-9339-64E007D5DB44}" type="slidenum"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pPr eaLnBrk="1" hangingPunct="1"/>
              <a:t>26</a:t>
            </a:fld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018638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01675" indent="-2698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081088" indent="-2159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512888" indent="-2159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944688" indent="-2159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4018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8590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3162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7734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DE0F75A-04E2-48C6-8FEB-3B94741B3F2B}" type="slidenum"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pPr eaLnBrk="1" hangingPunct="1"/>
              <a:t>27</a:t>
            </a:fld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8605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01675" indent="-2698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081088" indent="-2159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512888" indent="-2159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944688" indent="-2159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4018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8590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3162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773488" indent="-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A5DE199-B283-46D9-9183-573AB09B6FA7}" type="slidenum"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pPr eaLnBrk="1" hangingPunct="1"/>
              <a:t>28</a:t>
            </a:fld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51384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9291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 b="1">
                <a:latin typeface="Tw Cen MT" panose="020B06020201040206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>
              <a:defRPr sz="2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>
              <a:defRPr sz="2400">
                <a:solidFill>
                  <a:schemeClr val="tx1"/>
                </a:solidFill>
                <a:latin typeface="Tw Cen MT" panose="020B0602020104020603" pitchFamily="34" charset="0"/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16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349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439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1/23/2018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281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1/23/2018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960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1/23/2018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651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74F62F1-22C1-4045-9A09-9CF772C9FABC}" type="datetimeFigureOut">
              <a:rPr lang="en-US" smtClean="0"/>
              <a:t>1/23/2018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554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903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14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747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60000"/>
                    </a:prstClr>
                  </a:outerShdw>
                </a:effectLst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60000"/>
                    </a:prstClr>
                  </a:outerShdw>
                </a:effectLst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60000"/>
                    </a:prstClr>
                  </a:outerShdw>
                </a:effectLst>
              </a:defRPr>
            </a:lvl1pPr>
          </a:lstStyle>
          <a:p>
            <a:pPr>
              <a:defRPr/>
            </a:pPr>
            <a:fld id="{B7F95E63-B2FC-6340-819F-09B1386E07D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5594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286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600200"/>
            <a:ext cx="10363200" cy="2247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1200" y="4000500"/>
            <a:ext cx="10363200" cy="2247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bg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CAA9377-542D-440F-946D-2F6B0AE2D8E8}" type="datetime1">
              <a:rPr lang="en-US" altLang="en-US"/>
              <a:pPr>
                <a:defRPr/>
              </a:pPr>
              <a:t>1/23/2018</a:t>
            </a:fld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bg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US" altLang="en-US"/>
              <a:t>2-</a:t>
            </a:r>
            <a:fld id="{E0596252-364C-4F36-9181-E8D95E23B29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0145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74F62F1-22C1-4045-9A09-9CF772C9FABC}" type="datetimeFigureOut">
              <a:rPr lang="en-US" smtClean="0"/>
              <a:t>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149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howdns.works/ep1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 smtClean="0">
                <a:latin typeface="Tw Cen MT" panose="020B0602020104020603" pitchFamily="34" charset="0"/>
              </a:rPr>
              <a:t>Networking Basics</a:t>
            </a:r>
            <a:endParaRPr lang="en-US" altLang="en-US" sz="6000" dirty="0" smtClean="0">
              <a:latin typeface="Tw Cen MT" panose="020B0602020104020603" pitchFamily="34" charset="0"/>
            </a:endParaRP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587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776" y="87947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06375"/>
            <a:ext cx="5657850" cy="868363"/>
          </a:xfrm>
        </p:spPr>
        <p:txBody>
          <a:bodyPr/>
          <a:lstStyle/>
          <a:p>
            <a:pPr>
              <a:defRPr/>
            </a:pPr>
            <a:r>
              <a:rPr lang="en-US" altLang="en-US" dirty="0" smtClean="0"/>
              <a:t>What’</a:t>
            </a:r>
            <a:r>
              <a:rPr lang="en-US" altLang="ja-JP" dirty="0" smtClean="0"/>
              <a:t>s a protocol?</a:t>
            </a:r>
            <a:endParaRPr lang="en-US" altLang="en-US" dirty="0" smtClean="0"/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57784" y="1444752"/>
            <a:ext cx="3581400" cy="4648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CC0000"/>
                </a:solidFill>
              </a:rPr>
              <a:t>human protocols:</a:t>
            </a:r>
          </a:p>
          <a:p>
            <a:pPr eaLnBrk="1" hangingPunct="1">
              <a:buSzPct val="75000"/>
            </a:pPr>
            <a:r>
              <a:rPr lang="ja-JP" altLang="en-US" sz="2400"/>
              <a:t>“</a:t>
            </a:r>
            <a:r>
              <a:rPr lang="en-US" altLang="ja-JP" sz="2400"/>
              <a:t>what’s the time?</a:t>
            </a:r>
            <a:r>
              <a:rPr lang="ja-JP" altLang="en-US" sz="2400"/>
              <a:t>”</a:t>
            </a:r>
            <a:endParaRPr lang="en-US" altLang="ja-JP" sz="2400"/>
          </a:p>
          <a:p>
            <a:pPr eaLnBrk="1" hangingPunct="1">
              <a:buSzPct val="75000"/>
            </a:pPr>
            <a:r>
              <a:rPr lang="ja-JP" altLang="en-US" sz="2400"/>
              <a:t>“</a:t>
            </a:r>
            <a:r>
              <a:rPr lang="en-US" altLang="ja-JP" sz="2400"/>
              <a:t>I have a question</a:t>
            </a:r>
            <a:r>
              <a:rPr lang="ja-JP" altLang="en-US" sz="2400"/>
              <a:t>”</a:t>
            </a:r>
            <a:endParaRPr lang="en-US" altLang="ja-JP" sz="2400"/>
          </a:p>
          <a:p>
            <a:pPr eaLnBrk="1" hangingPunct="1">
              <a:buSzPct val="75000"/>
            </a:pPr>
            <a:r>
              <a:rPr lang="en-US" altLang="en-US" sz="2400"/>
              <a:t>introductions</a:t>
            </a:r>
            <a:endParaRPr lang="en-US" altLang="en-US" smtClean="0"/>
          </a:p>
          <a:p>
            <a:pPr lvl="1" eaLnBrk="1" hangingPunct="1"/>
            <a:endParaRPr lang="en-US" altLang="en-US" smtClean="0"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/>
              <a:t>… specific msgs sent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/>
              <a:t>… specific actions taken when msgs received, or other events</a:t>
            </a:r>
          </a:p>
        </p:txBody>
      </p:sp>
      <p:sp>
        <p:nvSpPr>
          <p:cNvPr id="10245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608064" y="1256507"/>
            <a:ext cx="3810000" cy="2590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 dirty="0" smtClean="0">
                <a:solidFill>
                  <a:srgbClr val="CC0000"/>
                </a:solidFill>
              </a:rPr>
              <a:t>network protocols:</a:t>
            </a:r>
          </a:p>
          <a:p>
            <a:pPr eaLnBrk="1" hangingPunct="1">
              <a:buSzPct val="75000"/>
            </a:pPr>
            <a:r>
              <a:rPr lang="en-US" altLang="en-US" sz="2400" dirty="0"/>
              <a:t>machines rather than humans</a:t>
            </a:r>
          </a:p>
          <a:p>
            <a:pPr eaLnBrk="1" hangingPunct="1">
              <a:buSzPct val="75000"/>
            </a:pPr>
            <a:r>
              <a:rPr lang="en-US" altLang="en-US" sz="2400" dirty="0"/>
              <a:t>all communication activity in Internet governed by protocols</a:t>
            </a:r>
          </a:p>
        </p:txBody>
      </p:sp>
      <p:sp>
        <p:nvSpPr>
          <p:cNvPr id="10246" name="Rectangle 5"/>
          <p:cNvSpPr>
            <a:spLocks noChangeArrowheads="1"/>
          </p:cNvSpPr>
          <p:nvPr/>
        </p:nvSpPr>
        <p:spPr bwMode="auto">
          <a:xfrm>
            <a:off x="5676900" y="4191000"/>
            <a:ext cx="42672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>
                <a:schemeClr val="accent2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en-US" sz="2800" i="1">
                <a:solidFill>
                  <a:srgbClr val="CC0000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rPr>
              <a:t>protocols</a:t>
            </a:r>
            <a:r>
              <a:rPr lang="en-US" altLang="en-US" sz="2800" i="1">
                <a:latin typeface="Gill Sans MT" panose="020B0502020104020203" pitchFamily="34" charset="0"/>
                <a:ea typeface="ＭＳ Ｐゴシック" panose="020B0600070205080204" pitchFamily="34" charset="-128"/>
              </a:rPr>
              <a:t> define </a:t>
            </a:r>
            <a:r>
              <a:rPr lang="en-US" altLang="en-US" sz="2800" i="1">
                <a:solidFill>
                  <a:srgbClr val="CC0000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rPr>
              <a:t>format</a:t>
            </a:r>
            <a:r>
              <a:rPr lang="en-US" altLang="en-US" sz="2800" i="1">
                <a:latin typeface="Gill Sans MT" panose="020B0502020104020203" pitchFamily="34" charset="0"/>
                <a:ea typeface="ＭＳ Ｐゴシック" panose="020B0600070205080204" pitchFamily="34" charset="-128"/>
              </a:rPr>
              <a:t>, </a:t>
            </a:r>
            <a:r>
              <a:rPr lang="en-US" altLang="en-US" sz="2800" i="1">
                <a:solidFill>
                  <a:srgbClr val="CC0000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rPr>
              <a:t>order</a:t>
            </a:r>
            <a:r>
              <a:rPr lang="en-US" altLang="en-US" sz="2800" i="1">
                <a:latin typeface="Gill Sans MT" panose="020B0502020104020203" pitchFamily="34" charset="0"/>
                <a:ea typeface="ＭＳ Ｐゴシック" panose="020B0600070205080204" pitchFamily="34" charset="-128"/>
              </a:rPr>
              <a:t> of </a:t>
            </a:r>
            <a:r>
              <a:rPr lang="en-US" altLang="en-US" sz="2800" i="1">
                <a:solidFill>
                  <a:srgbClr val="CC0000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rPr>
              <a:t>msgs sent and received</a:t>
            </a:r>
            <a:r>
              <a:rPr lang="en-US" altLang="en-US" sz="2800" i="1">
                <a:latin typeface="Gill Sans MT" panose="020B0502020104020203" pitchFamily="34" charset="0"/>
                <a:ea typeface="ＭＳ Ｐゴシック" panose="020B0600070205080204" pitchFamily="34" charset="-128"/>
              </a:rPr>
              <a:t> among network entities, and </a:t>
            </a:r>
            <a:r>
              <a:rPr lang="en-US" altLang="en-US" sz="2800" i="1">
                <a:solidFill>
                  <a:srgbClr val="CC0000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rPr>
              <a:t>actions taken</a:t>
            </a:r>
            <a:r>
              <a:rPr lang="en-US" altLang="en-US" sz="2800" i="1">
                <a:latin typeface="Gill Sans MT" panose="020B0502020104020203" pitchFamily="34" charset="0"/>
                <a:ea typeface="ＭＳ Ｐゴシック" panose="020B0600070205080204" pitchFamily="34" charset="-128"/>
              </a:rPr>
              <a:t> on msg transmission, receipt</a:t>
            </a:r>
            <a:r>
              <a:rPr lang="en-US" altLang="en-US" sz="2400" i="1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10247" name="Rectangle 6"/>
          <p:cNvSpPr>
            <a:spLocks noChangeArrowheads="1"/>
          </p:cNvSpPr>
          <p:nvPr/>
        </p:nvSpPr>
        <p:spPr bwMode="auto">
          <a:xfrm>
            <a:off x="5715000" y="4121150"/>
            <a:ext cx="4114800" cy="2362200"/>
          </a:xfrm>
          <a:prstGeom prst="rect">
            <a:avLst/>
          </a:prstGeom>
          <a:noFill/>
          <a:ln w="1905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0056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038600" y="1371600"/>
            <a:ext cx="8153400" cy="685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a human protocol and a computer network protocol: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</p:txBody>
      </p:sp>
      <p:sp>
        <p:nvSpPr>
          <p:cNvPr id="11267" name="Line 10"/>
          <p:cNvSpPr>
            <a:spLocks noChangeShapeType="1"/>
          </p:cNvSpPr>
          <p:nvPr/>
        </p:nvSpPr>
        <p:spPr bwMode="auto">
          <a:xfrm>
            <a:off x="2781301" y="2771776"/>
            <a:ext cx="1762125" cy="2762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1268" name="Picture 62" descr="Ali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614" y="2376489"/>
            <a:ext cx="561975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63" descr="Bo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2964" y="2771776"/>
            <a:ext cx="67627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0" name="Text Box 64"/>
          <p:cNvSpPr txBox="1">
            <a:spLocks noChangeArrowheads="1"/>
          </p:cNvSpPr>
          <p:nvPr/>
        </p:nvSpPr>
        <p:spPr bwMode="auto">
          <a:xfrm>
            <a:off x="3222626" y="2484438"/>
            <a:ext cx="473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Hi</a:t>
            </a:r>
          </a:p>
        </p:txBody>
      </p:sp>
      <p:sp>
        <p:nvSpPr>
          <p:cNvPr id="11271" name="Line 66"/>
          <p:cNvSpPr>
            <a:spLocks noChangeShapeType="1"/>
          </p:cNvSpPr>
          <p:nvPr/>
        </p:nvSpPr>
        <p:spPr bwMode="auto">
          <a:xfrm flipV="1">
            <a:off x="2473326" y="3330575"/>
            <a:ext cx="2085975" cy="3619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2" name="Text Box 67"/>
          <p:cNvSpPr txBox="1">
            <a:spLocks noChangeArrowheads="1"/>
          </p:cNvSpPr>
          <p:nvPr/>
        </p:nvSpPr>
        <p:spPr bwMode="auto">
          <a:xfrm>
            <a:off x="3213101" y="3108325"/>
            <a:ext cx="473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Hi</a:t>
            </a:r>
          </a:p>
        </p:txBody>
      </p:sp>
      <p:sp>
        <p:nvSpPr>
          <p:cNvPr id="11273" name="Line 70"/>
          <p:cNvSpPr>
            <a:spLocks noChangeShapeType="1"/>
          </p:cNvSpPr>
          <p:nvPr/>
        </p:nvSpPr>
        <p:spPr bwMode="auto">
          <a:xfrm>
            <a:off x="2457451" y="3762375"/>
            <a:ext cx="2162175" cy="4381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274" name="Group 72"/>
          <p:cNvGrpSpPr>
            <a:grpSpLocks/>
          </p:cNvGrpSpPr>
          <p:nvPr/>
        </p:nvGrpSpPr>
        <p:grpSpPr bwMode="auto">
          <a:xfrm>
            <a:off x="2995613" y="3694114"/>
            <a:ext cx="1014412" cy="701675"/>
            <a:chOff x="761" y="2747"/>
            <a:chExt cx="639" cy="442"/>
          </a:xfrm>
        </p:grpSpPr>
        <p:sp>
          <p:nvSpPr>
            <p:cNvPr id="11334" name="Rectangle 71"/>
            <p:cNvSpPr>
              <a:spLocks noChangeArrowheads="1"/>
            </p:cNvSpPr>
            <p:nvPr/>
          </p:nvSpPr>
          <p:spPr bwMode="auto">
            <a:xfrm>
              <a:off x="786" y="2790"/>
              <a:ext cx="588" cy="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1335" name="Text Box 69"/>
            <p:cNvSpPr txBox="1">
              <a:spLocks noChangeArrowheads="1"/>
            </p:cNvSpPr>
            <p:nvPr/>
          </p:nvSpPr>
          <p:spPr bwMode="auto">
            <a:xfrm>
              <a:off x="761" y="2747"/>
              <a:ext cx="639" cy="4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solidFill>
                    <a:srgbClr val="CC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Got the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solidFill>
                    <a:srgbClr val="CC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time?</a:t>
              </a:r>
            </a:p>
          </p:txBody>
        </p:sp>
      </p:grpSp>
      <p:sp>
        <p:nvSpPr>
          <p:cNvPr id="11275" name="Line 73"/>
          <p:cNvSpPr>
            <a:spLocks noChangeShapeType="1"/>
          </p:cNvSpPr>
          <p:nvPr/>
        </p:nvSpPr>
        <p:spPr bwMode="auto">
          <a:xfrm flipV="1">
            <a:off x="2619376" y="4333876"/>
            <a:ext cx="1952625" cy="3333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276" name="Group 76"/>
          <p:cNvGrpSpPr>
            <a:grpSpLocks/>
          </p:cNvGrpSpPr>
          <p:nvPr/>
        </p:nvGrpSpPr>
        <p:grpSpPr bwMode="auto">
          <a:xfrm>
            <a:off x="3089276" y="4338638"/>
            <a:ext cx="796925" cy="457200"/>
            <a:chOff x="1046" y="2771"/>
            <a:chExt cx="502" cy="288"/>
          </a:xfrm>
        </p:grpSpPr>
        <p:sp>
          <p:nvSpPr>
            <p:cNvPr id="11332" name="Rectangle 75"/>
            <p:cNvSpPr>
              <a:spLocks noChangeArrowheads="1"/>
            </p:cNvSpPr>
            <p:nvPr/>
          </p:nvSpPr>
          <p:spPr bwMode="auto">
            <a:xfrm>
              <a:off x="1104" y="2820"/>
              <a:ext cx="444" cy="1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1333" name="Text Box 74"/>
            <p:cNvSpPr txBox="1">
              <a:spLocks noChangeArrowheads="1"/>
            </p:cNvSpPr>
            <p:nvPr/>
          </p:nvSpPr>
          <p:spPr bwMode="auto">
            <a:xfrm>
              <a:off x="1046" y="2771"/>
              <a:ext cx="49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>
                  <a:solidFill>
                    <a:srgbClr val="CC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2:00</a:t>
              </a:r>
            </a:p>
          </p:txBody>
        </p:sp>
      </p:grpSp>
      <p:sp>
        <p:nvSpPr>
          <p:cNvPr id="11277" name="Line 85"/>
          <p:cNvSpPr>
            <a:spLocks noChangeShapeType="1"/>
          </p:cNvSpPr>
          <p:nvPr/>
        </p:nvSpPr>
        <p:spPr bwMode="auto">
          <a:xfrm flipV="1">
            <a:off x="6689725" y="4525964"/>
            <a:ext cx="2343150" cy="4286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8" name="Line 89"/>
          <p:cNvSpPr>
            <a:spLocks noChangeShapeType="1"/>
          </p:cNvSpPr>
          <p:nvPr/>
        </p:nvSpPr>
        <p:spPr bwMode="auto">
          <a:xfrm>
            <a:off x="6704013" y="2811463"/>
            <a:ext cx="2176462" cy="3476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9" name="Line 90"/>
          <p:cNvSpPr>
            <a:spLocks noChangeShapeType="1"/>
          </p:cNvSpPr>
          <p:nvPr/>
        </p:nvSpPr>
        <p:spPr bwMode="auto">
          <a:xfrm flipV="1">
            <a:off x="6642100" y="3317876"/>
            <a:ext cx="2216150" cy="39846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0" name="Rectangle 92"/>
          <p:cNvSpPr>
            <a:spLocks noChangeArrowheads="1"/>
          </p:cNvSpPr>
          <p:nvPr/>
        </p:nvSpPr>
        <p:spPr bwMode="auto">
          <a:xfrm>
            <a:off x="7077076" y="3340100"/>
            <a:ext cx="1438275" cy="393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>
              <a:solidFill>
                <a:srgbClr val="CC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1281" name="Text Box 91"/>
          <p:cNvSpPr txBox="1">
            <a:spLocks noChangeArrowheads="1"/>
          </p:cNvSpPr>
          <p:nvPr/>
        </p:nvSpPr>
        <p:spPr bwMode="auto">
          <a:xfrm>
            <a:off x="6894513" y="3341688"/>
            <a:ext cx="180975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TCP connection</a:t>
            </a:r>
          </a:p>
          <a:p>
            <a:pPr algn="ctr" eaLnBrk="1" hangingPunct="1"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response</a:t>
            </a:r>
          </a:p>
        </p:txBody>
      </p:sp>
      <p:sp>
        <p:nvSpPr>
          <p:cNvPr id="11282" name="Line 94"/>
          <p:cNvSpPr>
            <a:spLocks noChangeShapeType="1"/>
          </p:cNvSpPr>
          <p:nvPr/>
        </p:nvSpPr>
        <p:spPr bwMode="auto">
          <a:xfrm>
            <a:off x="6689725" y="3963988"/>
            <a:ext cx="2400300" cy="4191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283" name="Group 97"/>
          <p:cNvGrpSpPr>
            <a:grpSpLocks/>
          </p:cNvGrpSpPr>
          <p:nvPr/>
        </p:nvGrpSpPr>
        <p:grpSpPr bwMode="auto">
          <a:xfrm>
            <a:off x="6807200" y="4019551"/>
            <a:ext cx="3327400" cy="366713"/>
            <a:chOff x="3152" y="2591"/>
            <a:chExt cx="2390" cy="231"/>
          </a:xfrm>
        </p:grpSpPr>
        <p:sp>
          <p:nvSpPr>
            <p:cNvPr id="11330" name="Rectangle 96"/>
            <p:cNvSpPr>
              <a:spLocks noChangeArrowheads="1"/>
            </p:cNvSpPr>
            <p:nvPr/>
          </p:nvSpPr>
          <p:spPr bwMode="auto">
            <a:xfrm>
              <a:off x="3252" y="2628"/>
              <a:ext cx="2100" cy="1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1331" name="Text Box 95"/>
            <p:cNvSpPr txBox="1">
              <a:spLocks noChangeArrowheads="1"/>
            </p:cNvSpPr>
            <p:nvPr/>
          </p:nvSpPr>
          <p:spPr bwMode="auto">
            <a:xfrm>
              <a:off x="3152" y="2591"/>
              <a:ext cx="23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CC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Get</a:t>
              </a:r>
              <a:r>
                <a:rPr lang="en-US" altLang="en-US" sz="1400">
                  <a:solidFill>
                    <a:srgbClr val="CC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http://www.awl.com/kurose-ross</a:t>
              </a:r>
              <a:endParaRPr lang="en-US" altLang="en-US" sz="240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11284" name="Rectangle 99"/>
          <p:cNvSpPr>
            <a:spLocks noChangeArrowheads="1"/>
          </p:cNvSpPr>
          <p:nvPr/>
        </p:nvSpPr>
        <p:spPr bwMode="auto">
          <a:xfrm>
            <a:off x="7458076" y="4624389"/>
            <a:ext cx="919163" cy="29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>
              <a:solidFill>
                <a:srgbClr val="CC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1285" name="Text Box 100"/>
          <p:cNvSpPr txBox="1">
            <a:spLocks noChangeArrowheads="1"/>
          </p:cNvSpPr>
          <p:nvPr/>
        </p:nvSpPr>
        <p:spPr bwMode="auto">
          <a:xfrm>
            <a:off x="7424739" y="4510088"/>
            <a:ext cx="93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&lt;file&gt;</a:t>
            </a:r>
          </a:p>
        </p:txBody>
      </p:sp>
      <p:sp>
        <p:nvSpPr>
          <p:cNvPr id="11286" name="Line 101"/>
          <p:cNvSpPr>
            <a:spLocks noChangeShapeType="1"/>
          </p:cNvSpPr>
          <p:nvPr/>
        </p:nvSpPr>
        <p:spPr bwMode="auto">
          <a:xfrm>
            <a:off x="5581650" y="2068513"/>
            <a:ext cx="0" cy="3573462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287" name="Group 105"/>
          <p:cNvGrpSpPr>
            <a:grpSpLocks/>
          </p:cNvGrpSpPr>
          <p:nvPr/>
        </p:nvGrpSpPr>
        <p:grpSpPr bwMode="auto">
          <a:xfrm>
            <a:off x="5259389" y="4972051"/>
            <a:ext cx="720725" cy="396875"/>
            <a:chOff x="2198" y="3221"/>
            <a:chExt cx="454" cy="250"/>
          </a:xfrm>
        </p:grpSpPr>
        <p:sp>
          <p:nvSpPr>
            <p:cNvPr id="11328" name="Rectangle 104"/>
            <p:cNvSpPr>
              <a:spLocks noChangeArrowheads="1"/>
            </p:cNvSpPr>
            <p:nvPr/>
          </p:nvSpPr>
          <p:spPr bwMode="auto">
            <a:xfrm>
              <a:off x="2244" y="3282"/>
              <a:ext cx="408" cy="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1329" name="Text Box 102"/>
            <p:cNvSpPr txBox="1">
              <a:spLocks noChangeArrowheads="1"/>
            </p:cNvSpPr>
            <p:nvPr/>
          </p:nvSpPr>
          <p:spPr bwMode="auto">
            <a:xfrm>
              <a:off x="2198" y="3221"/>
              <a:ext cx="41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solidFill>
                    <a:schemeClr val="bg2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time</a:t>
              </a:r>
            </a:p>
          </p:txBody>
        </p:sp>
      </p:grpSp>
      <p:sp>
        <p:nvSpPr>
          <p:cNvPr id="11288" name="Rectangle 52"/>
          <p:cNvSpPr>
            <a:spLocks noChangeArrowheads="1"/>
          </p:cNvSpPr>
          <p:nvPr/>
        </p:nvSpPr>
        <p:spPr bwMode="auto">
          <a:xfrm>
            <a:off x="6989763" y="2751139"/>
            <a:ext cx="1365250" cy="4397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1289" name="Text Box 91"/>
          <p:cNvSpPr txBox="1">
            <a:spLocks noChangeArrowheads="1"/>
          </p:cNvSpPr>
          <p:nvPr/>
        </p:nvSpPr>
        <p:spPr bwMode="auto">
          <a:xfrm>
            <a:off x="6938963" y="2682875"/>
            <a:ext cx="180975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TCP connection</a:t>
            </a:r>
          </a:p>
          <a:p>
            <a:pPr algn="ctr" eaLnBrk="1" hangingPunct="1"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request</a:t>
            </a:r>
          </a:p>
        </p:txBody>
      </p:sp>
      <p:pic>
        <p:nvPicPr>
          <p:cNvPr id="11290" name="Picture 53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776" y="87947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91" name="Rectangle 2"/>
          <p:cNvSpPr>
            <a:spLocks noChangeArrowheads="1"/>
          </p:cNvSpPr>
          <p:nvPr/>
        </p:nvSpPr>
        <p:spPr bwMode="auto">
          <a:xfrm>
            <a:off x="2011363" y="206376"/>
            <a:ext cx="5657850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400">
                <a:solidFill>
                  <a:srgbClr val="000099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rPr>
              <a:t>What</a:t>
            </a:r>
            <a:r>
              <a:rPr lang="ja-JP" altLang="en-US" sz="4400">
                <a:solidFill>
                  <a:srgbClr val="000099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4400">
                <a:solidFill>
                  <a:srgbClr val="000099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rPr>
              <a:t>s a protocol?</a:t>
            </a:r>
            <a:endParaRPr lang="en-US" altLang="en-US" sz="4400">
              <a:solidFill>
                <a:srgbClr val="000099"/>
              </a:solidFill>
              <a:latin typeface="Gill Sans MT" panose="020B0502020104020203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11292" name="Group 57"/>
          <p:cNvGrpSpPr>
            <a:grpSpLocks/>
          </p:cNvGrpSpPr>
          <p:nvPr/>
        </p:nvGrpSpPr>
        <p:grpSpPr bwMode="auto">
          <a:xfrm>
            <a:off x="8936038" y="2782888"/>
            <a:ext cx="431800" cy="755650"/>
            <a:chOff x="4140" y="429"/>
            <a:chExt cx="1425" cy="2396"/>
          </a:xfrm>
        </p:grpSpPr>
        <p:sp>
          <p:nvSpPr>
            <p:cNvPr id="11296" name="Freeform 5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7" name="Rectangle 59"/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1298" name="Freeform 6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9" name="Freeform 6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0" name="Rectangle 62"/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11301" name="Group 6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326" name="AutoShape 64"/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1327" name="AutoShape 65"/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1302" name="Rectangle 66"/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11303" name="Group 6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324" name="AutoShape 68"/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1325" name="AutoShape 69"/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1304" name="Rectangle 70"/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1305" name="Rectangle 71"/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11306" name="Group 7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322" name="AutoShape 73"/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1323" name="AutoShape 74"/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1307" name="Freeform 7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308" name="Group 7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1320" name="AutoShape 77"/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1321" name="AutoShape 78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1309" name="Rectangle 79"/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1310" name="Freeform 8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1" name="Freeform 8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9 h 288"/>
                <a:gd name="T4" fmla="*/ 8 w 304"/>
                <a:gd name="T5" fmla="*/ 16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2" name="Oval 82"/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1313" name="Freeform 8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4" name="AutoShape 84"/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1315" name="AutoShape 85"/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1316" name="Oval 86"/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1317" name="Oval 87"/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1318" name="Oval 88"/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1319" name="Rectangle 89"/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11293" name="Group 90"/>
          <p:cNvGrpSpPr>
            <a:grpSpLocks/>
          </p:cNvGrpSpPr>
          <p:nvPr/>
        </p:nvGrpSpPr>
        <p:grpSpPr bwMode="auto">
          <a:xfrm>
            <a:off x="5799138" y="2339976"/>
            <a:ext cx="893762" cy="828675"/>
            <a:chOff x="-44" y="1473"/>
            <a:chExt cx="981" cy="1105"/>
          </a:xfrm>
        </p:grpSpPr>
        <p:pic>
          <p:nvPicPr>
            <p:cNvPr id="11294" name="Picture 91" descr="desktop_computer_stylized_medium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95" name="Freeform 92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9351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Protocol Layering</a:t>
            </a:r>
            <a:endParaRPr lang="en-US" dirty="0"/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1097280" y="1874394"/>
            <a:ext cx="10917936" cy="4449763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</a:rPr>
              <a:t>A protocol defines the rules that both the sender and receiver and all intermediate devices need to follow to be able to communicate effectively. 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</a:rPr>
              <a:t>When communication is simple, we may need only one simple protocol; when the communication is complex, we need a protocol at each layer, or protocol layering</a:t>
            </a:r>
          </a:p>
          <a:p>
            <a:pPr eaLnBrk="1" hangingPunct="1"/>
            <a:endParaRPr lang="en-US" altLang="en-US" dirty="0" smtClean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4495801"/>
            <a:ext cx="8116888" cy="114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1" y="5643563"/>
            <a:ext cx="5133975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036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4000" dirty="0"/>
              <a:t>Organization of air travel</a:t>
            </a:r>
            <a:endParaRPr lang="en-US" altLang="en-US" dirty="0" smtClean="0"/>
          </a:p>
        </p:txBody>
      </p:sp>
      <p:sp>
        <p:nvSpPr>
          <p:cNvPr id="1434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SzPct val="75000"/>
            </a:pPr>
            <a:r>
              <a:rPr lang="en-US" altLang="en-US" smtClean="0"/>
              <a:t>a series of steps</a:t>
            </a:r>
          </a:p>
        </p:txBody>
      </p:sp>
      <p:grpSp>
        <p:nvGrpSpPr>
          <p:cNvPr id="14341" name="Group 4"/>
          <p:cNvGrpSpPr>
            <a:grpSpLocks/>
          </p:cNvGrpSpPr>
          <p:nvPr/>
        </p:nvGrpSpPr>
        <p:grpSpPr bwMode="auto">
          <a:xfrm>
            <a:off x="2680970" y="2447037"/>
            <a:ext cx="6508750" cy="3294063"/>
            <a:chOff x="700" y="1000"/>
            <a:chExt cx="4100" cy="2075"/>
          </a:xfrm>
        </p:grpSpPr>
        <p:sp>
          <p:nvSpPr>
            <p:cNvPr id="14342" name="Text Box 5"/>
            <p:cNvSpPr txBox="1">
              <a:spLocks noChangeArrowheads="1"/>
            </p:cNvSpPr>
            <p:nvPr/>
          </p:nvSpPr>
          <p:spPr bwMode="auto">
            <a:xfrm>
              <a:off x="846" y="1007"/>
              <a:ext cx="1307" cy="1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dirty="0">
                  <a:solidFill>
                    <a:srgbClr val="000099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ticket (purchase)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 dirty="0">
                <a:solidFill>
                  <a:srgbClr val="000099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dirty="0">
                  <a:solidFill>
                    <a:srgbClr val="000099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baggage (check)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 dirty="0">
                <a:solidFill>
                  <a:srgbClr val="000099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dirty="0">
                  <a:solidFill>
                    <a:srgbClr val="000099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gates (load)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 dirty="0">
                <a:solidFill>
                  <a:srgbClr val="000099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dirty="0">
                  <a:solidFill>
                    <a:srgbClr val="000099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runway takeoff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 dirty="0">
                <a:solidFill>
                  <a:srgbClr val="000099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dirty="0">
                  <a:solidFill>
                    <a:srgbClr val="000099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airplane routing</a:t>
              </a:r>
            </a:p>
          </p:txBody>
        </p:sp>
        <p:sp>
          <p:nvSpPr>
            <p:cNvPr id="14343" name="Text Box 6"/>
            <p:cNvSpPr txBox="1">
              <a:spLocks noChangeArrowheads="1"/>
            </p:cNvSpPr>
            <p:nvPr/>
          </p:nvSpPr>
          <p:spPr bwMode="auto">
            <a:xfrm>
              <a:off x="3242" y="1001"/>
              <a:ext cx="1280" cy="1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solidFill>
                    <a:srgbClr val="000099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ticket (complain)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solidFill>
                  <a:srgbClr val="000099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solidFill>
                    <a:srgbClr val="000099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baggage (claim)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solidFill>
                  <a:srgbClr val="000099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solidFill>
                    <a:srgbClr val="000099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gates (unload)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solidFill>
                  <a:srgbClr val="000099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solidFill>
                    <a:srgbClr val="000099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runway landing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solidFill>
                  <a:srgbClr val="000099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solidFill>
                    <a:srgbClr val="000099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airplane routing</a:t>
              </a:r>
            </a:p>
          </p:txBody>
        </p:sp>
        <p:sp>
          <p:nvSpPr>
            <p:cNvPr id="14344" name="Text Box 7"/>
            <p:cNvSpPr txBox="1">
              <a:spLocks noChangeArrowheads="1"/>
            </p:cNvSpPr>
            <p:nvPr/>
          </p:nvSpPr>
          <p:spPr bwMode="auto">
            <a:xfrm>
              <a:off x="2074" y="2825"/>
              <a:ext cx="12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solidFill>
                    <a:srgbClr val="000099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airplane routing</a:t>
              </a:r>
            </a:p>
          </p:txBody>
        </p:sp>
        <p:sp>
          <p:nvSpPr>
            <p:cNvPr id="14345" name="Freeform 8"/>
            <p:cNvSpPr>
              <a:spLocks/>
            </p:cNvSpPr>
            <p:nvPr/>
          </p:nvSpPr>
          <p:spPr bwMode="auto">
            <a:xfrm>
              <a:off x="700" y="1000"/>
              <a:ext cx="4100" cy="2072"/>
            </a:xfrm>
            <a:custGeom>
              <a:avLst/>
              <a:gdLst>
                <a:gd name="T0" fmla="*/ 0 w 4100"/>
                <a:gd name="T1" fmla="*/ 0 h 2072"/>
                <a:gd name="T2" fmla="*/ 4 w 4100"/>
                <a:gd name="T3" fmla="*/ 1736 h 2072"/>
                <a:gd name="T4" fmla="*/ 804 w 4100"/>
                <a:gd name="T5" fmla="*/ 2064 h 2072"/>
                <a:gd name="T6" fmla="*/ 3468 w 4100"/>
                <a:gd name="T7" fmla="*/ 2072 h 2072"/>
                <a:gd name="T8" fmla="*/ 4100 w 4100"/>
                <a:gd name="T9" fmla="*/ 1736 h 2072"/>
                <a:gd name="T10" fmla="*/ 4100 w 4100"/>
                <a:gd name="T11" fmla="*/ 96 h 207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100"/>
                <a:gd name="T19" fmla="*/ 0 h 2072"/>
                <a:gd name="T20" fmla="*/ 4100 w 4100"/>
                <a:gd name="T21" fmla="*/ 2072 h 207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100" h="2072">
                  <a:moveTo>
                    <a:pt x="0" y="0"/>
                  </a:moveTo>
                  <a:lnTo>
                    <a:pt x="4" y="1736"/>
                  </a:lnTo>
                  <a:lnTo>
                    <a:pt x="804" y="2064"/>
                  </a:lnTo>
                  <a:lnTo>
                    <a:pt x="3468" y="2072"/>
                  </a:lnTo>
                  <a:lnTo>
                    <a:pt x="4100" y="1736"/>
                  </a:lnTo>
                  <a:lnTo>
                    <a:pt x="4100" y="96"/>
                  </a:ln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26133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3" name="Group 38"/>
          <p:cNvGrpSpPr>
            <a:grpSpLocks/>
          </p:cNvGrpSpPr>
          <p:nvPr/>
        </p:nvGrpSpPr>
        <p:grpSpPr bwMode="auto">
          <a:xfrm>
            <a:off x="1917223" y="1578548"/>
            <a:ext cx="8418513" cy="2835275"/>
            <a:chOff x="258" y="1214"/>
            <a:chExt cx="5303" cy="1786"/>
          </a:xfrm>
        </p:grpSpPr>
        <p:sp>
          <p:nvSpPr>
            <p:cNvPr id="15366" name="Rectangle 2"/>
            <p:cNvSpPr>
              <a:spLocks noChangeArrowheads="1"/>
            </p:cNvSpPr>
            <p:nvPr/>
          </p:nvSpPr>
          <p:spPr bwMode="auto">
            <a:xfrm>
              <a:off x="264" y="1544"/>
              <a:ext cx="1028" cy="108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5367" name="Text Box 3"/>
            <p:cNvSpPr txBox="1">
              <a:spLocks noChangeArrowheads="1"/>
            </p:cNvSpPr>
            <p:nvPr/>
          </p:nvSpPr>
          <p:spPr bwMode="auto">
            <a:xfrm>
              <a:off x="258" y="1597"/>
              <a:ext cx="1071" cy="1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  <a:ea typeface="ＭＳ Ｐゴシック" panose="020B0600070205080204" pitchFamily="34" charset="-128"/>
                </a:rPr>
                <a:t>ticket (purchase)</a:t>
              </a: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4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  <a:ea typeface="ＭＳ Ｐゴシック" panose="020B0600070205080204" pitchFamily="34" charset="-128"/>
                </a:rPr>
                <a:t>baggage (check)</a:t>
              </a: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4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  <a:ea typeface="ＭＳ Ｐゴシック" panose="020B0600070205080204" pitchFamily="34" charset="-128"/>
                </a:rPr>
                <a:t>gates (load)</a:t>
              </a: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4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  <a:ea typeface="ＭＳ Ｐゴシック" panose="020B0600070205080204" pitchFamily="34" charset="-128"/>
                </a:rPr>
                <a:t>runway (takeoff)</a:t>
              </a: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4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  <a:ea typeface="ＭＳ Ｐゴシック" panose="020B0600070205080204" pitchFamily="34" charset="-128"/>
                </a:rPr>
                <a:t>airplane routing</a:t>
              </a:r>
            </a:p>
          </p:txBody>
        </p:sp>
        <p:sp>
          <p:nvSpPr>
            <p:cNvPr id="15368" name="Line 4"/>
            <p:cNvSpPr>
              <a:spLocks noChangeShapeType="1"/>
            </p:cNvSpPr>
            <p:nvPr/>
          </p:nvSpPr>
          <p:spPr bwMode="auto">
            <a:xfrm>
              <a:off x="271" y="1770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9" name="Line 5"/>
            <p:cNvSpPr>
              <a:spLocks noChangeShapeType="1"/>
            </p:cNvSpPr>
            <p:nvPr/>
          </p:nvSpPr>
          <p:spPr bwMode="auto">
            <a:xfrm>
              <a:off x="275" y="1989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0" name="Line 6"/>
            <p:cNvSpPr>
              <a:spLocks noChangeShapeType="1"/>
            </p:cNvSpPr>
            <p:nvPr/>
          </p:nvSpPr>
          <p:spPr bwMode="auto">
            <a:xfrm>
              <a:off x="271" y="2207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1" name="Line 7"/>
            <p:cNvSpPr>
              <a:spLocks noChangeShapeType="1"/>
            </p:cNvSpPr>
            <p:nvPr/>
          </p:nvSpPr>
          <p:spPr bwMode="auto">
            <a:xfrm>
              <a:off x="279" y="2426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2" name="Text Box 8"/>
            <p:cNvSpPr txBox="1">
              <a:spLocks noChangeArrowheads="1"/>
            </p:cNvSpPr>
            <p:nvPr/>
          </p:nvSpPr>
          <p:spPr bwMode="auto">
            <a:xfrm>
              <a:off x="493" y="2706"/>
              <a:ext cx="52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  <a:ea typeface="ＭＳ Ｐゴシック" panose="020B0600070205080204" pitchFamily="34" charset="-128"/>
                </a:rPr>
                <a:t>departure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  <a:ea typeface="ＭＳ Ｐゴシック" panose="020B0600070205080204" pitchFamily="34" charset="-128"/>
                </a:rPr>
                <a:t>airport</a:t>
              </a:r>
            </a:p>
          </p:txBody>
        </p:sp>
        <p:sp>
          <p:nvSpPr>
            <p:cNvPr id="15373" name="Text Box 9"/>
            <p:cNvSpPr txBox="1">
              <a:spLocks noChangeArrowheads="1"/>
            </p:cNvSpPr>
            <p:nvPr/>
          </p:nvSpPr>
          <p:spPr bwMode="auto">
            <a:xfrm>
              <a:off x="3756" y="2712"/>
              <a:ext cx="3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  <a:ea typeface="ＭＳ Ｐゴシック" panose="020B0600070205080204" pitchFamily="34" charset="-128"/>
                </a:rPr>
                <a:t>arrival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  <a:ea typeface="ＭＳ Ｐゴシック" panose="020B0600070205080204" pitchFamily="34" charset="-128"/>
                </a:rPr>
                <a:t>airport</a:t>
              </a:r>
            </a:p>
          </p:txBody>
        </p:sp>
        <p:sp>
          <p:nvSpPr>
            <p:cNvPr id="15374" name="Text Box 10"/>
            <p:cNvSpPr txBox="1">
              <a:spLocks noChangeArrowheads="1"/>
            </p:cNvSpPr>
            <p:nvPr/>
          </p:nvSpPr>
          <p:spPr bwMode="auto">
            <a:xfrm>
              <a:off x="1859" y="2709"/>
              <a:ext cx="10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  <a:ea typeface="ＭＳ Ｐゴシック" panose="020B0600070205080204" pitchFamily="34" charset="-128"/>
                </a:rPr>
                <a:t>intermediate air-traffic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  <a:ea typeface="ＭＳ Ｐゴシック" panose="020B0600070205080204" pitchFamily="34" charset="-128"/>
                </a:rPr>
                <a:t>control centers</a:t>
              </a:r>
            </a:p>
          </p:txBody>
        </p:sp>
        <p:pic>
          <p:nvPicPr>
            <p:cNvPr id="15375" name="Picture 11" descr="yylgaifm[1]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30" y="1315"/>
              <a:ext cx="963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76" name="Line 12"/>
            <p:cNvSpPr>
              <a:spLocks noChangeShapeType="1"/>
            </p:cNvSpPr>
            <p:nvPr/>
          </p:nvSpPr>
          <p:spPr bwMode="auto">
            <a:xfrm>
              <a:off x="2133" y="1214"/>
              <a:ext cx="2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7" name="Line 13"/>
            <p:cNvSpPr>
              <a:spLocks noChangeShapeType="1"/>
            </p:cNvSpPr>
            <p:nvPr/>
          </p:nvSpPr>
          <p:spPr bwMode="auto">
            <a:xfrm>
              <a:off x="2229" y="1310"/>
              <a:ext cx="2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8" name="Line 14"/>
            <p:cNvSpPr>
              <a:spLocks noChangeShapeType="1"/>
            </p:cNvSpPr>
            <p:nvPr/>
          </p:nvSpPr>
          <p:spPr bwMode="auto">
            <a:xfrm>
              <a:off x="2325" y="1406"/>
              <a:ext cx="2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379" name="Group 15"/>
            <p:cNvGrpSpPr>
              <a:grpSpLocks/>
            </p:cNvGrpSpPr>
            <p:nvPr/>
          </p:nvGrpSpPr>
          <p:grpSpPr bwMode="auto">
            <a:xfrm>
              <a:off x="1436" y="2441"/>
              <a:ext cx="1071" cy="186"/>
              <a:chOff x="1813" y="2187"/>
              <a:chExt cx="1071" cy="186"/>
            </a:xfrm>
          </p:grpSpPr>
          <p:sp>
            <p:nvSpPr>
              <p:cNvPr id="15399" name="Rectangle 16"/>
              <p:cNvSpPr>
                <a:spLocks noChangeArrowheads="1"/>
              </p:cNvSpPr>
              <p:nvPr/>
            </p:nvSpPr>
            <p:spPr bwMode="auto">
              <a:xfrm>
                <a:off x="1817" y="2187"/>
                <a:ext cx="871" cy="18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5400" name="Text Box 17"/>
              <p:cNvSpPr txBox="1">
                <a:spLocks noChangeArrowheads="1"/>
              </p:cNvSpPr>
              <p:nvPr/>
            </p:nvSpPr>
            <p:spPr bwMode="auto">
              <a:xfrm>
                <a:off x="1813" y="2200"/>
                <a:ext cx="1071" cy="1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400"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airplane routing</a:t>
                </a:r>
              </a:p>
            </p:txBody>
          </p:sp>
        </p:grpSp>
        <p:grpSp>
          <p:nvGrpSpPr>
            <p:cNvPr id="15380" name="Group 18"/>
            <p:cNvGrpSpPr>
              <a:grpSpLocks/>
            </p:cNvGrpSpPr>
            <p:nvPr/>
          </p:nvGrpSpPr>
          <p:grpSpPr bwMode="auto">
            <a:xfrm>
              <a:off x="2417" y="2441"/>
              <a:ext cx="1071" cy="186"/>
              <a:chOff x="1813" y="2187"/>
              <a:chExt cx="1071" cy="186"/>
            </a:xfrm>
          </p:grpSpPr>
          <p:sp>
            <p:nvSpPr>
              <p:cNvPr id="15397" name="Rectangle 19"/>
              <p:cNvSpPr>
                <a:spLocks noChangeArrowheads="1"/>
              </p:cNvSpPr>
              <p:nvPr/>
            </p:nvSpPr>
            <p:spPr bwMode="auto">
              <a:xfrm>
                <a:off x="1817" y="2187"/>
                <a:ext cx="871" cy="18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5398" name="Text Box 20"/>
              <p:cNvSpPr txBox="1">
                <a:spLocks noChangeArrowheads="1"/>
              </p:cNvSpPr>
              <p:nvPr/>
            </p:nvSpPr>
            <p:spPr bwMode="auto">
              <a:xfrm>
                <a:off x="1813" y="2200"/>
                <a:ext cx="1071" cy="1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400"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airplane routing</a:t>
                </a:r>
              </a:p>
            </p:txBody>
          </p:sp>
        </p:grpSp>
        <p:sp>
          <p:nvSpPr>
            <p:cNvPr id="15381" name="Rectangle 21"/>
            <p:cNvSpPr>
              <a:spLocks noChangeArrowheads="1"/>
            </p:cNvSpPr>
            <p:nvPr/>
          </p:nvSpPr>
          <p:spPr bwMode="auto">
            <a:xfrm>
              <a:off x="3446" y="1551"/>
              <a:ext cx="1028" cy="108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5382" name="Text Box 22"/>
            <p:cNvSpPr txBox="1">
              <a:spLocks noChangeArrowheads="1"/>
            </p:cNvSpPr>
            <p:nvPr/>
          </p:nvSpPr>
          <p:spPr bwMode="auto">
            <a:xfrm>
              <a:off x="3412" y="1598"/>
              <a:ext cx="1071" cy="1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  <a:ea typeface="ＭＳ Ｐゴシック" panose="020B0600070205080204" pitchFamily="34" charset="-128"/>
                </a:rPr>
                <a:t>ticket (complain)</a:t>
              </a: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4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  <a:ea typeface="ＭＳ Ｐゴシック" panose="020B0600070205080204" pitchFamily="34" charset="-128"/>
                </a:rPr>
                <a:t>baggage (claim</a:t>
              </a: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4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  <a:ea typeface="ＭＳ Ｐゴシック" panose="020B0600070205080204" pitchFamily="34" charset="-128"/>
                </a:rPr>
                <a:t>gates (unload)</a:t>
              </a: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4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  <a:ea typeface="ＭＳ Ｐゴシック" panose="020B0600070205080204" pitchFamily="34" charset="-128"/>
                </a:rPr>
                <a:t>runway (land)</a:t>
              </a: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4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  <a:ea typeface="ＭＳ Ｐゴシック" panose="020B0600070205080204" pitchFamily="34" charset="-128"/>
                </a:rPr>
                <a:t>airplane routing</a:t>
              </a:r>
            </a:p>
          </p:txBody>
        </p:sp>
        <p:sp>
          <p:nvSpPr>
            <p:cNvPr id="15383" name="Line 23"/>
            <p:cNvSpPr>
              <a:spLocks noChangeShapeType="1"/>
            </p:cNvSpPr>
            <p:nvPr/>
          </p:nvSpPr>
          <p:spPr bwMode="auto">
            <a:xfrm>
              <a:off x="3453" y="1777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4" name="Line 24"/>
            <p:cNvSpPr>
              <a:spLocks noChangeShapeType="1"/>
            </p:cNvSpPr>
            <p:nvPr/>
          </p:nvSpPr>
          <p:spPr bwMode="auto">
            <a:xfrm>
              <a:off x="3457" y="1996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5" name="Line 25"/>
            <p:cNvSpPr>
              <a:spLocks noChangeShapeType="1"/>
            </p:cNvSpPr>
            <p:nvPr/>
          </p:nvSpPr>
          <p:spPr bwMode="auto">
            <a:xfrm>
              <a:off x="3453" y="2214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6" name="Line 26"/>
            <p:cNvSpPr>
              <a:spLocks noChangeShapeType="1"/>
            </p:cNvSpPr>
            <p:nvPr/>
          </p:nvSpPr>
          <p:spPr bwMode="auto">
            <a:xfrm>
              <a:off x="3461" y="2433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7" name="Rectangle 27"/>
            <p:cNvSpPr>
              <a:spLocks noChangeArrowheads="1"/>
            </p:cNvSpPr>
            <p:nvPr/>
          </p:nvSpPr>
          <p:spPr bwMode="auto">
            <a:xfrm>
              <a:off x="268" y="2476"/>
              <a:ext cx="5293" cy="116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5388" name="Rectangle 28"/>
            <p:cNvSpPr>
              <a:spLocks noChangeArrowheads="1"/>
            </p:cNvSpPr>
            <p:nvPr/>
          </p:nvSpPr>
          <p:spPr bwMode="auto">
            <a:xfrm>
              <a:off x="268" y="2256"/>
              <a:ext cx="5293" cy="123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5389" name="Rectangle 29"/>
            <p:cNvSpPr>
              <a:spLocks noChangeArrowheads="1"/>
            </p:cNvSpPr>
            <p:nvPr/>
          </p:nvSpPr>
          <p:spPr bwMode="auto">
            <a:xfrm>
              <a:off x="268" y="2050"/>
              <a:ext cx="5293" cy="116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5390" name="Rectangle 30"/>
            <p:cNvSpPr>
              <a:spLocks noChangeArrowheads="1"/>
            </p:cNvSpPr>
            <p:nvPr/>
          </p:nvSpPr>
          <p:spPr bwMode="auto">
            <a:xfrm>
              <a:off x="268" y="1830"/>
              <a:ext cx="5286" cy="123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5391" name="Rectangle 31"/>
            <p:cNvSpPr>
              <a:spLocks noChangeArrowheads="1"/>
            </p:cNvSpPr>
            <p:nvPr/>
          </p:nvSpPr>
          <p:spPr bwMode="auto">
            <a:xfrm>
              <a:off x="268" y="1617"/>
              <a:ext cx="5287" cy="123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5392" name="Text Box 32"/>
            <p:cNvSpPr txBox="1">
              <a:spLocks noChangeArrowheads="1"/>
            </p:cNvSpPr>
            <p:nvPr/>
          </p:nvSpPr>
          <p:spPr bwMode="auto">
            <a:xfrm>
              <a:off x="4776" y="1588"/>
              <a:ext cx="3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  <a:ea typeface="ＭＳ Ｐゴシック" panose="020B0600070205080204" pitchFamily="34" charset="-128"/>
                </a:rPr>
                <a:t>ticket</a:t>
              </a:r>
            </a:p>
          </p:txBody>
        </p:sp>
        <p:sp>
          <p:nvSpPr>
            <p:cNvPr id="15393" name="Text Box 33"/>
            <p:cNvSpPr txBox="1">
              <a:spLocks noChangeArrowheads="1"/>
            </p:cNvSpPr>
            <p:nvPr/>
          </p:nvSpPr>
          <p:spPr bwMode="auto">
            <a:xfrm>
              <a:off x="4774" y="1801"/>
              <a:ext cx="48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  <a:ea typeface="ＭＳ Ｐゴシック" panose="020B0600070205080204" pitchFamily="34" charset="-128"/>
                </a:rPr>
                <a:t>baggage</a:t>
              </a:r>
            </a:p>
          </p:txBody>
        </p:sp>
        <p:sp>
          <p:nvSpPr>
            <p:cNvPr id="15394" name="Text Box 34"/>
            <p:cNvSpPr txBox="1">
              <a:spLocks noChangeArrowheads="1"/>
            </p:cNvSpPr>
            <p:nvPr/>
          </p:nvSpPr>
          <p:spPr bwMode="auto">
            <a:xfrm>
              <a:off x="4772" y="2013"/>
              <a:ext cx="30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  <a:ea typeface="ＭＳ Ｐゴシック" panose="020B0600070205080204" pitchFamily="34" charset="-128"/>
                </a:rPr>
                <a:t>gate</a:t>
              </a:r>
            </a:p>
          </p:txBody>
        </p:sp>
        <p:sp>
          <p:nvSpPr>
            <p:cNvPr id="15395" name="Text Box 35"/>
            <p:cNvSpPr txBox="1">
              <a:spLocks noChangeArrowheads="1"/>
            </p:cNvSpPr>
            <p:nvPr/>
          </p:nvSpPr>
          <p:spPr bwMode="auto">
            <a:xfrm>
              <a:off x="4767" y="2225"/>
              <a:ext cx="73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 dirty="0">
                  <a:latin typeface="Arial" panose="020B0604020202020204" pitchFamily="34" charset="0"/>
                  <a:ea typeface="ＭＳ Ｐゴシック" panose="020B0600070205080204" pitchFamily="34" charset="-128"/>
                </a:rPr>
                <a:t>takeoff/landing</a:t>
              </a:r>
            </a:p>
          </p:txBody>
        </p:sp>
        <p:sp>
          <p:nvSpPr>
            <p:cNvPr id="15396" name="Text Box 36"/>
            <p:cNvSpPr txBox="1">
              <a:spLocks noChangeArrowheads="1"/>
            </p:cNvSpPr>
            <p:nvPr/>
          </p:nvSpPr>
          <p:spPr bwMode="auto">
            <a:xfrm>
              <a:off x="4769" y="2444"/>
              <a:ext cx="7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  <a:ea typeface="ＭＳ Ｐゴシック" panose="020B0600070205080204" pitchFamily="34" charset="-128"/>
                </a:rPr>
                <a:t>airplane routing</a:t>
              </a:r>
            </a:p>
          </p:txBody>
        </p:sp>
      </p:grpSp>
      <p:sp>
        <p:nvSpPr>
          <p:cNvPr id="136196" name="Rectangle 39"/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1183299"/>
          </a:xfrm>
        </p:spPr>
        <p:txBody>
          <a:bodyPr/>
          <a:lstStyle/>
          <a:p>
            <a:pPr>
              <a:defRPr/>
            </a:pPr>
            <a:r>
              <a:rPr lang="en-US" altLang="en-US" dirty="0" smtClean="0"/>
              <a:t>Layering of airline functionality</a:t>
            </a:r>
          </a:p>
        </p:txBody>
      </p:sp>
      <p:sp>
        <p:nvSpPr>
          <p:cNvPr id="15365" name="Rectangle 40"/>
          <p:cNvSpPr>
            <a:spLocks noGrp="1" noChangeArrowheads="1"/>
          </p:cNvSpPr>
          <p:nvPr>
            <p:ph idx="1"/>
          </p:nvPr>
        </p:nvSpPr>
        <p:spPr>
          <a:xfrm>
            <a:off x="1271303" y="4846320"/>
            <a:ext cx="10058400" cy="402336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 dirty="0" smtClean="0">
                <a:solidFill>
                  <a:srgbClr val="CC0000"/>
                </a:solidFill>
              </a:rPr>
              <a:t>layers:</a:t>
            </a:r>
            <a:r>
              <a:rPr lang="en-US" altLang="en-US" dirty="0" smtClean="0">
                <a:solidFill>
                  <a:srgbClr val="FF0000"/>
                </a:solidFill>
              </a:rPr>
              <a:t> </a:t>
            </a:r>
            <a:r>
              <a:rPr lang="en-US" altLang="en-US" dirty="0" smtClean="0"/>
              <a:t>each layer implements a service</a:t>
            </a:r>
          </a:p>
          <a:p>
            <a:pPr lvl="1" eaLnBrk="1" hangingPunct="1"/>
            <a:r>
              <a:rPr lang="en-US" altLang="en-US" sz="2400" dirty="0">
                <a:cs typeface="Arial" panose="020B0604020202020204" pitchFamily="34" charset="0"/>
              </a:rPr>
              <a:t>via its own internal-layer actions</a:t>
            </a:r>
          </a:p>
          <a:p>
            <a:pPr lvl="1" eaLnBrk="1" hangingPunct="1"/>
            <a:r>
              <a:rPr lang="en-US" altLang="en-US" sz="2400" dirty="0">
                <a:cs typeface="Arial" panose="020B0604020202020204" pitchFamily="34" charset="0"/>
              </a:rPr>
              <a:t>relying on services provided by layer below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626168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17713" y="152400"/>
            <a:ext cx="7620000" cy="1143000"/>
          </a:xfrm>
        </p:spPr>
        <p:txBody>
          <a:bodyPr/>
          <a:lstStyle/>
          <a:p>
            <a:pPr>
              <a:defRPr/>
            </a:pPr>
            <a:r>
              <a:rPr lang="en-US" altLang="en-US" dirty="0" smtClean="0"/>
              <a:t>Why layering?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070100" y="1435100"/>
            <a:ext cx="7772400" cy="4648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/>
              <a:t>Dealing with complex systems:</a:t>
            </a:r>
          </a:p>
          <a:p>
            <a:pPr eaLnBrk="1" hangingPunct="1">
              <a:buSzPct val="75000"/>
            </a:pPr>
            <a:r>
              <a:rPr lang="en-US" altLang="en-US" sz="2400"/>
              <a:t>explicit structure allows identification, relationship of complex system’</a:t>
            </a:r>
            <a:r>
              <a:rPr lang="en-US" altLang="ja-JP" sz="2400"/>
              <a:t>s  pieces</a:t>
            </a:r>
          </a:p>
          <a:p>
            <a:pPr lvl="1" eaLnBrk="1" hangingPunct="1"/>
            <a:r>
              <a:rPr lang="en-US" altLang="en-US" sz="2400">
                <a:cs typeface="Arial" panose="020B0604020202020204" pitchFamily="34" charset="0"/>
              </a:rPr>
              <a:t>layered </a:t>
            </a:r>
            <a:r>
              <a:rPr lang="en-US" altLang="en-US" sz="2400" i="1">
                <a:solidFill>
                  <a:srgbClr val="CC0000"/>
                </a:solidFill>
                <a:cs typeface="Arial" panose="020B0604020202020204" pitchFamily="34" charset="0"/>
              </a:rPr>
              <a:t>reference model</a:t>
            </a:r>
            <a:r>
              <a:rPr lang="en-US" altLang="en-US" sz="2400">
                <a:cs typeface="Arial" panose="020B0604020202020204" pitchFamily="34" charset="0"/>
              </a:rPr>
              <a:t> for discussion</a:t>
            </a:r>
          </a:p>
          <a:p>
            <a:pPr eaLnBrk="1" hangingPunct="1">
              <a:buSzPct val="75000"/>
            </a:pPr>
            <a:r>
              <a:rPr lang="en-US" altLang="en-US" sz="2400"/>
              <a:t>modularization eases maintenance, updating of system</a:t>
            </a:r>
          </a:p>
          <a:p>
            <a:pPr lvl="1" eaLnBrk="1" hangingPunct="1"/>
            <a:r>
              <a:rPr lang="en-US" altLang="en-US" sz="2400">
                <a:cs typeface="Arial" panose="020B0604020202020204" pitchFamily="34" charset="0"/>
              </a:rPr>
              <a:t>change of implementation of layer</a:t>
            </a:r>
            <a:r>
              <a:rPr lang="en-US" altLang="en-US" sz="2400"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ea typeface="ＭＳ Ｐゴシック" panose="020B0600070205080204" pitchFamily="34" charset="-128"/>
              </a:rPr>
              <a:t>s service transparent to rest of system</a:t>
            </a:r>
          </a:p>
          <a:p>
            <a:pPr lvl="1" eaLnBrk="1" hangingPunct="1"/>
            <a:r>
              <a:rPr lang="en-US" altLang="en-US" sz="2400">
                <a:cs typeface="Arial" panose="020B0604020202020204" pitchFamily="34" charset="0"/>
              </a:rPr>
              <a:t>e.g., change in gate procedure doesn</a:t>
            </a:r>
            <a:r>
              <a:rPr lang="en-US" altLang="en-US" sz="2400"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ea typeface="ＭＳ Ｐゴシック" panose="020B0600070205080204" pitchFamily="34" charset="-128"/>
              </a:rPr>
              <a:t>t affect rest of system</a:t>
            </a:r>
          </a:p>
          <a:p>
            <a:pPr eaLnBrk="1" hangingPunct="1">
              <a:buSzPct val="75000"/>
            </a:pPr>
            <a:r>
              <a:rPr lang="en-US" altLang="en-US" sz="2400"/>
              <a:t>layering considered harmful?</a:t>
            </a:r>
          </a:p>
        </p:txBody>
      </p:sp>
    </p:spTree>
    <p:extLst>
      <p:ext uri="{BB962C8B-B14F-4D97-AF65-F5344CB8AC3E}">
        <p14:creationId xmlns:p14="http://schemas.microsoft.com/office/powerpoint/2010/main" val="2134796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9800" y="670560"/>
            <a:ext cx="4333875" cy="558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5639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4400" dirty="0"/>
              <a:t>TCP/IP Protocol Suite</a:t>
            </a:r>
            <a:endParaRPr lang="en-US" sz="4400" dirty="0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TCP/IP is a protocol suite used in the Internet today. It is a hierarchical protocol made up of interactive modules, each of which provides a specific functionality. </a:t>
            </a:r>
          </a:p>
          <a:p>
            <a:pPr eaLnBrk="1" hangingPunct="1"/>
            <a:r>
              <a:rPr lang="en-US" altLang="en-US" smtClean="0"/>
              <a:t>The term hierarchical means that each upper level protocol is supported by the services provided by one or more lower level protocols. </a:t>
            </a:r>
          </a:p>
          <a:p>
            <a:pPr eaLnBrk="1" hangingPunct="1"/>
            <a:r>
              <a:rPr lang="en-US" altLang="en-US" smtClean="0"/>
              <a:t>The original TCP/IP protocol suite was defined as four software layers built upon the hardware. </a:t>
            </a:r>
          </a:p>
          <a:p>
            <a:pPr eaLnBrk="1" hangingPunct="1"/>
            <a:r>
              <a:rPr lang="en-US" altLang="en-US" smtClean="0"/>
              <a:t>Today, however, TCP/IP is thought of as a five-layer model. </a:t>
            </a:r>
          </a:p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893728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4"/>
          <p:cNvSpPr>
            <a:spLocks noChangeArrowheads="1"/>
          </p:cNvSpPr>
          <p:nvPr/>
        </p:nvSpPr>
        <p:spPr bwMode="auto">
          <a:xfrm>
            <a:off x="1676400" y="76200"/>
            <a:ext cx="815340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000" b="1" i="1">
                <a:solidFill>
                  <a:srgbClr val="0000FF"/>
                </a:solidFill>
                <a:latin typeface="Times-BoldItalic"/>
              </a:rPr>
              <a:t>Layers in the TCP/IP protocol suite</a:t>
            </a: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990601"/>
            <a:ext cx="8266113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1962151"/>
            <a:ext cx="8266113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2933701"/>
            <a:ext cx="8266113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20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3905251"/>
            <a:ext cx="8266113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21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4876801"/>
            <a:ext cx="8266113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38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228600"/>
            <a:ext cx="8077200" cy="1143000"/>
          </a:xfrm>
        </p:spPr>
        <p:txBody>
          <a:bodyPr/>
          <a:lstStyle/>
          <a:p>
            <a:pPr>
              <a:defRPr/>
            </a:pPr>
            <a:r>
              <a:rPr lang="en-US" altLang="en-US" dirty="0" smtClean="0"/>
              <a:t>Application Layer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1188720" y="1767840"/>
            <a:ext cx="10204704" cy="45720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4000"/>
              </a:lnSpc>
            </a:pPr>
            <a:r>
              <a:rPr lang="en-US" altLang="en-US" dirty="0" smtClean="0"/>
              <a:t>An application-layer protocol is distributed over multiple end systems, with the application in one end system using the protocol to exchange packets of information with the application in another end system.</a:t>
            </a:r>
          </a:p>
          <a:p>
            <a:pPr eaLnBrk="1" hangingPunct="1">
              <a:lnSpc>
                <a:spcPct val="114000"/>
              </a:lnSpc>
            </a:pPr>
            <a:r>
              <a:rPr lang="en-US" altLang="en-US" dirty="0" smtClean="0"/>
              <a:t>Communication is between two processes (two programs)</a:t>
            </a:r>
          </a:p>
          <a:p>
            <a:pPr eaLnBrk="1" hangingPunct="1">
              <a:lnSpc>
                <a:spcPct val="114000"/>
              </a:lnSpc>
            </a:pPr>
            <a:r>
              <a:rPr lang="en-US" altLang="en-US" dirty="0" smtClean="0"/>
              <a:t>Protocols at the TCP/IP Application layer include:</a:t>
            </a:r>
          </a:p>
          <a:p>
            <a:pPr lvl="1" eaLnBrk="1" hangingPunct="1">
              <a:lnSpc>
                <a:spcPct val="114000"/>
              </a:lnSpc>
            </a:pPr>
            <a:r>
              <a:rPr lang="en-US" altLang="en-US" dirty="0" smtClean="0"/>
              <a:t>Hypertext Transfer Protocol (HTTP) – web access</a:t>
            </a:r>
          </a:p>
          <a:p>
            <a:pPr lvl="1" eaLnBrk="1" hangingPunct="1">
              <a:lnSpc>
                <a:spcPct val="114000"/>
              </a:lnSpc>
            </a:pPr>
            <a:r>
              <a:rPr lang="pt-BR" altLang="en-US" dirty="0" smtClean="0"/>
              <a:t>Simple Mail Transfer Protocol (SMTP) - </a:t>
            </a:r>
            <a:r>
              <a:rPr lang="en-US" altLang="en-US" dirty="0" smtClean="0"/>
              <a:t>transfer of e-mail messages</a:t>
            </a:r>
            <a:endParaRPr lang="pt-BR" altLang="en-US" dirty="0" smtClean="0"/>
          </a:p>
          <a:p>
            <a:pPr lvl="1" eaLnBrk="1" hangingPunct="1">
              <a:lnSpc>
                <a:spcPct val="114000"/>
              </a:lnSpc>
            </a:pPr>
            <a:r>
              <a:rPr lang="en-US" altLang="en-US" dirty="0" smtClean="0"/>
              <a:t>File Transfer Protocol (FTP) – transfer files from one host to another</a:t>
            </a:r>
          </a:p>
          <a:p>
            <a:pPr lvl="1" eaLnBrk="1" hangingPunct="1">
              <a:lnSpc>
                <a:spcPct val="114000"/>
              </a:lnSpc>
            </a:pPr>
            <a:r>
              <a:rPr lang="en-US" altLang="en-US" dirty="0" smtClean="0"/>
              <a:t>Terminal emulation protocol (telnet) – remote access</a:t>
            </a:r>
          </a:p>
          <a:p>
            <a:pPr lvl="1" eaLnBrk="1" hangingPunct="1">
              <a:lnSpc>
                <a:spcPct val="114000"/>
              </a:lnSpc>
            </a:pPr>
            <a:r>
              <a:rPr lang="en-US" altLang="en-US" dirty="0" smtClean="0"/>
              <a:t>Domain Name System (DNS) – find network address</a:t>
            </a:r>
          </a:p>
          <a:p>
            <a:pPr eaLnBrk="1" hangingPunct="1">
              <a:lnSpc>
                <a:spcPct val="114000"/>
              </a:lnSpc>
            </a:pPr>
            <a:r>
              <a:rPr lang="en-US" altLang="en-US" dirty="0" smtClean="0"/>
              <a:t>Packets in Application layer are called </a:t>
            </a:r>
            <a:r>
              <a:rPr lang="en-US" altLang="en-US" b="1" i="1" dirty="0" smtClean="0">
                <a:solidFill>
                  <a:srgbClr val="C00000"/>
                </a:solidFill>
              </a:rPr>
              <a:t>Messages</a:t>
            </a:r>
          </a:p>
        </p:txBody>
      </p:sp>
    </p:spTree>
    <p:extLst>
      <p:ext uri="{BB962C8B-B14F-4D97-AF65-F5344CB8AC3E}">
        <p14:creationId xmlns:p14="http://schemas.microsoft.com/office/powerpoint/2010/main" val="844475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152400"/>
            <a:ext cx="8077200" cy="1295400"/>
          </a:xfrm>
        </p:spPr>
        <p:txBody>
          <a:bodyPr/>
          <a:lstStyle/>
          <a:p>
            <a:pPr>
              <a:defRPr/>
            </a:pPr>
            <a:r>
              <a:rPr lang="en-US" altLang="en-US" dirty="0" smtClean="0"/>
              <a:t>Transport Layer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1228344" y="1840992"/>
            <a:ext cx="10082784" cy="43434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dirty="0" smtClean="0"/>
              <a:t>Performs end-to-end packet delivery, reliability, and flow control</a:t>
            </a:r>
          </a:p>
          <a:p>
            <a:pPr eaLnBrk="1" hangingPunct="1"/>
            <a:r>
              <a:rPr lang="en-US" altLang="en-US" dirty="0" smtClean="0"/>
              <a:t>Responsible for providing services to the application layer</a:t>
            </a:r>
          </a:p>
          <a:p>
            <a:pPr eaLnBrk="1" hangingPunct="1"/>
            <a:r>
              <a:rPr lang="en-US" altLang="en-US" dirty="0" smtClean="0"/>
              <a:t>Application layer message encapsulated in transport layer packet (</a:t>
            </a:r>
            <a:r>
              <a:rPr lang="en-US" altLang="en-US" b="1" i="1" dirty="0" smtClean="0">
                <a:solidFill>
                  <a:srgbClr val="C00000"/>
                </a:solidFill>
              </a:rPr>
              <a:t>segment or user datagram</a:t>
            </a:r>
            <a:r>
              <a:rPr lang="en-US" altLang="en-US" dirty="0" smtClean="0"/>
              <a:t>)</a:t>
            </a:r>
          </a:p>
          <a:p>
            <a:pPr eaLnBrk="1" hangingPunct="1"/>
            <a:r>
              <a:rPr lang="en-US" altLang="en-US" dirty="0" smtClean="0"/>
              <a:t>Protocols:</a:t>
            </a:r>
          </a:p>
          <a:p>
            <a:pPr lvl="1" eaLnBrk="1" hangingPunct="1"/>
            <a:r>
              <a:rPr lang="en-US" altLang="en-US" sz="2200" dirty="0"/>
              <a:t>TCP provides reliable, </a:t>
            </a:r>
            <a:r>
              <a:rPr lang="en-US" altLang="en-US" sz="2200" i="1" dirty="0"/>
              <a:t>connection-oriented</a:t>
            </a:r>
            <a:r>
              <a:rPr lang="en-US" altLang="en-US" sz="2200" dirty="0"/>
              <a:t> communications between two hosts</a:t>
            </a:r>
          </a:p>
          <a:p>
            <a:pPr lvl="2" eaLnBrk="1" hangingPunct="1"/>
            <a:r>
              <a:rPr lang="en-US" altLang="en-US" sz="2200" dirty="0"/>
              <a:t>Requires more network overhead</a:t>
            </a:r>
          </a:p>
          <a:p>
            <a:pPr lvl="2" eaLnBrk="1" hangingPunct="1"/>
            <a:r>
              <a:rPr lang="en-US" altLang="en-US" sz="2200" dirty="0"/>
              <a:t>Provides flow control, error control, congestion control</a:t>
            </a:r>
          </a:p>
          <a:p>
            <a:pPr lvl="1" eaLnBrk="1" hangingPunct="1"/>
            <a:r>
              <a:rPr lang="en-US" altLang="en-US" sz="2200" dirty="0"/>
              <a:t>UDP provides </a:t>
            </a:r>
            <a:r>
              <a:rPr lang="en-US" altLang="en-US" sz="2200" i="1" dirty="0"/>
              <a:t>connectionless</a:t>
            </a:r>
            <a:r>
              <a:rPr lang="en-US" altLang="en-US" sz="2200" dirty="0"/>
              <a:t> datagram services between two hosts</a:t>
            </a:r>
          </a:p>
          <a:p>
            <a:pPr lvl="2" eaLnBrk="1" hangingPunct="1"/>
            <a:r>
              <a:rPr lang="en-US" altLang="en-US" sz="2200" dirty="0"/>
              <a:t>Faster but less reliable</a:t>
            </a:r>
          </a:p>
          <a:p>
            <a:pPr lvl="2" eaLnBrk="1" hangingPunct="1"/>
            <a:r>
              <a:rPr lang="en-US" altLang="en-US" sz="2200" dirty="0"/>
              <a:t>Reliability is left to the Application layer</a:t>
            </a:r>
          </a:p>
        </p:txBody>
      </p:sp>
    </p:spTree>
    <p:extLst>
      <p:ext uri="{BB962C8B-B14F-4D97-AF65-F5344CB8AC3E}">
        <p14:creationId xmlns:p14="http://schemas.microsoft.com/office/powerpoint/2010/main" val="139934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Internet/ Network Layer</a:t>
            </a:r>
            <a:endParaRPr lang="en-US" dirty="0"/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1331976" y="1837944"/>
            <a:ext cx="9823704" cy="48006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dirty="0" smtClean="0"/>
              <a:t>Responsible for connection between the source host and destination host</a:t>
            </a:r>
          </a:p>
          <a:p>
            <a:pPr eaLnBrk="1" hangingPunct="1"/>
            <a:r>
              <a:rPr lang="en-US" altLang="en-US" dirty="0" smtClean="0"/>
              <a:t>Communication at the network layer is host-to-host</a:t>
            </a:r>
          </a:p>
          <a:p>
            <a:pPr eaLnBrk="1" hangingPunct="1"/>
            <a:r>
              <a:rPr lang="en-US" altLang="en-US" dirty="0" smtClean="0"/>
              <a:t>Routers in the path between source and destination responsible for determining the best route for each packet</a:t>
            </a:r>
          </a:p>
          <a:p>
            <a:pPr eaLnBrk="1" hangingPunct="1"/>
            <a:r>
              <a:rPr lang="en-US" altLang="en-US" dirty="0" smtClean="0"/>
              <a:t>Four main protocols function at this layer</a:t>
            </a:r>
          </a:p>
          <a:p>
            <a:pPr lvl="1" eaLnBrk="1" hangingPunct="1"/>
            <a:r>
              <a:rPr lang="en-US" altLang="en-US" dirty="0" smtClean="0"/>
              <a:t>Internet Protocol (IP) - responsible for addressing and routing</a:t>
            </a:r>
          </a:p>
          <a:p>
            <a:pPr lvl="1" eaLnBrk="1" hangingPunct="1"/>
            <a:r>
              <a:rPr lang="en-US" altLang="en-US" dirty="0" smtClean="0"/>
              <a:t>Internet Control Message Protocol (ICMP) – report problems with routing a packet</a:t>
            </a:r>
          </a:p>
          <a:p>
            <a:pPr lvl="1" eaLnBrk="1" hangingPunct="1"/>
            <a:r>
              <a:rPr lang="en-US" altLang="en-US" dirty="0" smtClean="0"/>
              <a:t>Address Resolution Protocol (ARP) – translate IP address to link layer address of a host or router</a:t>
            </a:r>
          </a:p>
          <a:p>
            <a:pPr lvl="1" eaLnBrk="1" hangingPunct="1"/>
            <a:r>
              <a:rPr lang="en-US" altLang="en-US" dirty="0" smtClean="0"/>
              <a:t>Reverse Address Resolution Protocol (RARP)</a:t>
            </a:r>
          </a:p>
          <a:p>
            <a:pPr eaLnBrk="1" hangingPunct="1"/>
            <a:r>
              <a:rPr lang="en-US" altLang="en-US" dirty="0" smtClean="0"/>
              <a:t>Packets in network layer are called </a:t>
            </a:r>
            <a:r>
              <a:rPr lang="en-US" altLang="en-US" b="1" i="1" dirty="0" smtClean="0">
                <a:solidFill>
                  <a:srgbClr val="C00000"/>
                </a:solidFill>
              </a:rPr>
              <a:t>Datagrams</a:t>
            </a:r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702892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228600"/>
            <a:ext cx="8077200" cy="1143000"/>
          </a:xfrm>
        </p:spPr>
        <p:txBody>
          <a:bodyPr/>
          <a:lstStyle/>
          <a:p>
            <a:pPr>
              <a:defRPr/>
            </a:pPr>
            <a:r>
              <a:rPr lang="en-US" altLang="en-US" dirty="0" smtClean="0"/>
              <a:t>Network Interface Layer</a:t>
            </a:r>
          </a:p>
        </p:txBody>
      </p:sp>
      <p:sp>
        <p:nvSpPr>
          <p:cNvPr id="23555" name="Rectangle 7"/>
          <p:cNvSpPr>
            <a:spLocks noGrp="1" noChangeArrowheads="1"/>
          </p:cNvSpPr>
          <p:nvPr>
            <p:ph idx="1"/>
          </p:nvPr>
        </p:nvSpPr>
        <p:spPr>
          <a:xfrm>
            <a:off x="1072896" y="1795272"/>
            <a:ext cx="10887456" cy="4572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 smtClean="0"/>
              <a:t>Plays the same role as the Data Link and Physical layers of the OSI model</a:t>
            </a:r>
          </a:p>
          <a:p>
            <a:pPr eaLnBrk="1" hangingPunct="1"/>
            <a:r>
              <a:rPr lang="en-US" altLang="en-US" dirty="0" smtClean="0"/>
              <a:t>Responsible for taking the datagram and moving it across the link</a:t>
            </a:r>
          </a:p>
          <a:p>
            <a:pPr eaLnBrk="1" hangingPunct="1"/>
            <a:r>
              <a:rPr lang="en-US" altLang="en-US" dirty="0" smtClean="0"/>
              <a:t>Link can be wired LAN with a link layer switch, wireless LAN,  wired WAN or wireless WAN</a:t>
            </a:r>
          </a:p>
          <a:p>
            <a:pPr eaLnBrk="1" hangingPunct="1"/>
            <a:r>
              <a:rPr lang="en-US" altLang="en-US" dirty="0" smtClean="0"/>
              <a:t>Packets in datalink layer are called </a:t>
            </a:r>
            <a:r>
              <a:rPr lang="en-US" altLang="en-US" b="1" i="1" dirty="0" smtClean="0">
                <a:solidFill>
                  <a:srgbClr val="C00000"/>
                </a:solidFill>
              </a:rPr>
              <a:t>Frames</a:t>
            </a:r>
          </a:p>
          <a:p>
            <a:pPr eaLnBrk="1" hangingPunct="1"/>
            <a:r>
              <a:rPr lang="en-US" altLang="en-US" dirty="0" smtClean="0"/>
              <a:t>The MAC address, network card drivers, and specific interfaces for the network card function at this level </a:t>
            </a:r>
          </a:p>
          <a:p>
            <a:pPr eaLnBrk="1" hangingPunct="1"/>
            <a:r>
              <a:rPr lang="en-US" altLang="en-US" dirty="0" smtClean="0"/>
              <a:t>No specific IP functions exist at this layer</a:t>
            </a:r>
          </a:p>
          <a:p>
            <a:pPr lvl="1" eaLnBrk="1" hangingPunct="1"/>
            <a:r>
              <a:rPr lang="en-US" altLang="en-US" dirty="0" smtClean="0"/>
              <a:t>Because the layer’s focus is on communication with the network card and other networking hardware</a:t>
            </a:r>
          </a:p>
        </p:txBody>
      </p:sp>
    </p:spTree>
    <p:extLst>
      <p:ext uri="{BB962C8B-B14F-4D97-AF65-F5344CB8AC3E}">
        <p14:creationId xmlns:p14="http://schemas.microsoft.com/office/powerpoint/2010/main" val="545294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Physical Layer</a:t>
            </a:r>
            <a:endParaRPr lang="en-US" dirty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Responsible for carrying individual </a:t>
            </a:r>
            <a:r>
              <a:rPr lang="en-US" altLang="en-US" b="1" i="1" smtClean="0">
                <a:solidFill>
                  <a:srgbClr val="C00000"/>
                </a:solidFill>
              </a:rPr>
              <a:t>bits </a:t>
            </a:r>
            <a:r>
              <a:rPr lang="en-US" altLang="en-US" smtClean="0"/>
              <a:t>in a frame across the link</a:t>
            </a:r>
          </a:p>
          <a:p>
            <a:pPr eaLnBrk="1" hangingPunct="1"/>
            <a:r>
              <a:rPr lang="en-US" altLang="en-US" smtClean="0"/>
              <a:t>Two devices are connected by a transmission medium  (cable, air)</a:t>
            </a:r>
          </a:p>
        </p:txBody>
      </p:sp>
    </p:spTree>
    <p:extLst>
      <p:ext uri="{BB962C8B-B14F-4D97-AF65-F5344CB8AC3E}">
        <p14:creationId xmlns:p14="http://schemas.microsoft.com/office/powerpoint/2010/main" val="772255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587752"/>
            <a:ext cx="10058400" cy="356616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Protocols Involved in a day in the Life of a Web Page Request</a:t>
            </a:r>
            <a:br>
              <a:rPr lang="en-US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509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057400" y="3581400"/>
            <a:ext cx="7659688" cy="26924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Demi ITC" panose="020B0805030504020804" pitchFamily="34" charset="0"/>
              </a:rPr>
              <a:t>DHCP (Dynamic host configuration protocol)</a:t>
            </a:r>
          </a:p>
        </p:txBody>
      </p:sp>
    </p:spTree>
    <p:extLst>
      <p:ext uri="{BB962C8B-B14F-4D97-AF65-F5344CB8AC3E}">
        <p14:creationId xmlns:p14="http://schemas.microsoft.com/office/powerpoint/2010/main" val="3890517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>
                <a:ea typeface="ＭＳ Ｐゴシック" pitchFamily="34" charset="-128"/>
              </a:rPr>
              <a:t>IP addresses: how to get one?</a:t>
            </a:r>
            <a:endParaRPr lang="en-US" altLang="en-US">
              <a:ea typeface="ＭＳ Ｐゴシック" pitchFamily="34" charset="-128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996696" y="2054352"/>
            <a:ext cx="9628632" cy="499567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Q:</a:t>
            </a:r>
            <a:r>
              <a:rPr lang="en-US" altLang="en-US" dirty="0">
                <a:ea typeface="ＭＳ Ｐゴシック" panose="020B0600070205080204" pitchFamily="34" charset="-128"/>
              </a:rPr>
              <a:t> How does a </a:t>
            </a:r>
            <a:r>
              <a:rPr lang="en-US" altLang="en-US" i="1" dirty="0">
                <a:ea typeface="ＭＳ Ｐゴシック" panose="020B0600070205080204" pitchFamily="34" charset="-128"/>
              </a:rPr>
              <a:t>host</a:t>
            </a:r>
            <a:r>
              <a:rPr lang="en-US" altLang="en-US" dirty="0">
                <a:ea typeface="ＭＳ Ｐゴシック" panose="020B0600070205080204" pitchFamily="34" charset="-128"/>
              </a:rPr>
              <a:t> get IP address?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hard-coded by system admin in a file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Windows: control-panel-&gt;network-&gt;configuration-&gt;</a:t>
            </a:r>
            <a:r>
              <a:rPr lang="en-US" altLang="en-US" dirty="0" err="1">
                <a:ea typeface="ＭＳ Ｐゴシック" panose="020B0600070205080204" pitchFamily="34" charset="-128"/>
              </a:rPr>
              <a:t>tcp</a:t>
            </a:r>
            <a:r>
              <a:rPr lang="en-US" altLang="en-US" dirty="0">
                <a:ea typeface="ＭＳ Ｐゴシック" panose="020B0600070205080204" pitchFamily="34" charset="-128"/>
              </a:rPr>
              <a:t>/</a:t>
            </a:r>
            <a:r>
              <a:rPr lang="en-US" altLang="en-US" dirty="0" err="1">
                <a:ea typeface="ＭＳ Ｐゴシック" panose="020B0600070205080204" pitchFamily="34" charset="-128"/>
              </a:rPr>
              <a:t>ip</a:t>
            </a:r>
            <a:r>
              <a:rPr lang="en-US" altLang="en-US" dirty="0">
                <a:ea typeface="ＭＳ Ｐゴシック" panose="020B0600070205080204" pitchFamily="34" charset="-128"/>
              </a:rPr>
              <a:t>-&gt;properties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UNIX: /</a:t>
            </a:r>
            <a:r>
              <a:rPr lang="en-US" altLang="en-US" dirty="0" err="1">
                <a:ea typeface="ＭＳ Ｐゴシック" panose="020B0600070205080204" pitchFamily="34" charset="-128"/>
              </a:rPr>
              <a:t>etc</a:t>
            </a:r>
            <a:r>
              <a:rPr lang="en-US" altLang="en-US" dirty="0">
                <a:ea typeface="ＭＳ Ｐゴシック" panose="020B0600070205080204" pitchFamily="34" charset="-128"/>
              </a:rPr>
              <a:t>/</a:t>
            </a:r>
            <a:r>
              <a:rPr lang="en-US" altLang="en-US" dirty="0" err="1">
                <a:ea typeface="ＭＳ Ｐゴシック" panose="020B0600070205080204" pitchFamily="34" charset="-128"/>
              </a:rPr>
              <a:t>rc.config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DHCP: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D</a:t>
            </a:r>
            <a:r>
              <a:rPr lang="en-US" altLang="en-US" dirty="0">
                <a:ea typeface="ＭＳ Ｐゴシック" panose="020B0600070205080204" pitchFamily="34" charset="-128"/>
              </a:rPr>
              <a:t>ynamic </a:t>
            </a: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H</a:t>
            </a:r>
            <a:r>
              <a:rPr lang="en-US" altLang="en-US" dirty="0">
                <a:ea typeface="ＭＳ Ｐゴシック" panose="020B0600070205080204" pitchFamily="34" charset="-128"/>
              </a:rPr>
              <a:t>ost </a:t>
            </a: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C</a:t>
            </a:r>
            <a:r>
              <a:rPr lang="en-US" altLang="en-US" dirty="0">
                <a:ea typeface="ＭＳ Ｐゴシック" panose="020B0600070205080204" pitchFamily="34" charset="-128"/>
              </a:rPr>
              <a:t>onfiguration </a:t>
            </a: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P</a:t>
            </a:r>
            <a:r>
              <a:rPr lang="en-US" altLang="en-US" dirty="0">
                <a:ea typeface="ＭＳ Ｐゴシック" panose="020B0600070205080204" pitchFamily="34" charset="-128"/>
              </a:rPr>
              <a:t>rotocol: dynamically get address from a server</a:t>
            </a:r>
          </a:p>
          <a:p>
            <a:pPr lvl="1"/>
            <a:r>
              <a:rPr lang="ja-JP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plug-and-play</a:t>
            </a:r>
            <a:r>
              <a:rPr lang="ja-JP" altLang="en-US" dirty="0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42542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>
          <a:xfrm>
            <a:off x="1701800" y="268288"/>
            <a:ext cx="8826500" cy="1143000"/>
          </a:xfrm>
        </p:spPr>
        <p:txBody>
          <a:bodyPr/>
          <a:lstStyle/>
          <a:p>
            <a:pPr>
              <a:defRPr/>
            </a:pPr>
            <a:r>
              <a:rPr lang="en-US" sz="3600"/>
              <a:t>DHCP: </a:t>
            </a:r>
            <a:r>
              <a:rPr lang="en-US" sz="3400"/>
              <a:t>Dynamic Host Configuration Protocol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816865" y="1825752"/>
            <a:ext cx="10896599" cy="4282440"/>
          </a:xfrm>
        </p:spPr>
        <p:txBody>
          <a:bodyPr>
            <a:normAutofit fontScale="92500"/>
          </a:bodyPr>
          <a:lstStyle/>
          <a:p>
            <a:pPr>
              <a:lnSpc>
                <a:spcPct val="114000"/>
              </a:lnSpc>
              <a:buFont typeface="Wingdings" panose="05000000000000000000" pitchFamily="2" charset="2"/>
              <a:buNone/>
            </a:pPr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goal:</a:t>
            </a:r>
            <a:r>
              <a:rPr lang="en-US" altLang="en-US" dirty="0">
                <a:ea typeface="ＭＳ Ｐゴシック" panose="020B0600070205080204" pitchFamily="34" charset="-128"/>
              </a:rPr>
              <a:t> allow host to </a:t>
            </a:r>
            <a:r>
              <a:rPr lang="en-US" altLang="en-US" i="1" dirty="0">
                <a:ea typeface="ＭＳ Ｐゴシック" panose="020B0600070205080204" pitchFamily="34" charset="-128"/>
              </a:rPr>
              <a:t>dynamically </a:t>
            </a:r>
            <a:r>
              <a:rPr lang="en-US" altLang="en-US" dirty="0">
                <a:ea typeface="ＭＳ Ｐゴシック" panose="020B0600070205080204" pitchFamily="34" charset="-128"/>
              </a:rPr>
              <a:t>obtain its IP address from network server when it joins network</a:t>
            </a:r>
          </a:p>
          <a:p>
            <a:pPr lvl="1">
              <a:lnSpc>
                <a:spcPct val="114000"/>
              </a:lnSpc>
            </a:pPr>
            <a:r>
              <a:rPr lang="en-US" altLang="en-US" dirty="0" smtClean="0">
                <a:ea typeface="ＭＳ Ｐゴシック" panose="020B0600070205080204" pitchFamily="34" charset="-128"/>
              </a:rPr>
              <a:t>can renew its lease on address in use</a:t>
            </a:r>
          </a:p>
          <a:p>
            <a:pPr lvl="1">
              <a:lnSpc>
                <a:spcPct val="114000"/>
              </a:lnSpc>
            </a:pPr>
            <a:r>
              <a:rPr lang="en-US" altLang="en-US" dirty="0" smtClean="0">
                <a:ea typeface="ＭＳ Ｐゴシック" panose="020B0600070205080204" pitchFamily="34" charset="-128"/>
              </a:rPr>
              <a:t>allows reuse of addresses (only hold address while connected/</a:t>
            </a:r>
            <a:r>
              <a:rPr lang="ja-JP" altLang="en-US" dirty="0" smtClean="0">
                <a:ea typeface="ＭＳ Ｐゴシック" panose="020B0600070205080204" pitchFamily="34" charset="-128"/>
              </a:rPr>
              <a:t>“</a:t>
            </a:r>
            <a:r>
              <a:rPr lang="en-US" altLang="ja-JP" dirty="0" smtClean="0">
                <a:ea typeface="ＭＳ Ｐゴシック" panose="020B0600070205080204" pitchFamily="34" charset="-128"/>
              </a:rPr>
              <a:t>on</a:t>
            </a:r>
            <a:r>
              <a:rPr lang="ja-JP" altLang="en-US" dirty="0" smtClean="0">
                <a:ea typeface="ＭＳ Ｐゴシック" panose="020B0600070205080204" pitchFamily="34" charset="-128"/>
              </a:rPr>
              <a:t>”</a:t>
            </a:r>
            <a:r>
              <a:rPr lang="en-US" altLang="ja-JP" dirty="0" smtClean="0">
                <a:ea typeface="ＭＳ Ｐゴシック" panose="020B0600070205080204" pitchFamily="34" charset="-128"/>
              </a:rPr>
              <a:t>)</a:t>
            </a:r>
          </a:p>
          <a:p>
            <a:pPr lvl="1">
              <a:lnSpc>
                <a:spcPct val="114000"/>
              </a:lnSpc>
            </a:pPr>
            <a:r>
              <a:rPr lang="en-US" altLang="en-US" dirty="0" smtClean="0">
                <a:ea typeface="ＭＳ Ｐゴシック" panose="020B0600070205080204" pitchFamily="34" charset="-128"/>
              </a:rPr>
              <a:t>support for mobile users who want to join network (more shortly)</a:t>
            </a:r>
          </a:p>
          <a:p>
            <a:pPr>
              <a:lnSpc>
                <a:spcPct val="114000"/>
              </a:lnSpc>
              <a:buFont typeface="Wingdings" panose="05000000000000000000" pitchFamily="2" charset="2"/>
              <a:buNone/>
            </a:pPr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DHCP overview:</a:t>
            </a:r>
          </a:p>
          <a:p>
            <a:pPr lvl="1">
              <a:lnSpc>
                <a:spcPct val="114000"/>
              </a:lnSpc>
            </a:pPr>
            <a:r>
              <a:rPr lang="en-US" altLang="en-US" dirty="0" smtClean="0">
                <a:ea typeface="ＭＳ Ｐゴシック" panose="020B0600070205080204" pitchFamily="34" charset="-128"/>
              </a:rPr>
              <a:t>host broadcasts </a:t>
            </a:r>
            <a:r>
              <a:rPr lang="ja-JP" altLang="en-US" dirty="0" smtClean="0">
                <a:solidFill>
                  <a:srgbClr val="CC0000"/>
                </a:solidFill>
                <a:ea typeface="ＭＳ Ｐゴシック" panose="020B0600070205080204" pitchFamily="34" charset="-128"/>
              </a:rPr>
              <a:t>“</a:t>
            </a:r>
            <a:r>
              <a:rPr lang="en-US" altLang="ja-JP" dirty="0" smtClean="0">
                <a:solidFill>
                  <a:srgbClr val="CC0000"/>
                </a:solidFill>
                <a:ea typeface="ＭＳ Ｐゴシック" panose="020B0600070205080204" pitchFamily="34" charset="-128"/>
              </a:rPr>
              <a:t>DHCP discover</a:t>
            </a:r>
            <a:r>
              <a:rPr lang="ja-JP" altLang="en-US" dirty="0" smtClean="0">
                <a:solidFill>
                  <a:srgbClr val="CC0000"/>
                </a:solidFill>
                <a:ea typeface="ＭＳ Ｐゴシック" panose="020B0600070205080204" pitchFamily="34" charset="-128"/>
              </a:rPr>
              <a:t>”</a:t>
            </a:r>
            <a:r>
              <a:rPr lang="en-US" altLang="ja-JP" dirty="0" smtClean="0">
                <a:ea typeface="ＭＳ Ｐゴシック" panose="020B0600070205080204" pitchFamily="34" charset="-128"/>
              </a:rPr>
              <a:t> </a:t>
            </a:r>
            <a:r>
              <a:rPr lang="en-US" altLang="ja-JP" dirty="0" err="1" smtClean="0">
                <a:ea typeface="ＭＳ Ｐゴシック" panose="020B0600070205080204" pitchFamily="34" charset="-128"/>
              </a:rPr>
              <a:t>msg</a:t>
            </a:r>
            <a:r>
              <a:rPr lang="en-US" altLang="ja-JP" dirty="0" smtClean="0">
                <a:ea typeface="ＭＳ Ｐゴシック" panose="020B0600070205080204" pitchFamily="34" charset="-128"/>
              </a:rPr>
              <a:t> [optional]</a:t>
            </a:r>
          </a:p>
          <a:p>
            <a:pPr lvl="1">
              <a:lnSpc>
                <a:spcPct val="114000"/>
              </a:lnSpc>
            </a:pPr>
            <a:r>
              <a:rPr lang="en-US" altLang="en-US" dirty="0" smtClean="0">
                <a:ea typeface="ＭＳ Ｐゴシック" panose="020B0600070205080204" pitchFamily="34" charset="-128"/>
              </a:rPr>
              <a:t>DHCP server responds with </a:t>
            </a:r>
            <a:r>
              <a:rPr lang="ja-JP" altLang="en-US" dirty="0" smtClean="0">
                <a:solidFill>
                  <a:srgbClr val="CC0000"/>
                </a:solidFill>
                <a:ea typeface="ＭＳ Ｐゴシック" panose="020B0600070205080204" pitchFamily="34" charset="-128"/>
              </a:rPr>
              <a:t>“</a:t>
            </a:r>
            <a:r>
              <a:rPr lang="en-US" altLang="ja-JP" dirty="0" smtClean="0">
                <a:solidFill>
                  <a:srgbClr val="CC0000"/>
                </a:solidFill>
                <a:ea typeface="ＭＳ Ｐゴシック" panose="020B0600070205080204" pitchFamily="34" charset="-128"/>
              </a:rPr>
              <a:t>DHCP offer</a:t>
            </a:r>
            <a:r>
              <a:rPr lang="ja-JP" altLang="en-US" dirty="0" smtClean="0">
                <a:solidFill>
                  <a:srgbClr val="CC0000"/>
                </a:solidFill>
                <a:ea typeface="ＭＳ Ｐゴシック" panose="020B0600070205080204" pitchFamily="34" charset="-128"/>
              </a:rPr>
              <a:t>”</a:t>
            </a:r>
            <a:r>
              <a:rPr lang="en-US" altLang="ja-JP" dirty="0" smtClean="0">
                <a:ea typeface="ＭＳ Ｐゴシック" panose="020B0600070205080204" pitchFamily="34" charset="-128"/>
              </a:rPr>
              <a:t> </a:t>
            </a:r>
            <a:r>
              <a:rPr lang="en-US" altLang="ja-JP" dirty="0" err="1" smtClean="0">
                <a:ea typeface="ＭＳ Ｐゴシック" panose="020B0600070205080204" pitchFamily="34" charset="-128"/>
              </a:rPr>
              <a:t>msg</a:t>
            </a:r>
            <a:r>
              <a:rPr lang="en-US" altLang="ja-JP" dirty="0" smtClean="0">
                <a:ea typeface="ＭＳ Ｐゴシック" panose="020B0600070205080204" pitchFamily="34" charset="-128"/>
              </a:rPr>
              <a:t> [optional]</a:t>
            </a:r>
          </a:p>
          <a:p>
            <a:pPr lvl="1">
              <a:lnSpc>
                <a:spcPct val="114000"/>
              </a:lnSpc>
            </a:pPr>
            <a:r>
              <a:rPr lang="en-US" altLang="en-US" dirty="0" smtClean="0">
                <a:ea typeface="ＭＳ Ｐゴシック" panose="020B0600070205080204" pitchFamily="34" charset="-128"/>
              </a:rPr>
              <a:t>host requests IP address: </a:t>
            </a:r>
            <a:r>
              <a:rPr lang="ja-JP" altLang="en-US" dirty="0" smtClean="0">
                <a:solidFill>
                  <a:srgbClr val="CC0000"/>
                </a:solidFill>
                <a:ea typeface="ＭＳ Ｐゴシック" panose="020B0600070205080204" pitchFamily="34" charset="-128"/>
              </a:rPr>
              <a:t>“</a:t>
            </a:r>
            <a:r>
              <a:rPr lang="en-US" altLang="ja-JP" dirty="0" smtClean="0">
                <a:solidFill>
                  <a:srgbClr val="CC0000"/>
                </a:solidFill>
                <a:ea typeface="ＭＳ Ｐゴシック" panose="020B0600070205080204" pitchFamily="34" charset="-128"/>
              </a:rPr>
              <a:t>DHCP request</a:t>
            </a:r>
            <a:r>
              <a:rPr lang="ja-JP" altLang="en-US" dirty="0" smtClean="0">
                <a:solidFill>
                  <a:srgbClr val="CC0000"/>
                </a:solidFill>
                <a:ea typeface="ＭＳ Ｐゴシック" panose="020B0600070205080204" pitchFamily="34" charset="-128"/>
              </a:rPr>
              <a:t>”</a:t>
            </a:r>
            <a:r>
              <a:rPr lang="en-US" altLang="ja-JP" dirty="0" smtClean="0">
                <a:ea typeface="ＭＳ Ｐゴシック" panose="020B0600070205080204" pitchFamily="34" charset="-128"/>
              </a:rPr>
              <a:t> </a:t>
            </a:r>
            <a:r>
              <a:rPr lang="en-US" altLang="ja-JP" dirty="0" err="1" smtClean="0">
                <a:ea typeface="ＭＳ Ｐゴシック" panose="020B0600070205080204" pitchFamily="34" charset="-128"/>
              </a:rPr>
              <a:t>msg</a:t>
            </a:r>
            <a:endParaRPr lang="en-US" altLang="ja-JP" dirty="0" smtClean="0">
              <a:ea typeface="ＭＳ Ｐゴシック" panose="020B0600070205080204" pitchFamily="34" charset="-128"/>
            </a:endParaRPr>
          </a:p>
          <a:p>
            <a:pPr lvl="1">
              <a:lnSpc>
                <a:spcPct val="114000"/>
              </a:lnSpc>
            </a:pPr>
            <a:r>
              <a:rPr lang="en-US" altLang="en-US" dirty="0" smtClean="0">
                <a:ea typeface="ＭＳ Ｐゴシック" panose="020B0600070205080204" pitchFamily="34" charset="-128"/>
              </a:rPr>
              <a:t>DHCP server sends address: </a:t>
            </a:r>
            <a:r>
              <a:rPr lang="ja-JP" altLang="en-US" dirty="0" smtClean="0">
                <a:solidFill>
                  <a:srgbClr val="CC0000"/>
                </a:solidFill>
                <a:ea typeface="ＭＳ Ｐゴシック" panose="020B0600070205080204" pitchFamily="34" charset="-128"/>
              </a:rPr>
              <a:t>“</a:t>
            </a:r>
            <a:r>
              <a:rPr lang="en-US" altLang="ja-JP" dirty="0" smtClean="0">
                <a:solidFill>
                  <a:srgbClr val="CC0000"/>
                </a:solidFill>
                <a:ea typeface="ＭＳ Ｐゴシック" panose="020B0600070205080204" pitchFamily="34" charset="-128"/>
              </a:rPr>
              <a:t>DHCP </a:t>
            </a:r>
            <a:r>
              <a:rPr lang="en-US" altLang="ja-JP" dirty="0" err="1" smtClean="0">
                <a:solidFill>
                  <a:srgbClr val="CC0000"/>
                </a:solidFill>
                <a:ea typeface="ＭＳ Ｐゴシック" panose="020B0600070205080204" pitchFamily="34" charset="-128"/>
              </a:rPr>
              <a:t>ack</a:t>
            </a:r>
            <a:r>
              <a:rPr lang="ja-JP" altLang="en-US" dirty="0" smtClean="0">
                <a:solidFill>
                  <a:srgbClr val="CC0000"/>
                </a:solidFill>
                <a:ea typeface="ＭＳ Ｐゴシック" panose="020B0600070205080204" pitchFamily="34" charset="-128"/>
              </a:rPr>
              <a:t>”</a:t>
            </a:r>
            <a:r>
              <a:rPr lang="en-US" altLang="ja-JP" dirty="0" smtClean="0">
                <a:ea typeface="ＭＳ Ｐゴシック" panose="020B0600070205080204" pitchFamily="34" charset="-128"/>
              </a:rPr>
              <a:t> </a:t>
            </a:r>
            <a:r>
              <a:rPr lang="en-US" altLang="ja-JP" dirty="0" err="1" smtClean="0">
                <a:ea typeface="ＭＳ Ｐゴシック" panose="020B0600070205080204" pitchFamily="34" charset="-128"/>
              </a:rPr>
              <a:t>msg</a:t>
            </a:r>
            <a:r>
              <a:rPr lang="en-US" altLang="ja-JP" dirty="0" smtClean="0">
                <a:ea typeface="ＭＳ Ｐゴシック" panose="020B0600070205080204" pitchFamily="34" charset="-128"/>
              </a:rPr>
              <a:t> </a:t>
            </a:r>
          </a:p>
          <a:p>
            <a:pPr>
              <a:lnSpc>
                <a:spcPct val="114000"/>
              </a:lnSpc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07876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>
          <a:xfrm>
            <a:off x="1962151" y="255589"/>
            <a:ext cx="6824663" cy="898525"/>
          </a:xfrm>
        </p:spPr>
        <p:txBody>
          <a:bodyPr/>
          <a:lstStyle/>
          <a:p>
            <a:pPr>
              <a:defRPr/>
            </a:pPr>
            <a:r>
              <a:rPr lang="en-US" sz="4000"/>
              <a:t>DHCP client-server scenario</a:t>
            </a: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3932238" y="6037264"/>
            <a:ext cx="4978400" cy="3190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8436" name="Rectangle 63"/>
          <p:cNvSpPr>
            <a:spLocks noChangeArrowheads="1"/>
          </p:cNvSpPr>
          <p:nvPr/>
        </p:nvSpPr>
        <p:spPr bwMode="auto">
          <a:xfrm>
            <a:off x="7734300" y="6770688"/>
            <a:ext cx="8656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7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 </a:t>
            </a:r>
            <a:endParaRPr lang="en-US" altLang="en-US" sz="1800">
              <a:latin typeface="Comic Sans MS" panose="030F0702030302020204" pitchFamily="66" charset="0"/>
              <a:ea typeface="ＭＳ Ｐゴシック" panose="020B0600070205080204" pitchFamily="34" charset="-128"/>
            </a:endParaRPr>
          </a:p>
        </p:txBody>
      </p:sp>
      <p:sp>
        <p:nvSpPr>
          <p:cNvPr id="18437" name="Text Box 97"/>
          <p:cNvSpPr txBox="1">
            <a:spLocks noChangeArrowheads="1"/>
          </p:cNvSpPr>
          <p:nvPr/>
        </p:nvSpPr>
        <p:spPr bwMode="auto">
          <a:xfrm>
            <a:off x="2393950" y="1903413"/>
            <a:ext cx="1314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 b="1" i="1">
                <a:latin typeface="Arial" panose="020B0604020202020204" pitchFamily="34" charset="0"/>
                <a:ea typeface="ＭＳ Ｐゴシック" panose="020B0600070205080204" pitchFamily="34" charset="-128"/>
              </a:rPr>
              <a:t>223.1.1.0/24</a:t>
            </a:r>
          </a:p>
        </p:txBody>
      </p:sp>
      <p:sp>
        <p:nvSpPr>
          <p:cNvPr id="18438" name="Text Box 98"/>
          <p:cNvSpPr txBox="1">
            <a:spLocks noChangeArrowheads="1"/>
          </p:cNvSpPr>
          <p:nvPr/>
        </p:nvSpPr>
        <p:spPr bwMode="auto">
          <a:xfrm>
            <a:off x="5872163" y="4398963"/>
            <a:ext cx="1314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 b="1" i="1">
                <a:latin typeface="Arial" panose="020B0604020202020204" pitchFamily="34" charset="0"/>
                <a:ea typeface="ＭＳ Ｐゴシック" panose="020B0600070205080204" pitchFamily="34" charset="-128"/>
              </a:rPr>
              <a:t>223.1.2.0/24</a:t>
            </a:r>
          </a:p>
        </p:txBody>
      </p:sp>
      <p:sp>
        <p:nvSpPr>
          <p:cNvPr id="18439" name="Text Box 99"/>
          <p:cNvSpPr txBox="1">
            <a:spLocks noChangeArrowheads="1"/>
          </p:cNvSpPr>
          <p:nvPr/>
        </p:nvSpPr>
        <p:spPr bwMode="auto">
          <a:xfrm>
            <a:off x="4175125" y="5992813"/>
            <a:ext cx="1314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 b="1" i="1">
                <a:latin typeface="Arial" panose="020B0604020202020204" pitchFamily="34" charset="0"/>
                <a:ea typeface="ＭＳ Ｐゴシック" panose="020B0600070205080204" pitchFamily="34" charset="-128"/>
              </a:rPr>
              <a:t>223.1.3.0/24</a:t>
            </a:r>
          </a:p>
        </p:txBody>
      </p:sp>
      <p:sp>
        <p:nvSpPr>
          <p:cNvPr id="18440" name="Rectangle 100"/>
          <p:cNvSpPr>
            <a:spLocks noChangeArrowheads="1"/>
          </p:cNvSpPr>
          <p:nvPr/>
        </p:nvSpPr>
        <p:spPr bwMode="auto">
          <a:xfrm>
            <a:off x="3187701" y="4233864"/>
            <a:ext cx="847725" cy="180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8441" name="Freeform 101"/>
          <p:cNvSpPr>
            <a:spLocks/>
          </p:cNvSpPr>
          <p:nvPr/>
        </p:nvSpPr>
        <p:spPr bwMode="auto">
          <a:xfrm>
            <a:off x="2600326" y="2173288"/>
            <a:ext cx="1941513" cy="2049462"/>
          </a:xfrm>
          <a:custGeom>
            <a:avLst/>
            <a:gdLst>
              <a:gd name="T0" fmla="*/ 2147483647 w 1223"/>
              <a:gd name="T1" fmla="*/ 2147483647 h 1291"/>
              <a:gd name="T2" fmla="*/ 2147483647 w 1223"/>
              <a:gd name="T3" fmla="*/ 2147483647 h 1291"/>
              <a:gd name="T4" fmla="*/ 2147483647 w 1223"/>
              <a:gd name="T5" fmla="*/ 2147483647 h 1291"/>
              <a:gd name="T6" fmla="*/ 2147483647 w 1223"/>
              <a:gd name="T7" fmla="*/ 2147483647 h 1291"/>
              <a:gd name="T8" fmla="*/ 2147483647 w 1223"/>
              <a:gd name="T9" fmla="*/ 2147483647 h 1291"/>
              <a:gd name="T10" fmla="*/ 2147483647 w 1223"/>
              <a:gd name="T11" fmla="*/ 2147483647 h 1291"/>
              <a:gd name="T12" fmla="*/ 2147483647 w 1223"/>
              <a:gd name="T13" fmla="*/ 2147483647 h 1291"/>
              <a:gd name="T14" fmla="*/ 2147483647 w 1223"/>
              <a:gd name="T15" fmla="*/ 2147483647 h 1291"/>
              <a:gd name="T16" fmla="*/ 2147483647 w 1223"/>
              <a:gd name="T17" fmla="*/ 2147483647 h 1291"/>
              <a:gd name="T18" fmla="*/ 2147483647 w 1223"/>
              <a:gd name="T19" fmla="*/ 2147483647 h 1291"/>
              <a:gd name="T20" fmla="*/ 2147483647 w 1223"/>
              <a:gd name="T21" fmla="*/ 2147483647 h 1291"/>
              <a:gd name="T22" fmla="*/ 2147483647 w 1223"/>
              <a:gd name="T23" fmla="*/ 2147483647 h 1291"/>
              <a:gd name="T24" fmla="*/ 2147483647 w 1223"/>
              <a:gd name="T25" fmla="*/ 2147483647 h 1291"/>
              <a:gd name="T26" fmla="*/ 2147483647 w 1223"/>
              <a:gd name="T27" fmla="*/ 2147483647 h 129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223"/>
              <a:gd name="T43" fmla="*/ 0 h 1291"/>
              <a:gd name="T44" fmla="*/ 1223 w 1223"/>
              <a:gd name="T45" fmla="*/ 1291 h 129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2" name="Freeform 102"/>
          <p:cNvSpPr>
            <a:spLocks/>
          </p:cNvSpPr>
          <p:nvPr/>
        </p:nvSpPr>
        <p:spPr bwMode="auto">
          <a:xfrm>
            <a:off x="5127625" y="2482851"/>
            <a:ext cx="1906588" cy="1958975"/>
          </a:xfrm>
          <a:custGeom>
            <a:avLst/>
            <a:gdLst>
              <a:gd name="T0" fmla="*/ 2147483647 w 1201"/>
              <a:gd name="T1" fmla="*/ 2147483647 h 1234"/>
              <a:gd name="T2" fmla="*/ 2147483647 w 1201"/>
              <a:gd name="T3" fmla="*/ 2147483647 h 1234"/>
              <a:gd name="T4" fmla="*/ 2147483647 w 1201"/>
              <a:gd name="T5" fmla="*/ 2147483647 h 1234"/>
              <a:gd name="T6" fmla="*/ 2147483647 w 1201"/>
              <a:gd name="T7" fmla="*/ 2147483647 h 1234"/>
              <a:gd name="T8" fmla="*/ 2147483647 w 1201"/>
              <a:gd name="T9" fmla="*/ 2147483647 h 1234"/>
              <a:gd name="T10" fmla="*/ 2147483647 w 1201"/>
              <a:gd name="T11" fmla="*/ 2147483647 h 1234"/>
              <a:gd name="T12" fmla="*/ 2147483647 w 1201"/>
              <a:gd name="T13" fmla="*/ 2147483647 h 1234"/>
              <a:gd name="T14" fmla="*/ 2147483647 w 1201"/>
              <a:gd name="T15" fmla="*/ 2147483647 h 1234"/>
              <a:gd name="T16" fmla="*/ 2147483647 w 1201"/>
              <a:gd name="T17" fmla="*/ 2147483647 h 1234"/>
              <a:gd name="T18" fmla="*/ 2147483647 w 1201"/>
              <a:gd name="T19" fmla="*/ 2147483647 h 1234"/>
              <a:gd name="T20" fmla="*/ 2147483647 w 1201"/>
              <a:gd name="T21" fmla="*/ 2147483647 h 1234"/>
              <a:gd name="T22" fmla="*/ 2147483647 w 1201"/>
              <a:gd name="T23" fmla="*/ 2147483647 h 1234"/>
              <a:gd name="T24" fmla="*/ 2147483647 w 1201"/>
              <a:gd name="T25" fmla="*/ 2147483647 h 1234"/>
              <a:gd name="T26" fmla="*/ 2147483647 w 1201"/>
              <a:gd name="T27" fmla="*/ 2147483647 h 123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201"/>
              <a:gd name="T43" fmla="*/ 0 h 1234"/>
              <a:gd name="T44" fmla="*/ 1201 w 1201"/>
              <a:gd name="T45" fmla="*/ 1234 h 1234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201" h="1234">
                <a:moveTo>
                  <a:pt x="25" y="709"/>
                </a:moveTo>
                <a:cubicBezTo>
                  <a:pt x="49" y="824"/>
                  <a:pt x="428" y="709"/>
                  <a:pt x="526" y="780"/>
                </a:cubicBezTo>
                <a:cubicBezTo>
                  <a:pt x="624" y="851"/>
                  <a:pt x="543" y="1059"/>
                  <a:pt x="613" y="1134"/>
                </a:cubicBezTo>
                <a:cubicBezTo>
                  <a:pt x="683" y="1209"/>
                  <a:pt x="853" y="1234"/>
                  <a:pt x="946" y="1230"/>
                </a:cubicBezTo>
                <a:cubicBezTo>
                  <a:pt x="1039" y="1226"/>
                  <a:pt x="1141" y="1163"/>
                  <a:pt x="1171" y="1107"/>
                </a:cubicBezTo>
                <a:cubicBezTo>
                  <a:pt x="1201" y="1051"/>
                  <a:pt x="1135" y="963"/>
                  <a:pt x="1126" y="894"/>
                </a:cubicBezTo>
                <a:cubicBezTo>
                  <a:pt x="1117" y="825"/>
                  <a:pt x="1119" y="772"/>
                  <a:pt x="1114" y="693"/>
                </a:cubicBezTo>
                <a:cubicBezTo>
                  <a:pt x="1109" y="614"/>
                  <a:pt x="1095" y="502"/>
                  <a:pt x="1099" y="423"/>
                </a:cubicBezTo>
                <a:cubicBezTo>
                  <a:pt x="1103" y="344"/>
                  <a:pt x="1141" y="281"/>
                  <a:pt x="1141" y="216"/>
                </a:cubicBezTo>
                <a:cubicBezTo>
                  <a:pt x="1141" y="151"/>
                  <a:pt x="1185" y="56"/>
                  <a:pt x="1102" y="33"/>
                </a:cubicBezTo>
                <a:cubicBezTo>
                  <a:pt x="1019" y="10"/>
                  <a:pt x="740" y="0"/>
                  <a:pt x="646" y="81"/>
                </a:cubicBezTo>
                <a:cubicBezTo>
                  <a:pt x="552" y="162"/>
                  <a:pt x="635" y="441"/>
                  <a:pt x="535" y="519"/>
                </a:cubicBezTo>
                <a:cubicBezTo>
                  <a:pt x="435" y="597"/>
                  <a:pt x="129" y="516"/>
                  <a:pt x="44" y="548"/>
                </a:cubicBezTo>
                <a:cubicBezTo>
                  <a:pt x="15" y="601"/>
                  <a:pt x="0" y="594"/>
                  <a:pt x="25" y="70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3" name="Freeform 103"/>
          <p:cNvSpPr>
            <a:spLocks/>
          </p:cNvSpPr>
          <p:nvPr/>
        </p:nvSpPr>
        <p:spPr bwMode="auto">
          <a:xfrm>
            <a:off x="3800476" y="3916363"/>
            <a:ext cx="2041525" cy="1979612"/>
          </a:xfrm>
          <a:custGeom>
            <a:avLst/>
            <a:gdLst>
              <a:gd name="T0" fmla="*/ 2147483647 w 1286"/>
              <a:gd name="T1" fmla="*/ 2147483647 h 1247"/>
              <a:gd name="T2" fmla="*/ 2147483647 w 1286"/>
              <a:gd name="T3" fmla="*/ 2147483647 h 1247"/>
              <a:gd name="T4" fmla="*/ 2147483647 w 1286"/>
              <a:gd name="T5" fmla="*/ 2147483647 h 1247"/>
              <a:gd name="T6" fmla="*/ 2147483647 w 1286"/>
              <a:gd name="T7" fmla="*/ 2147483647 h 1247"/>
              <a:gd name="T8" fmla="*/ 2147483647 w 1286"/>
              <a:gd name="T9" fmla="*/ 2147483647 h 1247"/>
              <a:gd name="T10" fmla="*/ 2147483647 w 1286"/>
              <a:gd name="T11" fmla="*/ 2147483647 h 1247"/>
              <a:gd name="T12" fmla="*/ 2147483647 w 1286"/>
              <a:gd name="T13" fmla="*/ 2147483647 h 1247"/>
              <a:gd name="T14" fmla="*/ 2147483647 w 1286"/>
              <a:gd name="T15" fmla="*/ 2147483647 h 1247"/>
              <a:gd name="T16" fmla="*/ 2147483647 w 1286"/>
              <a:gd name="T17" fmla="*/ 2147483647 h 1247"/>
              <a:gd name="T18" fmla="*/ 2147483647 w 1286"/>
              <a:gd name="T19" fmla="*/ 2147483647 h 1247"/>
              <a:gd name="T20" fmla="*/ 2147483647 w 1286"/>
              <a:gd name="T21" fmla="*/ 2147483647 h 1247"/>
              <a:gd name="T22" fmla="*/ 2147483647 w 1286"/>
              <a:gd name="T23" fmla="*/ 2147483647 h 1247"/>
              <a:gd name="T24" fmla="*/ 2147483647 w 1286"/>
              <a:gd name="T25" fmla="*/ 2147483647 h 1247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286"/>
              <a:gd name="T40" fmla="*/ 0 h 1247"/>
              <a:gd name="T41" fmla="*/ 1286 w 1286"/>
              <a:gd name="T42" fmla="*/ 1247 h 1247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286" h="1247">
                <a:moveTo>
                  <a:pt x="587" y="30"/>
                </a:moveTo>
                <a:cubicBezTo>
                  <a:pt x="473" y="60"/>
                  <a:pt x="601" y="475"/>
                  <a:pt x="509" y="618"/>
                </a:cubicBezTo>
                <a:cubicBezTo>
                  <a:pt x="424" y="765"/>
                  <a:pt x="154" y="830"/>
                  <a:pt x="77" y="909"/>
                </a:cubicBezTo>
                <a:cubicBezTo>
                  <a:pt x="0" y="988"/>
                  <a:pt x="37" y="1043"/>
                  <a:pt x="47" y="1095"/>
                </a:cubicBezTo>
                <a:cubicBezTo>
                  <a:pt x="57" y="1147"/>
                  <a:pt x="71" y="1205"/>
                  <a:pt x="140" y="1224"/>
                </a:cubicBezTo>
                <a:cubicBezTo>
                  <a:pt x="209" y="1243"/>
                  <a:pt x="369" y="1212"/>
                  <a:pt x="461" y="1209"/>
                </a:cubicBezTo>
                <a:cubicBezTo>
                  <a:pt x="553" y="1206"/>
                  <a:pt x="571" y="1206"/>
                  <a:pt x="692" y="1209"/>
                </a:cubicBezTo>
                <a:cubicBezTo>
                  <a:pt x="813" y="1212"/>
                  <a:pt x="1094" y="1247"/>
                  <a:pt x="1190" y="1227"/>
                </a:cubicBezTo>
                <a:cubicBezTo>
                  <a:pt x="1286" y="1207"/>
                  <a:pt x="1279" y="1170"/>
                  <a:pt x="1271" y="1089"/>
                </a:cubicBezTo>
                <a:cubicBezTo>
                  <a:pt x="1263" y="1008"/>
                  <a:pt x="1217" y="818"/>
                  <a:pt x="1139" y="741"/>
                </a:cubicBezTo>
                <a:cubicBezTo>
                  <a:pt x="1061" y="664"/>
                  <a:pt x="865" y="743"/>
                  <a:pt x="800" y="627"/>
                </a:cubicBezTo>
                <a:cubicBezTo>
                  <a:pt x="735" y="511"/>
                  <a:pt x="785" y="142"/>
                  <a:pt x="749" y="42"/>
                </a:cubicBezTo>
                <a:cubicBezTo>
                  <a:pt x="695" y="15"/>
                  <a:pt x="701" y="0"/>
                  <a:pt x="587" y="30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4" name="Line 104"/>
          <p:cNvSpPr>
            <a:spLocks noChangeShapeType="1"/>
          </p:cNvSpPr>
          <p:nvPr/>
        </p:nvSpPr>
        <p:spPr bwMode="auto">
          <a:xfrm>
            <a:off x="3149601" y="2695575"/>
            <a:ext cx="277813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5" name="Line 106"/>
          <p:cNvSpPr>
            <a:spLocks noChangeShapeType="1"/>
          </p:cNvSpPr>
          <p:nvPr/>
        </p:nvSpPr>
        <p:spPr bwMode="auto">
          <a:xfrm flipV="1">
            <a:off x="3198813" y="3416301"/>
            <a:ext cx="277812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6" name="Line 107"/>
          <p:cNvSpPr>
            <a:spLocks noChangeShapeType="1"/>
          </p:cNvSpPr>
          <p:nvPr/>
        </p:nvSpPr>
        <p:spPr bwMode="auto">
          <a:xfrm>
            <a:off x="3159125" y="3967164"/>
            <a:ext cx="273050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7" name="Line 108"/>
          <p:cNvSpPr>
            <a:spLocks noChangeShapeType="1"/>
          </p:cNvSpPr>
          <p:nvPr/>
        </p:nvSpPr>
        <p:spPr bwMode="auto">
          <a:xfrm flipV="1">
            <a:off x="4002089" y="3544889"/>
            <a:ext cx="561975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8" name="Text Box 109"/>
          <p:cNvSpPr txBox="1">
            <a:spLocks noChangeArrowheads="1"/>
          </p:cNvSpPr>
          <p:nvPr/>
        </p:nvSpPr>
        <p:spPr bwMode="auto">
          <a:xfrm>
            <a:off x="3197225" y="2370139"/>
            <a:ext cx="933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latin typeface="Arial" panose="020B0604020202020204" pitchFamily="34" charset="0"/>
                <a:ea typeface="ＭＳ Ｐゴシック" panose="020B0600070205080204" pitchFamily="34" charset="-128"/>
              </a:rPr>
              <a:t>223.1.1.1</a:t>
            </a:r>
            <a:endParaRPr lang="en-US" altLang="en-US" sz="1400">
              <a:latin typeface="Comic Sans MS" panose="030F0702030302020204" pitchFamily="66" charset="0"/>
              <a:ea typeface="ＭＳ Ｐゴシック" panose="020B0600070205080204" pitchFamily="34" charset="-128"/>
            </a:endParaRPr>
          </a:p>
        </p:txBody>
      </p:sp>
      <p:sp>
        <p:nvSpPr>
          <p:cNvPr id="18449" name="Text Box 111"/>
          <p:cNvSpPr txBox="1">
            <a:spLocks noChangeArrowheads="1"/>
          </p:cNvSpPr>
          <p:nvPr/>
        </p:nvSpPr>
        <p:spPr bwMode="auto">
          <a:xfrm>
            <a:off x="3082925" y="3995739"/>
            <a:ext cx="933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latin typeface="Arial" panose="020B0604020202020204" pitchFamily="34" charset="0"/>
                <a:ea typeface="ＭＳ Ｐゴシック" panose="020B0600070205080204" pitchFamily="34" charset="-128"/>
              </a:rPr>
              <a:t>223.1.1.3</a:t>
            </a:r>
            <a:endParaRPr lang="en-US" altLang="en-US" sz="1400">
              <a:latin typeface="Comic Sans MS" panose="030F0702030302020204" pitchFamily="66" charset="0"/>
              <a:ea typeface="ＭＳ Ｐゴシック" panose="020B0600070205080204" pitchFamily="34" charset="-128"/>
            </a:endParaRPr>
          </a:p>
        </p:txBody>
      </p:sp>
      <p:sp>
        <p:nvSpPr>
          <p:cNvPr id="18450" name="Text Box 112"/>
          <p:cNvSpPr txBox="1">
            <a:spLocks noChangeArrowheads="1"/>
          </p:cNvSpPr>
          <p:nvPr/>
        </p:nvSpPr>
        <p:spPr bwMode="auto">
          <a:xfrm>
            <a:off x="3829050" y="3235326"/>
            <a:ext cx="933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latin typeface="Arial" panose="020B0604020202020204" pitchFamily="34" charset="0"/>
                <a:ea typeface="ＭＳ Ｐゴシック" panose="020B0600070205080204" pitchFamily="34" charset="-128"/>
              </a:rPr>
              <a:t>223.1.1.4</a:t>
            </a:r>
            <a:endParaRPr lang="en-US" altLang="en-US" sz="1400">
              <a:latin typeface="Comic Sans MS" panose="030F0702030302020204" pitchFamily="66" charset="0"/>
              <a:ea typeface="ＭＳ Ｐゴシック" panose="020B0600070205080204" pitchFamily="34" charset="-128"/>
            </a:endParaRPr>
          </a:p>
        </p:txBody>
      </p:sp>
      <p:sp>
        <p:nvSpPr>
          <p:cNvPr id="18451" name="Line 113"/>
          <p:cNvSpPr>
            <a:spLocks noChangeShapeType="1"/>
          </p:cNvSpPr>
          <p:nvPr/>
        </p:nvSpPr>
        <p:spPr bwMode="auto">
          <a:xfrm flipV="1">
            <a:off x="5076825" y="3546475"/>
            <a:ext cx="533400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2" name="Text Box 114"/>
          <p:cNvSpPr txBox="1">
            <a:spLocks noChangeArrowheads="1"/>
          </p:cNvSpPr>
          <p:nvPr/>
        </p:nvSpPr>
        <p:spPr bwMode="auto">
          <a:xfrm>
            <a:off x="4949825" y="3236914"/>
            <a:ext cx="933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latin typeface="Arial" panose="020B0604020202020204" pitchFamily="34" charset="0"/>
                <a:ea typeface="ＭＳ Ｐゴシック" panose="020B0600070205080204" pitchFamily="34" charset="-128"/>
              </a:rPr>
              <a:t>223.1.2.9</a:t>
            </a:r>
            <a:endParaRPr lang="en-US" altLang="en-US" sz="1400">
              <a:latin typeface="Comic Sans MS" panose="030F0702030302020204" pitchFamily="66" charset="0"/>
              <a:ea typeface="ＭＳ Ｐゴシック" panose="020B0600070205080204" pitchFamily="34" charset="-128"/>
            </a:endParaRPr>
          </a:p>
        </p:txBody>
      </p:sp>
      <p:sp>
        <p:nvSpPr>
          <p:cNvPr id="18453" name="Line 116"/>
          <p:cNvSpPr>
            <a:spLocks noChangeShapeType="1"/>
          </p:cNvSpPr>
          <p:nvPr/>
        </p:nvSpPr>
        <p:spPr bwMode="auto">
          <a:xfrm>
            <a:off x="6269038" y="2857500"/>
            <a:ext cx="234950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4" name="Line 117"/>
          <p:cNvSpPr>
            <a:spLocks noChangeShapeType="1"/>
          </p:cNvSpPr>
          <p:nvPr/>
        </p:nvSpPr>
        <p:spPr bwMode="auto">
          <a:xfrm>
            <a:off x="6323013" y="4133850"/>
            <a:ext cx="234950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5" name="Line 120"/>
          <p:cNvSpPr>
            <a:spLocks noChangeShapeType="1"/>
          </p:cNvSpPr>
          <p:nvPr/>
        </p:nvSpPr>
        <p:spPr bwMode="auto">
          <a:xfrm flipH="1">
            <a:off x="4835526" y="3886201"/>
            <a:ext cx="3175" cy="7080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6" name="Line 122"/>
          <p:cNvSpPr>
            <a:spLocks noChangeShapeType="1"/>
          </p:cNvSpPr>
          <p:nvPr/>
        </p:nvSpPr>
        <p:spPr bwMode="auto">
          <a:xfrm flipH="1" flipV="1">
            <a:off x="4260851" y="5230813"/>
            <a:ext cx="3175" cy="2413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7" name="Line 123"/>
          <p:cNvSpPr>
            <a:spLocks noChangeShapeType="1"/>
          </p:cNvSpPr>
          <p:nvPr/>
        </p:nvSpPr>
        <p:spPr bwMode="auto">
          <a:xfrm flipH="1" flipV="1">
            <a:off x="5402264" y="5164138"/>
            <a:ext cx="3175" cy="2413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8" name="Text Box 124"/>
          <p:cNvSpPr txBox="1">
            <a:spLocks noChangeArrowheads="1"/>
          </p:cNvSpPr>
          <p:nvPr/>
        </p:nvSpPr>
        <p:spPr bwMode="auto">
          <a:xfrm>
            <a:off x="5373688" y="5041901"/>
            <a:ext cx="933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latin typeface="Arial" panose="020B0604020202020204" pitchFamily="34" charset="0"/>
                <a:ea typeface="ＭＳ Ｐゴシック" panose="020B0600070205080204" pitchFamily="34" charset="-128"/>
              </a:rPr>
              <a:t>223.1.3.2</a:t>
            </a:r>
            <a:endParaRPr lang="en-US" altLang="en-US" sz="1400">
              <a:latin typeface="Comic Sans MS" panose="030F0702030302020204" pitchFamily="66" charset="0"/>
              <a:ea typeface="ＭＳ Ｐゴシック" panose="020B0600070205080204" pitchFamily="34" charset="-128"/>
            </a:endParaRPr>
          </a:p>
        </p:txBody>
      </p:sp>
      <p:sp>
        <p:nvSpPr>
          <p:cNvPr id="18459" name="Text Box 127"/>
          <p:cNvSpPr txBox="1">
            <a:spLocks noChangeArrowheads="1"/>
          </p:cNvSpPr>
          <p:nvPr/>
        </p:nvSpPr>
        <p:spPr bwMode="auto">
          <a:xfrm>
            <a:off x="3225800" y="5053014"/>
            <a:ext cx="933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latin typeface="Arial" panose="020B0604020202020204" pitchFamily="34" charset="0"/>
                <a:ea typeface="ＭＳ Ｐゴシック" panose="020B0600070205080204" pitchFamily="34" charset="-128"/>
              </a:rPr>
              <a:t>223.1.3.1</a:t>
            </a:r>
            <a:endParaRPr lang="en-US" altLang="en-US" sz="1400">
              <a:latin typeface="Comic Sans MS" panose="030F0702030302020204" pitchFamily="66" charset="0"/>
              <a:ea typeface="ＭＳ Ｐゴシック" panose="020B0600070205080204" pitchFamily="34" charset="-128"/>
            </a:endParaRPr>
          </a:p>
        </p:txBody>
      </p:sp>
      <p:grpSp>
        <p:nvGrpSpPr>
          <p:cNvPr id="18460" name="Group 129"/>
          <p:cNvGrpSpPr>
            <a:grpSpLocks/>
          </p:cNvGrpSpPr>
          <p:nvPr/>
        </p:nvGrpSpPr>
        <p:grpSpPr bwMode="auto">
          <a:xfrm>
            <a:off x="2595563" y="2397125"/>
            <a:ext cx="641350" cy="558800"/>
            <a:chOff x="-44" y="1473"/>
            <a:chExt cx="981" cy="1105"/>
          </a:xfrm>
        </p:grpSpPr>
        <p:pic>
          <p:nvPicPr>
            <p:cNvPr id="18558" name="Picture 130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559" name="Freeform 13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8461" name="Group 132"/>
          <p:cNvGrpSpPr>
            <a:grpSpLocks/>
          </p:cNvGrpSpPr>
          <p:nvPr/>
        </p:nvGrpSpPr>
        <p:grpSpPr bwMode="auto">
          <a:xfrm>
            <a:off x="2590800" y="3006725"/>
            <a:ext cx="641350" cy="558800"/>
            <a:chOff x="-44" y="1473"/>
            <a:chExt cx="981" cy="1105"/>
          </a:xfrm>
        </p:grpSpPr>
        <p:pic>
          <p:nvPicPr>
            <p:cNvPr id="18556" name="Picture 133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557" name="Freeform 134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8462" name="Group 135"/>
          <p:cNvGrpSpPr>
            <a:grpSpLocks/>
          </p:cNvGrpSpPr>
          <p:nvPr/>
        </p:nvGrpSpPr>
        <p:grpSpPr bwMode="auto">
          <a:xfrm>
            <a:off x="2619375" y="3616325"/>
            <a:ext cx="641350" cy="558800"/>
            <a:chOff x="-44" y="1473"/>
            <a:chExt cx="981" cy="1105"/>
          </a:xfrm>
        </p:grpSpPr>
        <p:pic>
          <p:nvPicPr>
            <p:cNvPr id="18554" name="Picture 136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555" name="Freeform 137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8463" name="Group 138"/>
          <p:cNvGrpSpPr>
            <a:grpSpLocks/>
          </p:cNvGrpSpPr>
          <p:nvPr/>
        </p:nvGrpSpPr>
        <p:grpSpPr bwMode="auto">
          <a:xfrm flipH="1">
            <a:off x="6327775" y="2565400"/>
            <a:ext cx="641350" cy="558800"/>
            <a:chOff x="-44" y="1473"/>
            <a:chExt cx="981" cy="1105"/>
          </a:xfrm>
        </p:grpSpPr>
        <p:pic>
          <p:nvPicPr>
            <p:cNvPr id="18552" name="Picture 139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553" name="Freeform 140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8464" name="Group 141"/>
          <p:cNvGrpSpPr>
            <a:grpSpLocks/>
          </p:cNvGrpSpPr>
          <p:nvPr/>
        </p:nvGrpSpPr>
        <p:grpSpPr bwMode="auto">
          <a:xfrm flipH="1">
            <a:off x="6402388" y="3844925"/>
            <a:ext cx="641350" cy="558800"/>
            <a:chOff x="-44" y="1473"/>
            <a:chExt cx="981" cy="1105"/>
          </a:xfrm>
        </p:grpSpPr>
        <p:pic>
          <p:nvPicPr>
            <p:cNvPr id="18550" name="Picture 142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551" name="Freeform 143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8465" name="Group 144"/>
          <p:cNvGrpSpPr>
            <a:grpSpLocks/>
          </p:cNvGrpSpPr>
          <p:nvPr/>
        </p:nvGrpSpPr>
        <p:grpSpPr bwMode="auto">
          <a:xfrm flipH="1">
            <a:off x="5194300" y="5368925"/>
            <a:ext cx="641350" cy="558800"/>
            <a:chOff x="-44" y="1473"/>
            <a:chExt cx="981" cy="1105"/>
          </a:xfrm>
        </p:grpSpPr>
        <p:pic>
          <p:nvPicPr>
            <p:cNvPr id="18548" name="Picture 145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549" name="Freeform 1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8466" name="Group 147"/>
          <p:cNvGrpSpPr>
            <a:grpSpLocks/>
          </p:cNvGrpSpPr>
          <p:nvPr/>
        </p:nvGrpSpPr>
        <p:grpSpPr bwMode="auto">
          <a:xfrm flipH="1">
            <a:off x="4030663" y="5410200"/>
            <a:ext cx="641350" cy="558800"/>
            <a:chOff x="-44" y="1473"/>
            <a:chExt cx="981" cy="1105"/>
          </a:xfrm>
        </p:grpSpPr>
        <p:pic>
          <p:nvPicPr>
            <p:cNvPr id="18546" name="Picture 148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547" name="Freeform 14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8467" name="Group 150"/>
          <p:cNvGrpSpPr>
            <a:grpSpLocks/>
          </p:cNvGrpSpPr>
          <p:nvPr/>
        </p:nvGrpSpPr>
        <p:grpSpPr bwMode="auto">
          <a:xfrm>
            <a:off x="4459288" y="3503613"/>
            <a:ext cx="698500" cy="355600"/>
            <a:chOff x="4396" y="1245"/>
            <a:chExt cx="672" cy="248"/>
          </a:xfrm>
        </p:grpSpPr>
        <p:sp>
          <p:nvSpPr>
            <p:cNvPr id="18538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400"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539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400"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540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400"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18541" name="Group 154"/>
            <p:cNvGrpSpPr>
              <a:grpSpLocks/>
            </p:cNvGrpSpPr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8544" name="Freeform 155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5" name="Freeform 156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542" name="Line 157"/>
            <p:cNvSpPr>
              <a:spLocks noChangeShapeType="1"/>
            </p:cNvSpPr>
            <p:nvPr/>
          </p:nvSpPr>
          <p:spPr bwMode="auto">
            <a:xfrm>
              <a:off x="4399" y="1321"/>
              <a:ext cx="0" cy="10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3" name="Line 158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468" name="Rectangle 162"/>
          <p:cNvSpPr>
            <a:spLocks noChangeArrowheads="1"/>
          </p:cNvSpPr>
          <p:nvPr/>
        </p:nvSpPr>
        <p:spPr bwMode="auto">
          <a:xfrm>
            <a:off x="3313114" y="3119438"/>
            <a:ext cx="288925" cy="233362"/>
          </a:xfrm>
          <a:prstGeom prst="rect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4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8469" name="Text Box 110"/>
          <p:cNvSpPr txBox="1">
            <a:spLocks noChangeArrowheads="1"/>
          </p:cNvSpPr>
          <p:nvPr/>
        </p:nvSpPr>
        <p:spPr bwMode="auto">
          <a:xfrm>
            <a:off x="3148013" y="3025776"/>
            <a:ext cx="933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latin typeface="Arial" panose="020B0604020202020204" pitchFamily="34" charset="0"/>
                <a:ea typeface="ＭＳ Ｐゴシック" panose="020B0600070205080204" pitchFamily="34" charset="-128"/>
              </a:rPr>
              <a:t>223.1.1.2</a:t>
            </a:r>
            <a:endParaRPr lang="en-US" altLang="en-US" sz="1400">
              <a:latin typeface="Comic Sans MS" panose="030F0702030302020204" pitchFamily="66" charset="0"/>
              <a:ea typeface="ＭＳ Ｐゴシック" panose="020B0600070205080204" pitchFamily="34" charset="-128"/>
            </a:endParaRPr>
          </a:p>
        </p:txBody>
      </p:sp>
      <p:sp>
        <p:nvSpPr>
          <p:cNvPr id="18470" name="Rectangle 165"/>
          <p:cNvSpPr>
            <a:spLocks noChangeArrowheads="1"/>
          </p:cNvSpPr>
          <p:nvPr/>
        </p:nvSpPr>
        <p:spPr bwMode="auto">
          <a:xfrm>
            <a:off x="6054726" y="3829051"/>
            <a:ext cx="288925" cy="233363"/>
          </a:xfrm>
          <a:prstGeom prst="rect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4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8471" name="Rectangle 166"/>
          <p:cNvSpPr>
            <a:spLocks noChangeArrowheads="1"/>
          </p:cNvSpPr>
          <p:nvPr/>
        </p:nvSpPr>
        <p:spPr bwMode="auto">
          <a:xfrm>
            <a:off x="4702176" y="4014788"/>
            <a:ext cx="288925" cy="233362"/>
          </a:xfrm>
          <a:prstGeom prst="rect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4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8472" name="Text Box 128"/>
          <p:cNvSpPr txBox="1">
            <a:spLocks noChangeArrowheads="1"/>
          </p:cNvSpPr>
          <p:nvPr/>
        </p:nvSpPr>
        <p:spPr bwMode="auto">
          <a:xfrm>
            <a:off x="4325938" y="3976689"/>
            <a:ext cx="10334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latin typeface="Arial" panose="020B0604020202020204" pitchFamily="34" charset="0"/>
                <a:ea typeface="ＭＳ Ｐゴシック" panose="020B0600070205080204" pitchFamily="34" charset="-128"/>
              </a:rPr>
              <a:t>223.1.3.27</a:t>
            </a:r>
            <a:endParaRPr lang="en-US" altLang="en-US" sz="1400">
              <a:latin typeface="Comic Sans MS" panose="030F0702030302020204" pitchFamily="66" charset="0"/>
              <a:ea typeface="ＭＳ Ｐゴシック" panose="020B0600070205080204" pitchFamily="34" charset="-128"/>
            </a:endParaRPr>
          </a:p>
        </p:txBody>
      </p:sp>
      <p:sp>
        <p:nvSpPr>
          <p:cNvPr id="18473" name="Text Box 118"/>
          <p:cNvSpPr txBox="1">
            <a:spLocks noChangeArrowheads="1"/>
          </p:cNvSpPr>
          <p:nvPr/>
        </p:nvSpPr>
        <p:spPr bwMode="auto">
          <a:xfrm>
            <a:off x="5424488" y="3843339"/>
            <a:ext cx="933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latin typeface="Arial" panose="020B0604020202020204" pitchFamily="34" charset="0"/>
                <a:ea typeface="ＭＳ Ｐゴシック" panose="020B0600070205080204" pitchFamily="34" charset="-128"/>
              </a:rPr>
              <a:t>223.1.2.2</a:t>
            </a:r>
            <a:endParaRPr lang="en-US" altLang="en-US" sz="1400">
              <a:latin typeface="Comic Sans MS" panose="030F0702030302020204" pitchFamily="66" charset="0"/>
              <a:ea typeface="ＭＳ Ｐゴシック" panose="020B0600070205080204" pitchFamily="34" charset="-128"/>
            </a:endParaRPr>
          </a:p>
        </p:txBody>
      </p:sp>
      <p:sp>
        <p:nvSpPr>
          <p:cNvPr id="18474" name="Text Box 119"/>
          <p:cNvSpPr txBox="1">
            <a:spLocks noChangeArrowheads="1"/>
          </p:cNvSpPr>
          <p:nvPr/>
        </p:nvSpPr>
        <p:spPr bwMode="auto">
          <a:xfrm>
            <a:off x="6254750" y="2327276"/>
            <a:ext cx="933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latin typeface="Arial" panose="020B0604020202020204" pitchFamily="34" charset="0"/>
                <a:ea typeface="ＭＳ Ｐゴシック" panose="020B0600070205080204" pitchFamily="34" charset="-128"/>
              </a:rPr>
              <a:t>223.1.2.1</a:t>
            </a:r>
            <a:endParaRPr lang="en-US" altLang="en-US" sz="1400">
              <a:latin typeface="Comic Sans MS" panose="030F0702030302020204" pitchFamily="66" charset="0"/>
              <a:ea typeface="ＭＳ Ｐゴシック" panose="020B0600070205080204" pitchFamily="34" charset="-128"/>
            </a:endParaRPr>
          </a:p>
        </p:txBody>
      </p:sp>
      <p:sp>
        <p:nvSpPr>
          <p:cNvPr id="18475" name="Text Box 168"/>
          <p:cNvSpPr txBox="1">
            <a:spLocks noChangeArrowheads="1"/>
          </p:cNvSpPr>
          <p:nvPr/>
        </p:nvSpPr>
        <p:spPr bwMode="auto">
          <a:xfrm>
            <a:off x="4989513" y="1760538"/>
            <a:ext cx="906462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000" i="1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DHCP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000" i="1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server</a:t>
            </a:r>
          </a:p>
        </p:txBody>
      </p:sp>
      <p:sp>
        <p:nvSpPr>
          <p:cNvPr id="18476" name="Text Box 170"/>
          <p:cNvSpPr txBox="1">
            <a:spLocks noChangeArrowheads="1"/>
          </p:cNvSpPr>
          <p:nvPr/>
        </p:nvSpPr>
        <p:spPr bwMode="auto">
          <a:xfrm>
            <a:off x="8151813" y="3059114"/>
            <a:ext cx="167005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en-US" sz="2000" i="1" dirty="0">
                <a:latin typeface="+mn-lt"/>
                <a:ea typeface="ＭＳ Ｐゴシック" pitchFamily="34" charset="-128"/>
              </a:rPr>
              <a:t>Arriving </a:t>
            </a:r>
            <a:r>
              <a:rPr lang="en-US" altLang="en-US" sz="2000" i="1" dirty="0">
                <a:solidFill>
                  <a:srgbClr val="CC0000"/>
                </a:solidFill>
                <a:latin typeface="+mn-lt"/>
                <a:ea typeface="ＭＳ Ｐゴシック" pitchFamily="34" charset="-128"/>
              </a:rPr>
              <a:t>DHCP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en-US" sz="2000" i="1" dirty="0">
                <a:solidFill>
                  <a:srgbClr val="CC0000"/>
                </a:solidFill>
                <a:latin typeface="+mn-lt"/>
                <a:ea typeface="ＭＳ Ｐゴシック" pitchFamily="34" charset="-128"/>
              </a:rPr>
              <a:t>client</a:t>
            </a:r>
            <a:r>
              <a:rPr lang="en-US" altLang="en-US" sz="2000" i="1" dirty="0">
                <a:latin typeface="+mn-lt"/>
                <a:ea typeface="ＭＳ Ｐゴシック" pitchFamily="34" charset="-128"/>
              </a:rPr>
              <a:t> needs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en-US" sz="2000" i="1" dirty="0">
                <a:latin typeface="+mn-lt"/>
                <a:ea typeface="ＭＳ Ｐゴシック" pitchFamily="34" charset="-128"/>
              </a:rPr>
              <a:t>address in this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en-US" sz="2000" i="1" dirty="0">
                <a:latin typeface="+mn-lt"/>
                <a:ea typeface="ＭＳ Ｐゴシック" pitchFamily="34" charset="-128"/>
              </a:rPr>
              <a:t>network</a:t>
            </a:r>
          </a:p>
        </p:txBody>
      </p:sp>
      <p:grpSp>
        <p:nvGrpSpPr>
          <p:cNvPr id="18477" name="Group 195"/>
          <p:cNvGrpSpPr>
            <a:grpSpLocks/>
          </p:cNvGrpSpPr>
          <p:nvPr/>
        </p:nvGrpSpPr>
        <p:grpSpPr bwMode="auto">
          <a:xfrm>
            <a:off x="5397500" y="2395539"/>
            <a:ext cx="401638" cy="681037"/>
            <a:chOff x="4140" y="429"/>
            <a:chExt cx="1425" cy="2396"/>
          </a:xfrm>
        </p:grpSpPr>
        <p:sp>
          <p:nvSpPr>
            <p:cNvPr id="18506" name="Freeform 196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7" name="Rectangle 197"/>
            <p:cNvSpPr>
              <a:spLocks noChangeArrowheads="1"/>
            </p:cNvSpPr>
            <p:nvPr/>
          </p:nvSpPr>
          <p:spPr bwMode="auto">
            <a:xfrm>
              <a:off x="4208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4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508" name="Freeform 198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9" name="Freeform 199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0" name="Rectangle 200"/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4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18511" name="Group 201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8536" name="AutoShape 202"/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4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8537" name="AutoShape 203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89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4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8512" name="Rectangle 204"/>
            <p:cNvSpPr>
              <a:spLocks noChangeArrowheads="1"/>
            </p:cNvSpPr>
            <p:nvPr/>
          </p:nvSpPr>
          <p:spPr bwMode="auto">
            <a:xfrm>
              <a:off x="4224" y="1021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4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18513" name="Group 205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8534" name="AutoShape 206"/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4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8535" name="AutoShape 207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89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4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8514" name="Rectangle 208"/>
            <p:cNvSpPr>
              <a:spLocks noChangeArrowheads="1"/>
            </p:cNvSpPr>
            <p:nvPr/>
          </p:nvSpPr>
          <p:spPr bwMode="auto">
            <a:xfrm>
              <a:off x="4219" y="1356"/>
              <a:ext cx="591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4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515" name="Rectangle 209"/>
            <p:cNvSpPr>
              <a:spLocks noChangeArrowheads="1"/>
            </p:cNvSpPr>
            <p:nvPr/>
          </p:nvSpPr>
          <p:spPr bwMode="auto">
            <a:xfrm>
              <a:off x="4230" y="1658"/>
              <a:ext cx="591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4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18516" name="Group 210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8532" name="AutoShape 211"/>
              <p:cNvSpPr>
                <a:spLocks noChangeArrowheads="1"/>
              </p:cNvSpPr>
              <p:nvPr/>
            </p:nvSpPr>
            <p:spPr bwMode="auto">
              <a:xfrm>
                <a:off x="617" y="2576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4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8533" name="AutoShape 212"/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88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4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8517" name="Freeform 213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518" name="Group 214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8530" name="AutoShape 215"/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30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4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8531" name="AutoShape 216"/>
              <p:cNvSpPr>
                <a:spLocks noChangeArrowheads="1"/>
              </p:cNvSpPr>
              <p:nvPr/>
            </p:nvSpPr>
            <p:spPr bwMode="auto">
              <a:xfrm>
                <a:off x="626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4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8519" name="Rectangle 217"/>
            <p:cNvSpPr>
              <a:spLocks noChangeArrowheads="1"/>
            </p:cNvSpPr>
            <p:nvPr/>
          </p:nvSpPr>
          <p:spPr bwMode="auto">
            <a:xfrm>
              <a:off x="5250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4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520" name="Freeform 218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1" name="Freeform 219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2" name="Oval 220"/>
            <p:cNvSpPr>
              <a:spLocks noChangeArrowheads="1"/>
            </p:cNvSpPr>
            <p:nvPr/>
          </p:nvSpPr>
          <p:spPr bwMode="auto">
            <a:xfrm>
              <a:off x="5514" y="2613"/>
              <a:ext cx="51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4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523" name="Freeform 221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4" name="AutoShape 222"/>
            <p:cNvSpPr>
              <a:spLocks noChangeArrowheads="1"/>
            </p:cNvSpPr>
            <p:nvPr/>
          </p:nvSpPr>
          <p:spPr bwMode="auto">
            <a:xfrm>
              <a:off x="4140" y="2680"/>
              <a:ext cx="1200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4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525" name="AutoShape 223"/>
            <p:cNvSpPr>
              <a:spLocks noChangeArrowheads="1"/>
            </p:cNvSpPr>
            <p:nvPr/>
          </p:nvSpPr>
          <p:spPr bwMode="auto">
            <a:xfrm>
              <a:off x="4208" y="2713"/>
              <a:ext cx="1070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4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526" name="Oval 224"/>
            <p:cNvSpPr>
              <a:spLocks noChangeArrowheads="1"/>
            </p:cNvSpPr>
            <p:nvPr/>
          </p:nvSpPr>
          <p:spPr bwMode="auto">
            <a:xfrm>
              <a:off x="4309" y="2384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4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527" name="Oval 225"/>
            <p:cNvSpPr>
              <a:spLocks noChangeArrowheads="1"/>
            </p:cNvSpPr>
            <p:nvPr/>
          </p:nvSpPr>
          <p:spPr bwMode="auto">
            <a:xfrm>
              <a:off x="4484" y="2384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40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528" name="Oval 226"/>
            <p:cNvSpPr>
              <a:spLocks noChangeArrowheads="1"/>
            </p:cNvSpPr>
            <p:nvPr/>
          </p:nvSpPr>
          <p:spPr bwMode="auto">
            <a:xfrm>
              <a:off x="4664" y="2384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4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529" name="Rectangle 227"/>
            <p:cNvSpPr>
              <a:spLocks noChangeArrowheads="1"/>
            </p:cNvSpPr>
            <p:nvPr/>
          </p:nvSpPr>
          <p:spPr bwMode="auto">
            <a:xfrm>
              <a:off x="5064" y="1836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4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18478" name="Group 231"/>
          <p:cNvGrpSpPr>
            <a:grpSpLocks/>
          </p:cNvGrpSpPr>
          <p:nvPr/>
        </p:nvGrpSpPr>
        <p:grpSpPr bwMode="auto">
          <a:xfrm>
            <a:off x="7010401" y="3141664"/>
            <a:ext cx="1101725" cy="549275"/>
            <a:chOff x="3428" y="1798"/>
            <a:chExt cx="694" cy="346"/>
          </a:xfrm>
        </p:grpSpPr>
        <p:grpSp>
          <p:nvGrpSpPr>
            <p:cNvPr id="18482" name="Group 229"/>
            <p:cNvGrpSpPr>
              <a:grpSpLocks/>
            </p:cNvGrpSpPr>
            <p:nvPr/>
          </p:nvGrpSpPr>
          <p:grpSpPr bwMode="auto">
            <a:xfrm>
              <a:off x="3628" y="1798"/>
              <a:ext cx="494" cy="346"/>
              <a:chOff x="4420" y="878"/>
              <a:chExt cx="614" cy="458"/>
            </a:xfrm>
          </p:grpSpPr>
          <p:pic>
            <p:nvPicPr>
              <p:cNvPr id="18484" name="Picture 173" descr="laptop_keyboard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4420" y="1108"/>
                <a:ext cx="527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485" name="Freeform 174"/>
              <p:cNvSpPr>
                <a:spLocks/>
              </p:cNvSpPr>
              <p:nvPr/>
            </p:nvSpPr>
            <p:spPr bwMode="auto">
              <a:xfrm>
                <a:off x="4595" y="888"/>
                <a:ext cx="424" cy="297"/>
              </a:xfrm>
              <a:custGeom>
                <a:avLst/>
                <a:gdLst>
                  <a:gd name="T0" fmla="*/ 0 w 2982"/>
                  <a:gd name="T1" fmla="*/ 0 h 2442"/>
                  <a:gd name="T2" fmla="*/ 0 w 2982"/>
                  <a:gd name="T3" fmla="*/ 0 h 2442"/>
                  <a:gd name="T4" fmla="*/ 0 w 2982"/>
                  <a:gd name="T5" fmla="*/ 0 h 2442"/>
                  <a:gd name="T6" fmla="*/ 0 w 2982"/>
                  <a:gd name="T7" fmla="*/ 0 h 2442"/>
                  <a:gd name="T8" fmla="*/ 0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8486" name="Picture 175" descr="screen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16" y="895"/>
                <a:ext cx="385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487" name="Freeform 176"/>
              <p:cNvSpPr>
                <a:spLocks/>
              </p:cNvSpPr>
              <p:nvPr/>
            </p:nvSpPr>
            <p:spPr bwMode="auto">
              <a:xfrm>
                <a:off x="4672" y="879"/>
                <a:ext cx="359" cy="55"/>
              </a:xfrm>
              <a:custGeom>
                <a:avLst/>
                <a:gdLst>
                  <a:gd name="T0" fmla="*/ 0 w 2528"/>
                  <a:gd name="T1" fmla="*/ 0 h 455"/>
                  <a:gd name="T2" fmla="*/ 0 w 2528"/>
                  <a:gd name="T3" fmla="*/ 0 h 455"/>
                  <a:gd name="T4" fmla="*/ 0 w 2528"/>
                  <a:gd name="T5" fmla="*/ 0 h 455"/>
                  <a:gd name="T6" fmla="*/ 0 w 2528"/>
                  <a:gd name="T7" fmla="*/ 0 h 455"/>
                  <a:gd name="T8" fmla="*/ 0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88" name="Freeform 177"/>
              <p:cNvSpPr>
                <a:spLocks/>
              </p:cNvSpPr>
              <p:nvPr/>
            </p:nvSpPr>
            <p:spPr bwMode="auto">
              <a:xfrm>
                <a:off x="4591" y="878"/>
                <a:ext cx="100" cy="230"/>
              </a:xfrm>
              <a:custGeom>
                <a:avLst/>
                <a:gdLst>
                  <a:gd name="T0" fmla="*/ 0 w 702"/>
                  <a:gd name="T1" fmla="*/ 0 h 1893"/>
                  <a:gd name="T2" fmla="*/ 0 w 702"/>
                  <a:gd name="T3" fmla="*/ 0 h 1893"/>
                  <a:gd name="T4" fmla="*/ 0 w 702"/>
                  <a:gd name="T5" fmla="*/ 0 h 1893"/>
                  <a:gd name="T6" fmla="*/ 0 w 702"/>
                  <a:gd name="T7" fmla="*/ 0 h 1893"/>
                  <a:gd name="T8" fmla="*/ 0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89" name="Freeform 178"/>
              <p:cNvSpPr>
                <a:spLocks/>
              </p:cNvSpPr>
              <p:nvPr/>
            </p:nvSpPr>
            <p:spPr bwMode="auto">
              <a:xfrm>
                <a:off x="4921" y="920"/>
                <a:ext cx="108" cy="265"/>
              </a:xfrm>
              <a:custGeom>
                <a:avLst/>
                <a:gdLst>
                  <a:gd name="T0" fmla="*/ 0 w 756"/>
                  <a:gd name="T1" fmla="*/ 0 h 2184"/>
                  <a:gd name="T2" fmla="*/ 0 w 756"/>
                  <a:gd name="T3" fmla="*/ 0 h 2184"/>
                  <a:gd name="T4" fmla="*/ 0 w 756"/>
                  <a:gd name="T5" fmla="*/ 0 h 2184"/>
                  <a:gd name="T6" fmla="*/ 0 w 756"/>
                  <a:gd name="T7" fmla="*/ 0 h 2184"/>
                  <a:gd name="T8" fmla="*/ 0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0" name="Freeform 179"/>
              <p:cNvSpPr>
                <a:spLocks/>
              </p:cNvSpPr>
              <p:nvPr/>
            </p:nvSpPr>
            <p:spPr bwMode="auto">
              <a:xfrm>
                <a:off x="4590" y="1097"/>
                <a:ext cx="394" cy="89"/>
              </a:xfrm>
              <a:custGeom>
                <a:avLst/>
                <a:gdLst>
                  <a:gd name="T0" fmla="*/ 0 w 2773"/>
                  <a:gd name="T1" fmla="*/ 0 h 738"/>
                  <a:gd name="T2" fmla="*/ 0 w 2773"/>
                  <a:gd name="T3" fmla="*/ 0 h 738"/>
                  <a:gd name="T4" fmla="*/ 0 w 2773"/>
                  <a:gd name="T5" fmla="*/ 0 h 738"/>
                  <a:gd name="T6" fmla="*/ 0 w 2773"/>
                  <a:gd name="T7" fmla="*/ 0 h 738"/>
                  <a:gd name="T8" fmla="*/ 0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1" name="Freeform 180"/>
              <p:cNvSpPr>
                <a:spLocks/>
              </p:cNvSpPr>
              <p:nvPr/>
            </p:nvSpPr>
            <p:spPr bwMode="auto">
              <a:xfrm>
                <a:off x="4933" y="922"/>
                <a:ext cx="101" cy="266"/>
              </a:xfrm>
              <a:custGeom>
                <a:avLst/>
                <a:gdLst>
                  <a:gd name="T0" fmla="*/ 0 w 637"/>
                  <a:gd name="T1" fmla="*/ 0 h 1659"/>
                  <a:gd name="T2" fmla="*/ 0 w 637"/>
                  <a:gd name="T3" fmla="*/ 0 h 1659"/>
                  <a:gd name="T4" fmla="*/ 0 w 637"/>
                  <a:gd name="T5" fmla="*/ 0 h 1659"/>
                  <a:gd name="T6" fmla="*/ 0 w 637"/>
                  <a:gd name="T7" fmla="*/ 0 h 1659"/>
                  <a:gd name="T8" fmla="*/ 0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2" name="Freeform 181"/>
              <p:cNvSpPr>
                <a:spLocks/>
              </p:cNvSpPr>
              <p:nvPr/>
            </p:nvSpPr>
            <p:spPr bwMode="auto">
              <a:xfrm>
                <a:off x="4590" y="1109"/>
                <a:ext cx="351" cy="88"/>
              </a:xfrm>
              <a:custGeom>
                <a:avLst/>
                <a:gdLst>
                  <a:gd name="T0" fmla="*/ 0 w 2216"/>
                  <a:gd name="T1" fmla="*/ 0 h 550"/>
                  <a:gd name="T2" fmla="*/ 0 w 2216"/>
                  <a:gd name="T3" fmla="*/ 0 h 550"/>
                  <a:gd name="T4" fmla="*/ 0 w 2216"/>
                  <a:gd name="T5" fmla="*/ 0 h 550"/>
                  <a:gd name="T6" fmla="*/ 0 w 2216"/>
                  <a:gd name="T7" fmla="*/ 0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8493" name="Group 182"/>
              <p:cNvGrpSpPr>
                <a:grpSpLocks/>
              </p:cNvGrpSpPr>
              <p:nvPr/>
            </p:nvGrpSpPr>
            <p:grpSpPr bwMode="auto">
              <a:xfrm>
                <a:off x="4584" y="1203"/>
                <a:ext cx="119" cy="53"/>
                <a:chOff x="1740" y="2642"/>
                <a:chExt cx="752" cy="327"/>
              </a:xfrm>
            </p:grpSpPr>
            <p:sp>
              <p:nvSpPr>
                <p:cNvPr id="18500" name="Freeform 183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01" name="Freeform 184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02" name="Freeform 185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03" name="Freeform 186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04" name="Freeform 187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05" name="Freeform 188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494" name="Freeform 189"/>
              <p:cNvSpPr>
                <a:spLocks/>
              </p:cNvSpPr>
              <p:nvPr/>
            </p:nvSpPr>
            <p:spPr bwMode="auto">
              <a:xfrm>
                <a:off x="4788" y="1211"/>
                <a:ext cx="144" cy="116"/>
              </a:xfrm>
              <a:custGeom>
                <a:avLst/>
                <a:gdLst>
                  <a:gd name="T0" fmla="*/ 0 w 990"/>
                  <a:gd name="T1" fmla="*/ 0 h 792"/>
                  <a:gd name="T2" fmla="*/ 0 w 990"/>
                  <a:gd name="T3" fmla="*/ 0 h 792"/>
                  <a:gd name="T4" fmla="*/ 0 w 990"/>
                  <a:gd name="T5" fmla="*/ 0 h 792"/>
                  <a:gd name="T6" fmla="*/ 0 w 990"/>
                  <a:gd name="T7" fmla="*/ 0 h 792"/>
                  <a:gd name="T8" fmla="*/ 0 w 990"/>
                  <a:gd name="T9" fmla="*/ 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5" name="Freeform 190"/>
              <p:cNvSpPr>
                <a:spLocks/>
              </p:cNvSpPr>
              <p:nvPr/>
            </p:nvSpPr>
            <p:spPr bwMode="auto">
              <a:xfrm>
                <a:off x="4420" y="1220"/>
                <a:ext cx="369" cy="10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0 h 723"/>
                  <a:gd name="T6" fmla="*/ 0 w 2532"/>
                  <a:gd name="T7" fmla="*/ 0 h 723"/>
                  <a:gd name="T8" fmla="*/ 0 w 2532"/>
                  <a:gd name="T9" fmla="*/ 0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6" name="Freeform 191"/>
              <p:cNvSpPr>
                <a:spLocks/>
              </p:cNvSpPr>
              <p:nvPr/>
            </p:nvSpPr>
            <p:spPr bwMode="auto">
              <a:xfrm>
                <a:off x="4420" y="1201"/>
                <a:ext cx="4" cy="21"/>
              </a:xfrm>
              <a:custGeom>
                <a:avLst/>
                <a:gdLst>
                  <a:gd name="T0" fmla="*/ 0 w 26"/>
                  <a:gd name="T1" fmla="*/ 0 h 147"/>
                  <a:gd name="T2" fmla="*/ 0 w 26"/>
                  <a:gd name="T3" fmla="*/ 0 h 147"/>
                  <a:gd name="T4" fmla="*/ 0 w 26"/>
                  <a:gd name="T5" fmla="*/ 0 h 147"/>
                  <a:gd name="T6" fmla="*/ 0 w 26"/>
                  <a:gd name="T7" fmla="*/ 0 h 147"/>
                  <a:gd name="T8" fmla="*/ 0 w 26"/>
                  <a:gd name="T9" fmla="*/ 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7" name="Freeform 192"/>
              <p:cNvSpPr>
                <a:spLocks/>
              </p:cNvSpPr>
              <p:nvPr/>
            </p:nvSpPr>
            <p:spPr bwMode="auto">
              <a:xfrm>
                <a:off x="4421" y="1114"/>
                <a:ext cx="171" cy="88"/>
              </a:xfrm>
              <a:custGeom>
                <a:avLst/>
                <a:gdLst>
                  <a:gd name="T0" fmla="*/ 0 w 1176"/>
                  <a:gd name="T1" fmla="*/ 0 h 606"/>
                  <a:gd name="T2" fmla="*/ 0 w 1176"/>
                  <a:gd name="T3" fmla="*/ 0 h 606"/>
                  <a:gd name="T4" fmla="*/ 0 w 1176"/>
                  <a:gd name="T5" fmla="*/ 0 h 606"/>
                  <a:gd name="T6" fmla="*/ 0 w 1176"/>
                  <a:gd name="T7" fmla="*/ 0 h 606"/>
                  <a:gd name="T8" fmla="*/ 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8" name="Freeform 193"/>
              <p:cNvSpPr>
                <a:spLocks/>
              </p:cNvSpPr>
              <p:nvPr/>
            </p:nvSpPr>
            <p:spPr bwMode="auto">
              <a:xfrm>
                <a:off x="4432" y="1205"/>
                <a:ext cx="350" cy="102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0 h 723"/>
                  <a:gd name="T6" fmla="*/ 0 w 2532"/>
                  <a:gd name="T7" fmla="*/ 0 h 723"/>
                  <a:gd name="T8" fmla="*/ 0 w 2532"/>
                  <a:gd name="T9" fmla="*/ 0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9" name="Freeform 194"/>
              <p:cNvSpPr>
                <a:spLocks/>
              </p:cNvSpPr>
              <p:nvPr/>
            </p:nvSpPr>
            <p:spPr bwMode="auto">
              <a:xfrm flipV="1">
                <a:off x="4782" y="1198"/>
                <a:ext cx="142" cy="105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0 h 723"/>
                  <a:gd name="T6" fmla="*/ 0 w 2532"/>
                  <a:gd name="T7" fmla="*/ 0 h 723"/>
                  <a:gd name="T8" fmla="*/ 0 w 2532"/>
                  <a:gd name="T9" fmla="*/ 0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483" name="Line 230"/>
            <p:cNvSpPr>
              <a:spLocks noChangeShapeType="1"/>
            </p:cNvSpPr>
            <p:nvPr/>
          </p:nvSpPr>
          <p:spPr bwMode="auto">
            <a:xfrm flipH="1">
              <a:off x="3428" y="2002"/>
              <a:ext cx="27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8479" name="AutoShape 232"/>
          <p:cNvSpPr>
            <a:spLocks noChangeArrowheads="1"/>
          </p:cNvSpPr>
          <p:nvPr/>
        </p:nvSpPr>
        <p:spPr bwMode="auto">
          <a:xfrm>
            <a:off x="7278688" y="3698875"/>
            <a:ext cx="976312" cy="374650"/>
          </a:xfrm>
          <a:prstGeom prst="leftArrow">
            <a:avLst>
              <a:gd name="adj1" fmla="val 50000"/>
              <a:gd name="adj2" fmla="val 65148"/>
            </a:avLst>
          </a:prstGeom>
          <a:gradFill rotWithShape="1">
            <a:gsLst>
              <a:gs pos="0">
                <a:srgbClr val="CC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8480" name="Line 233"/>
          <p:cNvSpPr>
            <a:spLocks noChangeShapeType="1"/>
          </p:cNvSpPr>
          <p:nvPr/>
        </p:nvSpPr>
        <p:spPr bwMode="auto">
          <a:xfrm flipH="1">
            <a:off x="5792789" y="2954338"/>
            <a:ext cx="314325" cy="4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pic>
        <p:nvPicPr>
          <p:cNvPr id="18481" name="Picture 235" descr="underline_base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51" y="931864"/>
            <a:ext cx="6399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2680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25" name="Rectangle 94"/>
          <p:cNvSpPr>
            <a:spLocks noGrp="1" noChangeArrowheads="1"/>
          </p:cNvSpPr>
          <p:nvPr>
            <p:ph type="title"/>
          </p:nvPr>
        </p:nvSpPr>
        <p:spPr>
          <a:xfrm>
            <a:off x="1962151" y="255589"/>
            <a:ext cx="6824663" cy="898525"/>
          </a:xfrm>
          <a:extLst>
            <a:ext uri="{FAA26D3D-D897-4be2-8F04-BA451C77F1D7}"/>
          </a:extLst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DHCP client-server scenario</a:t>
            </a:r>
          </a:p>
        </p:txBody>
      </p:sp>
      <p:sp>
        <p:nvSpPr>
          <p:cNvPr id="19459" name="Text Box 7"/>
          <p:cNvSpPr txBox="1">
            <a:spLocks noChangeArrowheads="1"/>
          </p:cNvSpPr>
          <p:nvPr/>
        </p:nvSpPr>
        <p:spPr bwMode="auto">
          <a:xfrm>
            <a:off x="2405063" y="1270000"/>
            <a:ext cx="23415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DHCP server: 223.1.2.5</a:t>
            </a:r>
          </a:p>
        </p:txBody>
      </p:sp>
      <p:sp>
        <p:nvSpPr>
          <p:cNvPr id="19460" name="Text Box 8"/>
          <p:cNvSpPr txBox="1">
            <a:spLocks noChangeArrowheads="1"/>
          </p:cNvSpPr>
          <p:nvPr/>
        </p:nvSpPr>
        <p:spPr bwMode="auto">
          <a:xfrm>
            <a:off x="7561263" y="1311275"/>
            <a:ext cx="849312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arriving</a:t>
            </a:r>
          </a:p>
          <a:p>
            <a:pPr algn="ctr" eaLnBrk="1" hangingPunct="1"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client</a:t>
            </a:r>
          </a:p>
        </p:txBody>
      </p:sp>
      <p:sp>
        <p:nvSpPr>
          <p:cNvPr id="19461" name="Line 10"/>
          <p:cNvSpPr>
            <a:spLocks noChangeShapeType="1"/>
          </p:cNvSpPr>
          <p:nvPr/>
        </p:nvSpPr>
        <p:spPr bwMode="auto">
          <a:xfrm flipH="1">
            <a:off x="3340101" y="2163764"/>
            <a:ext cx="11113" cy="4027487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2" name="Line 11"/>
          <p:cNvSpPr>
            <a:spLocks noChangeShapeType="1"/>
          </p:cNvSpPr>
          <p:nvPr/>
        </p:nvSpPr>
        <p:spPr bwMode="auto">
          <a:xfrm flipH="1">
            <a:off x="7866063" y="2239963"/>
            <a:ext cx="11112" cy="41402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3384550" y="1343026"/>
            <a:ext cx="4395788" cy="1401763"/>
            <a:chOff x="1860550" y="1343025"/>
            <a:chExt cx="4395788" cy="1401763"/>
          </a:xfrm>
        </p:grpSpPr>
        <p:sp>
          <p:nvSpPr>
            <p:cNvPr id="19545" name="Line 9"/>
            <p:cNvSpPr>
              <a:spLocks noChangeShapeType="1"/>
            </p:cNvSpPr>
            <p:nvPr/>
          </p:nvSpPr>
          <p:spPr bwMode="auto">
            <a:xfrm flipH="1">
              <a:off x="1860550" y="2208213"/>
              <a:ext cx="4395788" cy="5365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9546" name="Group 23"/>
            <p:cNvGrpSpPr>
              <a:grpSpLocks/>
            </p:cNvGrpSpPr>
            <p:nvPr/>
          </p:nvGrpSpPr>
          <p:grpSpPr bwMode="auto">
            <a:xfrm>
              <a:off x="3389313" y="1343025"/>
              <a:ext cx="2673350" cy="1116013"/>
              <a:chOff x="11865" y="3885"/>
              <a:chExt cx="3720" cy="1260"/>
            </a:xfrm>
          </p:grpSpPr>
          <p:sp>
            <p:nvSpPr>
              <p:cNvPr id="19547" name="Text Box 24"/>
              <p:cNvSpPr txBox="1">
                <a:spLocks noChangeArrowheads="1"/>
              </p:cNvSpPr>
              <p:nvPr/>
            </p:nvSpPr>
            <p:spPr bwMode="auto">
              <a:xfrm>
                <a:off x="11865" y="3885"/>
                <a:ext cx="2062" cy="4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200" b="1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DHCP discover</a:t>
                </a:r>
                <a:endParaRPr lang="en-US" altLang="en-US" sz="1200" b="1">
                  <a:solidFill>
                    <a:srgbClr val="000000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9548" name="Text Box 25"/>
              <p:cNvSpPr txBox="1">
                <a:spLocks noChangeArrowheads="1"/>
              </p:cNvSpPr>
              <p:nvPr/>
            </p:nvSpPr>
            <p:spPr bwMode="auto">
              <a:xfrm>
                <a:off x="12015" y="4231"/>
                <a:ext cx="3570" cy="91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2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src : 0.0.0.0, 68     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2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dest.: 255.255.255.255,67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2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yiaddr:    0.0.0.0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20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transaction ID: 654</a:t>
                </a:r>
                <a:endParaRPr lang="en-US" altLang="en-US" sz="1600">
                  <a:solidFill>
                    <a:srgbClr val="000000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endParaRPr>
              </a:p>
            </p:txBody>
          </p:sp>
        </p:grpSp>
      </p:grpSp>
      <p:sp>
        <p:nvSpPr>
          <p:cNvPr id="34825" name="Line 26"/>
          <p:cNvSpPr>
            <a:spLocks noChangeShapeType="1"/>
          </p:cNvSpPr>
          <p:nvPr/>
        </p:nvSpPr>
        <p:spPr bwMode="auto">
          <a:xfrm>
            <a:off x="3427414" y="3194051"/>
            <a:ext cx="4395787" cy="5381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5086350" y="2579688"/>
            <a:ext cx="2520950" cy="1217612"/>
            <a:chOff x="3562350" y="2579688"/>
            <a:chExt cx="2520950" cy="1217612"/>
          </a:xfrm>
        </p:grpSpPr>
        <p:sp>
          <p:nvSpPr>
            <p:cNvPr id="19543" name="Text Box 27"/>
            <p:cNvSpPr txBox="1">
              <a:spLocks noChangeArrowheads="1"/>
            </p:cNvSpPr>
            <p:nvPr/>
          </p:nvSpPr>
          <p:spPr bwMode="auto">
            <a:xfrm>
              <a:off x="3562350" y="2579688"/>
              <a:ext cx="1379538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DHCP offer</a:t>
              </a:r>
              <a:endParaRPr lang="en-US" altLang="en-US" sz="1600">
                <a:solidFill>
                  <a:srgbClr val="000000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9544" name="Text Box 28"/>
            <p:cNvSpPr txBox="1">
              <a:spLocks noChangeArrowheads="1"/>
            </p:cNvSpPr>
            <p:nvPr/>
          </p:nvSpPr>
          <p:spPr bwMode="auto">
            <a:xfrm>
              <a:off x="3659188" y="2832100"/>
              <a:ext cx="2424112" cy="965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src: 223.1.2.5, 67      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dest:  255.255.255.255, 68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yiaddrr: 223.1.2.4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transaction ID: 654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lifetime: 3600 secs</a:t>
              </a:r>
              <a:endParaRPr lang="en-US" altLang="en-US" sz="800">
                <a:solidFill>
                  <a:srgbClr val="000000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34828" name="Line 29"/>
          <p:cNvSpPr>
            <a:spLocks noChangeShapeType="1"/>
          </p:cNvSpPr>
          <p:nvPr/>
        </p:nvSpPr>
        <p:spPr bwMode="auto">
          <a:xfrm flipH="1">
            <a:off x="3319464" y="4422776"/>
            <a:ext cx="4395787" cy="5365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3490913" y="3765551"/>
            <a:ext cx="2887662" cy="1260475"/>
            <a:chOff x="1966913" y="3765550"/>
            <a:chExt cx="2887662" cy="1260475"/>
          </a:xfrm>
        </p:grpSpPr>
        <p:sp>
          <p:nvSpPr>
            <p:cNvPr id="19541" name="Text Box 30"/>
            <p:cNvSpPr txBox="1">
              <a:spLocks noChangeArrowheads="1"/>
            </p:cNvSpPr>
            <p:nvPr/>
          </p:nvSpPr>
          <p:spPr bwMode="auto">
            <a:xfrm>
              <a:off x="1966913" y="3765550"/>
              <a:ext cx="1379537" cy="3286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DHCP request</a:t>
              </a:r>
              <a:endParaRPr lang="en-US" altLang="en-US" sz="1600">
                <a:solidFill>
                  <a:srgbClr val="000000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9542" name="Text Box 31"/>
            <p:cNvSpPr txBox="1">
              <a:spLocks noChangeArrowheads="1"/>
            </p:cNvSpPr>
            <p:nvPr/>
          </p:nvSpPr>
          <p:spPr bwMode="auto">
            <a:xfrm>
              <a:off x="2097088" y="4027488"/>
              <a:ext cx="2757487" cy="99853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src:  0.0.0.0, 68     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dest::  255.255.255.255, 67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yiaddrr: 223.1.2.4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transaction ID: 655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lifetime: 3600 secs</a:t>
              </a:r>
              <a:endParaRPr lang="en-US" altLang="en-US" sz="1600">
                <a:solidFill>
                  <a:srgbClr val="000000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34831" name="Line 32"/>
          <p:cNvSpPr>
            <a:spLocks noChangeShapeType="1"/>
          </p:cNvSpPr>
          <p:nvPr/>
        </p:nvSpPr>
        <p:spPr bwMode="auto">
          <a:xfrm>
            <a:off x="3405189" y="5453063"/>
            <a:ext cx="4395787" cy="5381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/>
          </p:cNvGrpSpPr>
          <p:nvPr/>
        </p:nvGrpSpPr>
        <p:grpSpPr bwMode="auto">
          <a:xfrm>
            <a:off x="5043489" y="5168900"/>
            <a:ext cx="2509837" cy="1271588"/>
            <a:chOff x="3519488" y="5168900"/>
            <a:chExt cx="2509837" cy="1271588"/>
          </a:xfrm>
        </p:grpSpPr>
        <p:sp>
          <p:nvSpPr>
            <p:cNvPr id="19539" name="Text Box 33"/>
            <p:cNvSpPr txBox="1">
              <a:spLocks noChangeArrowheads="1"/>
            </p:cNvSpPr>
            <p:nvPr/>
          </p:nvSpPr>
          <p:spPr bwMode="auto">
            <a:xfrm>
              <a:off x="3519488" y="5168900"/>
              <a:ext cx="1379537" cy="3286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DHCP ACK</a:t>
              </a:r>
              <a:endParaRPr lang="en-US" altLang="en-US" sz="1600">
                <a:solidFill>
                  <a:srgbClr val="000000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9540" name="Text Box 34"/>
            <p:cNvSpPr txBox="1">
              <a:spLocks noChangeArrowheads="1"/>
            </p:cNvSpPr>
            <p:nvPr/>
          </p:nvSpPr>
          <p:spPr bwMode="auto">
            <a:xfrm>
              <a:off x="3616325" y="5421313"/>
              <a:ext cx="2413000" cy="10191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src: 223.1.2.5, 67      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dest:  255.255.255.255, 68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yiaddrr: 223.1.2.4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transaction ID: 655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lifetime: 3600 secs</a:t>
              </a:r>
              <a:endParaRPr lang="en-US" altLang="en-US" sz="1000">
                <a:solidFill>
                  <a:srgbClr val="000000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19470" name="Group 36"/>
          <p:cNvGrpSpPr>
            <a:grpSpLocks/>
          </p:cNvGrpSpPr>
          <p:nvPr/>
        </p:nvGrpSpPr>
        <p:grpSpPr bwMode="auto">
          <a:xfrm>
            <a:off x="7818439" y="1781176"/>
            <a:ext cx="784225" cy="549275"/>
            <a:chOff x="4420" y="878"/>
            <a:chExt cx="614" cy="458"/>
          </a:xfrm>
        </p:grpSpPr>
        <p:pic>
          <p:nvPicPr>
            <p:cNvPr id="19517" name="Picture 37" descr="laptop_keyboard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4420" y="1108"/>
              <a:ext cx="527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518" name="Freeform 38"/>
            <p:cNvSpPr>
              <a:spLocks/>
            </p:cNvSpPr>
            <p:nvPr/>
          </p:nvSpPr>
          <p:spPr bwMode="auto">
            <a:xfrm>
              <a:off x="4595" y="888"/>
              <a:ext cx="424" cy="297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9519" name="Picture 39" descr="screen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6" y="895"/>
              <a:ext cx="38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520" name="Freeform 40"/>
            <p:cNvSpPr>
              <a:spLocks/>
            </p:cNvSpPr>
            <p:nvPr/>
          </p:nvSpPr>
          <p:spPr bwMode="auto">
            <a:xfrm>
              <a:off x="4672" y="879"/>
              <a:ext cx="359" cy="5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1" name="Freeform 41"/>
            <p:cNvSpPr>
              <a:spLocks/>
            </p:cNvSpPr>
            <p:nvPr/>
          </p:nvSpPr>
          <p:spPr bwMode="auto">
            <a:xfrm>
              <a:off x="4591" y="878"/>
              <a:ext cx="100" cy="230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2" name="Freeform 42"/>
            <p:cNvSpPr>
              <a:spLocks/>
            </p:cNvSpPr>
            <p:nvPr/>
          </p:nvSpPr>
          <p:spPr bwMode="auto">
            <a:xfrm>
              <a:off x="4921" y="920"/>
              <a:ext cx="108" cy="265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3" name="Freeform 43"/>
            <p:cNvSpPr>
              <a:spLocks/>
            </p:cNvSpPr>
            <p:nvPr/>
          </p:nvSpPr>
          <p:spPr bwMode="auto">
            <a:xfrm>
              <a:off x="4590" y="1097"/>
              <a:ext cx="394" cy="89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4" name="Freeform 44"/>
            <p:cNvSpPr>
              <a:spLocks/>
            </p:cNvSpPr>
            <p:nvPr/>
          </p:nvSpPr>
          <p:spPr bwMode="auto">
            <a:xfrm>
              <a:off x="4933" y="922"/>
              <a:ext cx="101" cy="266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5" name="Freeform 45"/>
            <p:cNvSpPr>
              <a:spLocks/>
            </p:cNvSpPr>
            <p:nvPr/>
          </p:nvSpPr>
          <p:spPr bwMode="auto">
            <a:xfrm>
              <a:off x="4590" y="1109"/>
              <a:ext cx="351" cy="88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9526" name="Group 46"/>
            <p:cNvGrpSpPr>
              <a:grpSpLocks/>
            </p:cNvGrpSpPr>
            <p:nvPr/>
          </p:nvGrpSpPr>
          <p:grpSpPr bwMode="auto">
            <a:xfrm>
              <a:off x="4584" y="1203"/>
              <a:ext cx="119" cy="53"/>
              <a:chOff x="1740" y="2642"/>
              <a:chExt cx="752" cy="327"/>
            </a:xfrm>
          </p:grpSpPr>
          <p:sp>
            <p:nvSpPr>
              <p:cNvPr id="19533" name="Freeform 47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34" name="Freeform 48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35" name="Freeform 49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36" name="Freeform 50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37" name="Freeform 51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38" name="Freeform 52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527" name="Freeform 53"/>
            <p:cNvSpPr>
              <a:spLocks/>
            </p:cNvSpPr>
            <p:nvPr/>
          </p:nvSpPr>
          <p:spPr bwMode="auto">
            <a:xfrm>
              <a:off x="4788" y="1211"/>
              <a:ext cx="144" cy="116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8" name="Freeform 54"/>
            <p:cNvSpPr>
              <a:spLocks/>
            </p:cNvSpPr>
            <p:nvPr/>
          </p:nvSpPr>
          <p:spPr bwMode="auto">
            <a:xfrm>
              <a:off x="4420" y="1220"/>
              <a:ext cx="369" cy="10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9" name="Freeform 55"/>
            <p:cNvSpPr>
              <a:spLocks/>
            </p:cNvSpPr>
            <p:nvPr/>
          </p:nvSpPr>
          <p:spPr bwMode="auto">
            <a:xfrm>
              <a:off x="4420" y="1201"/>
              <a:ext cx="4" cy="21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0" name="Freeform 56"/>
            <p:cNvSpPr>
              <a:spLocks/>
            </p:cNvSpPr>
            <p:nvPr/>
          </p:nvSpPr>
          <p:spPr bwMode="auto">
            <a:xfrm>
              <a:off x="4421" y="1114"/>
              <a:ext cx="171" cy="88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1" name="Freeform 57"/>
            <p:cNvSpPr>
              <a:spLocks/>
            </p:cNvSpPr>
            <p:nvPr/>
          </p:nvSpPr>
          <p:spPr bwMode="auto">
            <a:xfrm>
              <a:off x="4432" y="1205"/>
              <a:ext cx="350" cy="102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2" name="Freeform 58"/>
            <p:cNvSpPr>
              <a:spLocks/>
            </p:cNvSpPr>
            <p:nvPr/>
          </p:nvSpPr>
          <p:spPr bwMode="auto">
            <a:xfrm flipV="1">
              <a:off x="4782" y="1198"/>
              <a:ext cx="142" cy="10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471" name="Group 60"/>
          <p:cNvGrpSpPr>
            <a:grpSpLocks/>
          </p:cNvGrpSpPr>
          <p:nvPr/>
        </p:nvGrpSpPr>
        <p:grpSpPr bwMode="auto">
          <a:xfrm>
            <a:off x="3241676" y="1590676"/>
            <a:ext cx="334963" cy="536575"/>
            <a:chOff x="4140" y="429"/>
            <a:chExt cx="1425" cy="2396"/>
          </a:xfrm>
        </p:grpSpPr>
        <p:sp>
          <p:nvSpPr>
            <p:cNvPr id="19485" name="Freeform 61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6" name="Rectangle 62"/>
            <p:cNvSpPr>
              <a:spLocks noChangeArrowheads="1"/>
            </p:cNvSpPr>
            <p:nvPr/>
          </p:nvSpPr>
          <p:spPr bwMode="auto">
            <a:xfrm>
              <a:off x="4208" y="429"/>
              <a:ext cx="1047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60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9487" name="Freeform 63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8" name="Freeform 64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9" name="Rectangle 65"/>
            <p:cNvSpPr>
              <a:spLocks noChangeArrowheads="1"/>
            </p:cNvSpPr>
            <p:nvPr/>
          </p:nvSpPr>
          <p:spPr bwMode="auto">
            <a:xfrm>
              <a:off x="4214" y="691"/>
              <a:ext cx="594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60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19490" name="Group 66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9515" name="AutoShape 67"/>
              <p:cNvSpPr>
                <a:spLocks noChangeArrowheads="1"/>
              </p:cNvSpPr>
              <p:nvPr/>
            </p:nvSpPr>
            <p:spPr bwMode="auto">
              <a:xfrm>
                <a:off x="613" y="2570"/>
                <a:ext cx="725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600"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9516" name="AutoShape 68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91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600"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9491" name="Rectangle 69"/>
            <p:cNvSpPr>
              <a:spLocks noChangeArrowheads="1"/>
            </p:cNvSpPr>
            <p:nvPr/>
          </p:nvSpPr>
          <p:spPr bwMode="auto">
            <a:xfrm>
              <a:off x="4221" y="1017"/>
              <a:ext cx="601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60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19492" name="Group 70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9513" name="AutoShape 71"/>
              <p:cNvSpPr>
                <a:spLocks noChangeArrowheads="1"/>
              </p:cNvSpPr>
              <p:nvPr/>
            </p:nvSpPr>
            <p:spPr bwMode="auto">
              <a:xfrm>
                <a:off x="615" y="2570"/>
                <a:ext cx="725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600"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9514" name="AutoShape 72"/>
              <p:cNvSpPr>
                <a:spLocks noChangeArrowheads="1"/>
              </p:cNvSpPr>
              <p:nvPr/>
            </p:nvSpPr>
            <p:spPr bwMode="auto">
              <a:xfrm>
                <a:off x="632" y="2585"/>
                <a:ext cx="69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600"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9493" name="Rectangle 73"/>
            <p:cNvSpPr>
              <a:spLocks noChangeArrowheads="1"/>
            </p:cNvSpPr>
            <p:nvPr/>
          </p:nvSpPr>
          <p:spPr bwMode="auto">
            <a:xfrm>
              <a:off x="4214" y="1358"/>
              <a:ext cx="601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60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9494" name="Rectangle 74"/>
            <p:cNvSpPr>
              <a:spLocks noChangeArrowheads="1"/>
            </p:cNvSpPr>
            <p:nvPr/>
          </p:nvSpPr>
          <p:spPr bwMode="auto">
            <a:xfrm>
              <a:off x="4228" y="1655"/>
              <a:ext cx="594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60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19495" name="Group 75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9511" name="AutoShape 76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4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600"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9512" name="AutoShape 77"/>
              <p:cNvSpPr>
                <a:spLocks noChangeArrowheads="1"/>
              </p:cNvSpPr>
              <p:nvPr/>
            </p:nvSpPr>
            <p:spPr bwMode="auto">
              <a:xfrm>
                <a:off x="630" y="2581"/>
                <a:ext cx="690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600"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9496" name="Freeform 78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9497" name="Group 79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9509" name="AutoShape 80"/>
              <p:cNvSpPr>
                <a:spLocks noChangeArrowheads="1"/>
              </p:cNvSpPr>
              <p:nvPr/>
            </p:nvSpPr>
            <p:spPr bwMode="auto">
              <a:xfrm>
                <a:off x="617" y="2570"/>
                <a:ext cx="724" cy="13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600"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9510" name="AutoShape 81"/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0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600"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9498" name="Rectangle 82"/>
            <p:cNvSpPr>
              <a:spLocks noChangeArrowheads="1"/>
            </p:cNvSpPr>
            <p:nvPr/>
          </p:nvSpPr>
          <p:spPr bwMode="auto">
            <a:xfrm>
              <a:off x="5248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60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9499" name="Freeform 83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0" name="Freeform 84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9 h 288"/>
                <a:gd name="T4" fmla="*/ 8 w 304"/>
                <a:gd name="T5" fmla="*/ 16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1" name="Oval 85"/>
            <p:cNvSpPr>
              <a:spLocks noChangeArrowheads="1"/>
            </p:cNvSpPr>
            <p:nvPr/>
          </p:nvSpPr>
          <p:spPr bwMode="auto">
            <a:xfrm>
              <a:off x="5518" y="2612"/>
              <a:ext cx="47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60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9502" name="Freeform 86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3" name="AutoShape 87"/>
            <p:cNvSpPr>
              <a:spLocks noChangeArrowheads="1"/>
            </p:cNvSpPr>
            <p:nvPr/>
          </p:nvSpPr>
          <p:spPr bwMode="auto">
            <a:xfrm>
              <a:off x="4140" y="2676"/>
              <a:ext cx="1202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60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9504" name="AutoShape 88"/>
            <p:cNvSpPr>
              <a:spLocks noChangeArrowheads="1"/>
            </p:cNvSpPr>
            <p:nvPr/>
          </p:nvSpPr>
          <p:spPr bwMode="auto">
            <a:xfrm>
              <a:off x="4208" y="2712"/>
              <a:ext cx="1067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60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9505" name="Oval 89"/>
            <p:cNvSpPr>
              <a:spLocks noChangeArrowheads="1"/>
            </p:cNvSpPr>
            <p:nvPr/>
          </p:nvSpPr>
          <p:spPr bwMode="auto">
            <a:xfrm>
              <a:off x="4309" y="2385"/>
              <a:ext cx="155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60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9506" name="Oval 90"/>
            <p:cNvSpPr>
              <a:spLocks noChangeArrowheads="1"/>
            </p:cNvSpPr>
            <p:nvPr/>
          </p:nvSpPr>
          <p:spPr bwMode="auto">
            <a:xfrm>
              <a:off x="4484" y="2385"/>
              <a:ext cx="162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600">
                <a:solidFill>
                  <a:srgbClr val="FF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9507" name="Oval 91"/>
            <p:cNvSpPr>
              <a:spLocks noChangeArrowheads="1"/>
            </p:cNvSpPr>
            <p:nvPr/>
          </p:nvSpPr>
          <p:spPr bwMode="auto">
            <a:xfrm>
              <a:off x="4660" y="2378"/>
              <a:ext cx="162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60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9508" name="Rectangle 92"/>
            <p:cNvSpPr>
              <a:spLocks noChangeArrowheads="1"/>
            </p:cNvSpPr>
            <p:nvPr/>
          </p:nvSpPr>
          <p:spPr bwMode="auto">
            <a:xfrm>
              <a:off x="5065" y="1833"/>
              <a:ext cx="81" cy="76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60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pic>
        <p:nvPicPr>
          <p:cNvPr id="19472" name="Picture 95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51" y="931864"/>
            <a:ext cx="6399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5029200" y="1663701"/>
            <a:ext cx="2540000" cy="733425"/>
            <a:chOff x="7333085" y="2736938"/>
            <a:chExt cx="2539755" cy="733428"/>
          </a:xfrm>
        </p:grpSpPr>
        <p:sp>
          <p:nvSpPr>
            <p:cNvPr id="19483" name="Rectangle 2"/>
            <p:cNvSpPr>
              <a:spLocks noChangeArrowheads="1"/>
            </p:cNvSpPr>
            <p:nvPr/>
          </p:nvSpPr>
          <p:spPr bwMode="auto">
            <a:xfrm>
              <a:off x="7333085" y="2736938"/>
              <a:ext cx="2521866" cy="7334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60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9484" name="TextBox 1"/>
            <p:cNvSpPr txBox="1">
              <a:spLocks noChangeArrowheads="1"/>
            </p:cNvSpPr>
            <p:nvPr/>
          </p:nvSpPr>
          <p:spPr bwMode="auto">
            <a:xfrm>
              <a:off x="7344917" y="2797391"/>
              <a:ext cx="2527923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>
                  <a:solidFill>
                    <a:srgbClr val="FF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rPr>
                <a:t>Broadcast: is there a DHCP server out there?</a:t>
              </a:r>
            </a:p>
          </p:txBody>
        </p:sp>
      </p:grpSp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5194300" y="2871789"/>
            <a:ext cx="2528888" cy="884237"/>
            <a:chOff x="9144000" y="3229217"/>
            <a:chExt cx="2527923" cy="885135"/>
          </a:xfrm>
        </p:grpSpPr>
        <p:sp>
          <p:nvSpPr>
            <p:cNvPr id="19481" name="Rectangle 87"/>
            <p:cNvSpPr>
              <a:spLocks noChangeArrowheads="1"/>
            </p:cNvSpPr>
            <p:nvPr/>
          </p:nvSpPr>
          <p:spPr bwMode="auto">
            <a:xfrm>
              <a:off x="9144000" y="3229217"/>
              <a:ext cx="2351575" cy="8851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60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9482" name="TextBox 88"/>
            <p:cNvSpPr txBox="1">
              <a:spLocks noChangeArrowheads="1"/>
            </p:cNvSpPr>
            <p:nvPr/>
          </p:nvSpPr>
          <p:spPr bwMode="auto">
            <a:xfrm>
              <a:off x="9144000" y="3271783"/>
              <a:ext cx="2527923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>
                  <a:solidFill>
                    <a:srgbClr val="FF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rPr>
                <a:t>Broadcast: I’m a DHCP server! Here’s an IP address you can use </a:t>
              </a:r>
            </a:p>
          </p:txBody>
        </p:sp>
      </p:grpSp>
      <p:grpSp>
        <p:nvGrpSpPr>
          <p:cNvPr id="11" name="Group 10"/>
          <p:cNvGrpSpPr>
            <a:grpSpLocks/>
          </p:cNvGrpSpPr>
          <p:nvPr/>
        </p:nvGrpSpPr>
        <p:grpSpPr bwMode="auto">
          <a:xfrm>
            <a:off x="3810000" y="4097339"/>
            <a:ext cx="2527300" cy="884237"/>
            <a:chOff x="8956574" y="4615923"/>
            <a:chExt cx="2527923" cy="885135"/>
          </a:xfrm>
        </p:grpSpPr>
        <p:sp>
          <p:nvSpPr>
            <p:cNvPr id="19479" name="Rectangle 89"/>
            <p:cNvSpPr>
              <a:spLocks noChangeArrowheads="1"/>
            </p:cNvSpPr>
            <p:nvPr/>
          </p:nvSpPr>
          <p:spPr bwMode="auto">
            <a:xfrm>
              <a:off x="8956574" y="4615923"/>
              <a:ext cx="2351575" cy="8851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60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9480" name="TextBox 90"/>
            <p:cNvSpPr txBox="1">
              <a:spLocks noChangeArrowheads="1"/>
            </p:cNvSpPr>
            <p:nvPr/>
          </p:nvSpPr>
          <p:spPr bwMode="auto">
            <a:xfrm>
              <a:off x="8956574" y="4765817"/>
              <a:ext cx="2527923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>
                  <a:solidFill>
                    <a:srgbClr val="FF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rPr>
                <a:t>Broadcast: OK.  I’ll take that IP address!</a:t>
              </a:r>
            </a:p>
          </p:txBody>
        </p:sp>
      </p:grpSp>
      <p:grpSp>
        <p:nvGrpSpPr>
          <p:cNvPr id="12" name="Group 11"/>
          <p:cNvGrpSpPr>
            <a:grpSpLocks/>
          </p:cNvGrpSpPr>
          <p:nvPr/>
        </p:nvGrpSpPr>
        <p:grpSpPr bwMode="auto">
          <a:xfrm>
            <a:off x="5176839" y="5465764"/>
            <a:ext cx="2528887" cy="885825"/>
            <a:chOff x="9144000" y="5555417"/>
            <a:chExt cx="2527923" cy="885135"/>
          </a:xfrm>
        </p:grpSpPr>
        <p:sp>
          <p:nvSpPr>
            <p:cNvPr id="19477" name="Rectangle 91"/>
            <p:cNvSpPr>
              <a:spLocks noChangeArrowheads="1"/>
            </p:cNvSpPr>
            <p:nvPr/>
          </p:nvSpPr>
          <p:spPr bwMode="auto">
            <a:xfrm>
              <a:off x="9144000" y="5555417"/>
              <a:ext cx="2351575" cy="8851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60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9478" name="TextBox 92"/>
            <p:cNvSpPr txBox="1">
              <a:spLocks noChangeArrowheads="1"/>
            </p:cNvSpPr>
            <p:nvPr/>
          </p:nvSpPr>
          <p:spPr bwMode="auto">
            <a:xfrm>
              <a:off x="9144000" y="5705311"/>
              <a:ext cx="2527923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>
                  <a:solidFill>
                    <a:srgbClr val="FF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rPr>
                <a:t>Broadcast: OK.  You’ve got that IP address!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6425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34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4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DHCP: more than IP addresses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1097280" y="2385230"/>
            <a:ext cx="10058400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DHCP can return more than just allocated IP address on subnet: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address of first-hop router (default gateway) for client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name and IP address of DNS sever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network mask (indicating network versus host portion of address)</a:t>
            </a:r>
          </a:p>
        </p:txBody>
      </p:sp>
    </p:spTree>
    <p:extLst>
      <p:ext uri="{BB962C8B-B14F-4D97-AF65-F5344CB8AC3E}">
        <p14:creationId xmlns:p14="http://schemas.microsoft.com/office/powerpoint/2010/main" val="1462184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85544" y="3715512"/>
            <a:ext cx="7659688" cy="2082800"/>
          </a:xfrm>
        </p:spPr>
        <p:txBody>
          <a:bodyPr/>
          <a:lstStyle/>
          <a:p>
            <a:pPr>
              <a:defRPr/>
            </a:pPr>
            <a:r>
              <a:rPr 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DNS (Domain name system)</a:t>
            </a:r>
          </a:p>
        </p:txBody>
      </p:sp>
    </p:spTree>
    <p:extLst>
      <p:ext uri="{BB962C8B-B14F-4D97-AF65-F5344CB8AC3E}">
        <p14:creationId xmlns:p14="http://schemas.microsoft.com/office/powerpoint/2010/main" val="2307696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05000" y="152400"/>
            <a:ext cx="8686800" cy="1143000"/>
          </a:xfrm>
        </p:spPr>
        <p:txBody>
          <a:bodyPr/>
          <a:lstStyle/>
          <a:p>
            <a:pPr>
              <a:defRPr/>
            </a:pPr>
            <a:r>
              <a:rPr lang="en-US" sz="4000" dirty="0"/>
              <a:t>Example: 	  User requests the URL </a:t>
            </a:r>
            <a:r>
              <a:rPr lang="en-US" sz="2800" dirty="0"/>
              <a:t>www.someschool.edu/index.html</a:t>
            </a:r>
            <a:r>
              <a:rPr lang="en-US" sz="4000" dirty="0"/>
              <a:t>	</a:t>
            </a:r>
          </a:p>
        </p:txBody>
      </p:sp>
      <p:sp>
        <p:nvSpPr>
          <p:cNvPr id="28675" name="Content Placeholder 5"/>
          <p:cNvSpPr>
            <a:spLocks noGrp="1"/>
          </p:cNvSpPr>
          <p:nvPr>
            <p:ph idx="1"/>
          </p:nvPr>
        </p:nvSpPr>
        <p:spPr>
          <a:xfrm>
            <a:off x="850392" y="1676400"/>
            <a:ext cx="10021824" cy="4800600"/>
          </a:xfrm>
        </p:spPr>
        <p:txBody>
          <a:bodyPr>
            <a:normAutofit/>
          </a:bodyPr>
          <a:lstStyle/>
          <a:p>
            <a:pPr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en-US" altLang="en-US" dirty="0"/>
              <a:t>User machine runs the client side of the DNS application.</a:t>
            </a:r>
          </a:p>
          <a:p>
            <a:pPr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en-US" altLang="en-US" dirty="0"/>
              <a:t>The browser extracts the hostname, www.someschool.edu, from the URL and passes the hostname to the client side of the DNS application.</a:t>
            </a:r>
          </a:p>
          <a:p>
            <a:pPr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en-US" altLang="en-US" dirty="0"/>
              <a:t>The DNS client sends a query containing the hostname to a DNS server.</a:t>
            </a:r>
          </a:p>
          <a:p>
            <a:pPr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en-US" altLang="en-US" dirty="0"/>
              <a:t>The DNS client eventually receives a reply, which includes the IP address for the hostname.</a:t>
            </a:r>
          </a:p>
          <a:p>
            <a:pPr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en-US" altLang="en-US" dirty="0"/>
              <a:t>Once the browser receives the IP address from DNS, it can initiate a TCP connection to the HTTP server process located at port 80 at that IP address.</a:t>
            </a:r>
          </a:p>
        </p:txBody>
      </p:sp>
    </p:spTree>
    <p:extLst>
      <p:ext uri="{BB962C8B-B14F-4D97-AF65-F5344CB8AC3E}">
        <p14:creationId xmlns:p14="http://schemas.microsoft.com/office/powerpoint/2010/main" val="27263880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23"/>
          <p:cNvGrpSpPr>
            <a:grpSpLocks/>
          </p:cNvGrpSpPr>
          <p:nvPr/>
        </p:nvGrpSpPr>
        <p:grpSpPr bwMode="auto">
          <a:xfrm>
            <a:off x="1816100" y="1193800"/>
            <a:ext cx="8205788" cy="2444750"/>
            <a:chOff x="230" y="576"/>
            <a:chExt cx="5504" cy="1757"/>
          </a:xfrm>
        </p:grpSpPr>
        <p:sp>
          <p:nvSpPr>
            <p:cNvPr id="29704" name="Text Box 2"/>
            <p:cNvSpPr txBox="1">
              <a:spLocks noChangeArrowheads="1"/>
            </p:cNvSpPr>
            <p:nvPr/>
          </p:nvSpPr>
          <p:spPr bwMode="auto">
            <a:xfrm>
              <a:off x="2256" y="576"/>
              <a:ext cx="1385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  <a:ea typeface="ＭＳ Ｐゴシック" panose="020B0600070205080204" pitchFamily="34" charset="-128"/>
                </a:rPr>
                <a:t>Root DNS Servers</a:t>
              </a:r>
            </a:p>
          </p:txBody>
        </p:sp>
        <p:sp>
          <p:nvSpPr>
            <p:cNvPr id="29705" name="Text Box 4"/>
            <p:cNvSpPr txBox="1">
              <a:spLocks noChangeArrowheads="1"/>
            </p:cNvSpPr>
            <p:nvPr/>
          </p:nvSpPr>
          <p:spPr bwMode="auto">
            <a:xfrm>
              <a:off x="528" y="1344"/>
              <a:ext cx="1325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  <a:ea typeface="ＭＳ Ｐゴシック" panose="020B0600070205080204" pitchFamily="34" charset="-128"/>
                </a:rPr>
                <a:t>com DNS servers</a:t>
              </a:r>
            </a:p>
          </p:txBody>
        </p:sp>
        <p:sp>
          <p:nvSpPr>
            <p:cNvPr id="29706" name="Text Box 5"/>
            <p:cNvSpPr txBox="1">
              <a:spLocks noChangeArrowheads="1"/>
            </p:cNvSpPr>
            <p:nvPr/>
          </p:nvSpPr>
          <p:spPr bwMode="auto">
            <a:xfrm>
              <a:off x="2304" y="1296"/>
              <a:ext cx="1257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  <a:ea typeface="ＭＳ Ｐゴシック" panose="020B0600070205080204" pitchFamily="34" charset="-128"/>
                </a:rPr>
                <a:t>org DNS servers</a:t>
              </a:r>
            </a:p>
          </p:txBody>
        </p:sp>
        <p:sp>
          <p:nvSpPr>
            <p:cNvPr id="29707" name="Text Box 6"/>
            <p:cNvSpPr txBox="1">
              <a:spLocks noChangeArrowheads="1"/>
            </p:cNvSpPr>
            <p:nvPr/>
          </p:nvSpPr>
          <p:spPr bwMode="auto">
            <a:xfrm>
              <a:off x="4032" y="1296"/>
              <a:ext cx="1291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  <a:ea typeface="ＭＳ Ｐゴシック" panose="020B0600070205080204" pitchFamily="34" charset="-128"/>
                </a:rPr>
                <a:t>edu DNS servers</a:t>
              </a:r>
            </a:p>
          </p:txBody>
        </p:sp>
        <p:sp>
          <p:nvSpPr>
            <p:cNvPr id="29708" name="Line 7"/>
            <p:cNvSpPr>
              <a:spLocks noChangeShapeType="1"/>
            </p:cNvSpPr>
            <p:nvPr/>
          </p:nvSpPr>
          <p:spPr bwMode="auto">
            <a:xfrm flipH="1">
              <a:off x="1344" y="864"/>
              <a:ext cx="1392" cy="43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9" name="Line 8"/>
            <p:cNvSpPr>
              <a:spLocks noChangeShapeType="1"/>
            </p:cNvSpPr>
            <p:nvPr/>
          </p:nvSpPr>
          <p:spPr bwMode="auto">
            <a:xfrm>
              <a:off x="2928" y="816"/>
              <a:ext cx="0" cy="4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0" name="Line 9"/>
            <p:cNvSpPr>
              <a:spLocks noChangeShapeType="1"/>
            </p:cNvSpPr>
            <p:nvPr/>
          </p:nvSpPr>
          <p:spPr bwMode="auto">
            <a:xfrm>
              <a:off x="3168" y="864"/>
              <a:ext cx="144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1" name="Text Box 10"/>
            <p:cNvSpPr txBox="1">
              <a:spLocks noChangeArrowheads="1"/>
            </p:cNvSpPr>
            <p:nvPr/>
          </p:nvSpPr>
          <p:spPr bwMode="auto">
            <a:xfrm>
              <a:off x="3878" y="1752"/>
              <a:ext cx="992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  <a:ea typeface="ＭＳ Ｐゴシック" panose="020B0600070205080204" pitchFamily="34" charset="-128"/>
                </a:rPr>
                <a:t>poly.edu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  <a:ea typeface="ＭＳ Ｐゴシック" panose="020B0600070205080204" pitchFamily="34" charset="-128"/>
                </a:rPr>
                <a:t>DNS servers</a:t>
              </a:r>
            </a:p>
          </p:txBody>
        </p:sp>
        <p:sp>
          <p:nvSpPr>
            <p:cNvPr id="29712" name="Text Box 11"/>
            <p:cNvSpPr txBox="1">
              <a:spLocks noChangeArrowheads="1"/>
            </p:cNvSpPr>
            <p:nvPr/>
          </p:nvSpPr>
          <p:spPr bwMode="auto">
            <a:xfrm>
              <a:off x="4742" y="1752"/>
              <a:ext cx="992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  <a:ea typeface="ＭＳ Ｐゴシック" panose="020B0600070205080204" pitchFamily="34" charset="-128"/>
                </a:rPr>
                <a:t>umass.edu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  <a:ea typeface="ＭＳ Ｐゴシック" panose="020B0600070205080204" pitchFamily="34" charset="-128"/>
                </a:rPr>
                <a:t>DNS servers</a:t>
              </a:r>
            </a:p>
          </p:txBody>
        </p:sp>
        <p:sp>
          <p:nvSpPr>
            <p:cNvPr id="29713" name="Line 12"/>
            <p:cNvSpPr>
              <a:spLocks noChangeShapeType="1"/>
            </p:cNvSpPr>
            <p:nvPr/>
          </p:nvSpPr>
          <p:spPr bwMode="auto">
            <a:xfrm flipH="1">
              <a:off x="4224" y="1536"/>
              <a:ext cx="336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4" name="Line 13"/>
            <p:cNvSpPr>
              <a:spLocks noChangeShapeType="1"/>
            </p:cNvSpPr>
            <p:nvPr/>
          </p:nvSpPr>
          <p:spPr bwMode="auto">
            <a:xfrm>
              <a:off x="4848" y="1536"/>
              <a:ext cx="288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5" name="Text Box 14"/>
            <p:cNvSpPr txBox="1">
              <a:spLocks noChangeArrowheads="1"/>
            </p:cNvSpPr>
            <p:nvPr/>
          </p:nvSpPr>
          <p:spPr bwMode="auto">
            <a:xfrm>
              <a:off x="230" y="1848"/>
              <a:ext cx="992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  <a:ea typeface="ＭＳ Ｐゴシック" panose="020B0600070205080204" pitchFamily="34" charset="-128"/>
                </a:rPr>
                <a:t>yahoo.com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  <a:ea typeface="ＭＳ Ｐゴシック" panose="020B0600070205080204" pitchFamily="34" charset="-128"/>
                </a:rPr>
                <a:t>DNS servers</a:t>
              </a:r>
            </a:p>
          </p:txBody>
        </p:sp>
        <p:sp>
          <p:nvSpPr>
            <p:cNvPr id="29716" name="Text Box 15"/>
            <p:cNvSpPr txBox="1">
              <a:spLocks noChangeArrowheads="1"/>
            </p:cNvSpPr>
            <p:nvPr/>
          </p:nvSpPr>
          <p:spPr bwMode="auto">
            <a:xfrm>
              <a:off x="1248" y="1872"/>
              <a:ext cx="1001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  <a:ea typeface="ＭＳ Ｐゴシック" panose="020B0600070205080204" pitchFamily="34" charset="-128"/>
                </a:rPr>
                <a:t>amazon.com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  <a:ea typeface="ＭＳ Ｐゴシック" panose="020B0600070205080204" pitchFamily="34" charset="-128"/>
                </a:rPr>
                <a:t>DNS servers</a:t>
              </a:r>
            </a:p>
          </p:txBody>
        </p:sp>
        <p:sp>
          <p:nvSpPr>
            <p:cNvPr id="29717" name="Line 16"/>
            <p:cNvSpPr>
              <a:spLocks noChangeShapeType="1"/>
            </p:cNvSpPr>
            <p:nvPr/>
          </p:nvSpPr>
          <p:spPr bwMode="auto">
            <a:xfrm flipH="1">
              <a:off x="768" y="1584"/>
              <a:ext cx="192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8" name="Line 17"/>
            <p:cNvSpPr>
              <a:spLocks noChangeShapeType="1"/>
            </p:cNvSpPr>
            <p:nvPr/>
          </p:nvSpPr>
          <p:spPr bwMode="auto">
            <a:xfrm>
              <a:off x="1392" y="1584"/>
              <a:ext cx="24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9" name="Text Box 18"/>
            <p:cNvSpPr txBox="1">
              <a:spLocks noChangeArrowheads="1"/>
            </p:cNvSpPr>
            <p:nvPr/>
          </p:nvSpPr>
          <p:spPr bwMode="auto">
            <a:xfrm>
              <a:off x="2534" y="1799"/>
              <a:ext cx="993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  <a:ea typeface="ＭＳ Ｐゴシック" panose="020B0600070205080204" pitchFamily="34" charset="-128"/>
                </a:rPr>
                <a:t>pbs.org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  <a:ea typeface="ＭＳ Ｐゴシック" panose="020B0600070205080204" pitchFamily="34" charset="-128"/>
                </a:rPr>
                <a:t>DNS servers</a:t>
              </a:r>
            </a:p>
          </p:txBody>
        </p:sp>
        <p:sp>
          <p:nvSpPr>
            <p:cNvPr id="29720" name="Line 19"/>
            <p:cNvSpPr>
              <a:spLocks noChangeShapeType="1"/>
            </p:cNvSpPr>
            <p:nvPr/>
          </p:nvSpPr>
          <p:spPr bwMode="auto">
            <a:xfrm>
              <a:off x="2928" y="1536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4084" name="Rectangle 20"/>
          <p:cNvSpPr>
            <a:spLocks noGrp="1" noChangeArrowheads="1"/>
          </p:cNvSpPr>
          <p:nvPr>
            <p:ph type="title"/>
          </p:nvPr>
        </p:nvSpPr>
        <p:spPr>
          <a:xfrm>
            <a:off x="1992314" y="161926"/>
            <a:ext cx="8023225" cy="936625"/>
          </a:xfrm>
        </p:spPr>
        <p:txBody>
          <a:bodyPr/>
          <a:lstStyle/>
          <a:p>
            <a:pPr>
              <a:defRPr/>
            </a:pPr>
            <a:r>
              <a:rPr lang="en-US" altLang="en-US" sz="3600">
                <a:ea typeface="ＭＳ Ｐゴシック" pitchFamily="34" charset="-128"/>
              </a:rPr>
              <a:t>DNS: a distributed, hierarchical database</a:t>
            </a:r>
          </a:p>
        </p:txBody>
      </p:sp>
      <p:sp>
        <p:nvSpPr>
          <p:cNvPr id="29700" name="Rectangle 22"/>
          <p:cNvSpPr>
            <a:spLocks noGrp="1" noChangeArrowheads="1"/>
          </p:cNvSpPr>
          <p:nvPr>
            <p:ph type="body" sz="half" idx="2"/>
          </p:nvPr>
        </p:nvSpPr>
        <p:spPr>
          <a:xfrm>
            <a:off x="2044700" y="3971925"/>
            <a:ext cx="8172450" cy="21336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i="1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client wants IP for www.amazon.com; 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client queries root server to find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.com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DNS server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client queries .com TLD DNS server to get amazon.com DNS server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client queries amazon.com authoritative DNS server to get  IP address for www.amazon.com</a:t>
            </a:r>
          </a:p>
        </p:txBody>
      </p:sp>
      <p:sp>
        <p:nvSpPr>
          <p:cNvPr id="29702" name="Text Box 29"/>
          <p:cNvSpPr txBox="1">
            <a:spLocks noChangeArrowheads="1"/>
          </p:cNvSpPr>
          <p:nvPr/>
        </p:nvSpPr>
        <p:spPr bwMode="auto">
          <a:xfrm>
            <a:off x="5481638" y="1687514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rPr>
              <a:t>…</a:t>
            </a:r>
          </a:p>
        </p:txBody>
      </p:sp>
      <p:sp>
        <p:nvSpPr>
          <p:cNvPr id="29703" name="Text Box 30"/>
          <p:cNvSpPr txBox="1">
            <a:spLocks noChangeArrowheads="1"/>
          </p:cNvSpPr>
          <p:nvPr/>
        </p:nvSpPr>
        <p:spPr bwMode="auto">
          <a:xfrm>
            <a:off x="6045200" y="1685926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03032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9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234950"/>
            <a:ext cx="7772400" cy="914400"/>
          </a:xfrm>
        </p:spPr>
        <p:txBody>
          <a:bodyPr/>
          <a:lstStyle/>
          <a:p>
            <a:pPr>
              <a:defRPr/>
            </a:pPr>
            <a:r>
              <a:rPr lang="en-US" altLang="en-US" smtClean="0">
                <a:ea typeface="ＭＳ Ｐゴシック" pitchFamily="34" charset="-128"/>
              </a:rPr>
              <a:t>TLD, authoritative servers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75816" y="1858964"/>
            <a:ext cx="8159750" cy="46482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i="1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top-level domain (TLD) servers: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responsible for com, org, net, </a:t>
            </a:r>
            <a:r>
              <a:rPr lang="en-US" altLang="en-US" dirty="0" err="1">
                <a:ea typeface="ＭＳ Ｐゴシック" panose="020B0600070205080204" pitchFamily="34" charset="-128"/>
              </a:rPr>
              <a:t>edu</a:t>
            </a:r>
            <a:r>
              <a:rPr lang="en-US" altLang="en-US" dirty="0">
                <a:ea typeface="ＭＳ Ｐゴシック" panose="020B0600070205080204" pitchFamily="34" charset="-128"/>
              </a:rPr>
              <a:t>, aero, jobs, museums, and all top-level country domains, e.g.: </a:t>
            </a:r>
            <a:r>
              <a:rPr lang="en-US" altLang="en-US" dirty="0" err="1">
                <a:ea typeface="ＭＳ Ｐゴシック" panose="020B0600070205080204" pitchFamily="34" charset="-128"/>
              </a:rPr>
              <a:t>uk</a:t>
            </a:r>
            <a:r>
              <a:rPr lang="en-US" altLang="en-US" dirty="0">
                <a:ea typeface="ＭＳ Ｐゴシック" panose="020B0600070205080204" pitchFamily="34" charset="-128"/>
              </a:rPr>
              <a:t>, </a:t>
            </a:r>
            <a:r>
              <a:rPr lang="en-US" altLang="en-US" dirty="0" err="1">
                <a:ea typeface="ＭＳ Ｐゴシック" panose="020B0600070205080204" pitchFamily="34" charset="-128"/>
              </a:rPr>
              <a:t>fr</a:t>
            </a:r>
            <a:r>
              <a:rPr lang="en-US" altLang="en-US" dirty="0">
                <a:ea typeface="ＭＳ Ｐゴシック" panose="020B0600070205080204" pitchFamily="34" charset="-128"/>
              </a:rPr>
              <a:t>, ca, </a:t>
            </a:r>
            <a:r>
              <a:rPr lang="en-US" altLang="en-US" dirty="0" err="1">
                <a:ea typeface="ＭＳ Ｐゴシック" panose="020B0600070205080204" pitchFamily="34" charset="-128"/>
              </a:rPr>
              <a:t>jp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Network Solutions maintains servers for .com TLD</a:t>
            </a:r>
          </a:p>
          <a:p>
            <a:pPr lvl="1"/>
            <a:r>
              <a:rPr lang="en-US" altLang="en-US" dirty="0" err="1">
                <a:ea typeface="ＭＳ Ｐゴシック" panose="020B0600070205080204" pitchFamily="34" charset="-128"/>
              </a:rPr>
              <a:t>Educause</a:t>
            </a:r>
            <a:r>
              <a:rPr lang="en-US" altLang="en-US" dirty="0">
                <a:ea typeface="ＭＳ Ｐゴシック" panose="020B0600070205080204" pitchFamily="34" charset="-128"/>
              </a:rPr>
              <a:t> for .</a:t>
            </a:r>
            <a:r>
              <a:rPr lang="en-US" altLang="en-US" dirty="0" err="1">
                <a:ea typeface="ＭＳ Ｐゴシック" panose="020B0600070205080204" pitchFamily="34" charset="-128"/>
              </a:rPr>
              <a:t>edu</a:t>
            </a:r>
            <a:r>
              <a:rPr lang="en-US" altLang="en-US" dirty="0">
                <a:ea typeface="ＭＳ Ｐゴシック" panose="020B0600070205080204" pitchFamily="34" charset="-128"/>
              </a:rPr>
              <a:t> TLD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i="1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authoritative DNS servers: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organization</a:t>
            </a:r>
            <a:r>
              <a:rPr lang="ja-JP" altLang="en-US" dirty="0"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ea typeface="ＭＳ Ｐゴシック" panose="020B0600070205080204" pitchFamily="34" charset="-128"/>
              </a:rPr>
              <a:t>s own DNS server(s), providing authoritative hostname to IP mappings for organization</a:t>
            </a:r>
            <a:r>
              <a:rPr lang="ja-JP" altLang="en-US" dirty="0"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ea typeface="ＭＳ Ｐゴシック" panose="020B0600070205080204" pitchFamily="34" charset="-128"/>
              </a:rPr>
              <a:t>s named hosts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can be maintained by organization or service provider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5008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7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236538"/>
            <a:ext cx="7772400" cy="957262"/>
          </a:xfrm>
        </p:spPr>
        <p:txBody>
          <a:bodyPr/>
          <a:lstStyle/>
          <a:p>
            <a:pPr>
              <a:defRPr/>
            </a:pPr>
            <a:r>
              <a:rPr lang="en-US" altLang="en-US" dirty="0" smtClean="0">
                <a:ea typeface="ＭＳ Ｐゴシック" pitchFamily="34" charset="-128"/>
              </a:rPr>
              <a:t>Local </a:t>
            </a:r>
            <a:r>
              <a:rPr lang="en-US" altLang="en-US" sz="4000" dirty="0">
                <a:ea typeface="ＭＳ Ｐゴシック" pitchFamily="34" charset="-128"/>
              </a:rPr>
              <a:t>DNS</a:t>
            </a:r>
            <a:r>
              <a:rPr lang="en-US" altLang="en-US" dirty="0" smtClean="0">
                <a:ea typeface="ＭＳ Ｐゴシック" pitchFamily="34" charset="-128"/>
              </a:rPr>
              <a:t> name server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66634" y="1746504"/>
            <a:ext cx="9724453" cy="480060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Does not strictly belong to hierarchy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Each ISP (residential ISP, company, university) has one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also called </a:t>
            </a:r>
            <a:r>
              <a:rPr lang="ja-JP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default name server</a:t>
            </a:r>
            <a:r>
              <a:rPr lang="ja-JP" altLang="en-US" dirty="0">
                <a:ea typeface="ＭＳ Ｐゴシック" panose="020B0600070205080204" pitchFamily="34" charset="-128"/>
              </a:rPr>
              <a:t>”</a:t>
            </a:r>
            <a:endParaRPr lang="en-US" altLang="ja-JP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When host makes DNS query, query is sent to its local DNS server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has local cache of recent name-to-address translation pairs (but may be out of date!)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acts as proxy, forwards query into hierarchy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2773" name="Rectangle 4"/>
          <p:cNvSpPr>
            <a:spLocks noChangeArrowheads="1"/>
          </p:cNvSpPr>
          <p:nvPr/>
        </p:nvSpPr>
        <p:spPr bwMode="auto">
          <a:xfrm>
            <a:off x="3429000" y="5715001"/>
            <a:ext cx="5207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C00000"/>
                </a:solidFill>
              </a:rPr>
              <a:t>Comic Description:   </a:t>
            </a:r>
            <a:r>
              <a:rPr lang="en-US" altLang="en-US" sz="2000">
                <a:solidFill>
                  <a:srgbClr val="C00000"/>
                </a:solidFill>
                <a:hlinkClick r:id="rId3"/>
              </a:rPr>
              <a:t>https://howdns.works/ep1/</a:t>
            </a:r>
            <a:endParaRPr lang="en-US" altLang="en-US" sz="2000">
              <a:solidFill>
                <a:srgbClr val="C00000"/>
              </a:solidFill>
            </a:endParaRPr>
          </a:p>
          <a:p>
            <a:pPr eaLnBrk="1" hangingPunct="1"/>
            <a:endParaRPr lang="en-US" altLang="en-US" sz="20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437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Text Box 5"/>
          <p:cNvSpPr txBox="1">
            <a:spLocks noChangeArrowheads="1"/>
          </p:cNvSpPr>
          <p:nvPr/>
        </p:nvSpPr>
        <p:spPr bwMode="auto">
          <a:xfrm>
            <a:off x="5730875" y="4881564"/>
            <a:ext cx="1746250" cy="61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latin typeface="Arial" panose="020B0604020202020204" pitchFamily="34" charset="0"/>
                <a:ea typeface="ＭＳ Ｐゴシック" panose="020B0600070205080204" pitchFamily="34" charset="-128"/>
              </a:rPr>
              <a:t>requesting host</a:t>
            </a:r>
            <a:endParaRPr lang="en-US" altLang="en-US" sz="240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 i="1">
                <a:solidFill>
                  <a:srgbClr val="000099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cis.poly.edu</a:t>
            </a:r>
          </a:p>
        </p:txBody>
      </p:sp>
      <p:sp>
        <p:nvSpPr>
          <p:cNvPr id="33796" name="Text Box 6"/>
          <p:cNvSpPr txBox="1">
            <a:spLocks noChangeArrowheads="1"/>
          </p:cNvSpPr>
          <p:nvPr/>
        </p:nvSpPr>
        <p:spPr bwMode="auto">
          <a:xfrm>
            <a:off x="8207376" y="5775325"/>
            <a:ext cx="1878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 i="1">
                <a:latin typeface="Arial" panose="020B0604020202020204" pitchFamily="34" charset="0"/>
                <a:ea typeface="ＭＳ Ｐゴシック" panose="020B0600070205080204" pitchFamily="34" charset="-128"/>
              </a:rPr>
              <a:t>gaia.cs.umass.edu</a:t>
            </a:r>
          </a:p>
        </p:txBody>
      </p:sp>
      <p:sp>
        <p:nvSpPr>
          <p:cNvPr id="33797" name="Text Box 17"/>
          <p:cNvSpPr txBox="1">
            <a:spLocks noChangeArrowheads="1"/>
          </p:cNvSpPr>
          <p:nvPr/>
        </p:nvSpPr>
        <p:spPr bwMode="auto">
          <a:xfrm>
            <a:off x="7315201" y="481013"/>
            <a:ext cx="20113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latin typeface="Arial" panose="020B0604020202020204" pitchFamily="34" charset="0"/>
                <a:ea typeface="ＭＳ Ｐゴシック" panose="020B0600070205080204" pitchFamily="34" charset="-128"/>
              </a:rPr>
              <a:t>root DNS server</a:t>
            </a:r>
            <a:endParaRPr lang="en-US" altLang="en-US" sz="16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2770" name="Line 18"/>
          <p:cNvSpPr>
            <a:spLocks noChangeShapeType="1"/>
          </p:cNvSpPr>
          <p:nvPr/>
        </p:nvSpPr>
        <p:spPr bwMode="auto">
          <a:xfrm flipH="1" flipV="1">
            <a:off x="6810375" y="2916238"/>
            <a:ext cx="0" cy="13144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771" name="Line 19"/>
          <p:cNvSpPr>
            <a:spLocks noChangeShapeType="1"/>
          </p:cNvSpPr>
          <p:nvPr/>
        </p:nvSpPr>
        <p:spPr bwMode="auto">
          <a:xfrm flipV="1">
            <a:off x="6924675" y="1220788"/>
            <a:ext cx="914400" cy="9715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772" name="Line 20"/>
          <p:cNvSpPr>
            <a:spLocks noChangeShapeType="1"/>
          </p:cNvSpPr>
          <p:nvPr/>
        </p:nvSpPr>
        <p:spPr bwMode="auto">
          <a:xfrm flipV="1">
            <a:off x="7210425" y="2382839"/>
            <a:ext cx="1485900" cy="95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773" name="Line 21"/>
          <p:cNvSpPr>
            <a:spLocks noChangeShapeType="1"/>
          </p:cNvSpPr>
          <p:nvPr/>
        </p:nvSpPr>
        <p:spPr bwMode="auto">
          <a:xfrm flipH="1" flipV="1">
            <a:off x="7210426" y="2554288"/>
            <a:ext cx="14192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774" name="Line 22"/>
          <p:cNvSpPr>
            <a:spLocks noChangeShapeType="1"/>
          </p:cNvSpPr>
          <p:nvPr/>
        </p:nvSpPr>
        <p:spPr bwMode="auto">
          <a:xfrm flipH="1">
            <a:off x="7134226" y="1449388"/>
            <a:ext cx="733425" cy="7620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775" name="Line 23"/>
          <p:cNvSpPr>
            <a:spLocks noChangeShapeType="1"/>
          </p:cNvSpPr>
          <p:nvPr/>
        </p:nvSpPr>
        <p:spPr bwMode="auto">
          <a:xfrm>
            <a:off x="7000876" y="2933701"/>
            <a:ext cx="9525" cy="13239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3804" name="Group 24"/>
          <p:cNvGrpSpPr>
            <a:grpSpLocks/>
          </p:cNvGrpSpPr>
          <p:nvPr/>
        </p:nvGrpSpPr>
        <p:grpSpPr bwMode="auto">
          <a:xfrm>
            <a:off x="5703888" y="3062289"/>
            <a:ext cx="1898650" cy="611187"/>
            <a:chOff x="2831" y="2132"/>
            <a:chExt cx="1196" cy="385"/>
          </a:xfrm>
        </p:grpSpPr>
        <p:sp>
          <p:nvSpPr>
            <p:cNvPr id="33958" name="Rectangle 25"/>
            <p:cNvSpPr>
              <a:spLocks noChangeArrowheads="1"/>
            </p:cNvSpPr>
            <p:nvPr/>
          </p:nvSpPr>
          <p:spPr bwMode="auto">
            <a:xfrm>
              <a:off x="2838" y="2178"/>
              <a:ext cx="1182" cy="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959" name="Text Box 26"/>
            <p:cNvSpPr txBox="1">
              <a:spLocks noChangeArrowheads="1"/>
            </p:cNvSpPr>
            <p:nvPr/>
          </p:nvSpPr>
          <p:spPr bwMode="auto">
            <a:xfrm>
              <a:off x="2831" y="2132"/>
              <a:ext cx="1196" cy="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  <a:ea typeface="ＭＳ Ｐゴシック" panose="020B0600070205080204" pitchFamily="34" charset="-128"/>
                </a:rPr>
                <a:t>local DNS server</a:t>
              </a:r>
              <a:endParaRPr lang="en-US" altLang="en-US" sz="24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 i="1">
                  <a:solidFill>
                    <a:srgbClr val="000099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dns.poly.edu</a:t>
              </a:r>
            </a:p>
          </p:txBody>
        </p:sp>
      </p:grpSp>
      <p:sp>
        <p:nvSpPr>
          <p:cNvPr id="202779" name="Text Box 27"/>
          <p:cNvSpPr txBox="1">
            <a:spLocks noChangeArrowheads="1"/>
          </p:cNvSpPr>
          <p:nvPr/>
        </p:nvSpPr>
        <p:spPr bwMode="auto">
          <a:xfrm>
            <a:off x="6521450" y="377190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endParaRPr lang="en-US" altLang="en-US" sz="2400">
              <a:solidFill>
                <a:srgbClr val="CC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2780" name="Text Box 28"/>
          <p:cNvSpPr txBox="1">
            <a:spLocks noChangeArrowheads="1"/>
          </p:cNvSpPr>
          <p:nvPr/>
        </p:nvSpPr>
        <p:spPr bwMode="auto">
          <a:xfrm>
            <a:off x="7064375" y="1438276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endParaRPr lang="en-US" altLang="en-US" sz="2400">
              <a:solidFill>
                <a:srgbClr val="CC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2781" name="Text Box 29"/>
          <p:cNvSpPr txBox="1">
            <a:spLocks noChangeArrowheads="1"/>
          </p:cNvSpPr>
          <p:nvPr/>
        </p:nvSpPr>
        <p:spPr bwMode="auto">
          <a:xfrm>
            <a:off x="7502525" y="167640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3</a:t>
            </a:r>
            <a:endParaRPr lang="en-US" altLang="en-US" sz="2400">
              <a:solidFill>
                <a:srgbClr val="CC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2782" name="Text Box 30"/>
          <p:cNvSpPr txBox="1">
            <a:spLocks noChangeArrowheads="1"/>
          </p:cNvSpPr>
          <p:nvPr/>
        </p:nvSpPr>
        <p:spPr bwMode="auto">
          <a:xfrm>
            <a:off x="7816850" y="2085976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4</a:t>
            </a:r>
            <a:endParaRPr lang="en-US" altLang="en-US" sz="2400">
              <a:solidFill>
                <a:srgbClr val="CC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2783" name="Text Box 31"/>
          <p:cNvSpPr txBox="1">
            <a:spLocks noChangeArrowheads="1"/>
          </p:cNvSpPr>
          <p:nvPr/>
        </p:nvSpPr>
        <p:spPr bwMode="auto">
          <a:xfrm>
            <a:off x="7847013" y="25733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5</a:t>
            </a:r>
            <a:endParaRPr lang="en-US" altLang="en-US" sz="2400">
              <a:solidFill>
                <a:srgbClr val="CC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2784" name="Text Box 32"/>
          <p:cNvSpPr txBox="1">
            <a:spLocks noChangeArrowheads="1"/>
          </p:cNvSpPr>
          <p:nvPr/>
        </p:nvSpPr>
        <p:spPr bwMode="auto">
          <a:xfrm>
            <a:off x="8443913" y="361315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6</a:t>
            </a:r>
            <a:endParaRPr lang="en-US" altLang="en-US" sz="2400">
              <a:solidFill>
                <a:srgbClr val="CC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3811" name="Text Box 60"/>
          <p:cNvSpPr txBox="1">
            <a:spLocks noChangeArrowheads="1"/>
          </p:cNvSpPr>
          <p:nvPr/>
        </p:nvSpPr>
        <p:spPr bwMode="auto">
          <a:xfrm>
            <a:off x="7877176" y="4429126"/>
            <a:ext cx="23971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latin typeface="Arial" panose="020B0604020202020204" pitchFamily="34" charset="0"/>
                <a:ea typeface="ＭＳ Ｐゴシック" panose="020B0600070205080204" pitchFamily="34" charset="-128"/>
              </a:rPr>
              <a:t>authoritative DNS server</a:t>
            </a:r>
            <a:endParaRPr lang="en-US" altLang="en-US" sz="240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 b="1">
                <a:latin typeface="Arial" panose="020B0604020202020204" pitchFamily="34" charset="0"/>
                <a:ea typeface="ＭＳ Ｐゴシック" panose="020B0600070205080204" pitchFamily="34" charset="-128"/>
              </a:rPr>
              <a:t>dns.cs.umass.edu</a:t>
            </a:r>
            <a:endParaRPr lang="en-US" altLang="en-US" sz="16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2813" name="Text Box 61"/>
          <p:cNvSpPr txBox="1">
            <a:spLocks noChangeArrowheads="1"/>
          </p:cNvSpPr>
          <p:nvPr/>
        </p:nvSpPr>
        <p:spPr bwMode="auto">
          <a:xfrm>
            <a:off x="7816850" y="36433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7</a:t>
            </a:r>
            <a:endParaRPr lang="en-US" altLang="en-US" sz="2400">
              <a:solidFill>
                <a:srgbClr val="CC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2814" name="Text Box 62"/>
          <p:cNvSpPr txBox="1">
            <a:spLocks noChangeArrowheads="1"/>
          </p:cNvSpPr>
          <p:nvPr/>
        </p:nvSpPr>
        <p:spPr bwMode="auto">
          <a:xfrm>
            <a:off x="7073900" y="379095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8</a:t>
            </a:r>
            <a:endParaRPr lang="en-US" altLang="en-US" sz="2400">
              <a:solidFill>
                <a:srgbClr val="CC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2815" name="Line 63"/>
          <p:cNvSpPr>
            <a:spLocks noChangeShapeType="1"/>
          </p:cNvSpPr>
          <p:nvPr/>
        </p:nvSpPr>
        <p:spPr bwMode="auto">
          <a:xfrm>
            <a:off x="7143750" y="2714625"/>
            <a:ext cx="1493838" cy="13144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2816" name="Line 64"/>
          <p:cNvSpPr>
            <a:spLocks noChangeShapeType="1"/>
          </p:cNvSpPr>
          <p:nvPr/>
        </p:nvSpPr>
        <p:spPr bwMode="auto">
          <a:xfrm flipH="1" flipV="1">
            <a:off x="7104064" y="2840038"/>
            <a:ext cx="1493837" cy="13017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6" name="Text Box 65"/>
          <p:cNvSpPr txBox="1">
            <a:spLocks noChangeArrowheads="1"/>
          </p:cNvSpPr>
          <p:nvPr/>
        </p:nvSpPr>
        <p:spPr bwMode="auto">
          <a:xfrm>
            <a:off x="8075613" y="1852613"/>
            <a:ext cx="20113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latin typeface="Arial" panose="020B0604020202020204" pitchFamily="34" charset="0"/>
                <a:ea typeface="ＭＳ Ｐゴシック" panose="020B0600070205080204" pitchFamily="34" charset="-128"/>
              </a:rPr>
              <a:t>TLD DNS server</a:t>
            </a:r>
            <a:endParaRPr lang="en-US" altLang="en-US" sz="16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82298" name="Rectangle 66"/>
          <p:cNvSpPr>
            <a:spLocks noGrp="1" noChangeArrowheads="1"/>
          </p:cNvSpPr>
          <p:nvPr>
            <p:ph type="title"/>
          </p:nvPr>
        </p:nvSpPr>
        <p:spPr>
          <a:xfrm>
            <a:off x="2057400" y="217488"/>
            <a:ext cx="4910138" cy="1143000"/>
          </a:xfrm>
        </p:spPr>
        <p:txBody>
          <a:bodyPr/>
          <a:lstStyle/>
          <a:p>
            <a:pPr>
              <a:lnSpc>
                <a:spcPct val="85000"/>
              </a:lnSpc>
              <a:defRPr/>
            </a:pPr>
            <a:r>
              <a:rPr lang="en-US" altLang="en-US" sz="4000">
                <a:ea typeface="ＭＳ Ｐゴシック" pitchFamily="34" charset="-128"/>
              </a:rPr>
              <a:t>DNS name </a:t>
            </a:r>
            <a:br>
              <a:rPr lang="en-US" altLang="en-US" sz="4000">
                <a:ea typeface="ＭＳ Ｐゴシック" pitchFamily="34" charset="-128"/>
              </a:rPr>
            </a:br>
            <a:r>
              <a:rPr lang="en-US" altLang="en-US" sz="4000">
                <a:ea typeface="ＭＳ Ｐゴシック" pitchFamily="34" charset="-128"/>
              </a:rPr>
              <a:t>resolution example</a:t>
            </a:r>
          </a:p>
        </p:txBody>
      </p:sp>
      <p:sp>
        <p:nvSpPr>
          <p:cNvPr id="33818" name="Rectangle 67"/>
          <p:cNvSpPr>
            <a:spLocks noGrp="1" noChangeArrowheads="1"/>
          </p:cNvSpPr>
          <p:nvPr>
            <p:ph type="body" sz="half" idx="1"/>
          </p:nvPr>
        </p:nvSpPr>
        <p:spPr>
          <a:xfrm>
            <a:off x="1752601" y="1725613"/>
            <a:ext cx="3978275" cy="4648200"/>
          </a:xfrm>
        </p:spPr>
        <p:txBody>
          <a:bodyPr/>
          <a:lstStyle/>
          <a:p>
            <a:r>
              <a:rPr lang="en-US" altLang="en-US" sz="2400">
                <a:ea typeface="ＭＳ Ｐゴシック" panose="020B0600070205080204" pitchFamily="34" charset="-128"/>
              </a:rPr>
              <a:t>host at cis.poly.edu wants IP address for gaia.cs.umass.edu</a:t>
            </a:r>
          </a:p>
        </p:txBody>
      </p:sp>
      <p:sp>
        <p:nvSpPr>
          <p:cNvPr id="33819" name="Rectangle 69"/>
          <p:cNvSpPr>
            <a:spLocks noChangeArrowheads="1"/>
          </p:cNvSpPr>
          <p:nvPr/>
        </p:nvSpPr>
        <p:spPr bwMode="auto">
          <a:xfrm>
            <a:off x="2106613" y="3094039"/>
            <a:ext cx="3478212" cy="261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i="1">
                <a:solidFill>
                  <a:srgbClr val="CC0000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rPr>
              <a:t>iterated query:</a:t>
            </a:r>
          </a:p>
          <a:p>
            <a:pPr eaLnBrk="1" hangingPunct="1">
              <a:lnSpc>
                <a:spcPct val="114000"/>
              </a:lnSpc>
              <a:spcBef>
                <a:spcPct val="0"/>
              </a:spcBef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sz="2400">
                <a:latin typeface="Gill Sans MT" panose="020B0502020104020203" pitchFamily="34" charset="0"/>
                <a:ea typeface="ＭＳ Ｐゴシック" panose="020B0600070205080204" pitchFamily="34" charset="-128"/>
              </a:rPr>
              <a:t>Contacted server replies with name of server to contact</a:t>
            </a:r>
          </a:p>
          <a:p>
            <a:pPr eaLnBrk="1" hangingPunct="1">
              <a:lnSpc>
                <a:spcPct val="114000"/>
              </a:lnSpc>
              <a:spcBef>
                <a:spcPct val="0"/>
              </a:spcBef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ja-JP" altLang="en-US" sz="2400">
                <a:latin typeface="Gill Sans MT" panose="020B0502020104020203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ja-JP" sz="2400">
                <a:latin typeface="Gill Sans MT" panose="020B0502020104020203" pitchFamily="34" charset="0"/>
                <a:ea typeface="ＭＳ Ｐゴシック" panose="020B0600070205080204" pitchFamily="34" charset="-128"/>
              </a:rPr>
              <a:t>I don</a:t>
            </a:r>
            <a:r>
              <a:rPr lang="ja-JP" altLang="en-US" sz="2400">
                <a:latin typeface="Gill Sans MT" panose="020B0502020104020203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latin typeface="Gill Sans MT" panose="020B0502020104020203" pitchFamily="34" charset="0"/>
                <a:ea typeface="ＭＳ Ｐゴシック" panose="020B0600070205080204" pitchFamily="34" charset="-128"/>
              </a:rPr>
              <a:t>t know this name, but ask this server</a:t>
            </a:r>
            <a:r>
              <a:rPr lang="ja-JP" altLang="en-US" sz="2400">
                <a:latin typeface="Gill Sans MT" panose="020B0502020104020203" pitchFamily="34" charset="0"/>
                <a:ea typeface="ＭＳ Ｐゴシック" panose="020B0600070205080204" pitchFamily="34" charset="-128"/>
              </a:rPr>
              <a:t>”</a:t>
            </a:r>
            <a:endParaRPr lang="en-US" altLang="en-US" sz="2400">
              <a:latin typeface="Gill Sans MT" panose="020B0502020104020203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33820" name="Group 86"/>
          <p:cNvGrpSpPr>
            <a:grpSpLocks/>
          </p:cNvGrpSpPr>
          <p:nvPr/>
        </p:nvGrpSpPr>
        <p:grpSpPr bwMode="auto">
          <a:xfrm flipH="1">
            <a:off x="8750301" y="5091114"/>
            <a:ext cx="925513" cy="795337"/>
            <a:chOff x="-44" y="1473"/>
            <a:chExt cx="981" cy="1105"/>
          </a:xfrm>
        </p:grpSpPr>
        <p:pic>
          <p:nvPicPr>
            <p:cNvPr id="33956" name="Picture 87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957" name="Freeform 8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7884 w 356"/>
                <a:gd name="T3" fmla="*/ 5998 h 368"/>
                <a:gd name="T4" fmla="*/ 92393 w 356"/>
                <a:gd name="T5" fmla="*/ 124961 h 368"/>
                <a:gd name="T6" fmla="*/ 20362 w 356"/>
                <a:gd name="T7" fmla="*/ 15628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3821" name="Group 89"/>
          <p:cNvGrpSpPr>
            <a:grpSpLocks/>
          </p:cNvGrpSpPr>
          <p:nvPr/>
        </p:nvGrpSpPr>
        <p:grpSpPr bwMode="auto">
          <a:xfrm>
            <a:off x="6289676" y="4244975"/>
            <a:ext cx="925513" cy="795338"/>
            <a:chOff x="-44" y="1473"/>
            <a:chExt cx="981" cy="1105"/>
          </a:xfrm>
        </p:grpSpPr>
        <p:pic>
          <p:nvPicPr>
            <p:cNvPr id="33954" name="Picture 90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955" name="Freeform 9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7884 w 356"/>
                <a:gd name="T3" fmla="*/ 5998 h 368"/>
                <a:gd name="T4" fmla="*/ 92393 w 356"/>
                <a:gd name="T5" fmla="*/ 124961 h 368"/>
                <a:gd name="T6" fmla="*/ 20362 w 356"/>
                <a:gd name="T7" fmla="*/ 15628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3822" name="Group 125"/>
          <p:cNvGrpSpPr>
            <a:grpSpLocks/>
          </p:cNvGrpSpPr>
          <p:nvPr/>
        </p:nvGrpSpPr>
        <p:grpSpPr bwMode="auto">
          <a:xfrm>
            <a:off x="8750301" y="3743325"/>
            <a:ext cx="390525" cy="641350"/>
            <a:chOff x="4140" y="429"/>
            <a:chExt cx="1425" cy="2396"/>
          </a:xfrm>
        </p:grpSpPr>
        <p:sp>
          <p:nvSpPr>
            <p:cNvPr id="33922" name="Freeform 126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5 w 354"/>
                <a:gd name="T3" fmla="*/ 11 h 2742"/>
                <a:gd name="T4" fmla="*/ 5 w 354"/>
                <a:gd name="T5" fmla="*/ 83 h 2742"/>
                <a:gd name="T6" fmla="*/ 0 w 354"/>
                <a:gd name="T7" fmla="*/ 86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23" name="Rectangle 127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924" name="Freeform 128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3 w 211"/>
                <a:gd name="T3" fmla="*/ 8 h 2537"/>
                <a:gd name="T4" fmla="*/ 2 w 211"/>
                <a:gd name="T5" fmla="*/ 7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25" name="Freeform 129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5 w 328"/>
                <a:gd name="T3" fmla="*/ 5 h 226"/>
                <a:gd name="T4" fmla="*/ 5 w 328"/>
                <a:gd name="T5" fmla="*/ 8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26" name="Rectangle 130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3927" name="Group 131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3952" name="AutoShape 132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953" name="AutoShape 133"/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33928" name="Rectangle 134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3929" name="Group 135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3950" name="AutoShape 136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951" name="AutoShape 137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33930" name="Rectangle 138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931" name="Rectangle 139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3932" name="Group 140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3948" name="AutoShape 141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949" name="AutoShape 142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33933" name="Freeform 143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5 w 328"/>
                <a:gd name="T3" fmla="*/ 4 h 226"/>
                <a:gd name="T4" fmla="*/ 5 w 328"/>
                <a:gd name="T5" fmla="*/ 7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3934" name="Group 144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3946" name="AutoShape 145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947" name="AutoShape 146"/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33935" name="Rectangle 147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936" name="Freeform 148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5 w 296"/>
                <a:gd name="T3" fmla="*/ 4 h 256"/>
                <a:gd name="T4" fmla="*/ 5 w 296"/>
                <a:gd name="T5" fmla="*/ 7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37" name="Freeform 149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5 w 304"/>
                <a:gd name="T3" fmla="*/ 6 h 288"/>
                <a:gd name="T4" fmla="*/ 4 w 304"/>
                <a:gd name="T5" fmla="*/ 9 h 288"/>
                <a:gd name="T6" fmla="*/ 2 w 304"/>
                <a:gd name="T7" fmla="*/ 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38" name="Oval 150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939" name="Freeform 151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 h 240"/>
                <a:gd name="T2" fmla="*/ 2 w 306"/>
                <a:gd name="T3" fmla="*/ 8 h 240"/>
                <a:gd name="T4" fmla="*/ 5 w 306"/>
                <a:gd name="T5" fmla="*/ 4 h 240"/>
                <a:gd name="T6" fmla="*/ 5 w 306"/>
                <a:gd name="T7" fmla="*/ 0 h 240"/>
                <a:gd name="T8" fmla="*/ 0 w 306"/>
                <a:gd name="T9" fmla="*/ 4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40" name="AutoShape 152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941" name="AutoShape 153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942" name="Oval 154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943" name="Oval 155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944" name="Oval 156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945" name="Rectangle 157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823" name="Group 158"/>
          <p:cNvGrpSpPr>
            <a:grpSpLocks/>
          </p:cNvGrpSpPr>
          <p:nvPr/>
        </p:nvGrpSpPr>
        <p:grpSpPr bwMode="auto">
          <a:xfrm>
            <a:off x="6746876" y="2230438"/>
            <a:ext cx="390525" cy="641350"/>
            <a:chOff x="4140" y="429"/>
            <a:chExt cx="1425" cy="2396"/>
          </a:xfrm>
        </p:grpSpPr>
        <p:sp>
          <p:nvSpPr>
            <p:cNvPr id="33890" name="Freeform 159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5 w 354"/>
                <a:gd name="T3" fmla="*/ 11 h 2742"/>
                <a:gd name="T4" fmla="*/ 5 w 354"/>
                <a:gd name="T5" fmla="*/ 83 h 2742"/>
                <a:gd name="T6" fmla="*/ 0 w 354"/>
                <a:gd name="T7" fmla="*/ 86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91" name="Rectangle 160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892" name="Freeform 161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3 w 211"/>
                <a:gd name="T3" fmla="*/ 8 h 2537"/>
                <a:gd name="T4" fmla="*/ 2 w 211"/>
                <a:gd name="T5" fmla="*/ 7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93" name="Freeform 162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5 w 328"/>
                <a:gd name="T3" fmla="*/ 5 h 226"/>
                <a:gd name="T4" fmla="*/ 5 w 328"/>
                <a:gd name="T5" fmla="*/ 8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94" name="Rectangle 163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3895" name="Group 164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3920" name="AutoShape 165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921" name="AutoShape 166"/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33896" name="Rectangle 167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3897" name="Group 168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3918" name="AutoShape 169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919" name="AutoShape 170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33898" name="Rectangle 171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899" name="Rectangle 172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3900" name="Group 173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3916" name="AutoShape 174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917" name="AutoShape 175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33901" name="Freeform 176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5 w 328"/>
                <a:gd name="T3" fmla="*/ 4 h 226"/>
                <a:gd name="T4" fmla="*/ 5 w 328"/>
                <a:gd name="T5" fmla="*/ 7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3902" name="Group 177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3914" name="AutoShape 178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915" name="AutoShape 179"/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33903" name="Rectangle 180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904" name="Freeform 181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5 w 296"/>
                <a:gd name="T3" fmla="*/ 4 h 256"/>
                <a:gd name="T4" fmla="*/ 5 w 296"/>
                <a:gd name="T5" fmla="*/ 7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05" name="Freeform 182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5 w 304"/>
                <a:gd name="T3" fmla="*/ 6 h 288"/>
                <a:gd name="T4" fmla="*/ 4 w 304"/>
                <a:gd name="T5" fmla="*/ 9 h 288"/>
                <a:gd name="T6" fmla="*/ 2 w 304"/>
                <a:gd name="T7" fmla="*/ 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06" name="Oval 183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907" name="Freeform 184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 h 240"/>
                <a:gd name="T2" fmla="*/ 2 w 306"/>
                <a:gd name="T3" fmla="*/ 8 h 240"/>
                <a:gd name="T4" fmla="*/ 5 w 306"/>
                <a:gd name="T5" fmla="*/ 4 h 240"/>
                <a:gd name="T6" fmla="*/ 5 w 306"/>
                <a:gd name="T7" fmla="*/ 0 h 240"/>
                <a:gd name="T8" fmla="*/ 0 w 306"/>
                <a:gd name="T9" fmla="*/ 4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08" name="AutoShape 185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909" name="AutoShape 186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910" name="Oval 187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911" name="Oval 188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912" name="Oval 189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913" name="Rectangle 190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824" name="Group 224"/>
          <p:cNvGrpSpPr>
            <a:grpSpLocks/>
          </p:cNvGrpSpPr>
          <p:nvPr/>
        </p:nvGrpSpPr>
        <p:grpSpPr bwMode="auto">
          <a:xfrm>
            <a:off x="7900989" y="968375"/>
            <a:ext cx="390525" cy="641350"/>
            <a:chOff x="4140" y="429"/>
            <a:chExt cx="1425" cy="2396"/>
          </a:xfrm>
        </p:grpSpPr>
        <p:sp>
          <p:nvSpPr>
            <p:cNvPr id="33858" name="Freeform 225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5 w 354"/>
                <a:gd name="T3" fmla="*/ 11 h 2742"/>
                <a:gd name="T4" fmla="*/ 5 w 354"/>
                <a:gd name="T5" fmla="*/ 83 h 2742"/>
                <a:gd name="T6" fmla="*/ 0 w 354"/>
                <a:gd name="T7" fmla="*/ 86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59" name="Rectangle 226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860" name="Freeform 227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3 w 211"/>
                <a:gd name="T3" fmla="*/ 8 h 2537"/>
                <a:gd name="T4" fmla="*/ 2 w 211"/>
                <a:gd name="T5" fmla="*/ 7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61" name="Freeform 228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5 w 328"/>
                <a:gd name="T3" fmla="*/ 5 h 226"/>
                <a:gd name="T4" fmla="*/ 5 w 328"/>
                <a:gd name="T5" fmla="*/ 8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62" name="Rectangle 229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3863" name="Group 230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3888" name="AutoShape 231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889" name="AutoShape 232"/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33864" name="Rectangle 233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3865" name="Group 234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3886" name="AutoShape 235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887" name="AutoShape 236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33866" name="Rectangle 237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867" name="Rectangle 238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3868" name="Group 239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3884" name="AutoShape 240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885" name="AutoShape 241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33869" name="Freeform 242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5 w 328"/>
                <a:gd name="T3" fmla="*/ 4 h 226"/>
                <a:gd name="T4" fmla="*/ 5 w 328"/>
                <a:gd name="T5" fmla="*/ 7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3870" name="Group 243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3882" name="AutoShape 244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883" name="AutoShape 245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33871" name="Rectangle 246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872" name="Freeform 247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5 w 296"/>
                <a:gd name="T3" fmla="*/ 4 h 256"/>
                <a:gd name="T4" fmla="*/ 5 w 296"/>
                <a:gd name="T5" fmla="*/ 7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73" name="Freeform 248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5 w 304"/>
                <a:gd name="T3" fmla="*/ 6 h 288"/>
                <a:gd name="T4" fmla="*/ 4 w 304"/>
                <a:gd name="T5" fmla="*/ 9 h 288"/>
                <a:gd name="T6" fmla="*/ 2 w 304"/>
                <a:gd name="T7" fmla="*/ 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74" name="Oval 249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875" name="Freeform 250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 h 240"/>
                <a:gd name="T2" fmla="*/ 2 w 306"/>
                <a:gd name="T3" fmla="*/ 8 h 240"/>
                <a:gd name="T4" fmla="*/ 5 w 306"/>
                <a:gd name="T5" fmla="*/ 4 h 240"/>
                <a:gd name="T6" fmla="*/ 5 w 306"/>
                <a:gd name="T7" fmla="*/ 0 h 240"/>
                <a:gd name="T8" fmla="*/ 0 w 306"/>
                <a:gd name="T9" fmla="*/ 4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76" name="AutoShape 251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877" name="AutoShape 252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878" name="Oval 253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879" name="Oval 254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880" name="Oval 255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881" name="Rectangle 256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825" name="Group 257"/>
          <p:cNvGrpSpPr>
            <a:grpSpLocks/>
          </p:cNvGrpSpPr>
          <p:nvPr/>
        </p:nvGrpSpPr>
        <p:grpSpPr bwMode="auto">
          <a:xfrm>
            <a:off x="8716964" y="2220913"/>
            <a:ext cx="390525" cy="641350"/>
            <a:chOff x="4140" y="429"/>
            <a:chExt cx="1425" cy="2396"/>
          </a:xfrm>
        </p:grpSpPr>
        <p:sp>
          <p:nvSpPr>
            <p:cNvPr id="33826" name="Freeform 25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5 w 354"/>
                <a:gd name="T3" fmla="*/ 11 h 2742"/>
                <a:gd name="T4" fmla="*/ 5 w 354"/>
                <a:gd name="T5" fmla="*/ 83 h 2742"/>
                <a:gd name="T6" fmla="*/ 0 w 354"/>
                <a:gd name="T7" fmla="*/ 86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7" name="Rectangle 259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828" name="Freeform 26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3 w 211"/>
                <a:gd name="T3" fmla="*/ 8 h 2537"/>
                <a:gd name="T4" fmla="*/ 2 w 211"/>
                <a:gd name="T5" fmla="*/ 7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9" name="Freeform 26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5 w 328"/>
                <a:gd name="T3" fmla="*/ 5 h 226"/>
                <a:gd name="T4" fmla="*/ 5 w 328"/>
                <a:gd name="T5" fmla="*/ 8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0" name="Rectangle 262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3831" name="Group 26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3856" name="AutoShape 264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857" name="AutoShape 265"/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33832" name="Rectangle 266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3833" name="Group 26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3854" name="AutoShape 268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855" name="AutoShape 269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33834" name="Rectangle 270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835" name="Rectangle 271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3836" name="Group 27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3852" name="AutoShape 273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853" name="AutoShape 274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33837" name="Freeform 27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5 w 328"/>
                <a:gd name="T3" fmla="*/ 4 h 226"/>
                <a:gd name="T4" fmla="*/ 5 w 328"/>
                <a:gd name="T5" fmla="*/ 7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3838" name="Group 27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3850" name="AutoShape 277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851" name="AutoShape 278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33839" name="Rectangle 279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840" name="Freeform 28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5 w 296"/>
                <a:gd name="T3" fmla="*/ 4 h 256"/>
                <a:gd name="T4" fmla="*/ 5 w 296"/>
                <a:gd name="T5" fmla="*/ 7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1" name="Freeform 28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5 w 304"/>
                <a:gd name="T3" fmla="*/ 6 h 288"/>
                <a:gd name="T4" fmla="*/ 4 w 304"/>
                <a:gd name="T5" fmla="*/ 9 h 288"/>
                <a:gd name="T6" fmla="*/ 2 w 304"/>
                <a:gd name="T7" fmla="*/ 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2" name="Oval 282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843" name="Freeform 28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 h 240"/>
                <a:gd name="T2" fmla="*/ 2 w 306"/>
                <a:gd name="T3" fmla="*/ 8 h 240"/>
                <a:gd name="T4" fmla="*/ 5 w 306"/>
                <a:gd name="T5" fmla="*/ 4 h 240"/>
                <a:gd name="T6" fmla="*/ 5 w 306"/>
                <a:gd name="T7" fmla="*/ 0 h 240"/>
                <a:gd name="T8" fmla="*/ 0 w 306"/>
                <a:gd name="T9" fmla="*/ 4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4" name="AutoShape 284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845" name="AutoShape 285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846" name="Oval 286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847" name="Oval 287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848" name="Oval 288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849" name="Rectangle 289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951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79" grpId="0"/>
      <p:bldP spid="202780" grpId="0"/>
      <p:bldP spid="202781" grpId="0"/>
      <p:bldP spid="202782" grpId="0"/>
      <p:bldP spid="202783" grpId="0"/>
      <p:bldP spid="202784" grpId="0"/>
      <p:bldP spid="202813" grpId="0"/>
      <p:bldP spid="2028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reeform 406"/>
          <p:cNvSpPr>
            <a:spLocks/>
          </p:cNvSpPr>
          <p:nvPr/>
        </p:nvSpPr>
        <p:spPr bwMode="auto">
          <a:xfrm>
            <a:off x="6275389" y="706438"/>
            <a:ext cx="3894137" cy="3192462"/>
          </a:xfrm>
          <a:custGeom>
            <a:avLst/>
            <a:gdLst>
              <a:gd name="T0" fmla="*/ 2147483647 w 2453"/>
              <a:gd name="T1" fmla="*/ 2147483647 h 2011"/>
              <a:gd name="T2" fmla="*/ 2147483647 w 2453"/>
              <a:gd name="T3" fmla="*/ 2147483647 h 2011"/>
              <a:gd name="T4" fmla="*/ 2147483647 w 2453"/>
              <a:gd name="T5" fmla="*/ 2147483647 h 2011"/>
              <a:gd name="T6" fmla="*/ 2147483647 w 2453"/>
              <a:gd name="T7" fmla="*/ 2147483647 h 2011"/>
              <a:gd name="T8" fmla="*/ 2147483647 w 2453"/>
              <a:gd name="T9" fmla="*/ 2147483647 h 2011"/>
              <a:gd name="T10" fmla="*/ 2147483647 w 2453"/>
              <a:gd name="T11" fmla="*/ 2147483647 h 2011"/>
              <a:gd name="T12" fmla="*/ 2147483647 w 2453"/>
              <a:gd name="T13" fmla="*/ 2147483647 h 2011"/>
              <a:gd name="T14" fmla="*/ 2147483647 w 2453"/>
              <a:gd name="T15" fmla="*/ 2147483647 h 2011"/>
              <a:gd name="T16" fmla="*/ 2147483647 w 2453"/>
              <a:gd name="T17" fmla="*/ 2147483647 h 2011"/>
              <a:gd name="T18" fmla="*/ 2147483647 w 2453"/>
              <a:gd name="T19" fmla="*/ 2147483647 h 2011"/>
              <a:gd name="T20" fmla="*/ 2147483647 w 2453"/>
              <a:gd name="T21" fmla="*/ 2147483647 h 2011"/>
              <a:gd name="T22" fmla="*/ 2147483647 w 2453"/>
              <a:gd name="T23" fmla="*/ 2147483647 h 2011"/>
              <a:gd name="T24" fmla="*/ 2147483647 w 2453"/>
              <a:gd name="T25" fmla="*/ 2147483647 h 2011"/>
              <a:gd name="T26" fmla="*/ 2147483647 w 2453"/>
              <a:gd name="T27" fmla="*/ 2147483647 h 2011"/>
              <a:gd name="T28" fmla="*/ 2147483647 w 2453"/>
              <a:gd name="T29" fmla="*/ 2147483647 h 2011"/>
              <a:gd name="T30" fmla="*/ 2147483647 w 2453"/>
              <a:gd name="T31" fmla="*/ 2147483647 h 2011"/>
              <a:gd name="T32" fmla="*/ 2147483647 w 2453"/>
              <a:gd name="T33" fmla="*/ 2147483647 h 2011"/>
              <a:gd name="T34" fmla="*/ 2147483647 w 2453"/>
              <a:gd name="T35" fmla="*/ 2147483647 h 2011"/>
              <a:gd name="T36" fmla="*/ 2147483647 w 2453"/>
              <a:gd name="T37" fmla="*/ 2147483647 h 2011"/>
              <a:gd name="T38" fmla="*/ 2147483647 w 2453"/>
              <a:gd name="T39" fmla="*/ 2147483647 h 2011"/>
              <a:gd name="T40" fmla="*/ 2147483647 w 2453"/>
              <a:gd name="T41" fmla="*/ 2147483647 h 2011"/>
              <a:gd name="T42" fmla="*/ 2147483647 w 2453"/>
              <a:gd name="T43" fmla="*/ 2147483647 h 2011"/>
              <a:gd name="T44" fmla="*/ 2147483647 w 2453"/>
              <a:gd name="T45" fmla="*/ 2147483647 h 2011"/>
              <a:gd name="T46" fmla="*/ 2147483647 w 2453"/>
              <a:gd name="T47" fmla="*/ 2147483647 h 2011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2453" h="2011">
                <a:moveTo>
                  <a:pt x="84" y="632"/>
                </a:moveTo>
                <a:cubicBezTo>
                  <a:pt x="51" y="704"/>
                  <a:pt x="28" y="747"/>
                  <a:pt x="16" y="809"/>
                </a:cubicBezTo>
                <a:cubicBezTo>
                  <a:pt x="4" y="871"/>
                  <a:pt x="0" y="949"/>
                  <a:pt x="9" y="1005"/>
                </a:cubicBezTo>
                <a:cubicBezTo>
                  <a:pt x="18" y="1061"/>
                  <a:pt x="44" y="1087"/>
                  <a:pt x="70" y="1147"/>
                </a:cubicBezTo>
                <a:cubicBezTo>
                  <a:pt x="96" y="1207"/>
                  <a:pt x="130" y="1314"/>
                  <a:pt x="165" y="1364"/>
                </a:cubicBezTo>
                <a:cubicBezTo>
                  <a:pt x="200" y="1414"/>
                  <a:pt x="216" y="1402"/>
                  <a:pt x="280" y="1446"/>
                </a:cubicBezTo>
                <a:cubicBezTo>
                  <a:pt x="344" y="1490"/>
                  <a:pt x="404" y="1587"/>
                  <a:pt x="549" y="1627"/>
                </a:cubicBezTo>
                <a:cubicBezTo>
                  <a:pt x="694" y="1667"/>
                  <a:pt x="987" y="1631"/>
                  <a:pt x="1152" y="1687"/>
                </a:cubicBezTo>
                <a:cubicBezTo>
                  <a:pt x="1317" y="1743"/>
                  <a:pt x="1455" y="1919"/>
                  <a:pt x="1542" y="1965"/>
                </a:cubicBezTo>
                <a:cubicBezTo>
                  <a:pt x="1629" y="2011"/>
                  <a:pt x="1610" y="1968"/>
                  <a:pt x="1675" y="1965"/>
                </a:cubicBezTo>
                <a:cubicBezTo>
                  <a:pt x="1740" y="1962"/>
                  <a:pt x="1816" y="1974"/>
                  <a:pt x="1933" y="1945"/>
                </a:cubicBezTo>
                <a:cubicBezTo>
                  <a:pt x="2050" y="1916"/>
                  <a:pt x="2299" y="1866"/>
                  <a:pt x="2376" y="1793"/>
                </a:cubicBezTo>
                <a:cubicBezTo>
                  <a:pt x="2453" y="1720"/>
                  <a:pt x="2410" y="1591"/>
                  <a:pt x="2396" y="1508"/>
                </a:cubicBezTo>
                <a:cubicBezTo>
                  <a:pt x="2382" y="1425"/>
                  <a:pt x="2301" y="1408"/>
                  <a:pt x="2293" y="1297"/>
                </a:cubicBezTo>
                <a:cubicBezTo>
                  <a:pt x="2285" y="1186"/>
                  <a:pt x="2339" y="950"/>
                  <a:pt x="2347" y="843"/>
                </a:cubicBezTo>
                <a:cubicBezTo>
                  <a:pt x="2355" y="736"/>
                  <a:pt x="2368" y="717"/>
                  <a:pt x="2340" y="653"/>
                </a:cubicBezTo>
                <a:cubicBezTo>
                  <a:pt x="2312" y="589"/>
                  <a:pt x="2247" y="537"/>
                  <a:pt x="2177" y="456"/>
                </a:cubicBezTo>
                <a:cubicBezTo>
                  <a:pt x="2107" y="375"/>
                  <a:pt x="2016" y="235"/>
                  <a:pt x="1920" y="165"/>
                </a:cubicBezTo>
                <a:cubicBezTo>
                  <a:pt x="1824" y="95"/>
                  <a:pt x="1716" y="61"/>
                  <a:pt x="1601" y="36"/>
                </a:cubicBezTo>
                <a:cubicBezTo>
                  <a:pt x="1486" y="11"/>
                  <a:pt x="1343" y="0"/>
                  <a:pt x="1229" y="16"/>
                </a:cubicBezTo>
                <a:cubicBezTo>
                  <a:pt x="1115" y="32"/>
                  <a:pt x="1042" y="90"/>
                  <a:pt x="917" y="131"/>
                </a:cubicBezTo>
                <a:cubicBezTo>
                  <a:pt x="792" y="172"/>
                  <a:pt x="595" y="219"/>
                  <a:pt x="477" y="260"/>
                </a:cubicBezTo>
                <a:cubicBezTo>
                  <a:pt x="359" y="301"/>
                  <a:pt x="280" y="311"/>
                  <a:pt x="212" y="375"/>
                </a:cubicBezTo>
                <a:cubicBezTo>
                  <a:pt x="144" y="439"/>
                  <a:pt x="117" y="560"/>
                  <a:pt x="84" y="632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7045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96839"/>
            <a:ext cx="8034338" cy="973137"/>
          </a:xfrm>
        </p:spPr>
        <p:txBody>
          <a:bodyPr/>
          <a:lstStyle/>
          <a:p>
            <a:pPr>
              <a:defRPr/>
            </a:pPr>
            <a:r>
              <a:rPr lang="en-US" sz="3200"/>
              <a:t>A day in the life: scenario</a:t>
            </a:r>
          </a:p>
        </p:txBody>
      </p:sp>
      <p:sp>
        <p:nvSpPr>
          <p:cNvPr id="50180" name="Freeform 3"/>
          <p:cNvSpPr>
            <a:spLocks/>
          </p:cNvSpPr>
          <p:nvPr/>
        </p:nvSpPr>
        <p:spPr bwMode="auto">
          <a:xfrm>
            <a:off x="2135188" y="1273176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0181" name="Group 4"/>
          <p:cNvGrpSpPr>
            <a:grpSpLocks/>
          </p:cNvGrpSpPr>
          <p:nvPr/>
        </p:nvGrpSpPr>
        <p:grpSpPr bwMode="auto">
          <a:xfrm>
            <a:off x="6907214" y="2679701"/>
            <a:ext cx="757237" cy="379413"/>
            <a:chOff x="2466" y="2026"/>
            <a:chExt cx="477" cy="282"/>
          </a:xfrm>
        </p:grpSpPr>
        <p:sp>
          <p:nvSpPr>
            <p:cNvPr id="50454" name="Oval 5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0455" name="Line 6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456" name="Rectangle 7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0457" name="Oval 8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50458" name="Group 9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50465" name="Line 1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466" name="Line 1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467" name="Line 1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0459" name="Group 13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50462" name="Line 1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463" name="Line 1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464" name="Line 1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0460" name="Line 17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461" name="Line 18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0182" name="Group 19"/>
          <p:cNvGrpSpPr>
            <a:grpSpLocks/>
          </p:cNvGrpSpPr>
          <p:nvPr/>
        </p:nvGrpSpPr>
        <p:grpSpPr bwMode="auto">
          <a:xfrm>
            <a:off x="8272464" y="2425701"/>
            <a:ext cx="757237" cy="379413"/>
            <a:chOff x="2466" y="2026"/>
            <a:chExt cx="477" cy="282"/>
          </a:xfrm>
        </p:grpSpPr>
        <p:sp>
          <p:nvSpPr>
            <p:cNvPr id="50440" name="Oval 2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0441" name="Line 2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442" name="Rectangle 2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0443" name="Oval 2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50444" name="Group 2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50451" name="Line 2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452" name="Line 2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453" name="Line 2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0445" name="Group 2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50448" name="Line 2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449" name="Line 3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450" name="Line 3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0446" name="Line 3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447" name="Line 3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0183" name="Text Box 34"/>
          <p:cNvSpPr txBox="1">
            <a:spLocks noChangeArrowheads="1"/>
          </p:cNvSpPr>
          <p:nvPr/>
        </p:nvSpPr>
        <p:spPr bwMode="auto">
          <a:xfrm>
            <a:off x="6888164" y="1762126"/>
            <a:ext cx="18113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Comcast network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68.80.0.0/13</a:t>
            </a:r>
          </a:p>
        </p:txBody>
      </p:sp>
      <p:sp>
        <p:nvSpPr>
          <p:cNvPr id="50184" name="Line 36"/>
          <p:cNvSpPr>
            <a:spLocks noChangeShapeType="1"/>
          </p:cNvSpPr>
          <p:nvPr/>
        </p:nvSpPr>
        <p:spPr bwMode="auto">
          <a:xfrm flipV="1">
            <a:off x="5137151" y="2344739"/>
            <a:ext cx="1555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5" name="Line 43"/>
          <p:cNvSpPr>
            <a:spLocks noChangeShapeType="1"/>
          </p:cNvSpPr>
          <p:nvPr/>
        </p:nvSpPr>
        <p:spPr bwMode="auto">
          <a:xfrm flipV="1">
            <a:off x="4027489" y="2517775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6" name="Line 44"/>
          <p:cNvSpPr>
            <a:spLocks noChangeShapeType="1"/>
          </p:cNvSpPr>
          <p:nvPr/>
        </p:nvSpPr>
        <p:spPr bwMode="auto">
          <a:xfrm flipV="1">
            <a:off x="5286376" y="2201864"/>
            <a:ext cx="138113" cy="142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7" name="Line 48"/>
          <p:cNvSpPr>
            <a:spLocks noChangeShapeType="1"/>
          </p:cNvSpPr>
          <p:nvPr/>
        </p:nvSpPr>
        <p:spPr bwMode="auto">
          <a:xfrm flipV="1">
            <a:off x="4641851" y="2736851"/>
            <a:ext cx="512763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0188" name="Group 49"/>
          <p:cNvGrpSpPr>
            <a:grpSpLocks/>
          </p:cNvGrpSpPr>
          <p:nvPr/>
        </p:nvGrpSpPr>
        <p:grpSpPr bwMode="auto">
          <a:xfrm>
            <a:off x="4122739" y="3365501"/>
            <a:ext cx="987425" cy="479425"/>
            <a:chOff x="1118" y="1621"/>
            <a:chExt cx="622" cy="302"/>
          </a:xfrm>
        </p:grpSpPr>
        <p:sp>
          <p:nvSpPr>
            <p:cNvPr id="50423" name="Rectangle 50"/>
            <p:cNvSpPr>
              <a:spLocks noChangeArrowheads="1"/>
            </p:cNvSpPr>
            <p:nvPr/>
          </p:nvSpPr>
          <p:spPr bwMode="auto">
            <a:xfrm>
              <a:off x="1578" y="1789"/>
              <a:ext cx="162" cy="44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0424" name="Rectangle 51"/>
            <p:cNvSpPr>
              <a:spLocks noChangeArrowheads="1"/>
            </p:cNvSpPr>
            <p:nvPr/>
          </p:nvSpPr>
          <p:spPr bwMode="auto">
            <a:xfrm rot="-2700000">
              <a:off x="1336" y="1621"/>
              <a:ext cx="162" cy="44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50425" name="Group 52"/>
            <p:cNvGrpSpPr>
              <a:grpSpLocks/>
            </p:cNvGrpSpPr>
            <p:nvPr/>
          </p:nvGrpSpPr>
          <p:grpSpPr bwMode="auto">
            <a:xfrm>
              <a:off x="1118" y="1684"/>
              <a:ext cx="477" cy="239"/>
              <a:chOff x="2466" y="2026"/>
              <a:chExt cx="477" cy="282"/>
            </a:xfrm>
          </p:grpSpPr>
          <p:sp>
            <p:nvSpPr>
              <p:cNvPr id="50426" name="Oval 53"/>
              <p:cNvSpPr>
                <a:spLocks noChangeArrowheads="1"/>
              </p:cNvSpPr>
              <p:nvPr/>
            </p:nvSpPr>
            <p:spPr bwMode="auto">
              <a:xfrm>
                <a:off x="2466" y="2168"/>
                <a:ext cx="476" cy="140"/>
              </a:xfrm>
              <a:prstGeom prst="ellipse">
                <a:avLst/>
              </a:prstGeom>
              <a:solidFill>
                <a:srgbClr val="DDDDDD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50427" name="Line 54"/>
              <p:cNvSpPr>
                <a:spLocks noChangeShapeType="1"/>
              </p:cNvSpPr>
              <p:nvPr/>
            </p:nvSpPr>
            <p:spPr bwMode="auto">
              <a:xfrm>
                <a:off x="2470" y="2125"/>
                <a:ext cx="1" cy="8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428" name="Rectangle 55"/>
              <p:cNvSpPr>
                <a:spLocks noChangeArrowheads="1"/>
              </p:cNvSpPr>
              <p:nvPr/>
            </p:nvSpPr>
            <p:spPr bwMode="auto">
              <a:xfrm>
                <a:off x="2470" y="2125"/>
                <a:ext cx="472" cy="111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50429" name="Oval 56"/>
              <p:cNvSpPr>
                <a:spLocks noChangeArrowheads="1"/>
              </p:cNvSpPr>
              <p:nvPr/>
            </p:nvSpPr>
            <p:spPr bwMode="auto">
              <a:xfrm>
                <a:off x="2466" y="2026"/>
                <a:ext cx="476" cy="160"/>
              </a:xfrm>
              <a:prstGeom prst="ellipse">
                <a:avLst/>
              </a:prstGeom>
              <a:solidFill>
                <a:srgbClr val="DDDDDD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9BBB59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064A2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4BACC6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50430" name="Group 57"/>
              <p:cNvGrpSpPr>
                <a:grpSpLocks/>
              </p:cNvGrpSpPr>
              <p:nvPr/>
            </p:nvGrpSpPr>
            <p:grpSpPr bwMode="auto">
              <a:xfrm>
                <a:off x="2581" y="2061"/>
                <a:ext cx="236" cy="94"/>
                <a:chOff x="2848" y="848"/>
                <a:chExt cx="140" cy="98"/>
              </a:xfrm>
            </p:grpSpPr>
            <p:sp>
              <p:nvSpPr>
                <p:cNvPr id="50437" name="Line 58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438" name="Line 59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439" name="Line 60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0431" name="Group 61"/>
              <p:cNvGrpSpPr>
                <a:grpSpLocks/>
              </p:cNvGrpSpPr>
              <p:nvPr/>
            </p:nvGrpSpPr>
            <p:grpSpPr bwMode="auto">
              <a:xfrm flipV="1">
                <a:off x="2581" y="2060"/>
                <a:ext cx="236" cy="94"/>
                <a:chOff x="2848" y="848"/>
                <a:chExt cx="140" cy="98"/>
              </a:xfrm>
            </p:grpSpPr>
            <p:sp>
              <p:nvSpPr>
                <p:cNvPr id="50434" name="Line 62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435" name="Line 63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436" name="Line 64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50432" name="Line 65"/>
              <p:cNvSpPr>
                <a:spLocks noChangeShapeType="1"/>
              </p:cNvSpPr>
              <p:nvPr/>
            </p:nvSpPr>
            <p:spPr bwMode="auto">
              <a:xfrm flipH="1">
                <a:off x="2942" y="2109"/>
                <a:ext cx="1" cy="12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433" name="Line 66"/>
              <p:cNvSpPr>
                <a:spLocks noChangeShapeType="1"/>
              </p:cNvSpPr>
              <p:nvPr/>
            </p:nvSpPr>
            <p:spPr bwMode="auto">
              <a:xfrm flipH="1">
                <a:off x="2466" y="2117"/>
                <a:ext cx="1" cy="12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0189" name="Line 68"/>
          <p:cNvSpPr>
            <a:spLocks noChangeShapeType="1"/>
          </p:cNvSpPr>
          <p:nvPr/>
        </p:nvSpPr>
        <p:spPr bwMode="auto">
          <a:xfrm flipV="1">
            <a:off x="5113339" y="2930526"/>
            <a:ext cx="1819275" cy="733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0190" name="Group 69"/>
          <p:cNvGrpSpPr>
            <a:grpSpLocks/>
          </p:cNvGrpSpPr>
          <p:nvPr/>
        </p:nvGrpSpPr>
        <p:grpSpPr bwMode="auto">
          <a:xfrm>
            <a:off x="8929689" y="3341688"/>
            <a:ext cx="757237" cy="379412"/>
            <a:chOff x="2466" y="2026"/>
            <a:chExt cx="477" cy="282"/>
          </a:xfrm>
        </p:grpSpPr>
        <p:sp>
          <p:nvSpPr>
            <p:cNvPr id="50409" name="Oval 7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0410" name="Line 7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411" name="Rectangle 7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0412" name="Oval 7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50413" name="Group 7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50420" name="Line 7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421" name="Line 7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422" name="Line 7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0414" name="Group 7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50417" name="Line 7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418" name="Line 8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419" name="Line 8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0415" name="Line 8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416" name="Line 8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0191" name="Line 93"/>
          <p:cNvSpPr>
            <a:spLocks noChangeShapeType="1"/>
          </p:cNvSpPr>
          <p:nvPr/>
        </p:nvSpPr>
        <p:spPr bwMode="auto">
          <a:xfrm flipH="1">
            <a:off x="8648700" y="2166938"/>
            <a:ext cx="260350" cy="2587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92" name="Freeform 94"/>
          <p:cNvSpPr>
            <a:spLocks/>
          </p:cNvSpPr>
          <p:nvPr/>
        </p:nvSpPr>
        <p:spPr bwMode="auto">
          <a:xfrm>
            <a:off x="2613025" y="4146550"/>
            <a:ext cx="6419850" cy="1620838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0193" name="Group 110"/>
          <p:cNvGrpSpPr>
            <a:grpSpLocks/>
          </p:cNvGrpSpPr>
          <p:nvPr/>
        </p:nvGrpSpPr>
        <p:grpSpPr bwMode="auto">
          <a:xfrm>
            <a:off x="5549900" y="4724401"/>
            <a:ext cx="757238" cy="379413"/>
            <a:chOff x="2466" y="2026"/>
            <a:chExt cx="477" cy="282"/>
          </a:xfrm>
        </p:grpSpPr>
        <p:sp>
          <p:nvSpPr>
            <p:cNvPr id="50395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0396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397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0398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50399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50406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407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408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0400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50403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404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405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0401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402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0194" name="Line 134"/>
          <p:cNvSpPr>
            <a:spLocks noChangeShapeType="1"/>
          </p:cNvSpPr>
          <p:nvPr/>
        </p:nvSpPr>
        <p:spPr bwMode="auto">
          <a:xfrm flipV="1">
            <a:off x="6003925" y="3074988"/>
            <a:ext cx="1174750" cy="165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95" name="Text Box 135"/>
          <p:cNvSpPr txBox="1">
            <a:spLocks noChangeArrowheads="1"/>
          </p:cNvSpPr>
          <p:nvPr/>
        </p:nvSpPr>
        <p:spPr bwMode="auto">
          <a:xfrm>
            <a:off x="6881814" y="5018089"/>
            <a:ext cx="188384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Google</a:t>
            </a:r>
            <a:r>
              <a:rPr lang="ja-JP" altLang="en-US"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 network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64.233.160.0/19 </a:t>
            </a:r>
          </a:p>
        </p:txBody>
      </p:sp>
      <p:sp>
        <p:nvSpPr>
          <p:cNvPr id="50196" name="Line 136"/>
          <p:cNvSpPr>
            <a:spLocks noChangeShapeType="1"/>
          </p:cNvSpPr>
          <p:nvPr/>
        </p:nvSpPr>
        <p:spPr bwMode="auto">
          <a:xfrm flipV="1">
            <a:off x="4583114" y="4894264"/>
            <a:ext cx="942975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97" name="Text Box 137"/>
          <p:cNvSpPr txBox="1">
            <a:spLocks noChangeArrowheads="1"/>
          </p:cNvSpPr>
          <p:nvPr/>
        </p:nvSpPr>
        <p:spPr bwMode="auto">
          <a:xfrm>
            <a:off x="3495675" y="5286375"/>
            <a:ext cx="15954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64.233.169.105</a:t>
            </a:r>
          </a:p>
        </p:txBody>
      </p:sp>
      <p:sp>
        <p:nvSpPr>
          <p:cNvPr id="50198" name="Text Box 138"/>
          <p:cNvSpPr txBox="1">
            <a:spLocks noChangeArrowheads="1"/>
          </p:cNvSpPr>
          <p:nvPr/>
        </p:nvSpPr>
        <p:spPr bwMode="auto">
          <a:xfrm>
            <a:off x="3463926" y="4992688"/>
            <a:ext cx="1177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web server</a:t>
            </a:r>
          </a:p>
        </p:txBody>
      </p:sp>
      <p:sp>
        <p:nvSpPr>
          <p:cNvPr id="50199" name="Text Box 139"/>
          <p:cNvSpPr txBox="1">
            <a:spLocks noChangeArrowheads="1"/>
          </p:cNvSpPr>
          <p:nvPr/>
        </p:nvSpPr>
        <p:spPr bwMode="auto">
          <a:xfrm>
            <a:off x="9101139" y="1384301"/>
            <a:ext cx="12334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DNS server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50200" name="Group 95"/>
          <p:cNvGrpSpPr>
            <a:grpSpLocks/>
          </p:cNvGrpSpPr>
          <p:nvPr/>
        </p:nvGrpSpPr>
        <p:grpSpPr bwMode="auto">
          <a:xfrm>
            <a:off x="7321550" y="4365626"/>
            <a:ext cx="757238" cy="379413"/>
            <a:chOff x="2466" y="2026"/>
            <a:chExt cx="477" cy="282"/>
          </a:xfrm>
        </p:grpSpPr>
        <p:sp>
          <p:nvSpPr>
            <p:cNvPr id="50381" name="Oval 96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0382" name="Line 97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383" name="Rectangle 98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0384" name="Oval 99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50385" name="Group 100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50392" name="Line 10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93" name="Line 10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94" name="Line 10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0386" name="Group 104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50389" name="Line 10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90" name="Line 10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91" name="Line 10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0387" name="Line 108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388" name="Line 109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0201" name="Group 166"/>
          <p:cNvGrpSpPr>
            <a:grpSpLocks/>
          </p:cNvGrpSpPr>
          <p:nvPr/>
        </p:nvGrpSpPr>
        <p:grpSpPr bwMode="auto">
          <a:xfrm>
            <a:off x="6705600" y="3048000"/>
            <a:ext cx="400050" cy="152400"/>
            <a:chOff x="3228" y="1776"/>
            <a:chExt cx="252" cy="96"/>
          </a:xfrm>
        </p:grpSpPr>
        <p:sp>
          <p:nvSpPr>
            <p:cNvPr id="50379" name="Line 16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380" name="Line 16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202" name="Group 167"/>
          <p:cNvGrpSpPr>
            <a:grpSpLocks/>
          </p:cNvGrpSpPr>
          <p:nvPr/>
        </p:nvGrpSpPr>
        <p:grpSpPr bwMode="auto">
          <a:xfrm flipH="1">
            <a:off x="7334250" y="3062288"/>
            <a:ext cx="400050" cy="152400"/>
            <a:chOff x="3228" y="1776"/>
            <a:chExt cx="252" cy="96"/>
          </a:xfrm>
        </p:grpSpPr>
        <p:sp>
          <p:nvSpPr>
            <p:cNvPr id="50377" name="Line 16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378" name="Line 16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203" name="Group 170"/>
          <p:cNvGrpSpPr>
            <a:grpSpLocks/>
          </p:cNvGrpSpPr>
          <p:nvPr/>
        </p:nvGrpSpPr>
        <p:grpSpPr bwMode="auto">
          <a:xfrm flipH="1" flipV="1">
            <a:off x="7486650" y="2538413"/>
            <a:ext cx="400050" cy="152400"/>
            <a:chOff x="3228" y="1776"/>
            <a:chExt cx="252" cy="96"/>
          </a:xfrm>
        </p:grpSpPr>
        <p:sp>
          <p:nvSpPr>
            <p:cNvPr id="50375" name="Line 17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376" name="Line 17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204" name="Group 173"/>
          <p:cNvGrpSpPr>
            <a:grpSpLocks/>
          </p:cNvGrpSpPr>
          <p:nvPr/>
        </p:nvGrpSpPr>
        <p:grpSpPr bwMode="auto">
          <a:xfrm flipH="1" flipV="1">
            <a:off x="9586913" y="3228975"/>
            <a:ext cx="400050" cy="152400"/>
            <a:chOff x="3228" y="1776"/>
            <a:chExt cx="252" cy="96"/>
          </a:xfrm>
        </p:grpSpPr>
        <p:sp>
          <p:nvSpPr>
            <p:cNvPr id="50373" name="Line 17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374" name="Line 17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205" name="Group 176"/>
          <p:cNvGrpSpPr>
            <a:grpSpLocks/>
          </p:cNvGrpSpPr>
          <p:nvPr/>
        </p:nvGrpSpPr>
        <p:grpSpPr bwMode="auto">
          <a:xfrm flipV="1">
            <a:off x="8763001" y="3248025"/>
            <a:ext cx="295275" cy="114300"/>
            <a:chOff x="3228" y="1776"/>
            <a:chExt cx="252" cy="96"/>
          </a:xfrm>
        </p:grpSpPr>
        <p:sp>
          <p:nvSpPr>
            <p:cNvPr id="50371" name="Line 177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372" name="Line 178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206" name="Group 179"/>
          <p:cNvGrpSpPr>
            <a:grpSpLocks/>
          </p:cNvGrpSpPr>
          <p:nvPr/>
        </p:nvGrpSpPr>
        <p:grpSpPr bwMode="auto">
          <a:xfrm rot="409689" flipH="1" flipV="1">
            <a:off x="9034464" y="2590800"/>
            <a:ext cx="452437" cy="57150"/>
            <a:chOff x="3228" y="1776"/>
            <a:chExt cx="252" cy="96"/>
          </a:xfrm>
        </p:grpSpPr>
        <p:sp>
          <p:nvSpPr>
            <p:cNvPr id="50369" name="Line 180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370" name="Line 181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207" name="Group 182"/>
          <p:cNvGrpSpPr>
            <a:grpSpLocks/>
          </p:cNvGrpSpPr>
          <p:nvPr/>
        </p:nvGrpSpPr>
        <p:grpSpPr bwMode="auto">
          <a:xfrm>
            <a:off x="8177214" y="2795588"/>
            <a:ext cx="295275" cy="114300"/>
            <a:chOff x="3228" y="1776"/>
            <a:chExt cx="252" cy="96"/>
          </a:xfrm>
        </p:grpSpPr>
        <p:sp>
          <p:nvSpPr>
            <p:cNvPr id="50367" name="Line 183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368" name="Line 184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208" name="Group 185"/>
          <p:cNvGrpSpPr>
            <a:grpSpLocks/>
          </p:cNvGrpSpPr>
          <p:nvPr/>
        </p:nvGrpSpPr>
        <p:grpSpPr bwMode="auto">
          <a:xfrm flipH="1">
            <a:off x="8815389" y="2795588"/>
            <a:ext cx="295275" cy="114300"/>
            <a:chOff x="3228" y="1776"/>
            <a:chExt cx="252" cy="96"/>
          </a:xfrm>
        </p:grpSpPr>
        <p:sp>
          <p:nvSpPr>
            <p:cNvPr id="50365" name="Line 186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366" name="Line 187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209" name="Group 188"/>
          <p:cNvGrpSpPr>
            <a:grpSpLocks/>
          </p:cNvGrpSpPr>
          <p:nvPr/>
        </p:nvGrpSpPr>
        <p:grpSpPr bwMode="auto">
          <a:xfrm>
            <a:off x="7229476" y="4743450"/>
            <a:ext cx="295275" cy="114300"/>
            <a:chOff x="3228" y="1776"/>
            <a:chExt cx="252" cy="96"/>
          </a:xfrm>
        </p:grpSpPr>
        <p:sp>
          <p:nvSpPr>
            <p:cNvPr id="50363" name="Line 189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364" name="Line 190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210" name="Group 191"/>
          <p:cNvGrpSpPr>
            <a:grpSpLocks/>
          </p:cNvGrpSpPr>
          <p:nvPr/>
        </p:nvGrpSpPr>
        <p:grpSpPr bwMode="auto">
          <a:xfrm flipH="1">
            <a:off x="7867651" y="4743450"/>
            <a:ext cx="295275" cy="114300"/>
            <a:chOff x="3228" y="1776"/>
            <a:chExt cx="252" cy="96"/>
          </a:xfrm>
        </p:grpSpPr>
        <p:sp>
          <p:nvSpPr>
            <p:cNvPr id="50361" name="Line 192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362" name="Line 193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211" name="Group 194"/>
          <p:cNvGrpSpPr>
            <a:grpSpLocks/>
          </p:cNvGrpSpPr>
          <p:nvPr/>
        </p:nvGrpSpPr>
        <p:grpSpPr bwMode="auto">
          <a:xfrm>
            <a:off x="5462589" y="5100638"/>
            <a:ext cx="295275" cy="114300"/>
            <a:chOff x="3228" y="1776"/>
            <a:chExt cx="252" cy="96"/>
          </a:xfrm>
        </p:grpSpPr>
        <p:sp>
          <p:nvSpPr>
            <p:cNvPr id="50359" name="Line 195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360" name="Line 196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212" name="Group 197"/>
          <p:cNvGrpSpPr>
            <a:grpSpLocks/>
          </p:cNvGrpSpPr>
          <p:nvPr/>
        </p:nvGrpSpPr>
        <p:grpSpPr bwMode="auto">
          <a:xfrm flipH="1">
            <a:off x="6100764" y="5100638"/>
            <a:ext cx="295275" cy="114300"/>
            <a:chOff x="3228" y="1776"/>
            <a:chExt cx="252" cy="96"/>
          </a:xfrm>
        </p:grpSpPr>
        <p:sp>
          <p:nvSpPr>
            <p:cNvPr id="50357" name="Line 19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358" name="Line 19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213" name="Group 200"/>
          <p:cNvGrpSpPr>
            <a:grpSpLocks/>
          </p:cNvGrpSpPr>
          <p:nvPr/>
        </p:nvGrpSpPr>
        <p:grpSpPr bwMode="auto">
          <a:xfrm flipH="1" flipV="1">
            <a:off x="6305551" y="4805363"/>
            <a:ext cx="295275" cy="114300"/>
            <a:chOff x="3228" y="1776"/>
            <a:chExt cx="252" cy="96"/>
          </a:xfrm>
        </p:grpSpPr>
        <p:sp>
          <p:nvSpPr>
            <p:cNvPr id="50355" name="Line 20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356" name="Line 20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0214" name="Text Box 34"/>
          <p:cNvSpPr txBox="1">
            <a:spLocks noChangeArrowheads="1"/>
          </p:cNvSpPr>
          <p:nvPr/>
        </p:nvSpPr>
        <p:spPr bwMode="auto">
          <a:xfrm>
            <a:off x="2486025" y="3128964"/>
            <a:ext cx="159543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school network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68.80.2.0/24</a:t>
            </a:r>
          </a:p>
        </p:txBody>
      </p:sp>
      <p:pic>
        <p:nvPicPr>
          <p:cNvPr id="699793" name="Picture 40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06713" y="4208463"/>
            <a:ext cx="1243012" cy="76835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699796" name="Text Box 404"/>
          <p:cNvSpPr txBox="1">
            <a:spLocks noChangeArrowheads="1"/>
          </p:cNvSpPr>
          <p:nvPr/>
        </p:nvSpPr>
        <p:spPr bwMode="auto">
          <a:xfrm>
            <a:off x="3087688" y="3940175"/>
            <a:ext cx="9525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>
                <a:solidFill>
                  <a:srgbClr val="FF0000"/>
                </a:solidFill>
                <a:latin typeface="Arial" charset="0"/>
              </a:rPr>
              <a:t>web page</a:t>
            </a:r>
          </a:p>
        </p:txBody>
      </p:sp>
      <p:grpSp>
        <p:nvGrpSpPr>
          <p:cNvPr id="699797" name="Group 405"/>
          <p:cNvGrpSpPr>
            <a:grpSpLocks/>
          </p:cNvGrpSpPr>
          <p:nvPr/>
        </p:nvGrpSpPr>
        <p:grpSpPr bwMode="auto">
          <a:xfrm>
            <a:off x="1812925" y="1162050"/>
            <a:ext cx="1416050" cy="1265238"/>
            <a:chOff x="146" y="690"/>
            <a:chExt cx="892" cy="797"/>
          </a:xfrm>
        </p:grpSpPr>
        <p:grpSp>
          <p:nvGrpSpPr>
            <p:cNvPr id="50348" name="Group 400"/>
            <p:cNvGrpSpPr>
              <a:grpSpLocks/>
            </p:cNvGrpSpPr>
            <p:nvPr/>
          </p:nvGrpSpPr>
          <p:grpSpPr bwMode="auto">
            <a:xfrm>
              <a:off x="146" y="690"/>
              <a:ext cx="892" cy="797"/>
              <a:chOff x="146" y="690"/>
              <a:chExt cx="892" cy="797"/>
            </a:xfrm>
          </p:grpSpPr>
          <p:sp>
            <p:nvSpPr>
              <p:cNvPr id="50350" name="Freeform 398"/>
              <p:cNvSpPr>
                <a:spLocks/>
              </p:cNvSpPr>
              <p:nvPr/>
            </p:nvSpPr>
            <p:spPr bwMode="auto">
              <a:xfrm>
                <a:off x="177" y="715"/>
                <a:ext cx="861" cy="772"/>
              </a:xfrm>
              <a:custGeom>
                <a:avLst/>
                <a:gdLst>
                  <a:gd name="T0" fmla="*/ 861 w 861"/>
                  <a:gd name="T1" fmla="*/ 772 h 772"/>
                  <a:gd name="T2" fmla="*/ 0 w 861"/>
                  <a:gd name="T3" fmla="*/ 557 h 772"/>
                  <a:gd name="T4" fmla="*/ 532 w 861"/>
                  <a:gd name="T5" fmla="*/ 405 h 772"/>
                  <a:gd name="T6" fmla="*/ 652 w 861"/>
                  <a:gd name="T7" fmla="*/ 0 h 772"/>
                  <a:gd name="T8" fmla="*/ 861 w 861"/>
                  <a:gd name="T9" fmla="*/ 772 h 7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61" h="772">
                    <a:moveTo>
                      <a:pt x="861" y="772"/>
                    </a:moveTo>
                    <a:lnTo>
                      <a:pt x="0" y="557"/>
                    </a:lnTo>
                    <a:lnTo>
                      <a:pt x="532" y="405"/>
                    </a:lnTo>
                    <a:lnTo>
                      <a:pt x="652" y="0"/>
                    </a:lnTo>
                    <a:lnTo>
                      <a:pt x="861" y="772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100000">
                    <a:srgbClr val="FF000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50351" name="Group 392"/>
              <p:cNvGrpSpPr>
                <a:grpSpLocks/>
              </p:cNvGrpSpPr>
              <p:nvPr/>
            </p:nvGrpSpPr>
            <p:grpSpPr bwMode="auto">
              <a:xfrm>
                <a:off x="148" y="697"/>
                <a:ext cx="694" cy="574"/>
                <a:chOff x="2579" y="1366"/>
                <a:chExt cx="1078" cy="674"/>
              </a:xfrm>
            </p:grpSpPr>
            <p:pic>
              <p:nvPicPr>
                <p:cNvPr id="87217" name="Picture 393"/>
                <p:cNvPicPr>
                  <a:picLocks noChangeAspect="1" noChangeArrowheads="1"/>
                </p:cNvPicPr>
                <p:nvPr/>
              </p:nvPicPr>
              <p:blipFill>
                <a:blip r:embed="rId3"/>
                <a:srcRect/>
                <a:stretch>
                  <a:fillRect/>
                </a:stretch>
              </p:blipFill>
              <p:spPr bwMode="auto">
                <a:xfrm>
                  <a:off x="2579" y="1366"/>
                  <a:ext cx="1078" cy="6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87218" name="Rectangle 394"/>
                <p:cNvSpPr>
                  <a:spLocks noChangeArrowheads="1"/>
                </p:cNvSpPr>
                <p:nvPr/>
              </p:nvSpPr>
              <p:spPr bwMode="auto">
                <a:xfrm>
                  <a:off x="2633" y="1428"/>
                  <a:ext cx="957" cy="56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87216" name="Rectangle 399"/>
              <p:cNvSpPr>
                <a:spLocks noChangeArrowheads="1"/>
              </p:cNvSpPr>
              <p:nvPr/>
            </p:nvSpPr>
            <p:spPr bwMode="auto">
              <a:xfrm>
                <a:off x="146" y="690"/>
                <a:ext cx="696" cy="58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87213" name="Text Box 402"/>
            <p:cNvSpPr txBox="1">
              <a:spLocks noChangeArrowheads="1"/>
            </p:cNvSpPr>
            <p:nvPr/>
          </p:nvSpPr>
          <p:spPr bwMode="auto">
            <a:xfrm>
              <a:off x="227" y="850"/>
              <a:ext cx="51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>
                  <a:solidFill>
                    <a:srgbClr val="FF0000"/>
                  </a:solidFill>
                  <a:latin typeface="Arial" charset="0"/>
                </a:rPr>
                <a:t>browser</a:t>
              </a:r>
            </a:p>
          </p:txBody>
        </p:sp>
      </p:grpSp>
      <p:grpSp>
        <p:nvGrpSpPr>
          <p:cNvPr id="50218" name="Group 356"/>
          <p:cNvGrpSpPr>
            <a:grpSpLocks/>
          </p:cNvGrpSpPr>
          <p:nvPr/>
        </p:nvGrpSpPr>
        <p:grpSpPr bwMode="auto">
          <a:xfrm>
            <a:off x="3035301" y="1898650"/>
            <a:ext cx="842963" cy="814388"/>
            <a:chOff x="313" y="1497"/>
            <a:chExt cx="1152" cy="1014"/>
          </a:xfrm>
        </p:grpSpPr>
        <p:pic>
          <p:nvPicPr>
            <p:cNvPr id="50346" name="Picture 354" descr="laptop_stylized_small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0347" name="Picture 355" descr="antenna_stylized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99788" name="AutoShape 396"/>
          <p:cNvSpPr>
            <a:spLocks noChangeArrowheads="1"/>
          </p:cNvSpPr>
          <p:nvPr/>
        </p:nvSpPr>
        <p:spPr bwMode="auto">
          <a:xfrm>
            <a:off x="2192338" y="2266951"/>
            <a:ext cx="976312" cy="485775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7086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614863" y="2444750"/>
            <a:ext cx="914400" cy="38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96" name="Rectangle 43"/>
          <p:cNvSpPr>
            <a:spLocks noChangeArrowheads="1"/>
          </p:cNvSpPr>
          <p:nvPr/>
        </p:nvSpPr>
        <p:spPr bwMode="auto">
          <a:xfrm rot="16200000">
            <a:off x="4940300" y="3551238"/>
            <a:ext cx="147638" cy="188912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98" name="Rectangle 43"/>
          <p:cNvSpPr>
            <a:spLocks noChangeArrowheads="1"/>
          </p:cNvSpPr>
          <p:nvPr/>
        </p:nvSpPr>
        <p:spPr bwMode="auto">
          <a:xfrm rot="2460490">
            <a:off x="4598989" y="3208339"/>
            <a:ext cx="136525" cy="306387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0223" name="Oval 407"/>
          <p:cNvSpPr>
            <a:spLocks noChangeArrowheads="1"/>
          </p:cNvSpPr>
          <p:nvPr/>
        </p:nvSpPr>
        <p:spPr bwMode="auto">
          <a:xfrm>
            <a:off x="4076700" y="3619501"/>
            <a:ext cx="850900" cy="250825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50224" name="Rectangle 410"/>
          <p:cNvSpPr>
            <a:spLocks noChangeArrowheads="1"/>
          </p:cNvSpPr>
          <p:nvPr/>
        </p:nvSpPr>
        <p:spPr bwMode="auto">
          <a:xfrm>
            <a:off x="4076701" y="3590926"/>
            <a:ext cx="854075" cy="157163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50225" name="Oval 411"/>
          <p:cNvSpPr>
            <a:spLocks noChangeArrowheads="1"/>
          </p:cNvSpPr>
          <p:nvPr/>
        </p:nvSpPr>
        <p:spPr bwMode="auto">
          <a:xfrm>
            <a:off x="4073525" y="3421064"/>
            <a:ext cx="850900" cy="293687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grpSp>
        <p:nvGrpSpPr>
          <p:cNvPr id="50226" name="Group 1189"/>
          <p:cNvGrpSpPr>
            <a:grpSpLocks/>
          </p:cNvGrpSpPr>
          <p:nvPr/>
        </p:nvGrpSpPr>
        <p:grpSpPr bwMode="auto">
          <a:xfrm>
            <a:off x="4244976" y="3497264"/>
            <a:ext cx="481013" cy="136525"/>
            <a:chOff x="2468" y="1332"/>
            <a:chExt cx="310" cy="60"/>
          </a:xfrm>
        </p:grpSpPr>
        <p:sp>
          <p:nvSpPr>
            <p:cNvPr id="50344" name="Freeform 1190"/>
            <p:cNvSpPr>
              <a:spLocks/>
            </p:cNvSpPr>
            <p:nvPr/>
          </p:nvSpPr>
          <p:spPr bwMode="auto">
            <a:xfrm>
              <a:off x="2468" y="1332"/>
              <a:ext cx="310" cy="60"/>
            </a:xfrm>
            <a:custGeom>
              <a:avLst/>
              <a:gdLst>
                <a:gd name="T0" fmla="*/ 0 w 310"/>
                <a:gd name="T1" fmla="*/ 60 h 60"/>
                <a:gd name="T2" fmla="*/ 96 w 310"/>
                <a:gd name="T3" fmla="*/ 60 h 60"/>
                <a:gd name="T4" fmla="*/ 192 w 310"/>
                <a:gd name="T5" fmla="*/ 0 h 60"/>
                <a:gd name="T6" fmla="*/ 310 w 310"/>
                <a:gd name="T7" fmla="*/ 0 h 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0" h="60">
                  <a:moveTo>
                    <a:pt x="0" y="60"/>
                  </a:moveTo>
                  <a:lnTo>
                    <a:pt x="96" y="60"/>
                  </a:lnTo>
                  <a:lnTo>
                    <a:pt x="192" y="0"/>
                  </a:lnTo>
                  <a:lnTo>
                    <a:pt x="310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345" name="Freeform 1191"/>
            <p:cNvSpPr>
              <a:spLocks/>
            </p:cNvSpPr>
            <p:nvPr/>
          </p:nvSpPr>
          <p:spPr bwMode="auto">
            <a:xfrm>
              <a:off x="2482" y="1332"/>
              <a:ext cx="282" cy="60"/>
            </a:xfrm>
            <a:custGeom>
              <a:avLst/>
              <a:gdLst>
                <a:gd name="T0" fmla="*/ 0 w 282"/>
                <a:gd name="T1" fmla="*/ 0 h 60"/>
                <a:gd name="T2" fmla="*/ 96 w 282"/>
                <a:gd name="T3" fmla="*/ 0 h 60"/>
                <a:gd name="T4" fmla="*/ 192 w 282"/>
                <a:gd name="T5" fmla="*/ 60 h 60"/>
                <a:gd name="T6" fmla="*/ 282 w 282"/>
                <a:gd name="T7" fmla="*/ 60 h 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2" h="60">
                  <a:moveTo>
                    <a:pt x="0" y="0"/>
                  </a:moveTo>
                  <a:lnTo>
                    <a:pt x="96" y="0"/>
                  </a:lnTo>
                  <a:lnTo>
                    <a:pt x="192" y="60"/>
                  </a:lnTo>
                  <a:lnTo>
                    <a:pt x="282" y="6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7093" name="Line 1192"/>
          <p:cNvSpPr>
            <a:spLocks noChangeShapeType="1"/>
          </p:cNvSpPr>
          <p:nvPr/>
        </p:nvSpPr>
        <p:spPr bwMode="auto">
          <a:xfrm>
            <a:off x="4076700" y="3557589"/>
            <a:ext cx="0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87094" name="Line 1193"/>
          <p:cNvSpPr>
            <a:spLocks noChangeShapeType="1"/>
          </p:cNvSpPr>
          <p:nvPr/>
        </p:nvSpPr>
        <p:spPr bwMode="auto">
          <a:xfrm>
            <a:off x="4924425" y="3567113"/>
            <a:ext cx="0" cy="195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207" name="Rectangle 43"/>
          <p:cNvSpPr>
            <a:spLocks noChangeArrowheads="1"/>
          </p:cNvSpPr>
          <p:nvPr/>
        </p:nvSpPr>
        <p:spPr bwMode="auto">
          <a:xfrm rot="16200000">
            <a:off x="3862388" y="2365376"/>
            <a:ext cx="146050" cy="314325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50230" name="Group 1185"/>
          <p:cNvGrpSpPr>
            <a:grpSpLocks/>
          </p:cNvGrpSpPr>
          <p:nvPr/>
        </p:nvGrpSpPr>
        <p:grpSpPr bwMode="auto">
          <a:xfrm>
            <a:off x="6862763" y="2667001"/>
            <a:ext cx="830262" cy="455613"/>
            <a:chOff x="4650" y="1129"/>
            <a:chExt cx="246" cy="95"/>
          </a:xfrm>
        </p:grpSpPr>
        <p:sp>
          <p:nvSpPr>
            <p:cNvPr id="50336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0337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0338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50339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50342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343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7204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7205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</p:grpSp>
      <p:grpSp>
        <p:nvGrpSpPr>
          <p:cNvPr id="50231" name="Group 1185"/>
          <p:cNvGrpSpPr>
            <a:grpSpLocks/>
          </p:cNvGrpSpPr>
          <p:nvPr/>
        </p:nvGrpSpPr>
        <p:grpSpPr bwMode="auto">
          <a:xfrm>
            <a:off x="8253414" y="2401888"/>
            <a:ext cx="808037" cy="425450"/>
            <a:chOff x="4650" y="1129"/>
            <a:chExt cx="246" cy="95"/>
          </a:xfrm>
        </p:grpSpPr>
        <p:sp>
          <p:nvSpPr>
            <p:cNvPr id="50328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0329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0330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50331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50334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335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7196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7197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</p:grpSp>
      <p:grpSp>
        <p:nvGrpSpPr>
          <p:cNvPr id="50232" name="Group 1185"/>
          <p:cNvGrpSpPr>
            <a:grpSpLocks/>
          </p:cNvGrpSpPr>
          <p:nvPr/>
        </p:nvGrpSpPr>
        <p:grpSpPr bwMode="auto">
          <a:xfrm>
            <a:off x="8867776" y="3338514"/>
            <a:ext cx="892175" cy="390525"/>
            <a:chOff x="4650" y="1129"/>
            <a:chExt cx="246" cy="95"/>
          </a:xfrm>
        </p:grpSpPr>
        <p:sp>
          <p:nvSpPr>
            <p:cNvPr id="50320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0321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0322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50323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50326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327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7188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7189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</p:grpSp>
      <p:grpSp>
        <p:nvGrpSpPr>
          <p:cNvPr id="50233" name="Group 1185"/>
          <p:cNvGrpSpPr>
            <a:grpSpLocks/>
          </p:cNvGrpSpPr>
          <p:nvPr/>
        </p:nvGrpSpPr>
        <p:grpSpPr bwMode="auto">
          <a:xfrm>
            <a:off x="7278689" y="4344988"/>
            <a:ext cx="808037" cy="425450"/>
            <a:chOff x="4650" y="1129"/>
            <a:chExt cx="246" cy="95"/>
          </a:xfrm>
        </p:grpSpPr>
        <p:sp>
          <p:nvSpPr>
            <p:cNvPr id="50312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0313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0314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50315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50318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319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7180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7181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</p:grpSp>
      <p:grpSp>
        <p:nvGrpSpPr>
          <p:cNvPr id="50234" name="Group 1185"/>
          <p:cNvGrpSpPr>
            <a:grpSpLocks/>
          </p:cNvGrpSpPr>
          <p:nvPr/>
        </p:nvGrpSpPr>
        <p:grpSpPr bwMode="auto">
          <a:xfrm>
            <a:off x="5537200" y="4710113"/>
            <a:ext cx="808038" cy="425450"/>
            <a:chOff x="4650" y="1129"/>
            <a:chExt cx="246" cy="95"/>
          </a:xfrm>
        </p:grpSpPr>
        <p:sp>
          <p:nvSpPr>
            <p:cNvPr id="50304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0305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0306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50307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50310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311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7172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7173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</p:grpSp>
      <p:grpSp>
        <p:nvGrpSpPr>
          <p:cNvPr id="50235" name="Group 248"/>
          <p:cNvGrpSpPr>
            <a:grpSpLocks/>
          </p:cNvGrpSpPr>
          <p:nvPr/>
        </p:nvGrpSpPr>
        <p:grpSpPr bwMode="auto">
          <a:xfrm>
            <a:off x="8742364" y="1558925"/>
            <a:ext cx="358775" cy="623888"/>
            <a:chOff x="4140" y="429"/>
            <a:chExt cx="1425" cy="2396"/>
          </a:xfrm>
        </p:grpSpPr>
        <p:sp>
          <p:nvSpPr>
            <p:cNvPr id="50272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137" name="Rectangle 149"/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50274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275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140" name="Rectangle 152"/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50277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7166" name="AutoShape 154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7167" name="AutoShape 155"/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87142" name="Rectangle 156"/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50279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87164" name="AutoShape 158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7165" name="AutoShape 159"/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87144" name="Rectangle 160"/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7145" name="Rectangle 161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50282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7162" name="AutoShape 163"/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7163" name="AutoShape 164"/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50283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0284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7160" name="AutoShape 167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7161" name="AutoShape 168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87149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50286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287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152" name="Oval 172"/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50289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154" name="AutoShape 174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7155" name="AutoShape 175"/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7156" name="Oval 176"/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7157" name="Oval 177"/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FF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7158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7159" name="Rectangle 179"/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</p:grpSp>
      <p:grpSp>
        <p:nvGrpSpPr>
          <p:cNvPr id="50236" name="Group 248"/>
          <p:cNvGrpSpPr>
            <a:grpSpLocks/>
          </p:cNvGrpSpPr>
          <p:nvPr/>
        </p:nvGrpSpPr>
        <p:grpSpPr bwMode="auto">
          <a:xfrm>
            <a:off x="4400551" y="4454525"/>
            <a:ext cx="358775" cy="623888"/>
            <a:chOff x="4140" y="429"/>
            <a:chExt cx="1425" cy="2396"/>
          </a:xfrm>
        </p:grpSpPr>
        <p:sp>
          <p:nvSpPr>
            <p:cNvPr id="50240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105" name="Rectangle 149"/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50242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243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108" name="Rectangle 152"/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50245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7134" name="AutoShape 154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7135" name="AutoShape 155"/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87110" name="Rectangle 156"/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50247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87132" name="AutoShape 158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7133" name="AutoShape 159"/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87112" name="Rectangle 160"/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7113" name="Rectangle 161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50250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7130" name="AutoShape 163"/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7131" name="AutoShape 164"/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50251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0252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7128" name="AutoShape 167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7129" name="AutoShape 168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87117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50254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255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120" name="Oval 172"/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50257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122" name="AutoShape 174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7123" name="AutoShape 175"/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7124" name="Oval 176"/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7125" name="Oval 177"/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FF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7126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7127" name="Rectangle 179"/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</p:grpSp>
      <p:sp>
        <p:nvSpPr>
          <p:cNvPr id="50238" name="Rectangle 1"/>
          <p:cNvSpPr>
            <a:spLocks noChangeArrowheads="1"/>
          </p:cNvSpPr>
          <p:nvPr/>
        </p:nvSpPr>
        <p:spPr bwMode="auto">
          <a:xfrm>
            <a:off x="3109913" y="1570039"/>
            <a:ext cx="1554162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00:16:D3:23:68:8A</a:t>
            </a:r>
          </a:p>
        </p:txBody>
      </p:sp>
      <p:sp>
        <p:nvSpPr>
          <p:cNvPr id="50239" name="Rectangle 2"/>
          <p:cNvSpPr>
            <a:spLocks noChangeArrowheads="1"/>
          </p:cNvSpPr>
          <p:nvPr/>
        </p:nvSpPr>
        <p:spPr bwMode="auto">
          <a:xfrm>
            <a:off x="4086225" y="3035301"/>
            <a:ext cx="19621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00:22:6B:45:1F:1B</a:t>
            </a:r>
          </a:p>
        </p:txBody>
      </p:sp>
    </p:spTree>
    <p:extLst>
      <p:ext uri="{BB962C8B-B14F-4D97-AF65-F5344CB8AC3E}">
        <p14:creationId xmlns:p14="http://schemas.microsoft.com/office/powerpoint/2010/main" val="1475644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9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99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979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02" name="Group 156"/>
          <p:cNvGrpSpPr>
            <a:grpSpLocks/>
          </p:cNvGrpSpPr>
          <p:nvPr/>
        </p:nvGrpSpPr>
        <p:grpSpPr bwMode="auto">
          <a:xfrm>
            <a:off x="2297113" y="1273175"/>
            <a:ext cx="3554412" cy="3067050"/>
            <a:chOff x="773113" y="1273175"/>
            <a:chExt cx="3554412" cy="3066395"/>
          </a:xfrm>
        </p:grpSpPr>
        <p:sp>
          <p:nvSpPr>
            <p:cNvPr id="51317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18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19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20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21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188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>
                  <a:solidFill>
                    <a:srgbClr val="000000"/>
                  </a:solidFill>
                  <a:latin typeface="Arial" charset="0"/>
                  <a:cs typeface="Arial" charset="0"/>
                </a:rPr>
                <a:t>router</a:t>
              </a:r>
            </a:p>
            <a:p>
              <a:pPr>
                <a:defRPr/>
              </a:pPr>
              <a:r>
                <a:rPr lang="en-US" sz="1400">
                  <a:solidFill>
                    <a:srgbClr val="000000"/>
                  </a:solidFill>
                  <a:latin typeface="Arial" charset="0"/>
                  <a:cs typeface="Arial" charset="0"/>
                </a:rPr>
                <a:t>(runs DHCP)</a:t>
              </a:r>
            </a:p>
          </p:txBody>
        </p:sp>
        <p:grpSp>
          <p:nvGrpSpPr>
            <p:cNvPr id="51323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51375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1376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88190" name="Picture 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166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7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8" name="Rectangle 43"/>
            <p:cNvSpPr>
              <a:spLocks noChangeArrowheads="1"/>
            </p:cNvSpPr>
            <p:nvPr/>
          </p:nvSpPr>
          <p:spPr bwMode="auto">
            <a:xfrm rot="-54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grpSp>
          <p:nvGrpSpPr>
            <p:cNvPr id="51328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51343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10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51345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346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13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51348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88239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8240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88215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51350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88237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8238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88217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218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51353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88235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8236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51354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1355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88233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8234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88222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51357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358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8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25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51360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27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203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228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229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230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solidFill>
                    <a:srgbClr val="FF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231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232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grpSp>
          <p:nvGrpSpPr>
            <p:cNvPr id="51329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88196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197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198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199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>
                  <a:solidFill>
                    <a:srgbClr val="000000"/>
                  </a:solidFill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88200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51335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88206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8207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8208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51336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88203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8204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8205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4"/>
                  <a:ext cx="52" cy="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88069" name="Rectangle 2"/>
          <p:cNvSpPr>
            <a:spLocks noGrp="1" noChangeArrowheads="1"/>
          </p:cNvSpPr>
          <p:nvPr>
            <p:ph type="title"/>
          </p:nvPr>
        </p:nvSpPr>
        <p:spPr>
          <a:xfrm>
            <a:off x="1847850" y="9525"/>
            <a:ext cx="8034338" cy="722313"/>
          </a:xfrm>
        </p:spPr>
        <p:txBody>
          <a:bodyPr/>
          <a:lstStyle/>
          <a:p>
            <a:pPr>
              <a:defRPr/>
            </a:pPr>
            <a:r>
              <a:rPr lang="en-US" altLang="en-US" sz="3200" dirty="0">
                <a:ea typeface="ＭＳ Ｐゴシック" pitchFamily="34" charset="-128"/>
              </a:rPr>
              <a:t>A day in the life… connecting to the Internet</a:t>
            </a:r>
          </a:p>
        </p:txBody>
      </p:sp>
      <p:sp>
        <p:nvSpPr>
          <p:cNvPr id="701629" name="Rectangle 189"/>
          <p:cNvSpPr>
            <a:spLocks noGrp="1" noChangeArrowheads="1"/>
          </p:cNvSpPr>
          <p:nvPr>
            <p:ph type="body" idx="1"/>
          </p:nvPr>
        </p:nvSpPr>
        <p:spPr>
          <a:xfrm>
            <a:off x="6057900" y="939801"/>
            <a:ext cx="3829050" cy="1262063"/>
          </a:xfrm>
        </p:spPr>
        <p:txBody>
          <a:bodyPr>
            <a:normAutofit fontScale="92500" lnSpcReduction="10000"/>
          </a:bodyPr>
          <a:lstStyle/>
          <a:p>
            <a:pPr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US" altLang="en-US" dirty="0" smtClean="0"/>
              <a:t> Connecting laptop needs to get its own IP address, address of first-hop router, address of DNS server: use </a:t>
            </a:r>
            <a:r>
              <a:rPr lang="en-US" altLang="en-US" i="1" dirty="0" smtClean="0">
                <a:solidFill>
                  <a:srgbClr val="C00000"/>
                </a:solidFill>
              </a:rPr>
              <a:t>DHCP</a:t>
            </a:r>
          </a:p>
        </p:txBody>
      </p:sp>
      <p:sp>
        <p:nvSpPr>
          <p:cNvPr id="701661" name="AutoShape 221"/>
          <p:cNvSpPr>
            <a:spLocks noChangeArrowheads="1"/>
          </p:cNvSpPr>
          <p:nvPr/>
        </p:nvSpPr>
        <p:spPr bwMode="auto">
          <a:xfrm>
            <a:off x="2354263" y="2266951"/>
            <a:ext cx="976312" cy="485775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01690" name="Group 250"/>
          <p:cNvGrpSpPr>
            <a:grpSpLocks/>
          </p:cNvGrpSpPr>
          <p:nvPr/>
        </p:nvGrpSpPr>
        <p:grpSpPr bwMode="auto">
          <a:xfrm>
            <a:off x="2719388" y="1081088"/>
            <a:ext cx="976312" cy="1460500"/>
            <a:chOff x="651" y="681"/>
            <a:chExt cx="615" cy="920"/>
          </a:xfrm>
        </p:grpSpPr>
        <p:sp>
          <p:nvSpPr>
            <p:cNvPr id="51309" name="Freeform 249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51310" name="Group 248"/>
            <p:cNvGrpSpPr>
              <a:grpSpLocks/>
            </p:cNvGrpSpPr>
            <p:nvPr/>
          </p:nvGrpSpPr>
          <p:grpSpPr bwMode="auto"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88177" name="Rectangle 242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178" name="Text Box 241"/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DHCP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Phy</a:t>
                </a:r>
              </a:p>
            </p:txBody>
          </p:sp>
          <p:sp>
            <p:nvSpPr>
              <p:cNvPr id="88179" name="Line 243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180" name="Line 244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181" name="Line 245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182" name="Line 246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01693" name="Group 253"/>
          <p:cNvGrpSpPr>
            <a:grpSpLocks/>
          </p:cNvGrpSpPr>
          <p:nvPr/>
        </p:nvGrpSpPr>
        <p:grpSpPr bwMode="auto">
          <a:xfrm>
            <a:off x="2044701" y="1162051"/>
            <a:ext cx="544513" cy="244475"/>
            <a:chOff x="844" y="3337"/>
            <a:chExt cx="343" cy="154"/>
          </a:xfrm>
        </p:grpSpPr>
        <p:sp>
          <p:nvSpPr>
            <p:cNvPr id="88173" name="Rectangle 251"/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8174" name="Text Box 252"/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>
                  <a:solidFill>
                    <a:srgbClr val="FFFFFF"/>
                  </a:solidFill>
                  <a:latin typeface="Arial" charset="0"/>
                </a:rPr>
                <a:t>DHCP</a:t>
              </a:r>
            </a:p>
          </p:txBody>
        </p:sp>
      </p:grpSp>
      <p:grpSp>
        <p:nvGrpSpPr>
          <p:cNvPr id="701739" name="Group 299"/>
          <p:cNvGrpSpPr>
            <a:grpSpLocks/>
          </p:cNvGrpSpPr>
          <p:nvPr/>
        </p:nvGrpSpPr>
        <p:grpSpPr bwMode="auto">
          <a:xfrm>
            <a:off x="1590675" y="1181101"/>
            <a:ext cx="1081088" cy="1166813"/>
            <a:chOff x="42" y="744"/>
            <a:chExt cx="681" cy="735"/>
          </a:xfrm>
        </p:grpSpPr>
        <p:grpSp>
          <p:nvGrpSpPr>
            <p:cNvPr id="51275" name="Group 296"/>
            <p:cNvGrpSpPr>
              <a:grpSpLocks/>
            </p:cNvGrpSpPr>
            <p:nvPr/>
          </p:nvGrpSpPr>
          <p:grpSpPr bwMode="auto"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51277" name="Group 295"/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51302" name="Group 254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88171" name="Rectangle 255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172" name="Text Box 25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>
                        <a:solidFill>
                          <a:srgbClr val="FFFFFF"/>
                        </a:solidFill>
                        <a:latin typeface="Arial" charset="0"/>
                      </a:rPr>
                      <a:t>DHCP</a:t>
                    </a:r>
                  </a:p>
                </p:txBody>
              </p:sp>
            </p:grpSp>
            <p:sp>
              <p:nvSpPr>
                <p:cNvPr id="88169" name="Rectangle 266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8170" name="Rectangle 267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51278" name="Group 274"/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51296" name="Group 268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8166" name="Rectangle 269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167" name="Text Box 27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>
                        <a:solidFill>
                          <a:srgbClr val="FFFFFF"/>
                        </a:solidFill>
                        <a:latin typeface="Arial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51297" name="Group 273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8164" name="Rectangle 271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165" name="Rectangle 272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51279" name="Group 293"/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88160" name="Rectangle 276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8161" name="Rectangle 277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51280" name="Group 294"/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51281" name="Group 287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51285" name="Group 278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51288" name="Group 27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88158" name="Rectangle 28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solidFill>
                            <a:srgbClr val="000000"/>
                          </a:solidFill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88159" name="Text Box 281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>
                            <a:solidFill>
                              <a:srgbClr val="FFFFFF"/>
                            </a:solidFill>
                            <a:latin typeface="Arial" charset="0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51289" name="Group 28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88156" name="Rectangle 28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solidFill>
                            <a:srgbClr val="000000"/>
                          </a:solidFill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88157" name="Rectangle 28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solidFill>
                            <a:srgbClr val="000000"/>
                          </a:solidFill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88152" name="Rectangle 285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153" name="Rectangle 286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88148" name="Rectangle 288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8149" name="Rectangle 290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8150" name="Rectangle 291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88142" name="AutoShape 297"/>
            <p:cNvSpPr>
              <a:spLocks noChangeArrowheads="1"/>
            </p:cNvSpPr>
            <p:nvPr/>
          </p:nvSpPr>
          <p:spPr bwMode="auto">
            <a:xfrm>
              <a:off x="384" y="744"/>
              <a:ext cx="240" cy="735"/>
            </a:xfrm>
            <a:prstGeom prst="downArrow">
              <a:avLst>
                <a:gd name="adj1" fmla="val 54167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</p:grpSp>
      <p:grpSp>
        <p:nvGrpSpPr>
          <p:cNvPr id="701758" name="Group 318"/>
          <p:cNvGrpSpPr>
            <a:grpSpLocks/>
          </p:cNvGrpSpPr>
          <p:nvPr/>
        </p:nvGrpSpPr>
        <p:grpSpPr bwMode="auto">
          <a:xfrm>
            <a:off x="2174875" y="2389189"/>
            <a:ext cx="1081088" cy="244475"/>
            <a:chOff x="504" y="3523"/>
            <a:chExt cx="681" cy="154"/>
          </a:xfrm>
        </p:grpSpPr>
        <p:grpSp>
          <p:nvGrpSpPr>
            <p:cNvPr id="51262" name="Group 319"/>
            <p:cNvGrpSpPr>
              <a:grpSpLocks/>
            </p:cNvGrpSpPr>
            <p:nvPr/>
          </p:nvGrpSpPr>
          <p:grpSpPr bwMode="auto"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51266" name="Group 320"/>
              <p:cNvGrpSpPr>
                <a:grpSpLocks/>
              </p:cNvGrpSpPr>
              <p:nvPr/>
            </p:nvGrpSpPr>
            <p:grpSpPr bwMode="auto"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51269" name="Group 321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8139" name="Rectangle 322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140" name="Text Box 3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>
                        <a:solidFill>
                          <a:srgbClr val="FFFFFF"/>
                        </a:solidFill>
                        <a:latin typeface="Arial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51270" name="Group 324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8137" name="Rectangle 325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138" name="Rectangle 326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88133" name="Rectangle 327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134" name="Rectangle 328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88129" name="Rectangle 329"/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8130" name="Rectangle 330"/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8131" name="Rectangle 331"/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</p:grpSp>
      <p:grpSp>
        <p:nvGrpSpPr>
          <p:cNvPr id="701782" name="Group 342"/>
          <p:cNvGrpSpPr>
            <a:grpSpLocks/>
          </p:cNvGrpSpPr>
          <p:nvPr/>
        </p:nvGrpSpPr>
        <p:grpSpPr bwMode="auto">
          <a:xfrm>
            <a:off x="3001964" y="3081338"/>
            <a:ext cx="1316037" cy="1314450"/>
            <a:chOff x="931" y="1941"/>
            <a:chExt cx="829" cy="828"/>
          </a:xfrm>
        </p:grpSpPr>
        <p:sp>
          <p:nvSpPr>
            <p:cNvPr id="51254" name="Freeform 334"/>
            <p:cNvSpPr>
              <a:spLocks/>
            </p:cNvSpPr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2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51255" name="Group 335"/>
            <p:cNvGrpSpPr>
              <a:grpSpLocks/>
            </p:cNvGrpSpPr>
            <p:nvPr/>
          </p:nvGrpSpPr>
          <p:grpSpPr bwMode="auto"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88122" name="Rectangle 336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123" name="Text Box 337"/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DHCP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Phy</a:t>
                </a:r>
              </a:p>
            </p:txBody>
          </p:sp>
          <p:sp>
            <p:nvSpPr>
              <p:cNvPr id="88124" name="Line 338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125" name="Line 339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126" name="Line 340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127" name="Line 341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01882" name="Group 442"/>
          <p:cNvGrpSpPr>
            <a:grpSpLocks/>
          </p:cNvGrpSpPr>
          <p:nvPr/>
        </p:nvGrpSpPr>
        <p:grpSpPr bwMode="auto">
          <a:xfrm>
            <a:off x="1863725" y="2981326"/>
            <a:ext cx="1081088" cy="1217613"/>
            <a:chOff x="1404" y="3105"/>
            <a:chExt cx="681" cy="767"/>
          </a:xfrm>
        </p:grpSpPr>
        <p:grpSp>
          <p:nvGrpSpPr>
            <p:cNvPr id="51219" name="Group 344"/>
            <p:cNvGrpSpPr>
              <a:grpSpLocks/>
            </p:cNvGrpSpPr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51224" name="Group 345"/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51249" name="Group 346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88118" name="Rectangle 347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119" name="Text Box 34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>
                        <a:solidFill>
                          <a:srgbClr val="FFFFFF"/>
                        </a:solidFill>
                        <a:latin typeface="Arial" charset="0"/>
                      </a:rPr>
                      <a:t>DHCP</a:t>
                    </a:r>
                  </a:p>
                </p:txBody>
              </p:sp>
            </p:grpSp>
            <p:sp>
              <p:nvSpPr>
                <p:cNvPr id="88116" name="Rectangle 349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8117" name="Rectangle 350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51225" name="Group 351"/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51243" name="Group 352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8113" name="Rectangle 353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114" name="Text Box 35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>
                        <a:solidFill>
                          <a:srgbClr val="FFFFFF"/>
                        </a:solidFill>
                        <a:latin typeface="Arial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51244" name="Group 355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8111" name="Rectangle 356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112" name="Rectangle 357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51226" name="Group 358"/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88107" name="Rectangle 359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8108" name="Rectangle 360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51227" name="Group 361"/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51228" name="Group 362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51232" name="Group 363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51235" name="Group 36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88105" name="Rectangle 36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solidFill>
                            <a:srgbClr val="000000"/>
                          </a:solidFill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88106" name="Text Box 366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>
                            <a:solidFill>
                              <a:srgbClr val="FFFFFF"/>
                            </a:solidFill>
                            <a:latin typeface="Arial" charset="0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51236" name="Group 36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88103" name="Rectangle 36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solidFill>
                            <a:srgbClr val="000000"/>
                          </a:solidFill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88104" name="Rectangle 36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solidFill>
                            <a:srgbClr val="000000"/>
                          </a:solidFill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88099" name="Rectangle 370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100" name="Rectangle 371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88095" name="Rectangle 372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8096" name="Rectangle 373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8097" name="Rectangle 374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88086" name="AutoShape 375"/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51221" name="Group 379"/>
            <p:cNvGrpSpPr>
              <a:grpSpLocks/>
            </p:cNvGrpSpPr>
            <p:nvPr/>
          </p:nvGrpSpPr>
          <p:grpSpPr bwMode="auto"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88088" name="Rectangle 380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8089" name="Text Box 381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>
                    <a:solidFill>
                      <a:srgbClr val="FFFFFF"/>
                    </a:solidFill>
                    <a:latin typeface="Arial" charset="0"/>
                  </a:rPr>
                  <a:t>DHCP</a:t>
                </a:r>
              </a:p>
            </p:txBody>
          </p:sp>
        </p:grpSp>
      </p:grpSp>
      <p:grpSp>
        <p:nvGrpSpPr>
          <p:cNvPr id="701916" name="Group 476"/>
          <p:cNvGrpSpPr>
            <a:grpSpLocks/>
          </p:cNvGrpSpPr>
          <p:nvPr/>
        </p:nvGrpSpPr>
        <p:grpSpPr bwMode="auto">
          <a:xfrm>
            <a:off x="2327276" y="3178176"/>
            <a:ext cx="544513" cy="244475"/>
            <a:chOff x="844" y="3337"/>
            <a:chExt cx="343" cy="154"/>
          </a:xfrm>
        </p:grpSpPr>
        <p:sp>
          <p:nvSpPr>
            <p:cNvPr id="88083" name="Rectangle 477"/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8084" name="Text Box 478"/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>
                  <a:solidFill>
                    <a:srgbClr val="FFFFFF"/>
                  </a:solidFill>
                  <a:latin typeface="Arial" charset="0"/>
                </a:rPr>
                <a:t>DHCP</a:t>
              </a:r>
            </a:p>
          </p:txBody>
        </p:sp>
      </p:grpSp>
      <p:sp>
        <p:nvSpPr>
          <p:cNvPr id="701919" name="Rectangle 479"/>
          <p:cNvSpPr>
            <a:spLocks noChangeArrowheads="1"/>
          </p:cNvSpPr>
          <p:nvPr/>
        </p:nvSpPr>
        <p:spPr bwMode="auto">
          <a:xfrm>
            <a:off x="6096000" y="2938463"/>
            <a:ext cx="4008438" cy="1306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2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DHCP request </a:t>
            </a:r>
            <a:r>
              <a:rPr lang="en-US" sz="2200" dirty="0">
                <a:solidFill>
                  <a:srgbClr val="3333CC"/>
                </a:solidFill>
                <a:latin typeface="Gill Sans MT" charset="0"/>
                <a:ea typeface="ＭＳ Ｐゴシック" charset="0"/>
              </a:rPr>
              <a:t>encapsulated </a:t>
            </a:r>
            <a:r>
              <a:rPr lang="en-US" sz="22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in </a:t>
            </a:r>
            <a:r>
              <a:rPr lang="en-US" sz="2200" dirty="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UDP</a:t>
            </a:r>
            <a:r>
              <a:rPr lang="en-US" sz="22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, encapsulated in </a:t>
            </a:r>
            <a:r>
              <a:rPr lang="en-US" sz="2200" dirty="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IP</a:t>
            </a:r>
            <a:r>
              <a:rPr lang="en-US" sz="22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, </a:t>
            </a:r>
            <a:r>
              <a:rPr lang="en-US" dirty="0"/>
              <a:t> (destination address 255.255.255.255 and a source IP address of 0.0.0.0</a:t>
            </a:r>
            <a:r>
              <a:rPr lang="en-US" sz="2400" dirty="0"/>
              <a:t>)</a:t>
            </a:r>
            <a:r>
              <a:rPr lang="en-US" sz="22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 encapsulated in </a:t>
            </a:r>
            <a:r>
              <a:rPr lang="en-US" sz="2200" dirty="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802.3 </a:t>
            </a:r>
            <a:r>
              <a:rPr lang="en-US" sz="22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Ethernet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defRPr/>
            </a:pPr>
            <a:endParaRPr lang="en-US" sz="2200" dirty="0">
              <a:solidFill>
                <a:srgbClr val="000000"/>
              </a:solidFill>
              <a:latin typeface="Gill Sans MT" charset="0"/>
              <a:ea typeface="ＭＳ Ｐゴシック" charset="0"/>
            </a:endParaRPr>
          </a:p>
        </p:txBody>
      </p:sp>
      <p:sp>
        <p:nvSpPr>
          <p:cNvPr id="701920" name="Rectangle 480"/>
          <p:cNvSpPr>
            <a:spLocks noChangeArrowheads="1"/>
          </p:cNvSpPr>
          <p:nvPr/>
        </p:nvSpPr>
        <p:spPr bwMode="auto">
          <a:xfrm>
            <a:off x="1704976" y="4876800"/>
            <a:ext cx="8048625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2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Ethernet frame </a:t>
            </a:r>
            <a:r>
              <a:rPr lang="en-US" sz="2200" dirty="0">
                <a:solidFill>
                  <a:srgbClr val="000099"/>
                </a:solidFill>
                <a:latin typeface="Gill Sans MT" charset="0"/>
                <a:ea typeface="ＭＳ Ｐゴシック" charset="0"/>
              </a:rPr>
              <a:t>broadcast</a:t>
            </a:r>
            <a:r>
              <a:rPr lang="en-US" sz="22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 (</a:t>
            </a:r>
            <a:r>
              <a:rPr lang="en-US" sz="2200" dirty="0" err="1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dest</a:t>
            </a:r>
            <a:r>
              <a:rPr lang="en-US" sz="22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: FFFFFFFFFFFF; source: MAC </a:t>
            </a:r>
            <a:r>
              <a:rPr lang="en-US" sz="2200" dirty="0" err="1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addr</a:t>
            </a:r>
            <a:r>
              <a:rPr lang="en-US" sz="22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 of laptop </a:t>
            </a:r>
            <a:r>
              <a:rPr lang="en-US" sz="2400" dirty="0"/>
              <a:t>00:16:D3:23:68:8A</a:t>
            </a:r>
            <a:r>
              <a:rPr lang="en-US" sz="22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) on LAN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2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Router running </a:t>
            </a:r>
            <a:r>
              <a:rPr lang="en-US" sz="2200" dirty="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DHCP </a:t>
            </a:r>
            <a:r>
              <a:rPr lang="en-US" sz="22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server receives broadcast Ethernet frame at its interface </a:t>
            </a:r>
            <a:r>
              <a:rPr lang="en-US" sz="2400" dirty="0"/>
              <a:t>00:22:6B:45:1F:1B</a:t>
            </a:r>
            <a:endParaRPr lang="en-US" sz="2200" dirty="0">
              <a:solidFill>
                <a:srgbClr val="000000"/>
              </a:solidFill>
              <a:latin typeface="Gill Sans MT" charset="0"/>
              <a:ea typeface="ＭＳ Ｐゴシック" charset="0"/>
            </a:endParaRPr>
          </a:p>
        </p:txBody>
      </p:sp>
      <p:sp>
        <p:nvSpPr>
          <p:cNvPr id="701921" name="Rectangle 481"/>
          <p:cNvSpPr>
            <a:spLocks noChangeArrowheads="1"/>
          </p:cNvSpPr>
          <p:nvPr/>
        </p:nvSpPr>
        <p:spPr bwMode="auto">
          <a:xfrm>
            <a:off x="1760538" y="6211888"/>
            <a:ext cx="8234362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2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Ethernet </a:t>
            </a:r>
            <a:r>
              <a:rPr lang="en-US" sz="2200" dirty="0" err="1">
                <a:solidFill>
                  <a:srgbClr val="000099"/>
                </a:solidFill>
                <a:latin typeface="Gill Sans MT" charset="0"/>
                <a:ea typeface="ＭＳ Ｐゴシック" charset="0"/>
              </a:rPr>
              <a:t>demuxed</a:t>
            </a:r>
            <a:r>
              <a:rPr lang="en-US" sz="22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 to IP </a:t>
            </a:r>
            <a:r>
              <a:rPr lang="en-US" sz="2200" dirty="0" err="1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demuxed</a:t>
            </a:r>
            <a:r>
              <a:rPr lang="en-US" sz="22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, UDP </a:t>
            </a:r>
            <a:r>
              <a:rPr lang="en-US" sz="2200" dirty="0" err="1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demuxed</a:t>
            </a:r>
            <a:r>
              <a:rPr lang="en-US" sz="22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 to DHCP </a:t>
            </a:r>
          </a:p>
        </p:txBody>
      </p:sp>
    </p:spTree>
    <p:extLst>
      <p:ext uri="{BB962C8B-B14F-4D97-AF65-F5344CB8AC3E}">
        <p14:creationId xmlns:p14="http://schemas.microsoft.com/office/powerpoint/2010/main" val="120216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1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" dur="500"/>
                                        <p:tgtEl>
                                          <p:spTgt spid="7016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0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0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01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1.81144E-6 L 0.26823 -0.00139 L 0.10833 0.27287 L -0.01806 0.27125 " pathEditMode="relative" rAng="0" ptsTypes="AAAA">
                                      <p:cBhvr>
                                        <p:cTn id="43" dur="2000" fill="hold"/>
                                        <p:tgtEl>
                                          <p:spTgt spid="7017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135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70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1000"/>
                                        <p:tgtEl>
                                          <p:spTgt spid="701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1629" grpId="0" build="p"/>
      <p:bldP spid="701919" grpId="0"/>
      <p:bldP spid="701920" grpId="0"/>
      <p:bldP spid="7019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26" name="Group 152"/>
          <p:cNvGrpSpPr>
            <a:grpSpLocks/>
          </p:cNvGrpSpPr>
          <p:nvPr/>
        </p:nvGrpSpPr>
        <p:grpSpPr bwMode="auto">
          <a:xfrm>
            <a:off x="2297113" y="1273175"/>
            <a:ext cx="3554412" cy="3067050"/>
            <a:chOff x="773113" y="1273175"/>
            <a:chExt cx="3554412" cy="3066395"/>
          </a:xfrm>
        </p:grpSpPr>
        <p:sp>
          <p:nvSpPr>
            <p:cNvPr id="52337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338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339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340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341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208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>
                  <a:solidFill>
                    <a:srgbClr val="000000"/>
                  </a:solidFill>
                  <a:latin typeface="Arial" charset="0"/>
                  <a:cs typeface="Arial" charset="0"/>
                </a:rPr>
                <a:t>router</a:t>
              </a:r>
            </a:p>
            <a:p>
              <a:pPr>
                <a:defRPr/>
              </a:pPr>
              <a:r>
                <a:rPr lang="en-US" sz="1400">
                  <a:solidFill>
                    <a:srgbClr val="000000"/>
                  </a:solidFill>
                  <a:latin typeface="Arial" charset="0"/>
                  <a:cs typeface="Arial" charset="0"/>
                </a:rPr>
                <a:t>(runs DHCP)</a:t>
              </a:r>
            </a:p>
          </p:txBody>
        </p:sp>
        <p:grpSp>
          <p:nvGrpSpPr>
            <p:cNvPr id="52343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52395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2396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89210" name="Picture 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162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3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4" name="Rectangle 43"/>
            <p:cNvSpPr>
              <a:spLocks noChangeArrowheads="1"/>
            </p:cNvSpPr>
            <p:nvPr/>
          </p:nvSpPr>
          <p:spPr bwMode="auto">
            <a:xfrm rot="-54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grpSp>
          <p:nvGrpSpPr>
            <p:cNvPr id="52348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52363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30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52365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366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33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52368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89259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9260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89235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52370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89257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9258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89237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238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52373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89255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9256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52374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2375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89253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9254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89242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52377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378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8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45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52380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47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203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248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249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250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solidFill>
                    <a:srgbClr val="FF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251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252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grpSp>
          <p:nvGrpSpPr>
            <p:cNvPr id="52349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89216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217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218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219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>
                  <a:solidFill>
                    <a:srgbClr val="000000"/>
                  </a:solidFill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89220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52355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89226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9227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9228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52356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89223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9224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9225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4"/>
                  <a:ext cx="52" cy="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70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48401" y="958851"/>
            <a:ext cx="3571875" cy="2060575"/>
          </a:xfrm>
        </p:spPr>
        <p:txBody>
          <a:bodyPr>
            <a:normAutofit lnSpcReduction="10000"/>
          </a:bodyPr>
          <a:lstStyle/>
          <a:p>
            <a:pPr>
              <a:buClr>
                <a:srgbClr val="002060"/>
              </a:buClr>
              <a:buSzPct val="81000"/>
              <a:buFont typeface="Wingdings" panose="05000000000000000000" pitchFamily="2" charset="2"/>
              <a:buChar char="v"/>
            </a:pPr>
            <a:r>
              <a:rPr lang="en-US" altLang="en-US" smtClean="0">
                <a:ea typeface="ＭＳ Ｐゴシック" panose="020B0600070205080204" pitchFamily="34" charset="-128"/>
              </a:rPr>
              <a:t>DHCP server formulates </a:t>
            </a:r>
            <a:r>
              <a:rPr lang="en-US" altLang="en-US" i="1" smtClean="0">
                <a:solidFill>
                  <a:srgbClr val="C00000"/>
                </a:solidFill>
                <a:ea typeface="ＭＳ Ｐゴシック" panose="020B0600070205080204" pitchFamily="34" charset="-128"/>
              </a:rPr>
              <a:t>DHCP ACK</a:t>
            </a:r>
            <a:r>
              <a:rPr lang="en-US" altLang="en-US" smtClean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mtClean="0">
                <a:ea typeface="ＭＳ Ｐゴシック" panose="020B0600070205080204" pitchFamily="34" charset="-128"/>
              </a:rPr>
              <a:t>containing client</a:t>
            </a:r>
            <a:r>
              <a:rPr lang="ja-JP" altLang="en-US" smtClean="0">
                <a:ea typeface="ＭＳ Ｐゴシック" panose="020B0600070205080204" pitchFamily="34" charset="-128"/>
              </a:rPr>
              <a:t>’</a:t>
            </a:r>
            <a:r>
              <a:rPr lang="en-US" altLang="ja-JP" smtClean="0">
                <a:ea typeface="ＭＳ Ｐゴシック" panose="020B0600070205080204" pitchFamily="34" charset="-128"/>
              </a:rPr>
              <a:t>s IP address, IP address of first-hop router for client, name &amp; IP address of DNS server</a:t>
            </a:r>
          </a:p>
          <a:p>
            <a:pPr>
              <a:lnSpc>
                <a:spcPct val="80000"/>
              </a:lnSpc>
            </a:pPr>
            <a:endParaRPr lang="en-US" altLang="en-US" smtClean="0">
              <a:ea typeface="ＭＳ Ｐゴシック" panose="020B0600070205080204" pitchFamily="34" charset="-128"/>
            </a:endParaRPr>
          </a:p>
        </p:txBody>
      </p:sp>
      <p:grpSp>
        <p:nvGrpSpPr>
          <p:cNvPr id="703533" name="Group 45"/>
          <p:cNvGrpSpPr>
            <a:grpSpLocks/>
          </p:cNvGrpSpPr>
          <p:nvPr/>
        </p:nvGrpSpPr>
        <p:grpSpPr bwMode="auto">
          <a:xfrm>
            <a:off x="2719388" y="1081088"/>
            <a:ext cx="976312" cy="1460500"/>
            <a:chOff x="651" y="681"/>
            <a:chExt cx="615" cy="920"/>
          </a:xfrm>
        </p:grpSpPr>
        <p:sp>
          <p:nvSpPr>
            <p:cNvPr id="52329" name="Freeform 46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52330" name="Group 47"/>
            <p:cNvGrpSpPr>
              <a:grpSpLocks/>
            </p:cNvGrpSpPr>
            <p:nvPr/>
          </p:nvGrpSpPr>
          <p:grpSpPr bwMode="auto"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89197" name="Rectangle 48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198" name="Text Box 49"/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DHCP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Phy</a:t>
                </a:r>
              </a:p>
            </p:txBody>
          </p:sp>
          <p:sp>
            <p:nvSpPr>
              <p:cNvPr id="89199" name="Line 50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200" name="Line 51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201" name="Line 52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202" name="Line 53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03545" name="Group 57"/>
          <p:cNvGrpSpPr>
            <a:grpSpLocks/>
          </p:cNvGrpSpPr>
          <p:nvPr/>
        </p:nvGrpSpPr>
        <p:grpSpPr bwMode="auto">
          <a:xfrm>
            <a:off x="1876425" y="3152776"/>
            <a:ext cx="1081088" cy="1166813"/>
            <a:chOff x="42" y="744"/>
            <a:chExt cx="681" cy="735"/>
          </a:xfrm>
        </p:grpSpPr>
        <p:grpSp>
          <p:nvGrpSpPr>
            <p:cNvPr id="52297" name="Group 58"/>
            <p:cNvGrpSpPr>
              <a:grpSpLocks/>
            </p:cNvGrpSpPr>
            <p:nvPr/>
          </p:nvGrpSpPr>
          <p:grpSpPr bwMode="auto"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52299" name="Group 59"/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52324" name="Group 60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89193" name="Rectangle 61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194" name="Text Box 6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>
                        <a:solidFill>
                          <a:srgbClr val="FFFFFF"/>
                        </a:solidFill>
                        <a:latin typeface="Arial" charset="0"/>
                      </a:rPr>
                      <a:t>DHCP</a:t>
                    </a:r>
                  </a:p>
                </p:txBody>
              </p:sp>
            </p:grpSp>
            <p:sp>
              <p:nvSpPr>
                <p:cNvPr id="89191" name="Rectangle 63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9192" name="Rectangle 64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52300" name="Group 65"/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52318" name="Group 66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9188" name="Rectangle 67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189" name="Text Box 6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>
                        <a:solidFill>
                          <a:srgbClr val="FFFFFF"/>
                        </a:solidFill>
                        <a:latin typeface="Arial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52319" name="Group 69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9186" name="Rectangle 70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187" name="Rectangle 71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52301" name="Group 72"/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89182" name="Rectangle 73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9183" name="Rectangle 74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52302" name="Group 75"/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52303" name="Group 76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52307" name="Group 77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52310" name="Group 7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89180" name="Rectangle 7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solidFill>
                            <a:srgbClr val="000000"/>
                          </a:solidFill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89181" name="Text Box 80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>
                            <a:solidFill>
                              <a:srgbClr val="FFFFFF"/>
                            </a:solidFill>
                            <a:latin typeface="Arial" charset="0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52311" name="Group 8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89178" name="Rectangle 8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solidFill>
                            <a:srgbClr val="000000"/>
                          </a:solidFill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89179" name="Rectangle 8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solidFill>
                            <a:srgbClr val="000000"/>
                          </a:solidFill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89174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175" name="Rectangle 85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89170" name="Rectangle 86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9171" name="Rectangle 87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9172" name="Rectangle 88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89164" name="AutoShape 89"/>
            <p:cNvSpPr>
              <a:spLocks noChangeArrowheads="1"/>
            </p:cNvSpPr>
            <p:nvPr/>
          </p:nvSpPr>
          <p:spPr bwMode="auto">
            <a:xfrm>
              <a:off x="384" y="744"/>
              <a:ext cx="240" cy="735"/>
            </a:xfrm>
            <a:prstGeom prst="downArrow">
              <a:avLst>
                <a:gd name="adj1" fmla="val 54167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</p:grpSp>
      <p:grpSp>
        <p:nvGrpSpPr>
          <p:cNvPr id="703578" name="Group 90"/>
          <p:cNvGrpSpPr>
            <a:grpSpLocks/>
          </p:cNvGrpSpPr>
          <p:nvPr/>
        </p:nvGrpSpPr>
        <p:grpSpPr bwMode="auto">
          <a:xfrm>
            <a:off x="1973264" y="4238626"/>
            <a:ext cx="1081087" cy="244475"/>
            <a:chOff x="504" y="3523"/>
            <a:chExt cx="681" cy="154"/>
          </a:xfrm>
        </p:grpSpPr>
        <p:grpSp>
          <p:nvGrpSpPr>
            <p:cNvPr id="52284" name="Group 91"/>
            <p:cNvGrpSpPr>
              <a:grpSpLocks/>
            </p:cNvGrpSpPr>
            <p:nvPr/>
          </p:nvGrpSpPr>
          <p:grpSpPr bwMode="auto"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52288" name="Group 92"/>
              <p:cNvGrpSpPr>
                <a:grpSpLocks/>
              </p:cNvGrpSpPr>
              <p:nvPr/>
            </p:nvGrpSpPr>
            <p:grpSpPr bwMode="auto"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52291" name="Group 93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9161" name="Rectangle 94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162" name="Text Box 9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>
                        <a:solidFill>
                          <a:srgbClr val="FFFFFF"/>
                        </a:solidFill>
                        <a:latin typeface="Arial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52292" name="Group 96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9159" name="Rectangle 97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160" name="Rectangle 98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89155" name="Rectangle 99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156" name="Rectangle 100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89151" name="Rectangle 101"/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9152" name="Rectangle 102"/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9153" name="Rectangle 103"/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</p:grpSp>
      <p:grpSp>
        <p:nvGrpSpPr>
          <p:cNvPr id="703592" name="Group 104"/>
          <p:cNvGrpSpPr>
            <a:grpSpLocks/>
          </p:cNvGrpSpPr>
          <p:nvPr/>
        </p:nvGrpSpPr>
        <p:grpSpPr bwMode="auto">
          <a:xfrm>
            <a:off x="3001964" y="3081338"/>
            <a:ext cx="1316037" cy="1314450"/>
            <a:chOff x="931" y="1941"/>
            <a:chExt cx="829" cy="828"/>
          </a:xfrm>
        </p:grpSpPr>
        <p:sp>
          <p:nvSpPr>
            <p:cNvPr id="52276" name="Freeform 105"/>
            <p:cNvSpPr>
              <a:spLocks/>
            </p:cNvSpPr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2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52277" name="Group 106"/>
            <p:cNvGrpSpPr>
              <a:grpSpLocks/>
            </p:cNvGrpSpPr>
            <p:nvPr/>
          </p:nvGrpSpPr>
          <p:grpSpPr bwMode="auto"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89144" name="Rectangle 107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145" name="Text Box 108"/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DHCP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Phy</a:t>
                </a:r>
              </a:p>
            </p:txBody>
          </p:sp>
          <p:sp>
            <p:nvSpPr>
              <p:cNvPr id="89146" name="Line 109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147" name="Line 110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148" name="Line 111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149" name="Line 112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03601" name="Group 113"/>
          <p:cNvGrpSpPr>
            <a:grpSpLocks/>
          </p:cNvGrpSpPr>
          <p:nvPr/>
        </p:nvGrpSpPr>
        <p:grpSpPr bwMode="auto">
          <a:xfrm>
            <a:off x="1595439" y="969963"/>
            <a:ext cx="1081087" cy="1217612"/>
            <a:chOff x="1404" y="3105"/>
            <a:chExt cx="681" cy="767"/>
          </a:xfrm>
        </p:grpSpPr>
        <p:grpSp>
          <p:nvGrpSpPr>
            <p:cNvPr id="52241" name="Group 114"/>
            <p:cNvGrpSpPr>
              <a:grpSpLocks/>
            </p:cNvGrpSpPr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52246" name="Group 115"/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52271" name="Group 116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89140" name="Rectangle 117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141" name="Text Box 1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>
                        <a:solidFill>
                          <a:srgbClr val="FFFFFF"/>
                        </a:solidFill>
                        <a:latin typeface="Arial" charset="0"/>
                      </a:rPr>
                      <a:t>DHCP</a:t>
                    </a:r>
                  </a:p>
                </p:txBody>
              </p:sp>
            </p:grpSp>
            <p:sp>
              <p:nvSpPr>
                <p:cNvPr id="89138" name="Rectangle 119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9139" name="Rectangle 120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52247" name="Group 121"/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52265" name="Group 122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9135" name="Rectangle 123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136" name="Text Box 1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>
                        <a:solidFill>
                          <a:srgbClr val="FFFFFF"/>
                        </a:solidFill>
                        <a:latin typeface="Arial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52266" name="Group 125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9133" name="Rectangle 126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134" name="Rectangle 127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52248" name="Group 128"/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89129" name="Rectangle 129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9130" name="Rectangle 130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52249" name="Group 131"/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52250" name="Group 132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52254" name="Group 133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52257" name="Group 13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89127" name="Rectangle 13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solidFill>
                            <a:srgbClr val="000000"/>
                          </a:solidFill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89128" name="Text Box 136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>
                            <a:solidFill>
                              <a:srgbClr val="FFFFFF"/>
                            </a:solidFill>
                            <a:latin typeface="Arial" charset="0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52258" name="Group 13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89125" name="Rectangle 13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solidFill>
                            <a:srgbClr val="000000"/>
                          </a:solidFill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89126" name="Rectangle 13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solidFill>
                            <a:srgbClr val="000000"/>
                          </a:solidFill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89121" name="Rectangle 140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122" name="Rectangle 141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89117" name="Rectangle 142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9118" name="Rectangle 143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89119" name="Rectangle 144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89108" name="AutoShape 145"/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52243" name="Group 146"/>
            <p:cNvGrpSpPr>
              <a:grpSpLocks/>
            </p:cNvGrpSpPr>
            <p:nvPr/>
          </p:nvGrpSpPr>
          <p:grpSpPr bwMode="auto"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89110" name="Rectangle 147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89111" name="Text Box 148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>
                    <a:solidFill>
                      <a:srgbClr val="FFFFFF"/>
                    </a:solidFill>
                    <a:latin typeface="Arial" charset="0"/>
                  </a:rPr>
                  <a:t>DHCP</a:t>
                </a:r>
              </a:p>
            </p:txBody>
          </p:sp>
        </p:grpSp>
      </p:grpSp>
      <p:grpSp>
        <p:nvGrpSpPr>
          <p:cNvPr id="703637" name="Group 149"/>
          <p:cNvGrpSpPr>
            <a:grpSpLocks/>
          </p:cNvGrpSpPr>
          <p:nvPr/>
        </p:nvGrpSpPr>
        <p:grpSpPr bwMode="auto">
          <a:xfrm>
            <a:off x="2327276" y="3178176"/>
            <a:ext cx="544513" cy="244475"/>
            <a:chOff x="844" y="3337"/>
            <a:chExt cx="343" cy="154"/>
          </a:xfrm>
        </p:grpSpPr>
        <p:sp>
          <p:nvSpPr>
            <p:cNvPr id="89105" name="Rectangle 150"/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89106" name="Text Box 151"/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>
                  <a:solidFill>
                    <a:srgbClr val="FFFFFF"/>
                  </a:solidFill>
                  <a:latin typeface="Arial" charset="0"/>
                </a:rPr>
                <a:t>DHCP</a:t>
              </a:r>
            </a:p>
          </p:txBody>
        </p:sp>
      </p:grpSp>
      <p:sp>
        <p:nvSpPr>
          <p:cNvPr id="703643" name="Rectangle 155"/>
          <p:cNvSpPr>
            <a:spLocks noChangeArrowheads="1"/>
          </p:cNvSpPr>
          <p:nvPr/>
        </p:nvSpPr>
        <p:spPr bwMode="auto">
          <a:xfrm>
            <a:off x="6248401" y="3184526"/>
            <a:ext cx="3629025" cy="136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200" dirty="0">
                <a:solidFill>
                  <a:srgbClr val="000000"/>
                </a:solidFill>
                <a:ea typeface="ＭＳ Ｐゴシック" charset="0"/>
              </a:rPr>
              <a:t>Encapsulation at DHCP server, frame forwarded (</a:t>
            </a:r>
            <a:r>
              <a:rPr lang="en-US" sz="2200" dirty="0">
                <a:solidFill>
                  <a:srgbClr val="C00000"/>
                </a:solidFill>
                <a:ea typeface="ＭＳ Ｐゴシック" charset="0"/>
              </a:rPr>
              <a:t>switch learning – </a:t>
            </a:r>
            <a:r>
              <a:rPr lang="en-US" sz="2200" dirty="0">
                <a:ea typeface="ＭＳ Ｐゴシック" charset="0"/>
              </a:rPr>
              <a:t>source MAC</a:t>
            </a:r>
            <a:r>
              <a:rPr lang="en-US" sz="2200" dirty="0">
                <a:solidFill>
                  <a:srgbClr val="C00000"/>
                </a:solidFill>
                <a:ea typeface="ＭＳ Ｐゴシック" charset="0"/>
              </a:rPr>
              <a:t>: </a:t>
            </a:r>
            <a:r>
              <a:rPr lang="en-US" sz="2000" dirty="0"/>
              <a:t>00:22:6B:45:1F:1B</a:t>
            </a:r>
            <a:r>
              <a:rPr lang="en-US" sz="2200" dirty="0">
                <a:solidFill>
                  <a:srgbClr val="C00000"/>
                </a:solidFill>
                <a:ea typeface="ＭＳ Ｐゴシック" charset="0"/>
              </a:rPr>
              <a:t> </a:t>
            </a:r>
            <a:r>
              <a:rPr lang="en-US" sz="2200" dirty="0">
                <a:ea typeface="ＭＳ Ｐゴシック" charset="0"/>
              </a:rPr>
              <a:t>destination MAC: </a:t>
            </a:r>
            <a:r>
              <a:rPr lang="en-US" sz="2000" dirty="0"/>
              <a:t>00:16:D3:23:68:8A</a:t>
            </a:r>
            <a:r>
              <a:rPr lang="en-US" sz="2200" dirty="0">
                <a:solidFill>
                  <a:srgbClr val="C00000"/>
                </a:solidFill>
                <a:ea typeface="ＭＳ Ｐゴシック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ea typeface="ＭＳ Ｐゴシック" charset="0"/>
              </a:rPr>
              <a:t>)</a:t>
            </a:r>
            <a:endParaRPr lang="en-US" dirty="0">
              <a:solidFill>
                <a:srgbClr val="000000"/>
              </a:solidFill>
              <a:latin typeface="Gill Sans MT" charset="0"/>
              <a:ea typeface="ＭＳ Ｐゴシック" charset="0"/>
            </a:endParaRPr>
          </a:p>
        </p:txBody>
      </p:sp>
      <p:sp>
        <p:nvSpPr>
          <p:cNvPr id="703644" name="Text Box 156"/>
          <p:cNvSpPr txBox="1">
            <a:spLocks noChangeArrowheads="1"/>
          </p:cNvSpPr>
          <p:nvPr/>
        </p:nvSpPr>
        <p:spPr bwMode="auto">
          <a:xfrm>
            <a:off x="2195514" y="6018213"/>
            <a:ext cx="6643687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400" dirty="0">
                <a:solidFill>
                  <a:srgbClr val="000000"/>
                </a:solidFill>
                <a:latin typeface="Gill Sans MT" charset="0"/>
              </a:rPr>
              <a:t>Client now has IP address, knows name &amp; </a:t>
            </a:r>
            <a:r>
              <a:rPr lang="en-US" sz="2400" dirty="0" err="1">
                <a:solidFill>
                  <a:srgbClr val="000000"/>
                </a:solidFill>
                <a:latin typeface="Gill Sans MT" charset="0"/>
              </a:rPr>
              <a:t>addr</a:t>
            </a:r>
            <a:r>
              <a:rPr lang="en-US" sz="2400" dirty="0">
                <a:solidFill>
                  <a:srgbClr val="000000"/>
                </a:solidFill>
                <a:latin typeface="Gill Sans MT" charset="0"/>
              </a:rPr>
              <a:t> of DNS </a:t>
            </a:r>
          </a:p>
          <a:p>
            <a:pPr algn="ctr">
              <a:defRPr/>
            </a:pPr>
            <a:r>
              <a:rPr lang="en-US" sz="2400" dirty="0">
                <a:solidFill>
                  <a:srgbClr val="000000"/>
                </a:solidFill>
                <a:latin typeface="Gill Sans MT" charset="0"/>
              </a:rPr>
              <a:t>server, IP address of its first-hop router</a:t>
            </a:r>
          </a:p>
        </p:txBody>
      </p:sp>
      <p:sp>
        <p:nvSpPr>
          <p:cNvPr id="703645" name="Rectangle 157"/>
          <p:cNvSpPr>
            <a:spLocks noChangeArrowheads="1"/>
          </p:cNvSpPr>
          <p:nvPr/>
        </p:nvSpPr>
        <p:spPr bwMode="auto">
          <a:xfrm>
            <a:off x="2297114" y="5491164"/>
            <a:ext cx="5932487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0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DHCP client receives DHCP ACK reply</a:t>
            </a:r>
          </a:p>
        </p:txBody>
      </p:sp>
      <p:sp>
        <p:nvSpPr>
          <p:cNvPr id="89103" name="Rectangle 2"/>
          <p:cNvSpPr>
            <a:spLocks noGrp="1" noChangeArrowheads="1"/>
          </p:cNvSpPr>
          <p:nvPr>
            <p:ph type="title"/>
          </p:nvPr>
        </p:nvSpPr>
        <p:spPr>
          <a:xfrm>
            <a:off x="1847850" y="9525"/>
            <a:ext cx="8034338" cy="996950"/>
          </a:xfrm>
        </p:spPr>
        <p:txBody>
          <a:bodyPr/>
          <a:lstStyle/>
          <a:p>
            <a:pPr>
              <a:defRPr/>
            </a:pPr>
            <a:r>
              <a:rPr lang="en-US" altLang="en-US" sz="3200">
                <a:ea typeface="ＭＳ Ｐゴシック" pitchFamily="34" charset="-128"/>
              </a:rPr>
              <a:t>A day in the life… connecting to the Internet</a:t>
            </a:r>
          </a:p>
        </p:txBody>
      </p:sp>
    </p:spTree>
    <p:extLst>
      <p:ext uri="{BB962C8B-B14F-4D97-AF65-F5344CB8AC3E}">
        <p14:creationId xmlns:p14="http://schemas.microsoft.com/office/powerpoint/2010/main" val="107347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03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569 0.03081 L 0.1533 0.0322 L 0.34896 -0.28446 L -0.04115 -0.28886 " pathEditMode="relative" rAng="0" ptsTypes="AAAA">
                                      <p:cBhvr>
                                        <p:cTn id="21" dur="2000" fill="hold"/>
                                        <p:tgtEl>
                                          <p:spTgt spid="7035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951" y="-159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1000"/>
                                        <p:tgtEl>
                                          <p:spTgt spid="703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03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3491" grpId="0" build="p"/>
      <p:bldP spid="703643" grpId="0" build="p"/>
      <p:bldP spid="703644" grpId="0"/>
      <p:bldP spid="70364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50" name="Group 92"/>
          <p:cNvGrpSpPr>
            <a:grpSpLocks/>
          </p:cNvGrpSpPr>
          <p:nvPr/>
        </p:nvGrpSpPr>
        <p:grpSpPr bwMode="auto">
          <a:xfrm>
            <a:off x="2297113" y="1273175"/>
            <a:ext cx="3554412" cy="3067050"/>
            <a:chOff x="773113" y="1273175"/>
            <a:chExt cx="3554412" cy="3066395"/>
          </a:xfrm>
        </p:grpSpPr>
        <p:sp>
          <p:nvSpPr>
            <p:cNvPr id="53312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13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314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315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316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183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>
                  <a:solidFill>
                    <a:srgbClr val="000000"/>
                  </a:solidFill>
                  <a:latin typeface="Arial" charset="0"/>
                  <a:cs typeface="Arial" charset="0"/>
                </a:rPr>
                <a:t>router</a:t>
              </a:r>
            </a:p>
            <a:p>
              <a:pPr>
                <a:defRPr/>
              </a:pPr>
              <a:r>
                <a:rPr lang="en-US" sz="1400">
                  <a:solidFill>
                    <a:srgbClr val="000000"/>
                  </a:solidFill>
                  <a:latin typeface="Arial" charset="0"/>
                  <a:cs typeface="Arial" charset="0"/>
                </a:rPr>
                <a:t>(runs DHCP)</a:t>
              </a:r>
            </a:p>
          </p:txBody>
        </p:sp>
        <p:grpSp>
          <p:nvGrpSpPr>
            <p:cNvPr id="53318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53370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3371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90185" name="Picture 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102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03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04" name="Rectangle 43"/>
            <p:cNvSpPr>
              <a:spLocks noChangeArrowheads="1"/>
            </p:cNvSpPr>
            <p:nvPr/>
          </p:nvSpPr>
          <p:spPr bwMode="auto">
            <a:xfrm rot="-54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grpSp>
          <p:nvGrpSpPr>
            <p:cNvPr id="53323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53338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05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53340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341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08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53343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90234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0235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90210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53345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90232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0233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90212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0213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53348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90230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0231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53349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3350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90228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0229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90217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53352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353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8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20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53355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22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203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0223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0224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0225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solidFill>
                    <a:srgbClr val="FF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0226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0227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grpSp>
          <p:nvGrpSpPr>
            <p:cNvPr id="53324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90191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0192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0193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0194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>
                  <a:solidFill>
                    <a:srgbClr val="000000"/>
                  </a:solidFill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90195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53330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90201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0202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0203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53331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90198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0199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0200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4"/>
                  <a:ext cx="52" cy="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90117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1"/>
            <a:ext cx="8853488" cy="1001713"/>
          </a:xfrm>
        </p:spPr>
        <p:txBody>
          <a:bodyPr/>
          <a:lstStyle/>
          <a:p>
            <a:pPr>
              <a:defRPr/>
            </a:pPr>
            <a:r>
              <a:rPr lang="en-US" altLang="en-US" sz="3200">
                <a:ea typeface="ＭＳ Ｐゴシック" pitchFamily="34" charset="-128"/>
              </a:rPr>
              <a:t>A day in the life… ARP (before DNS, before HTTP)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15025" y="1014413"/>
            <a:ext cx="4667250" cy="1262062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altLang="en-US" smtClean="0"/>
              <a:t>before sending </a:t>
            </a:r>
            <a:r>
              <a:rPr lang="en-US" altLang="en-US" i="1" smtClean="0">
                <a:solidFill>
                  <a:srgbClr val="C00000"/>
                </a:solidFill>
              </a:rPr>
              <a:t>HTTP</a:t>
            </a:r>
            <a:r>
              <a:rPr lang="en-US" altLang="en-US" b="1" i="1" smtClean="0">
                <a:solidFill>
                  <a:srgbClr val="C00000"/>
                </a:solidFill>
              </a:rPr>
              <a:t> </a:t>
            </a:r>
            <a:r>
              <a:rPr lang="en-US" altLang="en-US" smtClean="0"/>
              <a:t>request, need IP address of www.google.com:  </a:t>
            </a:r>
            <a:r>
              <a:rPr lang="en-US" altLang="en-US" i="1" smtClean="0">
                <a:solidFill>
                  <a:srgbClr val="C00000"/>
                </a:solidFill>
              </a:rPr>
              <a:t>DNS</a:t>
            </a:r>
          </a:p>
        </p:txBody>
      </p:sp>
      <p:sp>
        <p:nvSpPr>
          <p:cNvPr id="53253" name="Line 43"/>
          <p:cNvSpPr>
            <a:spLocks noChangeShapeType="1"/>
          </p:cNvSpPr>
          <p:nvPr/>
        </p:nvSpPr>
        <p:spPr bwMode="auto">
          <a:xfrm flipV="1">
            <a:off x="4189414" y="2517775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704557" name="Group 45"/>
          <p:cNvGrpSpPr>
            <a:grpSpLocks/>
          </p:cNvGrpSpPr>
          <p:nvPr/>
        </p:nvGrpSpPr>
        <p:grpSpPr bwMode="auto">
          <a:xfrm>
            <a:off x="2719388" y="1081088"/>
            <a:ext cx="976312" cy="1460500"/>
            <a:chOff x="651" y="681"/>
            <a:chExt cx="615" cy="920"/>
          </a:xfrm>
        </p:grpSpPr>
        <p:sp>
          <p:nvSpPr>
            <p:cNvPr id="53304" name="Freeform 46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53305" name="Group 47"/>
            <p:cNvGrpSpPr>
              <a:grpSpLocks/>
            </p:cNvGrpSpPr>
            <p:nvPr/>
          </p:nvGrpSpPr>
          <p:grpSpPr bwMode="auto">
            <a:xfrm>
              <a:off x="651" y="681"/>
              <a:ext cx="500" cy="828"/>
              <a:chOff x="569" y="2954"/>
              <a:chExt cx="500" cy="828"/>
            </a:xfrm>
          </p:grpSpPr>
          <p:sp>
            <p:nvSpPr>
              <p:cNvPr id="90172" name="Rectangle 48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0173" name="Text Box 49"/>
              <p:cNvSpPr txBox="1">
                <a:spLocks noChangeArrowheads="1"/>
              </p:cNvSpPr>
              <p:nvPr/>
            </p:nvSpPr>
            <p:spPr bwMode="auto">
              <a:xfrm>
                <a:off x="639" y="2954"/>
                <a:ext cx="385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DNS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Phy</a:t>
                </a:r>
              </a:p>
            </p:txBody>
          </p:sp>
          <p:sp>
            <p:nvSpPr>
              <p:cNvPr id="90174" name="Line 50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0175" name="Line 51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0176" name="Line 52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0177" name="Line 53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04788" name="Group 276"/>
          <p:cNvGrpSpPr>
            <a:grpSpLocks/>
          </p:cNvGrpSpPr>
          <p:nvPr/>
        </p:nvGrpSpPr>
        <p:grpSpPr bwMode="auto">
          <a:xfrm>
            <a:off x="1804988" y="1157288"/>
            <a:ext cx="762000" cy="876300"/>
            <a:chOff x="177" y="729"/>
            <a:chExt cx="480" cy="552"/>
          </a:xfrm>
        </p:grpSpPr>
        <p:grpSp>
          <p:nvGrpSpPr>
            <p:cNvPr id="53284" name="Group 54"/>
            <p:cNvGrpSpPr>
              <a:grpSpLocks/>
            </p:cNvGrpSpPr>
            <p:nvPr/>
          </p:nvGrpSpPr>
          <p:grpSpPr bwMode="auto"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90168" name="Rectangle 55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0169" name="Text Box 56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>
                    <a:solidFill>
                      <a:srgbClr val="FFFFFF"/>
                    </a:solidFill>
                    <a:latin typeface="Arial" charset="0"/>
                  </a:rPr>
                  <a:t>DNS</a:t>
                </a:r>
              </a:p>
            </p:txBody>
          </p:sp>
        </p:grpSp>
        <p:grpSp>
          <p:nvGrpSpPr>
            <p:cNvPr id="53285" name="Group 59"/>
            <p:cNvGrpSpPr>
              <a:grpSpLocks/>
            </p:cNvGrpSpPr>
            <p:nvPr/>
          </p:nvGrpSpPr>
          <p:grpSpPr bwMode="auto"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53297" name="Group 60"/>
              <p:cNvGrpSpPr>
                <a:grpSpLocks/>
              </p:cNvGrpSpPr>
              <p:nvPr/>
            </p:nvGrpSpPr>
            <p:grpSpPr bwMode="auto"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90166" name="Rectangle 61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0167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>
                      <a:solidFill>
                        <a:srgbClr val="FFFFFF"/>
                      </a:solidFill>
                      <a:latin typeface="Arial" charset="0"/>
                    </a:rPr>
                    <a:t>DNS</a:t>
                  </a:r>
                </a:p>
              </p:txBody>
            </p:sp>
          </p:grpSp>
          <p:sp>
            <p:nvSpPr>
              <p:cNvPr id="90164" name="Rectangle 63"/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0165" name="Rectangle 64"/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grpSp>
          <p:nvGrpSpPr>
            <p:cNvPr id="53286" name="Group 65"/>
            <p:cNvGrpSpPr>
              <a:grpSpLocks/>
            </p:cNvGrpSpPr>
            <p:nvPr/>
          </p:nvGrpSpPr>
          <p:grpSpPr bwMode="auto"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53291" name="Group 66"/>
              <p:cNvGrpSpPr>
                <a:grpSpLocks/>
              </p:cNvGrpSpPr>
              <p:nvPr/>
            </p:nvGrpSpPr>
            <p:grpSpPr bwMode="auto"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90161" name="Rectangle 67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0162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>
                      <a:solidFill>
                        <a:srgbClr val="FFFFFF"/>
                      </a:solidFill>
                      <a:latin typeface="Arial" charset="0"/>
                    </a:rPr>
                    <a:t>DNS</a:t>
                  </a:r>
                </a:p>
              </p:txBody>
            </p:sp>
          </p:grpSp>
          <p:grpSp>
            <p:nvGrpSpPr>
              <p:cNvPr id="53292" name="Group 69"/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90159" name="Rectangle 70"/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0160" name="Rectangle 71"/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53287" name="Group 72"/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0155" name="Rectangle 73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0156" name="Rectangle 74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90154" name="AutoShape 89"/>
            <p:cNvSpPr>
              <a:spLocks noChangeArrowheads="1"/>
            </p:cNvSpPr>
            <p:nvPr/>
          </p:nvSpPr>
          <p:spPr bwMode="auto">
            <a:xfrm>
              <a:off x="393" y="729"/>
              <a:ext cx="240" cy="552"/>
            </a:xfrm>
            <a:prstGeom prst="downArrow">
              <a:avLst>
                <a:gd name="adj1" fmla="val 54167"/>
                <a:gd name="adj2" fmla="val 36928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</p:grpSp>
      <p:sp>
        <p:nvSpPr>
          <p:cNvPr id="704664" name="Rectangle 152"/>
          <p:cNvSpPr>
            <a:spLocks noChangeArrowheads="1"/>
          </p:cNvSpPr>
          <p:nvPr/>
        </p:nvSpPr>
        <p:spPr bwMode="auto">
          <a:xfrm>
            <a:off x="5911850" y="2232026"/>
            <a:ext cx="4527550" cy="1306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2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DNS query created, encapsulated in UDP, encapsulated in IP, encapsulated in Eth.  To send frame to router, need MAC address of router interface: </a:t>
            </a:r>
            <a:r>
              <a:rPr lang="en-US" sz="2200" dirty="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ARP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defRPr/>
            </a:pPr>
            <a:endParaRPr lang="en-US" sz="2200" b="1" dirty="0">
              <a:solidFill>
                <a:srgbClr val="000000"/>
              </a:solidFill>
              <a:latin typeface="Gill Sans MT" charset="0"/>
              <a:ea typeface="ＭＳ Ｐゴシック" charset="0"/>
            </a:endParaRPr>
          </a:p>
        </p:txBody>
      </p:sp>
      <p:sp>
        <p:nvSpPr>
          <p:cNvPr id="704665" name="Rectangle 153"/>
          <p:cNvSpPr>
            <a:spLocks noChangeArrowheads="1"/>
          </p:cNvSpPr>
          <p:nvPr/>
        </p:nvSpPr>
        <p:spPr bwMode="auto">
          <a:xfrm>
            <a:off x="5995988" y="3863975"/>
            <a:ext cx="4386262" cy="15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200" dirty="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ARP query </a:t>
            </a:r>
            <a:r>
              <a:rPr lang="en-US" sz="22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broadcast, received by router, which replies with </a:t>
            </a:r>
            <a:r>
              <a:rPr lang="en-US" sz="2200" dirty="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ARP reply </a:t>
            </a:r>
            <a:r>
              <a:rPr lang="en-US" sz="22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giving MAC address of router interface</a:t>
            </a:r>
          </a:p>
        </p:txBody>
      </p:sp>
      <p:sp>
        <p:nvSpPr>
          <p:cNvPr id="704666" name="Rectangle 154"/>
          <p:cNvSpPr>
            <a:spLocks noChangeArrowheads="1"/>
          </p:cNvSpPr>
          <p:nvPr/>
        </p:nvSpPr>
        <p:spPr bwMode="auto">
          <a:xfrm>
            <a:off x="5995988" y="5410201"/>
            <a:ext cx="4286250" cy="129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2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client now knows MAC address of first hop router, so can now send frame containing DNS query </a:t>
            </a:r>
          </a:p>
        </p:txBody>
      </p:sp>
      <p:grpSp>
        <p:nvGrpSpPr>
          <p:cNvPr id="704775" name="Group 263"/>
          <p:cNvGrpSpPr>
            <a:grpSpLocks/>
          </p:cNvGrpSpPr>
          <p:nvPr/>
        </p:nvGrpSpPr>
        <p:grpSpPr bwMode="auto">
          <a:xfrm>
            <a:off x="1616075" y="1868489"/>
            <a:ext cx="1081088" cy="244475"/>
            <a:chOff x="76" y="2296"/>
            <a:chExt cx="681" cy="154"/>
          </a:xfrm>
        </p:grpSpPr>
        <p:sp>
          <p:nvSpPr>
            <p:cNvPr id="90145" name="Rectangle 103"/>
            <p:cNvSpPr>
              <a:spLocks noChangeArrowheads="1"/>
            </p:cNvSpPr>
            <p:nvPr/>
          </p:nvSpPr>
          <p:spPr bwMode="auto">
            <a:xfrm>
              <a:off x="76" y="2305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0146" name="Rectangle 101"/>
            <p:cNvSpPr>
              <a:spLocks noChangeArrowheads="1"/>
            </p:cNvSpPr>
            <p:nvPr/>
          </p:nvSpPr>
          <p:spPr bwMode="auto">
            <a:xfrm>
              <a:off x="89" y="2321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0147" name="Rectangle 102"/>
            <p:cNvSpPr>
              <a:spLocks noChangeArrowheads="1"/>
            </p:cNvSpPr>
            <p:nvPr/>
          </p:nvSpPr>
          <p:spPr bwMode="auto">
            <a:xfrm>
              <a:off x="687" y="2320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0148" name="Rectangle 100"/>
            <p:cNvSpPr>
              <a:spLocks noChangeArrowheads="1"/>
            </p:cNvSpPr>
            <p:nvPr/>
          </p:nvSpPr>
          <p:spPr bwMode="auto">
            <a:xfrm>
              <a:off x="195" y="2319"/>
              <a:ext cx="480" cy="11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0149" name="Text Box 95"/>
            <p:cNvSpPr txBox="1">
              <a:spLocks noChangeArrowheads="1"/>
            </p:cNvSpPr>
            <p:nvPr/>
          </p:nvSpPr>
          <p:spPr bwMode="auto">
            <a:xfrm>
              <a:off x="182" y="2296"/>
              <a:ext cx="501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>
                  <a:solidFill>
                    <a:srgbClr val="000000"/>
                  </a:solidFill>
                  <a:latin typeface="Arial" charset="0"/>
                </a:rPr>
                <a:t>ARP query</a:t>
              </a:r>
            </a:p>
          </p:txBody>
        </p:sp>
      </p:grpSp>
      <p:grpSp>
        <p:nvGrpSpPr>
          <p:cNvPr id="704767" name="Group 255"/>
          <p:cNvGrpSpPr>
            <a:grpSpLocks/>
          </p:cNvGrpSpPr>
          <p:nvPr/>
        </p:nvGrpSpPr>
        <p:grpSpPr bwMode="auto">
          <a:xfrm>
            <a:off x="3765550" y="2982914"/>
            <a:ext cx="1016000" cy="877887"/>
            <a:chOff x="719" y="2137"/>
            <a:chExt cx="640" cy="553"/>
          </a:xfrm>
        </p:grpSpPr>
        <p:sp>
          <p:nvSpPr>
            <p:cNvPr id="53271" name="Freeform 244"/>
            <p:cNvSpPr>
              <a:spLocks/>
            </p:cNvSpPr>
            <p:nvPr/>
          </p:nvSpPr>
          <p:spPr bwMode="auto">
            <a:xfrm>
              <a:off x="755" y="2268"/>
              <a:ext cx="604" cy="422"/>
            </a:xfrm>
            <a:custGeom>
              <a:avLst/>
              <a:gdLst>
                <a:gd name="T0" fmla="*/ 493 w 604"/>
                <a:gd name="T1" fmla="*/ 0 h 422"/>
                <a:gd name="T2" fmla="*/ 604 w 604"/>
                <a:gd name="T3" fmla="*/ 422 h 422"/>
                <a:gd name="T4" fmla="*/ 0 w 604"/>
                <a:gd name="T5" fmla="*/ 307 h 422"/>
                <a:gd name="T6" fmla="*/ 220 w 604"/>
                <a:gd name="T7" fmla="*/ 3 h 422"/>
                <a:gd name="T8" fmla="*/ 493 w 604"/>
                <a:gd name="T9" fmla="*/ 0 h 4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422">
                  <a:moveTo>
                    <a:pt x="493" y="0"/>
                  </a:moveTo>
                  <a:lnTo>
                    <a:pt x="604" y="422"/>
                  </a:lnTo>
                  <a:lnTo>
                    <a:pt x="0" y="307"/>
                  </a:lnTo>
                  <a:lnTo>
                    <a:pt x="220" y="3"/>
                  </a:lnTo>
                  <a:lnTo>
                    <a:pt x="493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0138" name="Rectangle 246"/>
            <p:cNvSpPr>
              <a:spLocks noChangeArrowheads="1"/>
            </p:cNvSpPr>
            <p:nvPr/>
          </p:nvSpPr>
          <p:spPr bwMode="auto">
            <a:xfrm>
              <a:off x="751" y="2266"/>
              <a:ext cx="493" cy="3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0139" name="Text Box 247"/>
            <p:cNvSpPr txBox="1">
              <a:spLocks noChangeArrowheads="1"/>
            </p:cNvSpPr>
            <p:nvPr/>
          </p:nvSpPr>
          <p:spPr bwMode="auto">
            <a:xfrm>
              <a:off x="835" y="2235"/>
              <a:ext cx="336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i="0">
                  <a:solidFill>
                    <a:srgbClr val="000000"/>
                  </a:solidFill>
                  <a:latin typeface="Arial" charset="0"/>
                </a:rPr>
                <a:t>Eth</a:t>
              </a:r>
            </a:p>
            <a:p>
              <a:pPr algn="ctr">
                <a:defRPr/>
              </a:pPr>
              <a:r>
                <a:rPr lang="en-US" sz="1600" i="0">
                  <a:solidFill>
                    <a:srgbClr val="000000"/>
                  </a:solidFill>
                  <a:latin typeface="Arial" charset="0"/>
                </a:rPr>
                <a:t>Phy</a:t>
              </a:r>
            </a:p>
          </p:txBody>
        </p:sp>
        <p:sp>
          <p:nvSpPr>
            <p:cNvPr id="90140" name="Line 250"/>
            <p:cNvSpPr>
              <a:spLocks noChangeShapeType="1"/>
            </p:cNvSpPr>
            <p:nvPr/>
          </p:nvSpPr>
          <p:spPr bwMode="auto">
            <a:xfrm>
              <a:off x="747" y="2264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0141" name="Line 251"/>
            <p:cNvSpPr>
              <a:spLocks noChangeShapeType="1"/>
            </p:cNvSpPr>
            <p:nvPr/>
          </p:nvSpPr>
          <p:spPr bwMode="auto">
            <a:xfrm>
              <a:off x="744" y="2423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53276" name="Group 252"/>
            <p:cNvGrpSpPr>
              <a:grpSpLocks/>
            </p:cNvGrpSpPr>
            <p:nvPr/>
          </p:nvGrpSpPr>
          <p:grpSpPr bwMode="auto">
            <a:xfrm>
              <a:off x="719" y="2137"/>
              <a:ext cx="280" cy="154"/>
              <a:chOff x="161" y="1354"/>
              <a:chExt cx="280" cy="154"/>
            </a:xfrm>
          </p:grpSpPr>
          <p:sp>
            <p:nvSpPr>
              <p:cNvPr id="90143" name="Rectangle 253"/>
              <p:cNvSpPr>
                <a:spLocks noChangeArrowheads="1"/>
              </p:cNvSpPr>
              <p:nvPr/>
            </p:nvSpPr>
            <p:spPr bwMode="auto">
              <a:xfrm>
                <a:off x="192" y="1365"/>
                <a:ext cx="228" cy="14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0144" name="Text Box 254"/>
              <p:cNvSpPr txBox="1">
                <a:spLocks noChangeArrowheads="1"/>
              </p:cNvSpPr>
              <p:nvPr/>
            </p:nvSpPr>
            <p:spPr bwMode="auto">
              <a:xfrm>
                <a:off x="161" y="1354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>
                    <a:solidFill>
                      <a:srgbClr val="000000"/>
                    </a:solidFill>
                    <a:latin typeface="Arial" charset="0"/>
                  </a:rPr>
                  <a:t>ARP</a:t>
                </a:r>
              </a:p>
            </p:txBody>
          </p:sp>
        </p:grpSp>
      </p:grpSp>
      <p:grpSp>
        <p:nvGrpSpPr>
          <p:cNvPr id="704754" name="Group 242"/>
          <p:cNvGrpSpPr>
            <a:grpSpLocks/>
          </p:cNvGrpSpPr>
          <p:nvPr/>
        </p:nvGrpSpPr>
        <p:grpSpPr bwMode="auto">
          <a:xfrm>
            <a:off x="2674938" y="1720851"/>
            <a:ext cx="444500" cy="244475"/>
            <a:chOff x="161" y="1354"/>
            <a:chExt cx="280" cy="154"/>
          </a:xfrm>
        </p:grpSpPr>
        <p:sp>
          <p:nvSpPr>
            <p:cNvPr id="90135" name="Rectangle 241"/>
            <p:cNvSpPr>
              <a:spLocks noChangeArrowheads="1"/>
            </p:cNvSpPr>
            <p:nvPr/>
          </p:nvSpPr>
          <p:spPr bwMode="auto">
            <a:xfrm>
              <a:off x="192" y="1365"/>
              <a:ext cx="228" cy="1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0136" name="Text Box 240"/>
            <p:cNvSpPr txBox="1">
              <a:spLocks noChangeArrowheads="1"/>
            </p:cNvSpPr>
            <p:nvPr/>
          </p:nvSpPr>
          <p:spPr bwMode="auto">
            <a:xfrm>
              <a:off x="161" y="1354"/>
              <a:ext cx="28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>
                  <a:solidFill>
                    <a:srgbClr val="000000"/>
                  </a:solidFill>
                  <a:latin typeface="Arial" charset="0"/>
                </a:rPr>
                <a:t>ARP</a:t>
              </a:r>
            </a:p>
          </p:txBody>
        </p:sp>
      </p:grpSp>
      <p:grpSp>
        <p:nvGrpSpPr>
          <p:cNvPr id="704782" name="Group 270"/>
          <p:cNvGrpSpPr>
            <a:grpSpLocks/>
          </p:cNvGrpSpPr>
          <p:nvPr/>
        </p:nvGrpSpPr>
        <p:grpSpPr bwMode="auto">
          <a:xfrm>
            <a:off x="2701925" y="3187701"/>
            <a:ext cx="1081088" cy="244475"/>
            <a:chOff x="76" y="2296"/>
            <a:chExt cx="681" cy="154"/>
          </a:xfrm>
        </p:grpSpPr>
        <p:sp>
          <p:nvSpPr>
            <p:cNvPr id="90130" name="Rectangle 271"/>
            <p:cNvSpPr>
              <a:spLocks noChangeArrowheads="1"/>
            </p:cNvSpPr>
            <p:nvPr/>
          </p:nvSpPr>
          <p:spPr bwMode="auto">
            <a:xfrm>
              <a:off x="76" y="2305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0131" name="Rectangle 272"/>
            <p:cNvSpPr>
              <a:spLocks noChangeArrowheads="1"/>
            </p:cNvSpPr>
            <p:nvPr/>
          </p:nvSpPr>
          <p:spPr bwMode="auto">
            <a:xfrm>
              <a:off x="89" y="2321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0132" name="Rectangle 273"/>
            <p:cNvSpPr>
              <a:spLocks noChangeArrowheads="1"/>
            </p:cNvSpPr>
            <p:nvPr/>
          </p:nvSpPr>
          <p:spPr bwMode="auto">
            <a:xfrm>
              <a:off x="687" y="2320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0133" name="Rectangle 274"/>
            <p:cNvSpPr>
              <a:spLocks noChangeArrowheads="1"/>
            </p:cNvSpPr>
            <p:nvPr/>
          </p:nvSpPr>
          <p:spPr bwMode="auto">
            <a:xfrm>
              <a:off x="195" y="2319"/>
              <a:ext cx="480" cy="11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0134" name="Text Box 275"/>
            <p:cNvSpPr txBox="1">
              <a:spLocks noChangeArrowheads="1"/>
            </p:cNvSpPr>
            <p:nvPr/>
          </p:nvSpPr>
          <p:spPr bwMode="auto">
            <a:xfrm>
              <a:off x="182" y="2296"/>
              <a:ext cx="475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>
                  <a:solidFill>
                    <a:srgbClr val="000000"/>
                  </a:solidFill>
                  <a:latin typeface="Arial" charset="0"/>
                </a:rPr>
                <a:t>ARP reply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68989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04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04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0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0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2.22222E-6 L -0.00052 0.08056 L 0.4151 0.075 L 0.26701 0.2757 L 0.1151 0.27431 L 0.1151 0.18889 " pathEditMode="relative" ptsTypes="AAAAAA">
                                      <p:cBhvr>
                                        <p:cTn id="25" dur="2000" fill="hold"/>
                                        <p:tgtEl>
                                          <p:spTgt spid="7047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0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7047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04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1.11111E-6 L 0.00052 0.0794 L 0.1467 0.08009 L 0.29444 -0.12222 L -0.11597 -0.12014 L -0.11597 -0.16181 L -0.11754 -0.1882 " pathEditMode="relative" rAng="0" ptsTypes="AAAAAAA">
                                      <p:cBhvr>
                                        <p:cTn id="43" dur="2000" fill="hold"/>
                                        <p:tgtEl>
                                          <p:spTgt spid="7047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37" y="-5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7047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4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0" dur="500"/>
                                        <p:tgtEl>
                                          <p:spTgt spid="7047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3" dur="500"/>
                                        <p:tgtEl>
                                          <p:spTgt spid="7047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4664" grpId="0"/>
      <p:bldP spid="704665" grpId="0"/>
      <p:bldP spid="70466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74" name="Group 230"/>
          <p:cNvGrpSpPr>
            <a:grpSpLocks/>
          </p:cNvGrpSpPr>
          <p:nvPr/>
        </p:nvGrpSpPr>
        <p:grpSpPr bwMode="auto">
          <a:xfrm>
            <a:off x="2297113" y="1273175"/>
            <a:ext cx="3554412" cy="3067050"/>
            <a:chOff x="773113" y="1273175"/>
            <a:chExt cx="3554412" cy="3066395"/>
          </a:xfrm>
        </p:grpSpPr>
        <p:sp>
          <p:nvSpPr>
            <p:cNvPr id="54488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489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90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91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92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359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>
                  <a:solidFill>
                    <a:srgbClr val="000000"/>
                  </a:solidFill>
                  <a:latin typeface="Arial" charset="0"/>
                  <a:cs typeface="Arial" charset="0"/>
                </a:rPr>
                <a:t>router</a:t>
              </a:r>
            </a:p>
            <a:p>
              <a:pPr>
                <a:defRPr/>
              </a:pPr>
              <a:r>
                <a:rPr lang="en-US" sz="1400">
                  <a:solidFill>
                    <a:srgbClr val="000000"/>
                  </a:solidFill>
                  <a:latin typeface="Arial" charset="0"/>
                  <a:cs typeface="Arial" charset="0"/>
                </a:rPr>
                <a:t>(runs DHCP)</a:t>
              </a:r>
            </a:p>
          </p:txBody>
        </p:sp>
        <p:grpSp>
          <p:nvGrpSpPr>
            <p:cNvPr id="54494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54546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4547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91361" name="Picture 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240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41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42" name="Rectangle 43"/>
            <p:cNvSpPr>
              <a:spLocks noChangeArrowheads="1"/>
            </p:cNvSpPr>
            <p:nvPr/>
          </p:nvSpPr>
          <p:spPr bwMode="auto">
            <a:xfrm rot="-54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grpSp>
          <p:nvGrpSpPr>
            <p:cNvPr id="54499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54514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81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54516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517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84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54519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91410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1411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91386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54521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91408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1409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91388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389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54524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91406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1407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54525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4526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91404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1405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91393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54528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529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8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96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54531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98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203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399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400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401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solidFill>
                    <a:srgbClr val="FF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402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403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grpSp>
          <p:nvGrpSpPr>
            <p:cNvPr id="54500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91367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368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369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370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>
                  <a:solidFill>
                    <a:srgbClr val="000000"/>
                  </a:solidFill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91371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54506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91377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1378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1379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54507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91374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1375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1376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4"/>
                  <a:ext cx="52" cy="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54275" name="Freeform 236"/>
          <p:cNvSpPr>
            <a:spLocks/>
          </p:cNvSpPr>
          <p:nvPr/>
        </p:nvSpPr>
        <p:spPr bwMode="auto">
          <a:xfrm>
            <a:off x="6275388" y="706439"/>
            <a:ext cx="3759200" cy="2473325"/>
          </a:xfrm>
          <a:custGeom>
            <a:avLst/>
            <a:gdLst>
              <a:gd name="T0" fmla="*/ 2147483647 w 2368"/>
              <a:gd name="T1" fmla="*/ 2147483647 h 1558"/>
              <a:gd name="T2" fmla="*/ 2147483647 w 2368"/>
              <a:gd name="T3" fmla="*/ 2147483647 h 1558"/>
              <a:gd name="T4" fmla="*/ 2147483647 w 2368"/>
              <a:gd name="T5" fmla="*/ 2147483647 h 1558"/>
              <a:gd name="T6" fmla="*/ 2147483647 w 2368"/>
              <a:gd name="T7" fmla="*/ 2147483647 h 1558"/>
              <a:gd name="T8" fmla="*/ 2147483647 w 2368"/>
              <a:gd name="T9" fmla="*/ 2147483647 h 1558"/>
              <a:gd name="T10" fmla="*/ 2147483647 w 2368"/>
              <a:gd name="T11" fmla="*/ 2147483647 h 1558"/>
              <a:gd name="T12" fmla="*/ 2147483647 w 2368"/>
              <a:gd name="T13" fmla="*/ 2147483647 h 1558"/>
              <a:gd name="T14" fmla="*/ 2147483647 w 2368"/>
              <a:gd name="T15" fmla="*/ 2147483647 h 1558"/>
              <a:gd name="T16" fmla="*/ 2147483647 w 2368"/>
              <a:gd name="T17" fmla="*/ 2147483647 h 1558"/>
              <a:gd name="T18" fmla="*/ 2147483647 w 2368"/>
              <a:gd name="T19" fmla="*/ 2147483647 h 1558"/>
              <a:gd name="T20" fmla="*/ 2147483647 w 2368"/>
              <a:gd name="T21" fmla="*/ 2147483647 h 1558"/>
              <a:gd name="T22" fmla="*/ 2147483647 w 2368"/>
              <a:gd name="T23" fmla="*/ 2147483647 h 1558"/>
              <a:gd name="T24" fmla="*/ 2147483647 w 2368"/>
              <a:gd name="T25" fmla="*/ 2147483647 h 1558"/>
              <a:gd name="T26" fmla="*/ 2147483647 w 2368"/>
              <a:gd name="T27" fmla="*/ 2147483647 h 1558"/>
              <a:gd name="T28" fmla="*/ 2147483647 w 2368"/>
              <a:gd name="T29" fmla="*/ 2147483647 h 1558"/>
              <a:gd name="T30" fmla="*/ 2147483647 w 2368"/>
              <a:gd name="T31" fmla="*/ 2147483647 h 1558"/>
              <a:gd name="T32" fmla="*/ 2147483647 w 2368"/>
              <a:gd name="T33" fmla="*/ 2147483647 h 1558"/>
              <a:gd name="T34" fmla="*/ 2147483647 w 2368"/>
              <a:gd name="T35" fmla="*/ 2147483647 h 1558"/>
              <a:gd name="T36" fmla="*/ 2147483647 w 2368"/>
              <a:gd name="T37" fmla="*/ 2147483647 h 1558"/>
              <a:gd name="T38" fmla="*/ 2147483647 w 2368"/>
              <a:gd name="T39" fmla="*/ 2147483647 h 1558"/>
              <a:gd name="T40" fmla="*/ 2147483647 w 2368"/>
              <a:gd name="T41" fmla="*/ 2147483647 h 1558"/>
              <a:gd name="T42" fmla="*/ 2147483647 w 2368"/>
              <a:gd name="T43" fmla="*/ 2147483647 h 1558"/>
              <a:gd name="T44" fmla="*/ 2147483647 w 2368"/>
              <a:gd name="T45" fmla="*/ 2147483647 h 1558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368" h="1558">
                <a:moveTo>
                  <a:pt x="84" y="632"/>
                </a:moveTo>
                <a:cubicBezTo>
                  <a:pt x="51" y="704"/>
                  <a:pt x="28" y="747"/>
                  <a:pt x="16" y="809"/>
                </a:cubicBezTo>
                <a:cubicBezTo>
                  <a:pt x="4" y="871"/>
                  <a:pt x="0" y="949"/>
                  <a:pt x="9" y="1005"/>
                </a:cubicBezTo>
                <a:cubicBezTo>
                  <a:pt x="18" y="1061"/>
                  <a:pt x="44" y="1087"/>
                  <a:pt x="70" y="1147"/>
                </a:cubicBezTo>
                <a:cubicBezTo>
                  <a:pt x="96" y="1207"/>
                  <a:pt x="130" y="1314"/>
                  <a:pt x="165" y="1364"/>
                </a:cubicBezTo>
                <a:cubicBezTo>
                  <a:pt x="200" y="1414"/>
                  <a:pt x="223" y="1428"/>
                  <a:pt x="280" y="1446"/>
                </a:cubicBezTo>
                <a:cubicBezTo>
                  <a:pt x="337" y="1464"/>
                  <a:pt x="397" y="1472"/>
                  <a:pt x="510" y="1473"/>
                </a:cubicBezTo>
                <a:cubicBezTo>
                  <a:pt x="623" y="1474"/>
                  <a:pt x="854" y="1457"/>
                  <a:pt x="958" y="1452"/>
                </a:cubicBezTo>
                <a:cubicBezTo>
                  <a:pt x="1062" y="1447"/>
                  <a:pt x="1065" y="1440"/>
                  <a:pt x="1134" y="1446"/>
                </a:cubicBezTo>
                <a:cubicBezTo>
                  <a:pt x="1203" y="1452"/>
                  <a:pt x="1293" y="1468"/>
                  <a:pt x="1371" y="1486"/>
                </a:cubicBezTo>
                <a:cubicBezTo>
                  <a:pt x="1449" y="1504"/>
                  <a:pt x="1495" y="1550"/>
                  <a:pt x="1601" y="1554"/>
                </a:cubicBezTo>
                <a:cubicBezTo>
                  <a:pt x="1707" y="1558"/>
                  <a:pt x="1893" y="1556"/>
                  <a:pt x="2008" y="1513"/>
                </a:cubicBezTo>
                <a:cubicBezTo>
                  <a:pt x="2123" y="1470"/>
                  <a:pt x="2236" y="1409"/>
                  <a:pt x="2293" y="1297"/>
                </a:cubicBezTo>
                <a:cubicBezTo>
                  <a:pt x="2350" y="1185"/>
                  <a:pt x="2339" y="950"/>
                  <a:pt x="2347" y="843"/>
                </a:cubicBezTo>
                <a:cubicBezTo>
                  <a:pt x="2355" y="736"/>
                  <a:pt x="2368" y="717"/>
                  <a:pt x="2340" y="653"/>
                </a:cubicBezTo>
                <a:cubicBezTo>
                  <a:pt x="2312" y="589"/>
                  <a:pt x="2247" y="537"/>
                  <a:pt x="2177" y="456"/>
                </a:cubicBezTo>
                <a:cubicBezTo>
                  <a:pt x="2107" y="375"/>
                  <a:pt x="2016" y="235"/>
                  <a:pt x="1920" y="165"/>
                </a:cubicBezTo>
                <a:cubicBezTo>
                  <a:pt x="1824" y="95"/>
                  <a:pt x="1716" y="61"/>
                  <a:pt x="1601" y="36"/>
                </a:cubicBezTo>
                <a:cubicBezTo>
                  <a:pt x="1486" y="11"/>
                  <a:pt x="1343" y="0"/>
                  <a:pt x="1229" y="16"/>
                </a:cubicBezTo>
                <a:cubicBezTo>
                  <a:pt x="1115" y="32"/>
                  <a:pt x="1042" y="90"/>
                  <a:pt x="917" y="131"/>
                </a:cubicBezTo>
                <a:cubicBezTo>
                  <a:pt x="792" y="172"/>
                  <a:pt x="595" y="219"/>
                  <a:pt x="477" y="260"/>
                </a:cubicBezTo>
                <a:cubicBezTo>
                  <a:pt x="359" y="301"/>
                  <a:pt x="280" y="311"/>
                  <a:pt x="212" y="375"/>
                </a:cubicBezTo>
                <a:cubicBezTo>
                  <a:pt x="144" y="439"/>
                  <a:pt x="117" y="560"/>
                  <a:pt x="84" y="632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54276" name="Group 44"/>
          <p:cNvGrpSpPr>
            <a:grpSpLocks/>
          </p:cNvGrpSpPr>
          <p:nvPr/>
        </p:nvGrpSpPr>
        <p:grpSpPr bwMode="auto">
          <a:xfrm>
            <a:off x="2719388" y="1081088"/>
            <a:ext cx="976312" cy="1460500"/>
            <a:chOff x="651" y="681"/>
            <a:chExt cx="615" cy="920"/>
          </a:xfrm>
        </p:grpSpPr>
        <p:sp>
          <p:nvSpPr>
            <p:cNvPr id="54480" name="Freeform 45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54481" name="Group 46"/>
            <p:cNvGrpSpPr>
              <a:grpSpLocks/>
            </p:cNvGrpSpPr>
            <p:nvPr/>
          </p:nvGrpSpPr>
          <p:grpSpPr bwMode="auto">
            <a:xfrm>
              <a:off x="651" y="681"/>
              <a:ext cx="500" cy="828"/>
              <a:chOff x="569" y="2954"/>
              <a:chExt cx="500" cy="828"/>
            </a:xfrm>
          </p:grpSpPr>
          <p:sp>
            <p:nvSpPr>
              <p:cNvPr id="91348" name="Rectangle 47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349" name="Text Box 48"/>
              <p:cNvSpPr txBox="1">
                <a:spLocks noChangeArrowheads="1"/>
              </p:cNvSpPr>
              <p:nvPr/>
            </p:nvSpPr>
            <p:spPr bwMode="auto">
              <a:xfrm>
                <a:off x="639" y="2954"/>
                <a:ext cx="385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>
                    <a:latin typeface="Arial" charset="0"/>
                  </a:rPr>
                  <a:t>DNS</a:t>
                </a:r>
              </a:p>
              <a:p>
                <a:pPr algn="ctr">
                  <a:defRPr/>
                </a:pPr>
                <a:r>
                  <a:rPr lang="en-US" sz="1600" i="0">
                    <a:latin typeface="Arial" charset="0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>
                    <a:latin typeface="Arial" charset="0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>
                    <a:latin typeface="Arial" charset="0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>
                    <a:latin typeface="Arial" charset="0"/>
                  </a:rPr>
                  <a:t>Phy</a:t>
                </a:r>
              </a:p>
            </p:txBody>
          </p:sp>
          <p:sp>
            <p:nvSpPr>
              <p:cNvPr id="91350" name="Line 49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351" name="Line 50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352" name="Line 51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353" name="Line 52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05589" name="Group 53"/>
          <p:cNvGrpSpPr>
            <a:grpSpLocks/>
          </p:cNvGrpSpPr>
          <p:nvPr/>
        </p:nvGrpSpPr>
        <p:grpSpPr bwMode="auto">
          <a:xfrm>
            <a:off x="2044701" y="1162051"/>
            <a:ext cx="460375" cy="244475"/>
            <a:chOff x="844" y="3337"/>
            <a:chExt cx="290" cy="154"/>
          </a:xfrm>
        </p:grpSpPr>
        <p:sp>
          <p:nvSpPr>
            <p:cNvPr id="91344" name="Rectangle 54"/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1345" name="Text Box 55"/>
            <p:cNvSpPr txBox="1">
              <a:spLocks noChangeArrowheads="1"/>
            </p:cNvSpPr>
            <p:nvPr/>
          </p:nvSpPr>
          <p:spPr bwMode="auto">
            <a:xfrm>
              <a:off x="844" y="3337"/>
              <a:ext cx="285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>
                  <a:solidFill>
                    <a:schemeClr val="bg1"/>
                  </a:solidFill>
                  <a:latin typeface="Arial" charset="0"/>
                </a:rPr>
                <a:t>DNS</a:t>
              </a:r>
            </a:p>
          </p:txBody>
        </p:sp>
      </p:grpSp>
      <p:grpSp>
        <p:nvGrpSpPr>
          <p:cNvPr id="54278" name="Group 58"/>
          <p:cNvGrpSpPr>
            <a:grpSpLocks/>
          </p:cNvGrpSpPr>
          <p:nvPr/>
        </p:nvGrpSpPr>
        <p:grpSpPr bwMode="auto">
          <a:xfrm>
            <a:off x="1984376" y="1387476"/>
            <a:ext cx="561975" cy="244475"/>
            <a:chOff x="740" y="3209"/>
            <a:chExt cx="354" cy="154"/>
          </a:xfrm>
        </p:grpSpPr>
        <p:grpSp>
          <p:nvGrpSpPr>
            <p:cNvPr id="54473" name="Group 59"/>
            <p:cNvGrpSpPr>
              <a:grpSpLocks/>
            </p:cNvGrpSpPr>
            <p:nvPr/>
          </p:nvGrpSpPr>
          <p:grpSpPr bwMode="auto">
            <a:xfrm>
              <a:off x="794" y="3209"/>
              <a:ext cx="290" cy="154"/>
              <a:chOff x="844" y="3337"/>
              <a:chExt cx="290" cy="154"/>
            </a:xfrm>
          </p:grpSpPr>
          <p:sp>
            <p:nvSpPr>
              <p:cNvPr id="91342" name="Rectangle 60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343" name="Text Box 61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>
                    <a:solidFill>
                      <a:schemeClr val="bg1"/>
                    </a:solidFill>
                    <a:latin typeface="Arial" charset="0"/>
                  </a:rPr>
                  <a:t>DNS</a:t>
                </a:r>
              </a:p>
            </p:txBody>
          </p:sp>
        </p:grpSp>
        <p:sp>
          <p:nvSpPr>
            <p:cNvPr id="91340" name="Rectangle 62"/>
            <p:cNvSpPr>
              <a:spLocks noChangeArrowheads="1"/>
            </p:cNvSpPr>
            <p:nvPr/>
          </p:nvSpPr>
          <p:spPr bwMode="auto">
            <a:xfrm>
              <a:off x="750" y="3244"/>
              <a:ext cx="88" cy="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1341" name="Rectangle 63"/>
            <p:cNvSpPr>
              <a:spLocks noChangeArrowheads="1"/>
            </p:cNvSpPr>
            <p:nvPr/>
          </p:nvSpPr>
          <p:spPr bwMode="auto">
            <a:xfrm>
              <a:off x="740" y="3238"/>
              <a:ext cx="354" cy="94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</p:grpSp>
      <p:grpSp>
        <p:nvGrpSpPr>
          <p:cNvPr id="54279" name="Group 64"/>
          <p:cNvGrpSpPr>
            <a:grpSpLocks/>
          </p:cNvGrpSpPr>
          <p:nvPr/>
        </p:nvGrpSpPr>
        <p:grpSpPr bwMode="auto">
          <a:xfrm>
            <a:off x="1984376" y="1622426"/>
            <a:ext cx="561975" cy="244475"/>
            <a:chOff x="836" y="3305"/>
            <a:chExt cx="354" cy="154"/>
          </a:xfrm>
        </p:grpSpPr>
        <p:grpSp>
          <p:nvGrpSpPr>
            <p:cNvPr id="54467" name="Group 65"/>
            <p:cNvGrpSpPr>
              <a:grpSpLocks/>
            </p:cNvGrpSpPr>
            <p:nvPr/>
          </p:nvGrpSpPr>
          <p:grpSpPr bwMode="auto">
            <a:xfrm>
              <a:off x="890" y="3305"/>
              <a:ext cx="290" cy="154"/>
              <a:chOff x="844" y="3337"/>
              <a:chExt cx="290" cy="154"/>
            </a:xfrm>
          </p:grpSpPr>
          <p:sp>
            <p:nvSpPr>
              <p:cNvPr id="91337" name="Rectangle 66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338" name="Text Box 67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>
                    <a:solidFill>
                      <a:schemeClr val="bg1"/>
                    </a:solidFill>
                    <a:latin typeface="Arial" charset="0"/>
                  </a:rPr>
                  <a:t>DNS</a:t>
                </a:r>
              </a:p>
            </p:txBody>
          </p:sp>
        </p:grpSp>
        <p:grpSp>
          <p:nvGrpSpPr>
            <p:cNvPr id="54468" name="Group 68"/>
            <p:cNvGrpSpPr>
              <a:grpSpLocks/>
            </p:cNvGrpSpPr>
            <p:nvPr/>
          </p:nvGrpSpPr>
          <p:grpSpPr bwMode="auto">
            <a:xfrm>
              <a:off x="836" y="3334"/>
              <a:ext cx="354" cy="94"/>
              <a:chOff x="836" y="3334"/>
              <a:chExt cx="354" cy="94"/>
            </a:xfrm>
          </p:grpSpPr>
          <p:sp>
            <p:nvSpPr>
              <p:cNvPr id="91335" name="Rectangle 69"/>
              <p:cNvSpPr>
                <a:spLocks noChangeArrowheads="1"/>
              </p:cNvSpPr>
              <p:nvPr/>
            </p:nvSpPr>
            <p:spPr bwMode="auto">
              <a:xfrm>
                <a:off x="846" y="3340"/>
                <a:ext cx="8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336" name="Rectangle 70"/>
              <p:cNvSpPr>
                <a:spLocks noChangeArrowheads="1"/>
              </p:cNvSpPr>
              <p:nvPr/>
            </p:nvSpPr>
            <p:spPr bwMode="auto">
              <a:xfrm>
                <a:off x="836" y="333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54280" name="Group 71"/>
          <p:cNvGrpSpPr>
            <a:grpSpLocks/>
          </p:cNvGrpSpPr>
          <p:nvPr/>
        </p:nvGrpSpPr>
        <p:grpSpPr bwMode="auto">
          <a:xfrm>
            <a:off x="1804988" y="1654175"/>
            <a:ext cx="762000" cy="177800"/>
            <a:chOff x="627" y="3377"/>
            <a:chExt cx="480" cy="112"/>
          </a:xfrm>
        </p:grpSpPr>
        <p:sp>
          <p:nvSpPr>
            <p:cNvPr id="91331" name="Rectangle 72"/>
            <p:cNvSpPr>
              <a:spLocks noChangeArrowheads="1"/>
            </p:cNvSpPr>
            <p:nvPr/>
          </p:nvSpPr>
          <p:spPr bwMode="auto">
            <a:xfrm>
              <a:off x="636" y="3388"/>
              <a:ext cx="96" cy="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1332" name="Rectangle 73"/>
            <p:cNvSpPr>
              <a:spLocks noChangeArrowheads="1"/>
            </p:cNvSpPr>
            <p:nvPr/>
          </p:nvSpPr>
          <p:spPr bwMode="auto">
            <a:xfrm>
              <a:off x="627" y="3377"/>
              <a:ext cx="480" cy="11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</p:grpSp>
      <p:grpSp>
        <p:nvGrpSpPr>
          <p:cNvPr id="54281" name="Group 74"/>
          <p:cNvGrpSpPr>
            <a:grpSpLocks/>
          </p:cNvGrpSpPr>
          <p:nvPr/>
        </p:nvGrpSpPr>
        <p:grpSpPr bwMode="auto">
          <a:xfrm>
            <a:off x="1609725" y="1885951"/>
            <a:ext cx="1081088" cy="244475"/>
            <a:chOff x="504" y="3523"/>
            <a:chExt cx="681" cy="154"/>
          </a:xfrm>
        </p:grpSpPr>
        <p:grpSp>
          <p:nvGrpSpPr>
            <p:cNvPr id="54452" name="Group 75"/>
            <p:cNvGrpSpPr>
              <a:grpSpLocks/>
            </p:cNvGrpSpPr>
            <p:nvPr/>
          </p:nvGrpSpPr>
          <p:grpSpPr bwMode="auto">
            <a:xfrm>
              <a:off x="623" y="3523"/>
              <a:ext cx="480" cy="154"/>
              <a:chOff x="723" y="3453"/>
              <a:chExt cx="480" cy="154"/>
            </a:xfrm>
          </p:grpSpPr>
          <p:grpSp>
            <p:nvGrpSpPr>
              <p:cNvPr id="54456" name="Group 76"/>
              <p:cNvGrpSpPr>
                <a:grpSpLocks/>
              </p:cNvGrpSpPr>
              <p:nvPr/>
            </p:nvGrpSpPr>
            <p:grpSpPr bwMode="auto">
              <a:xfrm>
                <a:off x="836" y="3453"/>
                <a:ext cx="354" cy="154"/>
                <a:chOff x="836" y="3305"/>
                <a:chExt cx="354" cy="154"/>
              </a:xfrm>
            </p:grpSpPr>
            <p:grpSp>
              <p:nvGrpSpPr>
                <p:cNvPr id="54459" name="Group 77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91329" name="Rectangle 78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1330" name="Text Box 7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>
                        <a:solidFill>
                          <a:schemeClr val="bg1"/>
                        </a:solidFill>
                        <a:latin typeface="Arial" charset="0"/>
                      </a:rPr>
                      <a:t>DNS</a:t>
                    </a:r>
                  </a:p>
                </p:txBody>
              </p:sp>
            </p:grpSp>
            <p:grpSp>
              <p:nvGrpSpPr>
                <p:cNvPr id="54460" name="Group 80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1327" name="Rectangle 81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1328" name="Rectangle 82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91323" name="Rectangle 83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324" name="Rectangle 84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91319" name="Rectangle 85"/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1320" name="Rectangle 86"/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1321" name="Rectangle 87"/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</p:grpSp>
      <p:sp>
        <p:nvSpPr>
          <p:cNvPr id="91148" name="AutoShape 88"/>
          <p:cNvSpPr>
            <a:spLocks noChangeArrowheads="1"/>
          </p:cNvSpPr>
          <p:nvPr/>
        </p:nvSpPr>
        <p:spPr bwMode="auto">
          <a:xfrm>
            <a:off x="2152650" y="1162051"/>
            <a:ext cx="381000" cy="1166813"/>
          </a:xfrm>
          <a:prstGeom prst="downArrow">
            <a:avLst>
              <a:gd name="adj1" fmla="val 54167"/>
              <a:gd name="adj2" fmla="val 49170"/>
            </a:avLst>
          </a:prstGeom>
          <a:gradFill rotWithShape="1">
            <a:gsLst>
              <a:gs pos="0">
                <a:srgbClr val="FF0000">
                  <a:alpha val="25000"/>
                </a:srgbClr>
              </a:gs>
              <a:gs pos="100000">
                <a:srgbClr val="FF0000">
                  <a:alpha val="2500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grpSp>
        <p:nvGrpSpPr>
          <p:cNvPr id="705625" name="Group 89"/>
          <p:cNvGrpSpPr>
            <a:grpSpLocks/>
          </p:cNvGrpSpPr>
          <p:nvPr/>
        </p:nvGrpSpPr>
        <p:grpSpPr bwMode="auto">
          <a:xfrm>
            <a:off x="2174875" y="2389189"/>
            <a:ext cx="1081088" cy="244475"/>
            <a:chOff x="504" y="3523"/>
            <a:chExt cx="681" cy="154"/>
          </a:xfrm>
        </p:grpSpPr>
        <p:grpSp>
          <p:nvGrpSpPr>
            <p:cNvPr id="54439" name="Group 90"/>
            <p:cNvGrpSpPr>
              <a:grpSpLocks/>
            </p:cNvGrpSpPr>
            <p:nvPr/>
          </p:nvGrpSpPr>
          <p:grpSpPr bwMode="auto">
            <a:xfrm>
              <a:off x="623" y="3523"/>
              <a:ext cx="480" cy="154"/>
              <a:chOff x="723" y="3453"/>
              <a:chExt cx="480" cy="154"/>
            </a:xfrm>
          </p:grpSpPr>
          <p:grpSp>
            <p:nvGrpSpPr>
              <p:cNvPr id="54443" name="Group 91"/>
              <p:cNvGrpSpPr>
                <a:grpSpLocks/>
              </p:cNvGrpSpPr>
              <p:nvPr/>
            </p:nvGrpSpPr>
            <p:grpSpPr bwMode="auto">
              <a:xfrm>
                <a:off x="836" y="3453"/>
                <a:ext cx="354" cy="154"/>
                <a:chOff x="836" y="3305"/>
                <a:chExt cx="354" cy="154"/>
              </a:xfrm>
            </p:grpSpPr>
            <p:grpSp>
              <p:nvGrpSpPr>
                <p:cNvPr id="54446" name="Group 92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91316" name="Rectangle 93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1317" name="Text Box 9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>
                        <a:solidFill>
                          <a:schemeClr val="bg1"/>
                        </a:solidFill>
                        <a:latin typeface="Arial" charset="0"/>
                      </a:rPr>
                      <a:t>DNS</a:t>
                    </a:r>
                  </a:p>
                </p:txBody>
              </p:sp>
            </p:grpSp>
            <p:grpSp>
              <p:nvGrpSpPr>
                <p:cNvPr id="54447" name="Group 95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1314" name="Rectangle 96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1315" name="Rectangle 97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91310" name="Rectangle 98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311" name="Rectangle 99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91306" name="Rectangle 100"/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1307" name="Rectangle 101"/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1308" name="Rectangle 102"/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</p:grpSp>
      <p:sp>
        <p:nvSpPr>
          <p:cNvPr id="705639" name="Rectangle 103"/>
          <p:cNvSpPr>
            <a:spLocks noChangeArrowheads="1"/>
          </p:cNvSpPr>
          <p:nvPr/>
        </p:nvSpPr>
        <p:spPr bwMode="auto">
          <a:xfrm>
            <a:off x="2073275" y="4376738"/>
            <a:ext cx="3892550" cy="1306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/>
            </a:pPr>
            <a:r>
              <a:rPr lang="en-US" sz="2200" dirty="0"/>
              <a:t>IP datagram containing DNS query forwarded via LAN switch from client to 1</a:t>
            </a:r>
            <a:r>
              <a:rPr lang="en-US" sz="2200" baseline="30000" dirty="0"/>
              <a:t>st</a:t>
            </a:r>
            <a:r>
              <a:rPr lang="en-US" sz="2200" dirty="0"/>
              <a:t> hop router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defRPr/>
            </a:pPr>
            <a:endParaRPr lang="en-US" sz="2000" dirty="0"/>
          </a:p>
        </p:txBody>
      </p:sp>
      <p:sp>
        <p:nvSpPr>
          <p:cNvPr id="705640" name="Rectangle 104"/>
          <p:cNvSpPr>
            <a:spLocks noChangeArrowheads="1"/>
          </p:cNvSpPr>
          <p:nvPr/>
        </p:nvSpPr>
        <p:spPr bwMode="auto">
          <a:xfrm>
            <a:off x="6183313" y="3663950"/>
            <a:ext cx="4386262" cy="15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/>
            </a:pPr>
            <a:r>
              <a:rPr lang="en-US" sz="2200" dirty="0"/>
              <a:t>IP datagram forwarded from campus network into </a:t>
            </a:r>
            <a:r>
              <a:rPr lang="en-US" sz="2200" dirty="0" err="1"/>
              <a:t>comcast</a:t>
            </a:r>
            <a:r>
              <a:rPr lang="en-US" sz="2200" dirty="0"/>
              <a:t> network, routed (tables created by </a:t>
            </a:r>
            <a:r>
              <a:rPr lang="en-US" sz="2200" dirty="0">
                <a:solidFill>
                  <a:srgbClr val="C00000"/>
                </a:solidFill>
              </a:rPr>
              <a:t>RIP, OSPF, IS-IS </a:t>
            </a:r>
            <a:r>
              <a:rPr lang="en-US" sz="2200" dirty="0"/>
              <a:t>and/or </a:t>
            </a:r>
            <a:r>
              <a:rPr lang="en-US" sz="2200" dirty="0">
                <a:solidFill>
                  <a:srgbClr val="C00000"/>
                </a:solidFill>
              </a:rPr>
              <a:t>BGP</a:t>
            </a:r>
            <a:r>
              <a:rPr lang="en-US" sz="2200" dirty="0"/>
              <a:t> routing protocols) to DNS server</a:t>
            </a:r>
          </a:p>
        </p:txBody>
      </p:sp>
      <p:sp>
        <p:nvSpPr>
          <p:cNvPr id="705641" name="Rectangle 105"/>
          <p:cNvSpPr>
            <a:spLocks noChangeArrowheads="1"/>
          </p:cNvSpPr>
          <p:nvPr/>
        </p:nvSpPr>
        <p:spPr bwMode="auto">
          <a:xfrm>
            <a:off x="6181726" y="5297489"/>
            <a:ext cx="3802063" cy="129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>
                <a:latin typeface="Gill Sans MT" panose="020B0502020104020203" pitchFamily="34" charset="0"/>
                <a:ea typeface="ＭＳ Ｐゴシック" panose="020B0600070205080204" pitchFamily="34" charset="-128"/>
              </a:rPr>
              <a:t>demux</a:t>
            </a:r>
            <a:r>
              <a:rPr lang="ja-JP" altLang="en-US">
                <a:latin typeface="Gill Sans MT" panose="020B0502020104020203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latin typeface="Gill Sans MT" panose="020B0502020104020203" pitchFamily="34" charset="0"/>
                <a:ea typeface="ＭＳ Ｐゴシック" panose="020B0600070205080204" pitchFamily="34" charset="-128"/>
              </a:rPr>
              <a:t>ed to DNS server</a:t>
            </a:r>
          </a:p>
          <a:p>
            <a:pPr eaLnBrk="1" hangingPunct="1">
              <a:lnSpc>
                <a:spcPct val="90000"/>
              </a:lnSpc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>
                <a:latin typeface="Gill Sans MT" panose="020B0502020104020203" pitchFamily="34" charset="0"/>
                <a:ea typeface="ＭＳ Ｐゴシック" panose="020B0600070205080204" pitchFamily="34" charset="-128"/>
              </a:rPr>
              <a:t>DNS server replies to client with IP address of www.google.com </a:t>
            </a:r>
          </a:p>
        </p:txBody>
      </p:sp>
      <p:grpSp>
        <p:nvGrpSpPr>
          <p:cNvPr id="54287" name="Group 4"/>
          <p:cNvGrpSpPr>
            <a:grpSpLocks/>
          </p:cNvGrpSpPr>
          <p:nvPr/>
        </p:nvGrpSpPr>
        <p:grpSpPr bwMode="auto">
          <a:xfrm>
            <a:off x="6697664" y="2041526"/>
            <a:ext cx="757237" cy="379413"/>
            <a:chOff x="2466" y="2026"/>
            <a:chExt cx="477" cy="282"/>
          </a:xfrm>
        </p:grpSpPr>
        <p:sp>
          <p:nvSpPr>
            <p:cNvPr id="54425" name="Oval 5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4426" name="Line 6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427" name="Rectangle 7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4428" name="Oval 8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54429" name="Group 9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54436" name="Line 1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437" name="Line 1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438" name="Line 1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4430" name="Group 13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54433" name="Line 1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434" name="Line 1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435" name="Line 1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4431" name="Line 17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432" name="Line 18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4288" name="Group 19"/>
          <p:cNvGrpSpPr>
            <a:grpSpLocks/>
          </p:cNvGrpSpPr>
          <p:nvPr/>
        </p:nvGrpSpPr>
        <p:grpSpPr bwMode="auto">
          <a:xfrm>
            <a:off x="8062914" y="1787526"/>
            <a:ext cx="757237" cy="379413"/>
            <a:chOff x="2466" y="2026"/>
            <a:chExt cx="477" cy="282"/>
          </a:xfrm>
        </p:grpSpPr>
        <p:sp>
          <p:nvSpPr>
            <p:cNvPr id="54411" name="Oval 2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4412" name="Line 2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413" name="Rectangle 2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4414" name="Oval 2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54415" name="Group 2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54422" name="Line 2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423" name="Line 2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424" name="Line 2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4416" name="Group 2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54419" name="Line 2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420" name="Line 3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421" name="Line 3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4417" name="Line 3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418" name="Line 3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4289" name="Text Box 34"/>
          <p:cNvSpPr txBox="1">
            <a:spLocks noChangeArrowheads="1"/>
          </p:cNvSpPr>
          <p:nvPr/>
        </p:nvSpPr>
        <p:spPr bwMode="auto">
          <a:xfrm>
            <a:off x="6859589" y="2511426"/>
            <a:ext cx="18113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Comcast network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68.80.0.0/13</a:t>
            </a:r>
          </a:p>
        </p:txBody>
      </p:sp>
      <p:grpSp>
        <p:nvGrpSpPr>
          <p:cNvPr id="54290" name="Group 69"/>
          <p:cNvGrpSpPr>
            <a:grpSpLocks/>
          </p:cNvGrpSpPr>
          <p:nvPr/>
        </p:nvGrpSpPr>
        <p:grpSpPr bwMode="auto">
          <a:xfrm>
            <a:off x="8720139" y="2703513"/>
            <a:ext cx="757237" cy="379412"/>
            <a:chOff x="2466" y="2026"/>
            <a:chExt cx="477" cy="282"/>
          </a:xfrm>
        </p:grpSpPr>
        <p:sp>
          <p:nvSpPr>
            <p:cNvPr id="54397" name="Oval 7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4398" name="Line 7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99" name="Rectangle 7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4400" name="Oval 7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54401" name="Group 7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54408" name="Line 7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409" name="Line 7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410" name="Line 7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4402" name="Group 7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54405" name="Line 7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406" name="Line 8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407" name="Line 8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4403" name="Line 8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404" name="Line 8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4291" name="Line 93"/>
          <p:cNvSpPr>
            <a:spLocks noChangeShapeType="1"/>
          </p:cNvSpPr>
          <p:nvPr/>
        </p:nvSpPr>
        <p:spPr bwMode="auto">
          <a:xfrm flipH="1">
            <a:off x="8439150" y="1528763"/>
            <a:ext cx="260350" cy="2587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92" name="Text Box 139"/>
          <p:cNvSpPr txBox="1">
            <a:spLocks noChangeArrowheads="1"/>
          </p:cNvSpPr>
          <p:nvPr/>
        </p:nvSpPr>
        <p:spPr bwMode="auto">
          <a:xfrm>
            <a:off x="8891589" y="746126"/>
            <a:ext cx="12334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DNS server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54293" name="Group 166"/>
          <p:cNvGrpSpPr>
            <a:grpSpLocks/>
          </p:cNvGrpSpPr>
          <p:nvPr/>
        </p:nvGrpSpPr>
        <p:grpSpPr bwMode="auto">
          <a:xfrm>
            <a:off x="5319714" y="2409826"/>
            <a:ext cx="1576387" cy="1287463"/>
            <a:chOff x="3228" y="1776"/>
            <a:chExt cx="252" cy="96"/>
          </a:xfrm>
        </p:grpSpPr>
        <p:sp>
          <p:nvSpPr>
            <p:cNvPr id="54395" name="Line 16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96" name="Line 16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294" name="Group 167"/>
          <p:cNvGrpSpPr>
            <a:grpSpLocks/>
          </p:cNvGrpSpPr>
          <p:nvPr/>
        </p:nvGrpSpPr>
        <p:grpSpPr bwMode="auto">
          <a:xfrm flipH="1">
            <a:off x="7124700" y="2424113"/>
            <a:ext cx="400050" cy="152400"/>
            <a:chOff x="3228" y="1776"/>
            <a:chExt cx="252" cy="96"/>
          </a:xfrm>
        </p:grpSpPr>
        <p:sp>
          <p:nvSpPr>
            <p:cNvPr id="54393" name="Line 16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94" name="Line 16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295" name="Group 170"/>
          <p:cNvGrpSpPr>
            <a:grpSpLocks/>
          </p:cNvGrpSpPr>
          <p:nvPr/>
        </p:nvGrpSpPr>
        <p:grpSpPr bwMode="auto">
          <a:xfrm flipH="1" flipV="1">
            <a:off x="7277100" y="1900238"/>
            <a:ext cx="400050" cy="152400"/>
            <a:chOff x="3228" y="1776"/>
            <a:chExt cx="252" cy="96"/>
          </a:xfrm>
        </p:grpSpPr>
        <p:sp>
          <p:nvSpPr>
            <p:cNvPr id="54391" name="Line 17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92" name="Line 17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296" name="Group 173"/>
          <p:cNvGrpSpPr>
            <a:grpSpLocks/>
          </p:cNvGrpSpPr>
          <p:nvPr/>
        </p:nvGrpSpPr>
        <p:grpSpPr bwMode="auto">
          <a:xfrm flipH="1" flipV="1">
            <a:off x="9377363" y="2590800"/>
            <a:ext cx="400050" cy="152400"/>
            <a:chOff x="3228" y="1776"/>
            <a:chExt cx="252" cy="96"/>
          </a:xfrm>
        </p:grpSpPr>
        <p:sp>
          <p:nvSpPr>
            <p:cNvPr id="54389" name="Line 17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90" name="Line 17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297" name="Group 176"/>
          <p:cNvGrpSpPr>
            <a:grpSpLocks/>
          </p:cNvGrpSpPr>
          <p:nvPr/>
        </p:nvGrpSpPr>
        <p:grpSpPr bwMode="auto">
          <a:xfrm flipV="1">
            <a:off x="8553451" y="2609850"/>
            <a:ext cx="295275" cy="114300"/>
            <a:chOff x="3228" y="1776"/>
            <a:chExt cx="252" cy="96"/>
          </a:xfrm>
        </p:grpSpPr>
        <p:sp>
          <p:nvSpPr>
            <p:cNvPr id="54387" name="Line 177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88" name="Line 178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298" name="Group 179"/>
          <p:cNvGrpSpPr>
            <a:grpSpLocks/>
          </p:cNvGrpSpPr>
          <p:nvPr/>
        </p:nvGrpSpPr>
        <p:grpSpPr bwMode="auto">
          <a:xfrm rot="409689" flipH="1" flipV="1">
            <a:off x="8824914" y="1952625"/>
            <a:ext cx="452437" cy="57150"/>
            <a:chOff x="3228" y="1776"/>
            <a:chExt cx="252" cy="96"/>
          </a:xfrm>
        </p:grpSpPr>
        <p:sp>
          <p:nvSpPr>
            <p:cNvPr id="54385" name="Line 180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86" name="Line 181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299" name="Group 182"/>
          <p:cNvGrpSpPr>
            <a:grpSpLocks/>
          </p:cNvGrpSpPr>
          <p:nvPr/>
        </p:nvGrpSpPr>
        <p:grpSpPr bwMode="auto">
          <a:xfrm>
            <a:off x="7967664" y="2157413"/>
            <a:ext cx="295275" cy="114300"/>
            <a:chOff x="3228" y="1776"/>
            <a:chExt cx="252" cy="96"/>
          </a:xfrm>
        </p:grpSpPr>
        <p:sp>
          <p:nvSpPr>
            <p:cNvPr id="54383" name="Line 183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84" name="Line 184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300" name="Group 185"/>
          <p:cNvGrpSpPr>
            <a:grpSpLocks/>
          </p:cNvGrpSpPr>
          <p:nvPr/>
        </p:nvGrpSpPr>
        <p:grpSpPr bwMode="auto">
          <a:xfrm flipH="1">
            <a:off x="8605839" y="2157413"/>
            <a:ext cx="295275" cy="114300"/>
            <a:chOff x="3228" y="1776"/>
            <a:chExt cx="252" cy="96"/>
          </a:xfrm>
        </p:grpSpPr>
        <p:sp>
          <p:nvSpPr>
            <p:cNvPr id="54381" name="Line 186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82" name="Line 187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5723" name="Group 187"/>
          <p:cNvGrpSpPr>
            <a:grpSpLocks/>
          </p:cNvGrpSpPr>
          <p:nvPr/>
        </p:nvGrpSpPr>
        <p:grpSpPr bwMode="auto">
          <a:xfrm>
            <a:off x="7504114" y="438150"/>
            <a:ext cx="1316037" cy="1314450"/>
            <a:chOff x="931" y="1941"/>
            <a:chExt cx="829" cy="828"/>
          </a:xfrm>
        </p:grpSpPr>
        <p:sp>
          <p:nvSpPr>
            <p:cNvPr id="54373" name="Freeform 188"/>
            <p:cNvSpPr>
              <a:spLocks/>
            </p:cNvSpPr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4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54374" name="Group 189"/>
            <p:cNvGrpSpPr>
              <a:grpSpLocks/>
            </p:cNvGrpSpPr>
            <p:nvPr/>
          </p:nvGrpSpPr>
          <p:grpSpPr bwMode="auto">
            <a:xfrm>
              <a:off x="931" y="1941"/>
              <a:ext cx="500" cy="828"/>
              <a:chOff x="569" y="2954"/>
              <a:chExt cx="500" cy="828"/>
            </a:xfrm>
          </p:grpSpPr>
          <p:sp>
            <p:nvSpPr>
              <p:cNvPr id="91241" name="Rectangle 190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242" name="Text Box 191"/>
              <p:cNvSpPr txBox="1">
                <a:spLocks noChangeArrowheads="1"/>
              </p:cNvSpPr>
              <p:nvPr/>
            </p:nvSpPr>
            <p:spPr bwMode="auto">
              <a:xfrm>
                <a:off x="639" y="2954"/>
                <a:ext cx="385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>
                    <a:latin typeface="Arial" charset="0"/>
                  </a:rPr>
                  <a:t>DNS</a:t>
                </a:r>
              </a:p>
              <a:p>
                <a:pPr algn="ctr">
                  <a:defRPr/>
                </a:pPr>
                <a:r>
                  <a:rPr lang="en-US" sz="1600" i="0">
                    <a:latin typeface="Arial" charset="0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>
                    <a:latin typeface="Arial" charset="0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>
                    <a:latin typeface="Arial" charset="0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>
                    <a:latin typeface="Arial" charset="0"/>
                  </a:rPr>
                  <a:t>Phy</a:t>
                </a:r>
              </a:p>
            </p:txBody>
          </p:sp>
          <p:sp>
            <p:nvSpPr>
              <p:cNvPr id="91243" name="Line 192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244" name="Line 193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245" name="Line 194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246" name="Line 195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05732" name="Group 196"/>
          <p:cNvGrpSpPr>
            <a:grpSpLocks/>
          </p:cNvGrpSpPr>
          <p:nvPr/>
        </p:nvGrpSpPr>
        <p:grpSpPr bwMode="auto">
          <a:xfrm>
            <a:off x="6405564" y="558801"/>
            <a:ext cx="1081087" cy="1217613"/>
            <a:chOff x="1404" y="3105"/>
            <a:chExt cx="681" cy="767"/>
          </a:xfrm>
        </p:grpSpPr>
        <p:grpSp>
          <p:nvGrpSpPr>
            <p:cNvPr id="54338" name="Group 197"/>
            <p:cNvGrpSpPr>
              <a:grpSpLocks/>
            </p:cNvGrpSpPr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54343" name="Group 198"/>
              <p:cNvGrpSpPr>
                <a:grpSpLocks/>
              </p:cNvGrpSpPr>
              <p:nvPr/>
            </p:nvGrpSpPr>
            <p:grpSpPr bwMode="auto">
              <a:xfrm>
                <a:off x="278" y="886"/>
                <a:ext cx="354" cy="154"/>
                <a:chOff x="740" y="3209"/>
                <a:chExt cx="354" cy="154"/>
              </a:xfrm>
            </p:grpSpPr>
            <p:grpSp>
              <p:nvGrpSpPr>
                <p:cNvPr id="54368" name="Group 199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290" cy="154"/>
                  <a:chOff x="844" y="3337"/>
                  <a:chExt cx="290" cy="154"/>
                </a:xfrm>
              </p:grpSpPr>
              <p:sp>
                <p:nvSpPr>
                  <p:cNvPr id="91237" name="Rectangle 200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1238" name="Text Box 20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>
                        <a:solidFill>
                          <a:schemeClr val="bg1"/>
                        </a:solidFill>
                        <a:latin typeface="Arial" charset="0"/>
                      </a:rPr>
                      <a:t>DNS</a:t>
                    </a:r>
                  </a:p>
                </p:txBody>
              </p:sp>
            </p:grpSp>
            <p:sp>
              <p:nvSpPr>
                <p:cNvPr id="91235" name="Rectangle 202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1236" name="Rectangle 203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54344" name="Group 204"/>
              <p:cNvGrpSpPr>
                <a:grpSpLocks/>
              </p:cNvGrpSpPr>
              <p:nvPr/>
            </p:nvGrpSpPr>
            <p:grpSpPr bwMode="auto">
              <a:xfrm>
                <a:off x="278" y="1034"/>
                <a:ext cx="354" cy="154"/>
                <a:chOff x="836" y="3305"/>
                <a:chExt cx="354" cy="154"/>
              </a:xfrm>
            </p:grpSpPr>
            <p:grpSp>
              <p:nvGrpSpPr>
                <p:cNvPr id="54362" name="Group 205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91232" name="Rectangle 206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1233" name="Text Box 20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>
                        <a:solidFill>
                          <a:schemeClr val="bg1"/>
                        </a:solidFill>
                        <a:latin typeface="Arial" charset="0"/>
                      </a:rPr>
                      <a:t>DNS</a:t>
                    </a:r>
                  </a:p>
                </p:txBody>
              </p:sp>
            </p:grpSp>
            <p:grpSp>
              <p:nvGrpSpPr>
                <p:cNvPr id="54363" name="Group 208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1230" name="Rectangle 209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1231" name="Rectangle 210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54345" name="Group 211"/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91226" name="Rectangle 212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1227" name="Rectangle 213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54346" name="Group 214"/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54347" name="Group 215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480" cy="154"/>
                  <a:chOff x="723" y="3453"/>
                  <a:chExt cx="480" cy="154"/>
                </a:xfrm>
              </p:grpSpPr>
              <p:grpSp>
                <p:nvGrpSpPr>
                  <p:cNvPr id="54351" name="Group 216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54" cy="154"/>
                    <a:chOff x="836" y="3305"/>
                    <a:chExt cx="354" cy="154"/>
                  </a:xfrm>
                </p:grpSpPr>
                <p:grpSp>
                  <p:nvGrpSpPr>
                    <p:cNvPr id="54354" name="Group 21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290" cy="154"/>
                      <a:chOff x="844" y="3337"/>
                      <a:chExt cx="290" cy="154"/>
                    </a:xfrm>
                  </p:grpSpPr>
                  <p:sp>
                    <p:nvSpPr>
                      <p:cNvPr id="91224" name="Rectangle 21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1225" name="Text Box 219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285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>
                            <a:solidFill>
                              <a:schemeClr val="bg1"/>
                            </a:solidFill>
                            <a:latin typeface="Arial" charset="0"/>
                          </a:rPr>
                          <a:t>DNS</a:t>
                        </a:r>
                      </a:p>
                    </p:txBody>
                  </p:sp>
                </p:grpSp>
                <p:grpSp>
                  <p:nvGrpSpPr>
                    <p:cNvPr id="54355" name="Group 22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91222" name="Rectangle 22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1223" name="Rectangle 22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91218" name="Rectangle 223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1219" name="Rectangle 224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91214" name="Rectangle 225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1215" name="Rectangle 226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1216" name="Rectangle 227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91205" name="AutoShape 228"/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54340" name="Group 229"/>
            <p:cNvGrpSpPr>
              <a:grpSpLocks/>
            </p:cNvGrpSpPr>
            <p:nvPr/>
          </p:nvGrpSpPr>
          <p:grpSpPr bwMode="auto">
            <a:xfrm>
              <a:off x="1695" y="3227"/>
              <a:ext cx="290" cy="154"/>
              <a:chOff x="844" y="3337"/>
              <a:chExt cx="290" cy="154"/>
            </a:xfrm>
          </p:grpSpPr>
          <p:sp>
            <p:nvSpPr>
              <p:cNvPr id="91207" name="Rectangle 230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208" name="Text Box 231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>
                    <a:solidFill>
                      <a:schemeClr val="bg1"/>
                    </a:solidFill>
                    <a:latin typeface="Arial" charset="0"/>
                  </a:rPr>
                  <a:t>DNS</a:t>
                </a:r>
              </a:p>
            </p:txBody>
          </p:sp>
        </p:grpSp>
      </p:grpSp>
      <p:grpSp>
        <p:nvGrpSpPr>
          <p:cNvPr id="54303" name="Group 248"/>
          <p:cNvGrpSpPr>
            <a:grpSpLocks/>
          </p:cNvGrpSpPr>
          <p:nvPr/>
        </p:nvGrpSpPr>
        <p:grpSpPr bwMode="auto">
          <a:xfrm>
            <a:off x="8674101" y="963614"/>
            <a:ext cx="373063" cy="687387"/>
            <a:chOff x="4140" y="429"/>
            <a:chExt cx="1425" cy="2396"/>
          </a:xfrm>
        </p:grpSpPr>
        <p:sp>
          <p:nvSpPr>
            <p:cNvPr id="54306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73" name="Rectangle 149"/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54308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09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76" name="Rectangle 152"/>
            <p:cNvSpPr>
              <a:spLocks noChangeArrowheads="1"/>
            </p:cNvSpPr>
            <p:nvPr/>
          </p:nvSpPr>
          <p:spPr bwMode="auto">
            <a:xfrm>
              <a:off x="4213" y="695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54311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1202" name="AutoShape 154"/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203" name="AutoShape 155"/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6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91178" name="Rectangle 156"/>
            <p:cNvSpPr>
              <a:spLocks noChangeArrowheads="1"/>
            </p:cNvSpPr>
            <p:nvPr/>
          </p:nvSpPr>
          <p:spPr bwMode="auto">
            <a:xfrm>
              <a:off x="4225" y="1021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54313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1200" name="AutoShape 158"/>
              <p:cNvSpPr>
                <a:spLocks noChangeArrowheads="1"/>
              </p:cNvSpPr>
              <p:nvPr/>
            </p:nvSpPr>
            <p:spPr bwMode="auto">
              <a:xfrm>
                <a:off x="613" y="2567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201" name="AutoShape 159"/>
              <p:cNvSpPr>
                <a:spLocks noChangeArrowheads="1"/>
              </p:cNvSpPr>
              <p:nvPr/>
            </p:nvSpPr>
            <p:spPr bwMode="auto">
              <a:xfrm>
                <a:off x="628" y="2585"/>
                <a:ext cx="696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91180" name="Rectangle 160"/>
            <p:cNvSpPr>
              <a:spLocks noChangeArrowheads="1"/>
            </p:cNvSpPr>
            <p:nvPr/>
          </p:nvSpPr>
          <p:spPr bwMode="auto">
            <a:xfrm>
              <a:off x="4219" y="1359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1181" name="Rectangle 161"/>
            <p:cNvSpPr>
              <a:spLocks noChangeArrowheads="1"/>
            </p:cNvSpPr>
            <p:nvPr/>
          </p:nvSpPr>
          <p:spPr bwMode="auto">
            <a:xfrm>
              <a:off x="4231" y="1657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54316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1198" name="AutoShape 163"/>
              <p:cNvSpPr>
                <a:spLocks noChangeArrowheads="1"/>
              </p:cNvSpPr>
              <p:nvPr/>
            </p:nvSpPr>
            <p:spPr bwMode="auto">
              <a:xfrm>
                <a:off x="613" y="2586"/>
                <a:ext cx="725" cy="12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199" name="AutoShape 164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54317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4318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1196" name="AutoShape 167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5" cy="13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1197" name="AutoShape 168"/>
              <p:cNvSpPr>
                <a:spLocks noChangeArrowheads="1"/>
              </p:cNvSpPr>
              <p:nvPr/>
            </p:nvSpPr>
            <p:spPr bwMode="auto">
              <a:xfrm>
                <a:off x="631" y="2583"/>
                <a:ext cx="695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91185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7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54320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21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88" name="Oval 172"/>
            <p:cNvSpPr>
              <a:spLocks noChangeArrowheads="1"/>
            </p:cNvSpPr>
            <p:nvPr/>
          </p:nvSpPr>
          <p:spPr bwMode="auto">
            <a:xfrm>
              <a:off x="5516" y="2609"/>
              <a:ext cx="49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54323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90" name="AutoShape 174"/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1191" name="AutoShape 175"/>
            <p:cNvSpPr>
              <a:spLocks noChangeArrowheads="1"/>
            </p:cNvSpPr>
            <p:nvPr/>
          </p:nvSpPr>
          <p:spPr bwMode="auto">
            <a:xfrm>
              <a:off x="4207" y="2709"/>
              <a:ext cx="1067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1192" name="Oval 176"/>
            <p:cNvSpPr>
              <a:spLocks noChangeArrowheads="1"/>
            </p:cNvSpPr>
            <p:nvPr/>
          </p:nvSpPr>
          <p:spPr bwMode="auto">
            <a:xfrm>
              <a:off x="4310" y="2382"/>
              <a:ext cx="158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1193" name="Oval 177"/>
            <p:cNvSpPr>
              <a:spLocks noChangeArrowheads="1"/>
            </p:cNvSpPr>
            <p:nvPr/>
          </p:nvSpPr>
          <p:spPr bwMode="auto">
            <a:xfrm>
              <a:off x="4486" y="2382"/>
              <a:ext cx="158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FF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1194" name="Oval 178"/>
            <p:cNvSpPr>
              <a:spLocks noChangeArrowheads="1"/>
            </p:cNvSpPr>
            <p:nvPr/>
          </p:nvSpPr>
          <p:spPr bwMode="auto">
            <a:xfrm>
              <a:off x="4661" y="2382"/>
              <a:ext cx="158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1195" name="Rectangle 179"/>
            <p:cNvSpPr>
              <a:spLocks noChangeArrowheads="1"/>
            </p:cNvSpPr>
            <p:nvPr/>
          </p:nvSpPr>
          <p:spPr bwMode="auto">
            <a:xfrm>
              <a:off x="5062" y="1835"/>
              <a:ext cx="85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</p:grpSp>
      <p:sp>
        <p:nvSpPr>
          <p:cNvPr id="91170" name="Rectangle 3"/>
          <p:cNvSpPr>
            <a:spLocks noGrp="1" noChangeArrowheads="1"/>
          </p:cNvSpPr>
          <p:nvPr>
            <p:ph type="title"/>
          </p:nvPr>
        </p:nvSpPr>
        <p:spPr>
          <a:xfrm>
            <a:off x="1770064" y="-39688"/>
            <a:ext cx="8034337" cy="1003301"/>
          </a:xfrm>
        </p:spPr>
        <p:txBody>
          <a:bodyPr/>
          <a:lstStyle/>
          <a:p>
            <a:pPr>
              <a:defRPr/>
            </a:pPr>
            <a:r>
              <a:rPr lang="en-US" altLang="en-US" sz="3200">
                <a:ea typeface="ＭＳ Ｐゴシック" pitchFamily="34" charset="-128"/>
              </a:rPr>
              <a:t>A day in the life… using DNS</a:t>
            </a:r>
          </a:p>
        </p:txBody>
      </p:sp>
    </p:spTree>
    <p:extLst>
      <p:ext uri="{BB962C8B-B14F-4D97-AF65-F5344CB8AC3E}">
        <p14:creationId xmlns:p14="http://schemas.microsoft.com/office/powerpoint/2010/main" val="1084056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0.00995 L 0.32587 -0.01018 L 0.22726 0.14666 " pathEditMode="relative" rAng="0" ptsTypes="AAA">
                                      <p:cBhvr>
                                        <p:cTn id="12" dur="2000" fill="hold"/>
                                        <p:tgtEl>
                                          <p:spTgt spid="7056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285" y="7819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726 0.14666 L 0.29844 0.14527 L 0.46528 -0.03516 L 0.46406 -0.16678 " pathEditMode="relative" rAng="0" ptsTypes="AAAA">
                                      <p:cBhvr>
                                        <p:cTn id="18" dur="2000" fill="hold"/>
                                        <p:tgtEl>
                                          <p:spTgt spid="7056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92" y="-15684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705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000"/>
                                        <p:tgtEl>
                                          <p:spTgt spid="705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5639" grpId="0"/>
      <p:bldP spid="705640" grpId="0"/>
      <p:bldP spid="70564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98" name="Group 231"/>
          <p:cNvGrpSpPr>
            <a:grpSpLocks/>
          </p:cNvGrpSpPr>
          <p:nvPr/>
        </p:nvGrpSpPr>
        <p:grpSpPr bwMode="auto">
          <a:xfrm>
            <a:off x="2297113" y="1273175"/>
            <a:ext cx="3554412" cy="3067050"/>
            <a:chOff x="773113" y="1273175"/>
            <a:chExt cx="3554412" cy="3066395"/>
          </a:xfrm>
        </p:grpSpPr>
        <p:sp>
          <p:nvSpPr>
            <p:cNvPr id="55522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523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524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525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526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93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>
                  <a:solidFill>
                    <a:srgbClr val="000000"/>
                  </a:solidFill>
                  <a:latin typeface="Arial" charset="0"/>
                  <a:cs typeface="Arial" charset="0"/>
                </a:rPr>
                <a:t>router</a:t>
              </a:r>
            </a:p>
            <a:p>
              <a:pPr>
                <a:defRPr/>
              </a:pPr>
              <a:r>
                <a:rPr lang="en-US" sz="1400">
                  <a:solidFill>
                    <a:srgbClr val="000000"/>
                  </a:solidFill>
                  <a:latin typeface="Arial" charset="0"/>
                  <a:cs typeface="Arial" charset="0"/>
                </a:rPr>
                <a:t>(runs DHCP)</a:t>
              </a:r>
            </a:p>
          </p:txBody>
        </p:sp>
        <p:grpSp>
          <p:nvGrpSpPr>
            <p:cNvPr id="55528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55580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5581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92395" name="Picture 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241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42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43" name="Rectangle 43"/>
            <p:cNvSpPr>
              <a:spLocks noChangeArrowheads="1"/>
            </p:cNvSpPr>
            <p:nvPr/>
          </p:nvSpPr>
          <p:spPr bwMode="auto">
            <a:xfrm rot="-54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grpSp>
          <p:nvGrpSpPr>
            <p:cNvPr id="55533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55548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15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55550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551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18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55553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92444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2445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92420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55555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92442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2443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92422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423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55558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92440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2441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55559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5560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92438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2439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92427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55562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563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8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30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55565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32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203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433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434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435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solidFill>
                    <a:srgbClr val="FF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436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437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grpSp>
          <p:nvGrpSpPr>
            <p:cNvPr id="55534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92401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402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403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404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>
                  <a:solidFill>
                    <a:srgbClr val="000000"/>
                  </a:solidFill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92405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55540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92411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2412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2413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55541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92408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2409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2410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4"/>
                  <a:ext cx="52" cy="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55299" name="Freeform 293"/>
          <p:cNvSpPr>
            <a:spLocks/>
          </p:cNvSpPr>
          <p:nvPr/>
        </p:nvSpPr>
        <p:spPr bwMode="auto">
          <a:xfrm>
            <a:off x="1846264" y="4619625"/>
            <a:ext cx="3963987" cy="1716088"/>
          </a:xfrm>
          <a:custGeom>
            <a:avLst/>
            <a:gdLst>
              <a:gd name="T0" fmla="*/ 2147483647 w 2497"/>
              <a:gd name="T1" fmla="*/ 2147483647 h 1081"/>
              <a:gd name="T2" fmla="*/ 2147483647 w 2497"/>
              <a:gd name="T3" fmla="*/ 2147483647 h 1081"/>
              <a:gd name="T4" fmla="*/ 2147483647 w 2497"/>
              <a:gd name="T5" fmla="*/ 2147483647 h 1081"/>
              <a:gd name="T6" fmla="*/ 2147483647 w 2497"/>
              <a:gd name="T7" fmla="*/ 2147483647 h 1081"/>
              <a:gd name="T8" fmla="*/ 2147483647 w 2497"/>
              <a:gd name="T9" fmla="*/ 2147483647 h 1081"/>
              <a:gd name="T10" fmla="*/ 2147483647 w 2497"/>
              <a:gd name="T11" fmla="*/ 2147483647 h 1081"/>
              <a:gd name="T12" fmla="*/ 2147483647 w 2497"/>
              <a:gd name="T13" fmla="*/ 2147483647 h 1081"/>
              <a:gd name="T14" fmla="*/ 2147483647 w 2497"/>
              <a:gd name="T15" fmla="*/ 2147483647 h 1081"/>
              <a:gd name="T16" fmla="*/ 2147483647 w 2497"/>
              <a:gd name="T17" fmla="*/ 2147483647 h 1081"/>
              <a:gd name="T18" fmla="*/ 2147483647 w 2497"/>
              <a:gd name="T19" fmla="*/ 2147483647 h 1081"/>
              <a:gd name="T20" fmla="*/ 2147483647 w 2497"/>
              <a:gd name="T21" fmla="*/ 2147483647 h 1081"/>
              <a:gd name="T22" fmla="*/ 2147483647 w 2497"/>
              <a:gd name="T23" fmla="*/ 2147483647 h 1081"/>
              <a:gd name="T24" fmla="*/ 2147483647 w 2497"/>
              <a:gd name="T25" fmla="*/ 2147483647 h 1081"/>
              <a:gd name="T26" fmla="*/ 2147483647 w 2497"/>
              <a:gd name="T27" fmla="*/ 2147483647 h 1081"/>
              <a:gd name="T28" fmla="*/ 2147483647 w 2497"/>
              <a:gd name="T29" fmla="*/ 2147483647 h 1081"/>
              <a:gd name="T30" fmla="*/ 2147483647 w 2497"/>
              <a:gd name="T31" fmla="*/ 2147483647 h 108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497" h="1081">
                <a:moveTo>
                  <a:pt x="475" y="274"/>
                </a:moveTo>
                <a:cubicBezTo>
                  <a:pt x="381" y="316"/>
                  <a:pt x="280" y="389"/>
                  <a:pt x="204" y="437"/>
                </a:cubicBezTo>
                <a:cubicBezTo>
                  <a:pt x="128" y="485"/>
                  <a:pt x="42" y="503"/>
                  <a:pt x="21" y="559"/>
                </a:cubicBezTo>
                <a:cubicBezTo>
                  <a:pt x="0" y="615"/>
                  <a:pt x="56" y="734"/>
                  <a:pt x="75" y="776"/>
                </a:cubicBezTo>
                <a:cubicBezTo>
                  <a:pt x="94" y="818"/>
                  <a:pt x="116" y="789"/>
                  <a:pt x="136" y="810"/>
                </a:cubicBezTo>
                <a:cubicBezTo>
                  <a:pt x="156" y="831"/>
                  <a:pt x="167" y="876"/>
                  <a:pt x="197" y="905"/>
                </a:cubicBezTo>
                <a:cubicBezTo>
                  <a:pt x="227" y="934"/>
                  <a:pt x="231" y="970"/>
                  <a:pt x="319" y="986"/>
                </a:cubicBezTo>
                <a:cubicBezTo>
                  <a:pt x="407" y="1002"/>
                  <a:pt x="554" y="1003"/>
                  <a:pt x="726" y="1000"/>
                </a:cubicBezTo>
                <a:cubicBezTo>
                  <a:pt x="898" y="997"/>
                  <a:pt x="1146" y="961"/>
                  <a:pt x="1349" y="966"/>
                </a:cubicBezTo>
                <a:cubicBezTo>
                  <a:pt x="1552" y="971"/>
                  <a:pt x="1785" y="1028"/>
                  <a:pt x="1945" y="1033"/>
                </a:cubicBezTo>
                <a:cubicBezTo>
                  <a:pt x="2105" y="1038"/>
                  <a:pt x="2225" y="1081"/>
                  <a:pt x="2311" y="993"/>
                </a:cubicBezTo>
                <a:cubicBezTo>
                  <a:pt x="2397" y="905"/>
                  <a:pt x="2497" y="662"/>
                  <a:pt x="2460" y="506"/>
                </a:cubicBezTo>
                <a:cubicBezTo>
                  <a:pt x="2423" y="350"/>
                  <a:pt x="2280" y="116"/>
                  <a:pt x="2088" y="58"/>
                </a:cubicBezTo>
                <a:cubicBezTo>
                  <a:pt x="1896" y="0"/>
                  <a:pt x="1528" y="138"/>
                  <a:pt x="1308" y="159"/>
                </a:cubicBezTo>
                <a:cubicBezTo>
                  <a:pt x="1088" y="180"/>
                  <a:pt x="906" y="167"/>
                  <a:pt x="766" y="186"/>
                </a:cubicBezTo>
                <a:cubicBezTo>
                  <a:pt x="626" y="205"/>
                  <a:pt x="569" y="232"/>
                  <a:pt x="475" y="274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300" name="Freeform 292"/>
          <p:cNvSpPr>
            <a:spLocks/>
          </p:cNvSpPr>
          <p:nvPr/>
        </p:nvSpPr>
        <p:spPr bwMode="auto">
          <a:xfrm>
            <a:off x="6275389" y="871538"/>
            <a:ext cx="1919287" cy="2227262"/>
          </a:xfrm>
          <a:custGeom>
            <a:avLst/>
            <a:gdLst>
              <a:gd name="T0" fmla="*/ 2147483647 w 1209"/>
              <a:gd name="T1" fmla="*/ 2147483647 h 1403"/>
              <a:gd name="T2" fmla="*/ 2147483647 w 1209"/>
              <a:gd name="T3" fmla="*/ 2147483647 h 1403"/>
              <a:gd name="T4" fmla="*/ 2147483647 w 1209"/>
              <a:gd name="T5" fmla="*/ 2147483647 h 1403"/>
              <a:gd name="T6" fmla="*/ 2147483647 w 1209"/>
              <a:gd name="T7" fmla="*/ 2147483647 h 1403"/>
              <a:gd name="T8" fmla="*/ 2147483647 w 1209"/>
              <a:gd name="T9" fmla="*/ 2147483647 h 1403"/>
              <a:gd name="T10" fmla="*/ 2147483647 w 1209"/>
              <a:gd name="T11" fmla="*/ 2147483647 h 1403"/>
              <a:gd name="T12" fmla="*/ 2147483647 w 1209"/>
              <a:gd name="T13" fmla="*/ 2147483647 h 1403"/>
              <a:gd name="T14" fmla="*/ 2147483647 w 1209"/>
              <a:gd name="T15" fmla="*/ 2147483647 h 1403"/>
              <a:gd name="T16" fmla="*/ 2147483647 w 1209"/>
              <a:gd name="T17" fmla="*/ 2147483647 h 1403"/>
              <a:gd name="T18" fmla="*/ 2147483647 w 1209"/>
              <a:gd name="T19" fmla="*/ 2147483647 h 1403"/>
              <a:gd name="T20" fmla="*/ 2147483647 w 1209"/>
              <a:gd name="T21" fmla="*/ 2147483647 h 1403"/>
              <a:gd name="T22" fmla="*/ 2147483647 w 1209"/>
              <a:gd name="T23" fmla="*/ 2147483647 h 140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09" h="1403">
                <a:moveTo>
                  <a:pt x="84" y="528"/>
                </a:moveTo>
                <a:cubicBezTo>
                  <a:pt x="51" y="600"/>
                  <a:pt x="28" y="643"/>
                  <a:pt x="16" y="705"/>
                </a:cubicBezTo>
                <a:cubicBezTo>
                  <a:pt x="4" y="767"/>
                  <a:pt x="0" y="845"/>
                  <a:pt x="9" y="901"/>
                </a:cubicBezTo>
                <a:cubicBezTo>
                  <a:pt x="18" y="957"/>
                  <a:pt x="44" y="983"/>
                  <a:pt x="70" y="1043"/>
                </a:cubicBezTo>
                <a:cubicBezTo>
                  <a:pt x="96" y="1103"/>
                  <a:pt x="130" y="1210"/>
                  <a:pt x="165" y="1260"/>
                </a:cubicBezTo>
                <a:cubicBezTo>
                  <a:pt x="200" y="1310"/>
                  <a:pt x="223" y="1324"/>
                  <a:pt x="280" y="1342"/>
                </a:cubicBezTo>
                <a:cubicBezTo>
                  <a:pt x="337" y="1360"/>
                  <a:pt x="393" y="1368"/>
                  <a:pt x="510" y="1369"/>
                </a:cubicBezTo>
                <a:cubicBezTo>
                  <a:pt x="627" y="1370"/>
                  <a:pt x="775" y="1403"/>
                  <a:pt x="985" y="1348"/>
                </a:cubicBezTo>
                <a:cubicBezTo>
                  <a:pt x="1195" y="1293"/>
                  <a:pt x="1209" y="54"/>
                  <a:pt x="985" y="27"/>
                </a:cubicBezTo>
                <a:cubicBezTo>
                  <a:pt x="761" y="0"/>
                  <a:pt x="606" y="115"/>
                  <a:pt x="477" y="156"/>
                </a:cubicBezTo>
                <a:cubicBezTo>
                  <a:pt x="348" y="197"/>
                  <a:pt x="280" y="207"/>
                  <a:pt x="212" y="271"/>
                </a:cubicBezTo>
                <a:cubicBezTo>
                  <a:pt x="144" y="335"/>
                  <a:pt x="117" y="456"/>
                  <a:pt x="84" y="528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167" name="Rectangle 3"/>
          <p:cNvSpPr>
            <a:spLocks noGrp="1" noChangeArrowheads="1"/>
          </p:cNvSpPr>
          <p:nvPr>
            <p:ph type="title"/>
          </p:nvPr>
        </p:nvSpPr>
        <p:spPr>
          <a:xfrm>
            <a:off x="1847850" y="1"/>
            <a:ext cx="8693150" cy="942975"/>
          </a:xfrm>
        </p:spPr>
        <p:txBody>
          <a:bodyPr/>
          <a:lstStyle/>
          <a:p>
            <a:pPr>
              <a:defRPr/>
            </a:pPr>
            <a:r>
              <a:rPr lang="en-US" altLang="en-US" sz="3200">
                <a:ea typeface="ＭＳ Ｐゴシック" pitchFamily="34" charset="-128"/>
              </a:rPr>
              <a:t>A day in the life…TCP connection carrying HTTP</a:t>
            </a:r>
          </a:p>
        </p:txBody>
      </p:sp>
      <p:grpSp>
        <p:nvGrpSpPr>
          <p:cNvPr id="706603" name="Group 43"/>
          <p:cNvGrpSpPr>
            <a:grpSpLocks/>
          </p:cNvGrpSpPr>
          <p:nvPr/>
        </p:nvGrpSpPr>
        <p:grpSpPr bwMode="auto">
          <a:xfrm>
            <a:off x="2719388" y="1081088"/>
            <a:ext cx="976312" cy="1460500"/>
            <a:chOff x="651" y="681"/>
            <a:chExt cx="615" cy="920"/>
          </a:xfrm>
        </p:grpSpPr>
        <p:sp>
          <p:nvSpPr>
            <p:cNvPr id="55514" name="Freeform 44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55515" name="Group 45"/>
            <p:cNvGrpSpPr>
              <a:grpSpLocks/>
            </p:cNvGrpSpPr>
            <p:nvPr/>
          </p:nvGrpSpPr>
          <p:grpSpPr bwMode="auto">
            <a:xfrm>
              <a:off x="651" y="681"/>
              <a:ext cx="500" cy="828"/>
              <a:chOff x="569" y="2954"/>
              <a:chExt cx="500" cy="828"/>
            </a:xfrm>
          </p:grpSpPr>
          <p:sp>
            <p:nvSpPr>
              <p:cNvPr id="92382" name="Rectangle 46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83" name="Text Box 47"/>
              <p:cNvSpPr txBox="1">
                <a:spLocks noChangeArrowheads="1"/>
              </p:cNvSpPr>
              <p:nvPr/>
            </p:nvSpPr>
            <p:spPr bwMode="auto">
              <a:xfrm>
                <a:off x="607" y="2954"/>
                <a:ext cx="449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HTTP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TCP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Phy</a:t>
                </a:r>
              </a:p>
            </p:txBody>
          </p:sp>
          <p:sp>
            <p:nvSpPr>
              <p:cNvPr id="92384" name="Line 48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85" name="Line 49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86" name="Line 50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87" name="Line 51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06885" name="Group 325"/>
          <p:cNvGrpSpPr>
            <a:grpSpLocks/>
          </p:cNvGrpSpPr>
          <p:nvPr/>
        </p:nvGrpSpPr>
        <p:grpSpPr bwMode="auto">
          <a:xfrm>
            <a:off x="1966914" y="1054101"/>
            <a:ext cx="515937" cy="333375"/>
            <a:chOff x="328" y="678"/>
            <a:chExt cx="325" cy="210"/>
          </a:xfrm>
        </p:grpSpPr>
        <p:grpSp>
          <p:nvGrpSpPr>
            <p:cNvPr id="55510" name="Group 52"/>
            <p:cNvGrpSpPr>
              <a:grpSpLocks/>
            </p:cNvGrpSpPr>
            <p:nvPr/>
          </p:nvGrpSpPr>
          <p:grpSpPr bwMode="auto">
            <a:xfrm>
              <a:off x="328" y="693"/>
              <a:ext cx="325" cy="154"/>
              <a:chOff x="844" y="3337"/>
              <a:chExt cx="325" cy="154"/>
            </a:xfrm>
          </p:grpSpPr>
          <p:sp>
            <p:nvSpPr>
              <p:cNvPr id="92378" name="Rectangle 53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79" name="Text Box 54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>
                    <a:solidFill>
                      <a:srgbClr val="FFFFFF"/>
                    </a:solidFill>
                    <a:latin typeface="Arial" charset="0"/>
                  </a:rPr>
                  <a:t>HTTP</a:t>
                </a:r>
              </a:p>
            </p:txBody>
          </p:sp>
        </p:grpSp>
        <p:sp>
          <p:nvSpPr>
            <p:cNvPr id="92377" name="AutoShape 85"/>
            <p:cNvSpPr>
              <a:spLocks noChangeArrowheads="1"/>
            </p:cNvSpPr>
            <p:nvPr/>
          </p:nvSpPr>
          <p:spPr bwMode="auto">
            <a:xfrm>
              <a:off x="396" y="678"/>
              <a:ext cx="240" cy="210"/>
            </a:xfrm>
            <a:prstGeom prst="downArrow">
              <a:avLst>
                <a:gd name="adj1" fmla="val 49167"/>
                <a:gd name="adj2" fmla="val 24292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</p:grpSp>
      <p:sp>
        <p:nvSpPr>
          <p:cNvPr id="706660" name="Rectangle 100"/>
          <p:cNvSpPr>
            <a:spLocks noChangeArrowheads="1"/>
          </p:cNvSpPr>
          <p:nvPr/>
        </p:nvSpPr>
        <p:spPr bwMode="auto">
          <a:xfrm>
            <a:off x="6707188" y="2914651"/>
            <a:ext cx="3441700" cy="95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0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to send HTTP request, client first opens </a:t>
            </a:r>
            <a:r>
              <a:rPr lang="en-US" sz="2000" dirty="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TCP socket</a:t>
            </a:r>
            <a:r>
              <a:rPr lang="en-US" sz="20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 to web server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defRPr/>
            </a:pPr>
            <a:endParaRPr lang="en-US" sz="2000" dirty="0">
              <a:solidFill>
                <a:srgbClr val="000000"/>
              </a:solidFill>
              <a:latin typeface="Gill Sans MT" charset="0"/>
              <a:ea typeface="ＭＳ Ｐゴシック" charset="0"/>
            </a:endParaRPr>
          </a:p>
        </p:txBody>
      </p:sp>
      <p:sp>
        <p:nvSpPr>
          <p:cNvPr id="706661" name="Rectangle 101"/>
          <p:cNvSpPr>
            <a:spLocks noChangeArrowheads="1"/>
          </p:cNvSpPr>
          <p:nvPr/>
        </p:nvSpPr>
        <p:spPr bwMode="auto">
          <a:xfrm>
            <a:off x="6300788" y="3922714"/>
            <a:ext cx="3778250" cy="98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0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TCP </a:t>
            </a:r>
            <a:r>
              <a:rPr lang="en-US" sz="2000" dirty="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SYN segment </a:t>
            </a:r>
            <a:r>
              <a:rPr lang="en-US" sz="20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(step 1 in 3-way handshake) inter-domain routed to web server</a:t>
            </a:r>
          </a:p>
        </p:txBody>
      </p:sp>
      <p:sp>
        <p:nvSpPr>
          <p:cNvPr id="706662" name="Rectangle 102"/>
          <p:cNvSpPr>
            <a:spLocks noChangeArrowheads="1"/>
          </p:cNvSpPr>
          <p:nvPr/>
        </p:nvSpPr>
        <p:spPr bwMode="auto">
          <a:xfrm>
            <a:off x="6300788" y="5903914"/>
            <a:ext cx="4068762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0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TCP </a:t>
            </a:r>
            <a:r>
              <a:rPr lang="en-US" sz="2000" dirty="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connection established!</a:t>
            </a:r>
          </a:p>
        </p:txBody>
      </p:sp>
      <p:grpSp>
        <p:nvGrpSpPr>
          <p:cNvPr id="55307" name="Group 166"/>
          <p:cNvGrpSpPr>
            <a:grpSpLocks/>
          </p:cNvGrpSpPr>
          <p:nvPr/>
        </p:nvGrpSpPr>
        <p:grpSpPr bwMode="auto">
          <a:xfrm>
            <a:off x="5319714" y="2409826"/>
            <a:ext cx="1576387" cy="1287463"/>
            <a:chOff x="3228" y="1776"/>
            <a:chExt cx="252" cy="96"/>
          </a:xfrm>
        </p:grpSpPr>
        <p:sp>
          <p:nvSpPr>
            <p:cNvPr id="55508" name="Line 16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509" name="Line 16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5308" name="Group 167"/>
          <p:cNvGrpSpPr>
            <a:grpSpLocks/>
          </p:cNvGrpSpPr>
          <p:nvPr/>
        </p:nvGrpSpPr>
        <p:grpSpPr bwMode="auto">
          <a:xfrm flipH="1">
            <a:off x="7124700" y="2424113"/>
            <a:ext cx="400050" cy="152400"/>
            <a:chOff x="3228" y="1776"/>
            <a:chExt cx="252" cy="96"/>
          </a:xfrm>
        </p:grpSpPr>
        <p:sp>
          <p:nvSpPr>
            <p:cNvPr id="55506" name="Line 16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507" name="Line 16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5309" name="Group 170"/>
          <p:cNvGrpSpPr>
            <a:grpSpLocks/>
          </p:cNvGrpSpPr>
          <p:nvPr/>
        </p:nvGrpSpPr>
        <p:grpSpPr bwMode="auto">
          <a:xfrm flipH="1" flipV="1">
            <a:off x="7277100" y="1900238"/>
            <a:ext cx="400050" cy="152400"/>
            <a:chOff x="3228" y="1776"/>
            <a:chExt cx="252" cy="96"/>
          </a:xfrm>
        </p:grpSpPr>
        <p:sp>
          <p:nvSpPr>
            <p:cNvPr id="55504" name="Line 17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505" name="Line 17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5310" name="Group 110"/>
          <p:cNvGrpSpPr>
            <a:grpSpLocks/>
          </p:cNvGrpSpPr>
          <p:nvPr/>
        </p:nvGrpSpPr>
        <p:grpSpPr bwMode="auto">
          <a:xfrm>
            <a:off x="4581525" y="5273676"/>
            <a:ext cx="757238" cy="379413"/>
            <a:chOff x="2466" y="2026"/>
            <a:chExt cx="477" cy="282"/>
          </a:xfrm>
        </p:grpSpPr>
        <p:sp>
          <p:nvSpPr>
            <p:cNvPr id="55490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5491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492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5493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55494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55501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502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503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5495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55498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499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500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5496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497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5311" name="Line 136"/>
          <p:cNvSpPr>
            <a:spLocks noChangeShapeType="1"/>
          </p:cNvSpPr>
          <p:nvPr/>
        </p:nvSpPr>
        <p:spPr bwMode="auto">
          <a:xfrm flipV="1">
            <a:off x="4067175" y="5443539"/>
            <a:ext cx="490538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12" name="Text Box 137"/>
          <p:cNvSpPr txBox="1">
            <a:spLocks noChangeArrowheads="1"/>
          </p:cNvSpPr>
          <p:nvPr/>
        </p:nvSpPr>
        <p:spPr bwMode="auto">
          <a:xfrm>
            <a:off x="2527300" y="5835650"/>
            <a:ext cx="15954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64.233.169.105</a:t>
            </a:r>
          </a:p>
        </p:txBody>
      </p:sp>
      <p:sp>
        <p:nvSpPr>
          <p:cNvPr id="55313" name="Text Box 138"/>
          <p:cNvSpPr txBox="1">
            <a:spLocks noChangeArrowheads="1"/>
          </p:cNvSpPr>
          <p:nvPr/>
        </p:nvSpPr>
        <p:spPr bwMode="auto">
          <a:xfrm>
            <a:off x="2495551" y="5541963"/>
            <a:ext cx="1177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web server</a:t>
            </a:r>
          </a:p>
        </p:txBody>
      </p:sp>
      <p:grpSp>
        <p:nvGrpSpPr>
          <p:cNvPr id="55314" name="Group 194"/>
          <p:cNvGrpSpPr>
            <a:grpSpLocks/>
          </p:cNvGrpSpPr>
          <p:nvPr/>
        </p:nvGrpSpPr>
        <p:grpSpPr bwMode="auto">
          <a:xfrm>
            <a:off x="4494214" y="5649913"/>
            <a:ext cx="295275" cy="114300"/>
            <a:chOff x="3228" y="1776"/>
            <a:chExt cx="252" cy="96"/>
          </a:xfrm>
        </p:grpSpPr>
        <p:sp>
          <p:nvSpPr>
            <p:cNvPr id="55488" name="Line 195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489" name="Line 196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5315" name="Group 197"/>
          <p:cNvGrpSpPr>
            <a:grpSpLocks/>
          </p:cNvGrpSpPr>
          <p:nvPr/>
        </p:nvGrpSpPr>
        <p:grpSpPr bwMode="auto">
          <a:xfrm flipH="1">
            <a:off x="5132389" y="5649913"/>
            <a:ext cx="295275" cy="114300"/>
            <a:chOff x="3228" y="1776"/>
            <a:chExt cx="252" cy="96"/>
          </a:xfrm>
        </p:grpSpPr>
        <p:sp>
          <p:nvSpPr>
            <p:cNvPr id="55486" name="Line 19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487" name="Line 19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5316" name="Group 200"/>
          <p:cNvGrpSpPr>
            <a:grpSpLocks/>
          </p:cNvGrpSpPr>
          <p:nvPr/>
        </p:nvGrpSpPr>
        <p:grpSpPr bwMode="auto">
          <a:xfrm flipH="1" flipV="1">
            <a:off x="5337176" y="5354638"/>
            <a:ext cx="295275" cy="114300"/>
            <a:chOff x="3228" y="1776"/>
            <a:chExt cx="252" cy="96"/>
          </a:xfrm>
        </p:grpSpPr>
        <p:sp>
          <p:nvSpPr>
            <p:cNvPr id="55484" name="Line 20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485" name="Line 20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2183" name="Line 290"/>
          <p:cNvSpPr>
            <a:spLocks noChangeShapeType="1"/>
          </p:cNvSpPr>
          <p:nvPr/>
        </p:nvSpPr>
        <p:spPr bwMode="auto">
          <a:xfrm flipH="1">
            <a:off x="5118101" y="2432051"/>
            <a:ext cx="1882775" cy="2892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grpSp>
        <p:nvGrpSpPr>
          <p:cNvPr id="706874" name="Group 314"/>
          <p:cNvGrpSpPr>
            <a:grpSpLocks/>
          </p:cNvGrpSpPr>
          <p:nvPr/>
        </p:nvGrpSpPr>
        <p:grpSpPr bwMode="auto">
          <a:xfrm>
            <a:off x="1603375" y="1900239"/>
            <a:ext cx="1081088" cy="244475"/>
            <a:chOff x="410" y="1508"/>
            <a:chExt cx="681" cy="154"/>
          </a:xfrm>
        </p:grpSpPr>
        <p:sp>
          <p:nvSpPr>
            <p:cNvPr id="92341" name="Rectangle 99"/>
            <p:cNvSpPr>
              <a:spLocks noChangeArrowheads="1"/>
            </p:cNvSpPr>
            <p:nvPr/>
          </p:nvSpPr>
          <p:spPr bwMode="auto">
            <a:xfrm>
              <a:off x="410" y="1511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342" name="Rectangle 95"/>
            <p:cNvSpPr>
              <a:spLocks noChangeArrowheads="1"/>
            </p:cNvSpPr>
            <p:nvPr/>
          </p:nvSpPr>
          <p:spPr bwMode="auto">
            <a:xfrm>
              <a:off x="538" y="1536"/>
              <a:ext cx="96" cy="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343" name="Rectangle 96"/>
            <p:cNvSpPr>
              <a:spLocks noChangeArrowheads="1"/>
            </p:cNvSpPr>
            <p:nvPr/>
          </p:nvSpPr>
          <p:spPr bwMode="auto">
            <a:xfrm>
              <a:off x="529" y="1525"/>
              <a:ext cx="480" cy="11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344" name="Rectangle 97"/>
            <p:cNvSpPr>
              <a:spLocks noChangeArrowheads="1"/>
            </p:cNvSpPr>
            <p:nvPr/>
          </p:nvSpPr>
          <p:spPr bwMode="auto">
            <a:xfrm>
              <a:off x="423" y="1527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345" name="Rectangle 98"/>
            <p:cNvSpPr>
              <a:spLocks noChangeArrowheads="1"/>
            </p:cNvSpPr>
            <p:nvPr/>
          </p:nvSpPr>
          <p:spPr bwMode="auto">
            <a:xfrm>
              <a:off x="1021" y="1526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55480" name="Group 310"/>
            <p:cNvGrpSpPr>
              <a:grpSpLocks/>
            </p:cNvGrpSpPr>
            <p:nvPr/>
          </p:nvGrpSpPr>
          <p:grpSpPr bwMode="auto">
            <a:xfrm>
              <a:off x="647" y="1508"/>
              <a:ext cx="354" cy="154"/>
              <a:chOff x="290" y="875"/>
              <a:chExt cx="354" cy="154"/>
            </a:xfrm>
          </p:grpSpPr>
          <p:sp>
            <p:nvSpPr>
              <p:cNvPr id="92347" name="Rectangle 311"/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48" name="Rectangle 312"/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49" name="Text Box 313"/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>
                    <a:solidFill>
                      <a:srgbClr val="000000"/>
                    </a:solidFill>
                    <a:latin typeface="Arial" charset="0"/>
                  </a:rPr>
                  <a:t>SYN</a:t>
                </a:r>
              </a:p>
            </p:txBody>
          </p:sp>
        </p:grpSp>
      </p:grpSp>
      <p:grpSp>
        <p:nvGrpSpPr>
          <p:cNvPr id="706886" name="Group 326"/>
          <p:cNvGrpSpPr>
            <a:grpSpLocks/>
          </p:cNvGrpSpPr>
          <p:nvPr/>
        </p:nvGrpSpPr>
        <p:grpSpPr bwMode="auto">
          <a:xfrm>
            <a:off x="1831975" y="4241800"/>
            <a:ext cx="1081088" cy="782638"/>
            <a:chOff x="59" y="863"/>
            <a:chExt cx="681" cy="493"/>
          </a:xfrm>
        </p:grpSpPr>
        <p:grpSp>
          <p:nvGrpSpPr>
            <p:cNvPr id="55454" name="Group 68"/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2339" name="Rectangle 69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40" name="Rectangle 70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grpSp>
          <p:nvGrpSpPr>
            <p:cNvPr id="55455" name="Group 301"/>
            <p:cNvGrpSpPr>
              <a:grpSpLocks/>
            </p:cNvGrpSpPr>
            <p:nvPr/>
          </p:nvGrpSpPr>
          <p:grpSpPr bwMode="auto">
            <a:xfrm>
              <a:off x="290" y="863"/>
              <a:ext cx="354" cy="154"/>
              <a:chOff x="290" y="875"/>
              <a:chExt cx="354" cy="154"/>
            </a:xfrm>
          </p:grpSpPr>
          <p:sp>
            <p:nvSpPr>
              <p:cNvPr id="92336" name="Rectangle 59"/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37" name="Rectangle 60"/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38" name="Text Box 297"/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>
                    <a:solidFill>
                      <a:srgbClr val="000000"/>
                    </a:solidFill>
                    <a:latin typeface="Arial" charset="0"/>
                  </a:rPr>
                  <a:t>SYN</a:t>
                </a:r>
              </a:p>
            </p:txBody>
          </p:sp>
        </p:grpSp>
        <p:grpSp>
          <p:nvGrpSpPr>
            <p:cNvPr id="55456" name="Group 302"/>
            <p:cNvGrpSpPr>
              <a:grpSpLocks/>
            </p:cNvGrpSpPr>
            <p:nvPr/>
          </p:nvGrpSpPr>
          <p:grpSpPr bwMode="auto">
            <a:xfrm>
              <a:off x="284" y="1022"/>
              <a:ext cx="354" cy="154"/>
              <a:chOff x="290" y="875"/>
              <a:chExt cx="354" cy="154"/>
            </a:xfrm>
          </p:grpSpPr>
          <p:sp>
            <p:nvSpPr>
              <p:cNvPr id="92333" name="Rectangle 303"/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34" name="Rectangle 304"/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35" name="Text Box 305"/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>
                    <a:solidFill>
                      <a:srgbClr val="000000"/>
                    </a:solidFill>
                    <a:latin typeface="Arial" charset="0"/>
                  </a:rPr>
                  <a:t>SYN</a:t>
                </a:r>
              </a:p>
            </p:txBody>
          </p:sp>
        </p:grpSp>
        <p:grpSp>
          <p:nvGrpSpPr>
            <p:cNvPr id="55457" name="Group 315"/>
            <p:cNvGrpSpPr>
              <a:grpSpLocks/>
            </p:cNvGrpSpPr>
            <p:nvPr/>
          </p:nvGrpSpPr>
          <p:grpSpPr bwMode="auto">
            <a:xfrm>
              <a:off x="59" y="1202"/>
              <a:ext cx="681" cy="154"/>
              <a:chOff x="410" y="1508"/>
              <a:chExt cx="681" cy="154"/>
            </a:xfrm>
          </p:grpSpPr>
          <p:sp>
            <p:nvSpPr>
              <p:cNvPr id="92324" name="Rectangle 316"/>
              <p:cNvSpPr>
                <a:spLocks noChangeArrowheads="1"/>
              </p:cNvSpPr>
              <p:nvPr/>
            </p:nvSpPr>
            <p:spPr bwMode="auto">
              <a:xfrm>
                <a:off x="410" y="1511"/>
                <a:ext cx="681" cy="13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25" name="Rectangle 317"/>
              <p:cNvSpPr>
                <a:spLocks noChangeArrowheads="1"/>
              </p:cNvSpPr>
              <p:nvPr/>
            </p:nvSpPr>
            <p:spPr bwMode="auto">
              <a:xfrm>
                <a:off x="538" y="1536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26" name="Rectangle 318"/>
              <p:cNvSpPr>
                <a:spLocks noChangeArrowheads="1"/>
              </p:cNvSpPr>
              <p:nvPr/>
            </p:nvSpPr>
            <p:spPr bwMode="auto">
              <a:xfrm>
                <a:off x="529" y="1525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27" name="Rectangle 319"/>
              <p:cNvSpPr>
                <a:spLocks noChangeArrowheads="1"/>
              </p:cNvSpPr>
              <p:nvPr/>
            </p:nvSpPr>
            <p:spPr bwMode="auto">
              <a:xfrm>
                <a:off x="423" y="1527"/>
                <a:ext cx="94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28" name="Rectangle 320"/>
              <p:cNvSpPr>
                <a:spLocks noChangeArrowheads="1"/>
              </p:cNvSpPr>
              <p:nvPr/>
            </p:nvSpPr>
            <p:spPr bwMode="auto">
              <a:xfrm>
                <a:off x="1021" y="1526"/>
                <a:ext cx="60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55463" name="Group 321"/>
              <p:cNvGrpSpPr>
                <a:grpSpLocks/>
              </p:cNvGrpSpPr>
              <p:nvPr/>
            </p:nvGrpSpPr>
            <p:grpSpPr bwMode="auto">
              <a:xfrm>
                <a:off x="647" y="1508"/>
                <a:ext cx="354" cy="154"/>
                <a:chOff x="290" y="875"/>
                <a:chExt cx="354" cy="154"/>
              </a:xfrm>
            </p:grpSpPr>
            <p:sp>
              <p:nvSpPr>
                <p:cNvPr id="92330" name="Rectangle 322"/>
                <p:cNvSpPr>
                  <a:spLocks noChangeArrowheads="1"/>
                </p:cNvSpPr>
                <p:nvPr/>
              </p:nvSpPr>
              <p:spPr bwMode="auto">
                <a:xfrm>
                  <a:off x="306" y="909"/>
                  <a:ext cx="32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2331" name="Rectangle 323"/>
                <p:cNvSpPr>
                  <a:spLocks noChangeArrowheads="1"/>
                </p:cNvSpPr>
                <p:nvPr/>
              </p:nvSpPr>
              <p:spPr bwMode="auto">
                <a:xfrm>
                  <a:off x="290" y="903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2332" name="Text Box 324"/>
                <p:cNvSpPr txBox="1">
                  <a:spLocks noChangeArrowheads="1"/>
                </p:cNvSpPr>
                <p:nvPr/>
              </p:nvSpPr>
              <p:spPr bwMode="auto">
                <a:xfrm>
                  <a:off x="332" y="875"/>
                  <a:ext cx="280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>
                      <a:solidFill>
                        <a:srgbClr val="000000"/>
                      </a:solidFill>
                      <a:latin typeface="Arial" charset="0"/>
                    </a:rPr>
                    <a:t>SYN</a:t>
                  </a:r>
                </a:p>
              </p:txBody>
            </p:sp>
          </p:grpSp>
        </p:grpSp>
      </p:grpSp>
      <p:grpSp>
        <p:nvGrpSpPr>
          <p:cNvPr id="706896" name="Group 336"/>
          <p:cNvGrpSpPr>
            <a:grpSpLocks/>
          </p:cNvGrpSpPr>
          <p:nvPr/>
        </p:nvGrpSpPr>
        <p:grpSpPr bwMode="auto">
          <a:xfrm>
            <a:off x="3033713" y="3965575"/>
            <a:ext cx="976312" cy="1460500"/>
            <a:chOff x="4000" y="1895"/>
            <a:chExt cx="615" cy="920"/>
          </a:xfrm>
        </p:grpSpPr>
        <p:sp>
          <p:nvSpPr>
            <p:cNvPr id="55446" name="Freeform 328"/>
            <p:cNvSpPr>
              <a:spLocks/>
            </p:cNvSpPr>
            <p:nvPr/>
          </p:nvSpPr>
          <p:spPr bwMode="auto">
            <a:xfrm>
              <a:off x="4011" y="1912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55447" name="Group 329"/>
            <p:cNvGrpSpPr>
              <a:grpSpLocks/>
            </p:cNvGrpSpPr>
            <p:nvPr/>
          </p:nvGrpSpPr>
          <p:grpSpPr bwMode="auto">
            <a:xfrm>
              <a:off x="4000" y="1895"/>
              <a:ext cx="500" cy="828"/>
              <a:chOff x="569" y="2954"/>
              <a:chExt cx="500" cy="828"/>
            </a:xfrm>
          </p:grpSpPr>
          <p:sp>
            <p:nvSpPr>
              <p:cNvPr id="92314" name="Rectangle 330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15" name="Text Box 331"/>
              <p:cNvSpPr txBox="1">
                <a:spLocks noChangeArrowheads="1"/>
              </p:cNvSpPr>
              <p:nvPr/>
            </p:nvSpPr>
            <p:spPr bwMode="auto">
              <a:xfrm>
                <a:off x="646" y="2954"/>
                <a:ext cx="371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endParaRPr lang="en-US" sz="1600" i="0">
                  <a:solidFill>
                    <a:srgbClr val="000000"/>
                  </a:solidFill>
                  <a:latin typeface="Arial" charset="0"/>
                </a:endParaRP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TCP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Phy</a:t>
                </a:r>
              </a:p>
            </p:txBody>
          </p:sp>
          <p:sp>
            <p:nvSpPr>
              <p:cNvPr id="92316" name="Line 332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17" name="Line 333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18" name="Line 334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19" name="Line 335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06897" name="Group 337"/>
          <p:cNvGrpSpPr>
            <a:grpSpLocks/>
          </p:cNvGrpSpPr>
          <p:nvPr/>
        </p:nvGrpSpPr>
        <p:grpSpPr bwMode="auto">
          <a:xfrm>
            <a:off x="1603375" y="1355725"/>
            <a:ext cx="1081088" cy="782638"/>
            <a:chOff x="59" y="863"/>
            <a:chExt cx="681" cy="493"/>
          </a:xfrm>
        </p:grpSpPr>
        <p:grpSp>
          <p:nvGrpSpPr>
            <p:cNvPr id="55425" name="Group 338"/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2310" name="Rectangle 339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11" name="Rectangle 340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grpSp>
          <p:nvGrpSpPr>
            <p:cNvPr id="55426" name="Group 341"/>
            <p:cNvGrpSpPr>
              <a:grpSpLocks/>
            </p:cNvGrpSpPr>
            <p:nvPr/>
          </p:nvGrpSpPr>
          <p:grpSpPr bwMode="auto">
            <a:xfrm>
              <a:off x="290" y="863"/>
              <a:ext cx="354" cy="154"/>
              <a:chOff x="290" y="875"/>
              <a:chExt cx="354" cy="154"/>
            </a:xfrm>
          </p:grpSpPr>
          <p:sp>
            <p:nvSpPr>
              <p:cNvPr id="92307" name="Rectangle 342"/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08" name="Rectangle 343"/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09" name="Text Box 344"/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>
                    <a:solidFill>
                      <a:srgbClr val="000000"/>
                    </a:solidFill>
                    <a:latin typeface="Arial" charset="0"/>
                  </a:rPr>
                  <a:t>SYN</a:t>
                </a:r>
              </a:p>
            </p:txBody>
          </p:sp>
        </p:grpSp>
        <p:grpSp>
          <p:nvGrpSpPr>
            <p:cNvPr id="55427" name="Group 345"/>
            <p:cNvGrpSpPr>
              <a:grpSpLocks/>
            </p:cNvGrpSpPr>
            <p:nvPr/>
          </p:nvGrpSpPr>
          <p:grpSpPr bwMode="auto">
            <a:xfrm>
              <a:off x="284" y="1022"/>
              <a:ext cx="354" cy="154"/>
              <a:chOff x="290" y="875"/>
              <a:chExt cx="354" cy="154"/>
            </a:xfrm>
          </p:grpSpPr>
          <p:sp>
            <p:nvSpPr>
              <p:cNvPr id="92304" name="Rectangle 346"/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05" name="Rectangle 347"/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306" name="Text Box 348"/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>
                    <a:solidFill>
                      <a:srgbClr val="000000"/>
                    </a:solidFill>
                    <a:latin typeface="Arial" charset="0"/>
                  </a:rPr>
                  <a:t>SYN</a:t>
                </a:r>
              </a:p>
            </p:txBody>
          </p:sp>
        </p:grpSp>
        <p:grpSp>
          <p:nvGrpSpPr>
            <p:cNvPr id="55428" name="Group 349"/>
            <p:cNvGrpSpPr>
              <a:grpSpLocks/>
            </p:cNvGrpSpPr>
            <p:nvPr/>
          </p:nvGrpSpPr>
          <p:grpSpPr bwMode="auto">
            <a:xfrm>
              <a:off x="59" y="1202"/>
              <a:ext cx="681" cy="154"/>
              <a:chOff x="410" y="1508"/>
              <a:chExt cx="681" cy="154"/>
            </a:xfrm>
          </p:grpSpPr>
          <p:sp>
            <p:nvSpPr>
              <p:cNvPr id="92295" name="Rectangle 350"/>
              <p:cNvSpPr>
                <a:spLocks noChangeArrowheads="1"/>
              </p:cNvSpPr>
              <p:nvPr/>
            </p:nvSpPr>
            <p:spPr bwMode="auto">
              <a:xfrm>
                <a:off x="410" y="1511"/>
                <a:ext cx="681" cy="13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96" name="Rectangle 351"/>
              <p:cNvSpPr>
                <a:spLocks noChangeArrowheads="1"/>
              </p:cNvSpPr>
              <p:nvPr/>
            </p:nvSpPr>
            <p:spPr bwMode="auto">
              <a:xfrm>
                <a:off x="538" y="1536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97" name="Rectangle 352"/>
              <p:cNvSpPr>
                <a:spLocks noChangeArrowheads="1"/>
              </p:cNvSpPr>
              <p:nvPr/>
            </p:nvSpPr>
            <p:spPr bwMode="auto">
              <a:xfrm>
                <a:off x="529" y="1525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98" name="Rectangle 353"/>
              <p:cNvSpPr>
                <a:spLocks noChangeArrowheads="1"/>
              </p:cNvSpPr>
              <p:nvPr/>
            </p:nvSpPr>
            <p:spPr bwMode="auto">
              <a:xfrm>
                <a:off x="423" y="1527"/>
                <a:ext cx="94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99" name="Rectangle 354"/>
              <p:cNvSpPr>
                <a:spLocks noChangeArrowheads="1"/>
              </p:cNvSpPr>
              <p:nvPr/>
            </p:nvSpPr>
            <p:spPr bwMode="auto">
              <a:xfrm>
                <a:off x="1021" y="1526"/>
                <a:ext cx="60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55434" name="Group 355"/>
              <p:cNvGrpSpPr>
                <a:grpSpLocks/>
              </p:cNvGrpSpPr>
              <p:nvPr/>
            </p:nvGrpSpPr>
            <p:grpSpPr bwMode="auto">
              <a:xfrm>
                <a:off x="647" y="1508"/>
                <a:ext cx="354" cy="154"/>
                <a:chOff x="290" y="875"/>
                <a:chExt cx="354" cy="154"/>
              </a:xfrm>
            </p:grpSpPr>
            <p:sp>
              <p:nvSpPr>
                <p:cNvPr id="92301" name="Rectangle 356"/>
                <p:cNvSpPr>
                  <a:spLocks noChangeArrowheads="1"/>
                </p:cNvSpPr>
                <p:nvPr/>
              </p:nvSpPr>
              <p:spPr bwMode="auto">
                <a:xfrm>
                  <a:off x="306" y="909"/>
                  <a:ext cx="32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2302" name="Rectangle 357"/>
                <p:cNvSpPr>
                  <a:spLocks noChangeArrowheads="1"/>
                </p:cNvSpPr>
                <p:nvPr/>
              </p:nvSpPr>
              <p:spPr bwMode="auto">
                <a:xfrm>
                  <a:off x="290" y="903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2303" name="Text Box 358"/>
                <p:cNvSpPr txBox="1">
                  <a:spLocks noChangeArrowheads="1"/>
                </p:cNvSpPr>
                <p:nvPr/>
              </p:nvSpPr>
              <p:spPr bwMode="auto">
                <a:xfrm>
                  <a:off x="332" y="875"/>
                  <a:ext cx="280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>
                      <a:solidFill>
                        <a:srgbClr val="000000"/>
                      </a:solidFill>
                      <a:latin typeface="Arial" charset="0"/>
                    </a:rPr>
                    <a:t>SYN</a:t>
                  </a:r>
                </a:p>
              </p:txBody>
            </p:sp>
          </p:grpSp>
        </p:grpSp>
      </p:grpSp>
      <p:sp>
        <p:nvSpPr>
          <p:cNvPr id="92188" name="Rectangle 359"/>
          <p:cNvSpPr>
            <a:spLocks noChangeArrowheads="1"/>
          </p:cNvSpPr>
          <p:nvPr/>
        </p:nvSpPr>
        <p:spPr bwMode="auto">
          <a:xfrm>
            <a:off x="2503488" y="4452939"/>
            <a:ext cx="1841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en-US" sz="10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706951" name="Group 391"/>
          <p:cNvGrpSpPr>
            <a:grpSpLocks/>
          </p:cNvGrpSpPr>
          <p:nvPr/>
        </p:nvGrpSpPr>
        <p:grpSpPr bwMode="auto">
          <a:xfrm>
            <a:off x="1830389" y="4241800"/>
            <a:ext cx="1081087" cy="782638"/>
            <a:chOff x="2675" y="3676"/>
            <a:chExt cx="681" cy="493"/>
          </a:xfrm>
        </p:grpSpPr>
        <p:grpSp>
          <p:nvGrpSpPr>
            <p:cNvPr id="55405" name="Group 361"/>
            <p:cNvGrpSpPr>
              <a:grpSpLocks/>
            </p:cNvGrpSpPr>
            <p:nvPr/>
          </p:nvGrpSpPr>
          <p:grpSpPr bwMode="auto">
            <a:xfrm>
              <a:off x="2793" y="3855"/>
              <a:ext cx="480" cy="112"/>
              <a:chOff x="627" y="3377"/>
              <a:chExt cx="480" cy="112"/>
            </a:xfrm>
          </p:grpSpPr>
          <p:sp>
            <p:nvSpPr>
              <p:cNvPr id="92289" name="Rectangle 362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90" name="Rectangle 363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grpSp>
          <p:nvGrpSpPr>
            <p:cNvPr id="55406" name="Group 382"/>
            <p:cNvGrpSpPr>
              <a:grpSpLocks/>
            </p:cNvGrpSpPr>
            <p:nvPr/>
          </p:nvGrpSpPr>
          <p:grpSpPr bwMode="auto">
            <a:xfrm>
              <a:off x="2855" y="3676"/>
              <a:ext cx="444" cy="154"/>
              <a:chOff x="2717" y="3676"/>
              <a:chExt cx="444" cy="154"/>
            </a:xfrm>
          </p:grpSpPr>
          <p:sp>
            <p:nvSpPr>
              <p:cNvPr id="92286" name="Rectangle 365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87" name="Rectangle 366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88" name="Text Box 367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>
                    <a:solidFill>
                      <a:srgbClr val="000000"/>
                    </a:solidFill>
                    <a:latin typeface="Arial" charset="0"/>
                  </a:rPr>
                  <a:t>SYNACK</a:t>
                </a:r>
              </a:p>
            </p:txBody>
          </p:sp>
        </p:grpSp>
        <p:sp>
          <p:nvSpPr>
            <p:cNvPr id="92273" name="Rectangle 373"/>
            <p:cNvSpPr>
              <a:spLocks noChangeArrowheads="1"/>
            </p:cNvSpPr>
            <p:nvPr/>
          </p:nvSpPr>
          <p:spPr bwMode="auto">
            <a:xfrm>
              <a:off x="2675" y="4018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74" name="Rectangle 374"/>
            <p:cNvSpPr>
              <a:spLocks noChangeArrowheads="1"/>
            </p:cNvSpPr>
            <p:nvPr/>
          </p:nvSpPr>
          <p:spPr bwMode="auto">
            <a:xfrm>
              <a:off x="2803" y="4043"/>
              <a:ext cx="96" cy="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75" name="Rectangle 375"/>
            <p:cNvSpPr>
              <a:spLocks noChangeArrowheads="1"/>
            </p:cNvSpPr>
            <p:nvPr/>
          </p:nvSpPr>
          <p:spPr bwMode="auto">
            <a:xfrm>
              <a:off x="2794" y="4032"/>
              <a:ext cx="480" cy="11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76" name="Rectangle 376"/>
            <p:cNvSpPr>
              <a:spLocks noChangeArrowheads="1"/>
            </p:cNvSpPr>
            <p:nvPr/>
          </p:nvSpPr>
          <p:spPr bwMode="auto">
            <a:xfrm>
              <a:off x="2688" y="4034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77" name="Rectangle 377"/>
            <p:cNvSpPr>
              <a:spLocks noChangeArrowheads="1"/>
            </p:cNvSpPr>
            <p:nvPr/>
          </p:nvSpPr>
          <p:spPr bwMode="auto">
            <a:xfrm>
              <a:off x="3286" y="4033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55412" name="Group 383"/>
            <p:cNvGrpSpPr>
              <a:grpSpLocks/>
            </p:cNvGrpSpPr>
            <p:nvPr/>
          </p:nvGrpSpPr>
          <p:grpSpPr bwMode="auto">
            <a:xfrm>
              <a:off x="2864" y="3835"/>
              <a:ext cx="444" cy="154"/>
              <a:chOff x="2717" y="3676"/>
              <a:chExt cx="444" cy="154"/>
            </a:xfrm>
          </p:grpSpPr>
          <p:sp>
            <p:nvSpPr>
              <p:cNvPr id="92283" name="Rectangle 384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84" name="Rectangle 385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85" name="Text Box 386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>
                    <a:solidFill>
                      <a:srgbClr val="000000"/>
                    </a:solidFill>
                    <a:latin typeface="Arial" charset="0"/>
                  </a:rPr>
                  <a:t>SYNACK</a:t>
                </a:r>
              </a:p>
            </p:txBody>
          </p:sp>
        </p:grpSp>
        <p:grpSp>
          <p:nvGrpSpPr>
            <p:cNvPr id="55413" name="Group 387"/>
            <p:cNvGrpSpPr>
              <a:grpSpLocks/>
            </p:cNvGrpSpPr>
            <p:nvPr/>
          </p:nvGrpSpPr>
          <p:grpSpPr bwMode="auto">
            <a:xfrm>
              <a:off x="2867" y="4015"/>
              <a:ext cx="444" cy="154"/>
              <a:chOff x="2717" y="3676"/>
              <a:chExt cx="444" cy="154"/>
            </a:xfrm>
          </p:grpSpPr>
          <p:sp>
            <p:nvSpPr>
              <p:cNvPr id="92280" name="Rectangle 388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81" name="Rectangle 389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82" name="Text Box 390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>
                    <a:solidFill>
                      <a:srgbClr val="000000"/>
                    </a:solidFill>
                    <a:latin typeface="Arial" charset="0"/>
                  </a:rPr>
                  <a:t>SYNACK</a:t>
                </a:r>
              </a:p>
            </p:txBody>
          </p:sp>
        </p:grpSp>
      </p:grpSp>
      <p:grpSp>
        <p:nvGrpSpPr>
          <p:cNvPr id="706983" name="Group 423"/>
          <p:cNvGrpSpPr>
            <a:grpSpLocks/>
          </p:cNvGrpSpPr>
          <p:nvPr/>
        </p:nvGrpSpPr>
        <p:grpSpPr bwMode="auto">
          <a:xfrm>
            <a:off x="1606550" y="1354139"/>
            <a:ext cx="1081088" cy="782637"/>
            <a:chOff x="2613" y="3554"/>
            <a:chExt cx="681" cy="493"/>
          </a:xfrm>
        </p:grpSpPr>
        <p:grpSp>
          <p:nvGrpSpPr>
            <p:cNvPr id="55385" name="Group 393"/>
            <p:cNvGrpSpPr>
              <a:grpSpLocks/>
            </p:cNvGrpSpPr>
            <p:nvPr/>
          </p:nvGrpSpPr>
          <p:grpSpPr bwMode="auto">
            <a:xfrm>
              <a:off x="2731" y="3733"/>
              <a:ext cx="480" cy="112"/>
              <a:chOff x="627" y="3377"/>
              <a:chExt cx="480" cy="112"/>
            </a:xfrm>
          </p:grpSpPr>
          <p:sp>
            <p:nvSpPr>
              <p:cNvPr id="92269" name="Rectangle 394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70" name="Rectangle 395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grpSp>
          <p:nvGrpSpPr>
            <p:cNvPr id="55386" name="Group 396"/>
            <p:cNvGrpSpPr>
              <a:grpSpLocks/>
            </p:cNvGrpSpPr>
            <p:nvPr/>
          </p:nvGrpSpPr>
          <p:grpSpPr bwMode="auto">
            <a:xfrm>
              <a:off x="2793" y="3554"/>
              <a:ext cx="444" cy="154"/>
              <a:chOff x="2717" y="3676"/>
              <a:chExt cx="444" cy="154"/>
            </a:xfrm>
          </p:grpSpPr>
          <p:sp>
            <p:nvSpPr>
              <p:cNvPr id="92266" name="Rectangle 397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67" name="Rectangle 398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68" name="Text Box 399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>
                    <a:solidFill>
                      <a:srgbClr val="000000"/>
                    </a:solidFill>
                    <a:latin typeface="Arial" charset="0"/>
                  </a:rPr>
                  <a:t>SYNACK</a:t>
                </a:r>
              </a:p>
            </p:txBody>
          </p:sp>
        </p:grpSp>
        <p:sp>
          <p:nvSpPr>
            <p:cNvPr id="92253" name="Rectangle 400"/>
            <p:cNvSpPr>
              <a:spLocks noChangeArrowheads="1"/>
            </p:cNvSpPr>
            <p:nvPr/>
          </p:nvSpPr>
          <p:spPr bwMode="auto">
            <a:xfrm>
              <a:off x="2613" y="3896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54" name="Rectangle 401"/>
            <p:cNvSpPr>
              <a:spLocks noChangeArrowheads="1"/>
            </p:cNvSpPr>
            <p:nvPr/>
          </p:nvSpPr>
          <p:spPr bwMode="auto">
            <a:xfrm>
              <a:off x="2741" y="3921"/>
              <a:ext cx="96" cy="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55" name="Rectangle 402"/>
            <p:cNvSpPr>
              <a:spLocks noChangeArrowheads="1"/>
            </p:cNvSpPr>
            <p:nvPr/>
          </p:nvSpPr>
          <p:spPr bwMode="auto">
            <a:xfrm>
              <a:off x="2732" y="3910"/>
              <a:ext cx="480" cy="11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56" name="Rectangle 403"/>
            <p:cNvSpPr>
              <a:spLocks noChangeArrowheads="1"/>
            </p:cNvSpPr>
            <p:nvPr/>
          </p:nvSpPr>
          <p:spPr bwMode="auto">
            <a:xfrm>
              <a:off x="2626" y="3912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57" name="Rectangle 404"/>
            <p:cNvSpPr>
              <a:spLocks noChangeArrowheads="1"/>
            </p:cNvSpPr>
            <p:nvPr/>
          </p:nvSpPr>
          <p:spPr bwMode="auto">
            <a:xfrm>
              <a:off x="3224" y="3911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55392" name="Group 405"/>
            <p:cNvGrpSpPr>
              <a:grpSpLocks/>
            </p:cNvGrpSpPr>
            <p:nvPr/>
          </p:nvGrpSpPr>
          <p:grpSpPr bwMode="auto">
            <a:xfrm>
              <a:off x="2802" y="3713"/>
              <a:ext cx="444" cy="154"/>
              <a:chOff x="2717" y="3676"/>
              <a:chExt cx="444" cy="154"/>
            </a:xfrm>
          </p:grpSpPr>
          <p:sp>
            <p:nvSpPr>
              <p:cNvPr id="92263" name="Rectangle 406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64" name="Rectangle 407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65" name="Text Box 408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>
                    <a:solidFill>
                      <a:srgbClr val="000000"/>
                    </a:solidFill>
                    <a:latin typeface="Arial" charset="0"/>
                  </a:rPr>
                  <a:t>SYNACK</a:t>
                </a:r>
              </a:p>
            </p:txBody>
          </p:sp>
        </p:grpSp>
        <p:grpSp>
          <p:nvGrpSpPr>
            <p:cNvPr id="55393" name="Group 409"/>
            <p:cNvGrpSpPr>
              <a:grpSpLocks/>
            </p:cNvGrpSpPr>
            <p:nvPr/>
          </p:nvGrpSpPr>
          <p:grpSpPr bwMode="auto">
            <a:xfrm>
              <a:off x="2805" y="3893"/>
              <a:ext cx="444" cy="154"/>
              <a:chOff x="2717" y="3676"/>
              <a:chExt cx="444" cy="154"/>
            </a:xfrm>
          </p:grpSpPr>
          <p:sp>
            <p:nvSpPr>
              <p:cNvPr id="92260" name="Rectangle 410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61" name="Rectangle 411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62" name="Text Box 412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>
                    <a:solidFill>
                      <a:srgbClr val="000000"/>
                    </a:solidFill>
                    <a:latin typeface="Arial" charset="0"/>
                  </a:rPr>
                  <a:t>SYNACK</a:t>
                </a:r>
              </a:p>
            </p:txBody>
          </p:sp>
        </p:grpSp>
      </p:grpSp>
      <p:grpSp>
        <p:nvGrpSpPr>
          <p:cNvPr id="706982" name="Group 422"/>
          <p:cNvGrpSpPr>
            <a:grpSpLocks/>
          </p:cNvGrpSpPr>
          <p:nvPr/>
        </p:nvGrpSpPr>
        <p:grpSpPr bwMode="auto">
          <a:xfrm>
            <a:off x="1835150" y="4772026"/>
            <a:ext cx="1081088" cy="244475"/>
            <a:chOff x="2709" y="3989"/>
            <a:chExt cx="681" cy="154"/>
          </a:xfrm>
        </p:grpSpPr>
        <p:sp>
          <p:nvSpPr>
            <p:cNvPr id="92242" name="Rectangle 413"/>
            <p:cNvSpPr>
              <a:spLocks noChangeArrowheads="1"/>
            </p:cNvSpPr>
            <p:nvPr/>
          </p:nvSpPr>
          <p:spPr bwMode="auto">
            <a:xfrm>
              <a:off x="2709" y="3992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43" name="Rectangle 414"/>
            <p:cNvSpPr>
              <a:spLocks noChangeArrowheads="1"/>
            </p:cNvSpPr>
            <p:nvPr/>
          </p:nvSpPr>
          <p:spPr bwMode="auto">
            <a:xfrm>
              <a:off x="2837" y="4017"/>
              <a:ext cx="96" cy="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44" name="Rectangle 415"/>
            <p:cNvSpPr>
              <a:spLocks noChangeArrowheads="1"/>
            </p:cNvSpPr>
            <p:nvPr/>
          </p:nvSpPr>
          <p:spPr bwMode="auto">
            <a:xfrm>
              <a:off x="2828" y="4006"/>
              <a:ext cx="480" cy="11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45" name="Rectangle 416"/>
            <p:cNvSpPr>
              <a:spLocks noChangeArrowheads="1"/>
            </p:cNvSpPr>
            <p:nvPr/>
          </p:nvSpPr>
          <p:spPr bwMode="auto">
            <a:xfrm>
              <a:off x="2722" y="4008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46" name="Rectangle 417"/>
            <p:cNvSpPr>
              <a:spLocks noChangeArrowheads="1"/>
            </p:cNvSpPr>
            <p:nvPr/>
          </p:nvSpPr>
          <p:spPr bwMode="auto">
            <a:xfrm>
              <a:off x="3320" y="4007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55381" name="Group 418"/>
            <p:cNvGrpSpPr>
              <a:grpSpLocks/>
            </p:cNvGrpSpPr>
            <p:nvPr/>
          </p:nvGrpSpPr>
          <p:grpSpPr bwMode="auto">
            <a:xfrm>
              <a:off x="2901" y="3989"/>
              <a:ext cx="444" cy="154"/>
              <a:chOff x="2717" y="3676"/>
              <a:chExt cx="444" cy="154"/>
            </a:xfrm>
          </p:grpSpPr>
          <p:sp>
            <p:nvSpPr>
              <p:cNvPr id="92248" name="Rectangle 419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49" name="Rectangle 420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50" name="Text Box 421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>
                    <a:solidFill>
                      <a:srgbClr val="000000"/>
                    </a:solidFill>
                    <a:latin typeface="Arial" charset="0"/>
                  </a:rPr>
                  <a:t>SYNACK</a:t>
                </a:r>
              </a:p>
            </p:txBody>
          </p:sp>
        </p:grpSp>
      </p:grpSp>
      <p:sp>
        <p:nvSpPr>
          <p:cNvPr id="706984" name="Rectangle 424"/>
          <p:cNvSpPr>
            <a:spLocks noChangeArrowheads="1"/>
          </p:cNvSpPr>
          <p:nvPr/>
        </p:nvSpPr>
        <p:spPr bwMode="auto">
          <a:xfrm>
            <a:off x="6300789" y="4916489"/>
            <a:ext cx="3787775" cy="98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0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web server responds with </a:t>
            </a:r>
            <a:r>
              <a:rPr lang="en-US" sz="2000" dirty="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TCP SYNACK </a:t>
            </a:r>
            <a:r>
              <a:rPr lang="en-US" sz="20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(step 2 in 3-way handshake)</a:t>
            </a:r>
          </a:p>
        </p:txBody>
      </p:sp>
      <p:grpSp>
        <p:nvGrpSpPr>
          <p:cNvPr id="55327" name="Group 110"/>
          <p:cNvGrpSpPr>
            <a:grpSpLocks/>
          </p:cNvGrpSpPr>
          <p:nvPr/>
        </p:nvGrpSpPr>
        <p:grpSpPr bwMode="auto">
          <a:xfrm>
            <a:off x="6737350" y="2041526"/>
            <a:ext cx="757238" cy="379413"/>
            <a:chOff x="2466" y="2026"/>
            <a:chExt cx="477" cy="282"/>
          </a:xfrm>
        </p:grpSpPr>
        <p:sp>
          <p:nvSpPr>
            <p:cNvPr id="55362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5363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64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5365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55366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55373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374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375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5367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55370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371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372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5368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69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5328" name="Group 248"/>
          <p:cNvGrpSpPr>
            <a:grpSpLocks/>
          </p:cNvGrpSpPr>
          <p:nvPr/>
        </p:nvGrpSpPr>
        <p:grpSpPr bwMode="auto">
          <a:xfrm>
            <a:off x="3994151" y="4932364"/>
            <a:ext cx="333375" cy="581025"/>
            <a:chOff x="4140" y="429"/>
            <a:chExt cx="1425" cy="2396"/>
          </a:xfrm>
        </p:grpSpPr>
        <p:sp>
          <p:nvSpPr>
            <p:cNvPr id="55330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197" name="Rectangle 149"/>
            <p:cNvSpPr>
              <a:spLocks noChangeArrowheads="1"/>
            </p:cNvSpPr>
            <p:nvPr/>
          </p:nvSpPr>
          <p:spPr bwMode="auto">
            <a:xfrm>
              <a:off x="4208" y="429"/>
              <a:ext cx="1045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55332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33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00" name="Rectangle 152"/>
            <p:cNvSpPr>
              <a:spLocks noChangeArrowheads="1"/>
            </p:cNvSpPr>
            <p:nvPr/>
          </p:nvSpPr>
          <p:spPr bwMode="auto">
            <a:xfrm>
              <a:off x="4215" y="691"/>
              <a:ext cx="590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55335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2226" name="AutoShape 154"/>
              <p:cNvSpPr>
                <a:spLocks noChangeArrowheads="1"/>
              </p:cNvSpPr>
              <p:nvPr/>
            </p:nvSpPr>
            <p:spPr bwMode="auto">
              <a:xfrm>
                <a:off x="616" y="2571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27" name="AutoShape 155"/>
              <p:cNvSpPr>
                <a:spLocks noChangeArrowheads="1"/>
              </p:cNvSpPr>
              <p:nvPr/>
            </p:nvSpPr>
            <p:spPr bwMode="auto">
              <a:xfrm>
                <a:off x="633" y="2590"/>
                <a:ext cx="686" cy="1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92202" name="Rectangle 156"/>
            <p:cNvSpPr>
              <a:spLocks noChangeArrowheads="1"/>
            </p:cNvSpPr>
            <p:nvPr/>
          </p:nvSpPr>
          <p:spPr bwMode="auto">
            <a:xfrm>
              <a:off x="4221" y="1018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55337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2224" name="AutoShape 158"/>
              <p:cNvSpPr>
                <a:spLocks noChangeArrowheads="1"/>
              </p:cNvSpPr>
              <p:nvPr/>
            </p:nvSpPr>
            <p:spPr bwMode="auto">
              <a:xfrm>
                <a:off x="610" y="2566"/>
                <a:ext cx="728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25" name="AutoShape 159"/>
              <p:cNvSpPr>
                <a:spLocks noChangeArrowheads="1"/>
              </p:cNvSpPr>
              <p:nvPr/>
            </p:nvSpPr>
            <p:spPr bwMode="auto">
              <a:xfrm>
                <a:off x="627" y="2580"/>
                <a:ext cx="694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92204" name="Rectangle 160"/>
            <p:cNvSpPr>
              <a:spLocks noChangeArrowheads="1"/>
            </p:cNvSpPr>
            <p:nvPr/>
          </p:nvSpPr>
          <p:spPr bwMode="auto">
            <a:xfrm>
              <a:off x="4215" y="1359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05" name="Rectangle 161"/>
            <p:cNvSpPr>
              <a:spLocks noChangeArrowheads="1"/>
            </p:cNvSpPr>
            <p:nvPr/>
          </p:nvSpPr>
          <p:spPr bwMode="auto">
            <a:xfrm>
              <a:off x="4228" y="1653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55340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2222" name="AutoShape 163"/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19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23" name="AutoShape 164"/>
              <p:cNvSpPr>
                <a:spLocks noChangeArrowheads="1"/>
              </p:cNvSpPr>
              <p:nvPr/>
            </p:nvSpPr>
            <p:spPr bwMode="auto">
              <a:xfrm>
                <a:off x="634" y="2586"/>
                <a:ext cx="685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55341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5342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2220" name="AutoShape 167"/>
              <p:cNvSpPr>
                <a:spLocks noChangeArrowheads="1"/>
              </p:cNvSpPr>
              <p:nvPr/>
            </p:nvSpPr>
            <p:spPr bwMode="auto">
              <a:xfrm>
                <a:off x="612" y="2567"/>
                <a:ext cx="727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2221" name="AutoShape 168"/>
              <p:cNvSpPr>
                <a:spLocks noChangeArrowheads="1"/>
              </p:cNvSpPr>
              <p:nvPr/>
            </p:nvSpPr>
            <p:spPr bwMode="auto">
              <a:xfrm>
                <a:off x="629" y="2580"/>
                <a:ext cx="693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92209" name="Rectangle 169"/>
            <p:cNvSpPr>
              <a:spLocks noChangeArrowheads="1"/>
            </p:cNvSpPr>
            <p:nvPr/>
          </p:nvSpPr>
          <p:spPr bwMode="auto">
            <a:xfrm>
              <a:off x="5253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55344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45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12" name="Oval 172"/>
            <p:cNvSpPr>
              <a:spLocks noChangeArrowheads="1"/>
            </p:cNvSpPr>
            <p:nvPr/>
          </p:nvSpPr>
          <p:spPr bwMode="auto">
            <a:xfrm>
              <a:off x="5518" y="2609"/>
              <a:ext cx="47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55347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14" name="AutoShape 174"/>
            <p:cNvSpPr>
              <a:spLocks noChangeArrowheads="1"/>
            </p:cNvSpPr>
            <p:nvPr/>
          </p:nvSpPr>
          <p:spPr bwMode="auto">
            <a:xfrm>
              <a:off x="4140" y="2681"/>
              <a:ext cx="1201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15" name="AutoShape 175"/>
            <p:cNvSpPr>
              <a:spLocks noChangeArrowheads="1"/>
            </p:cNvSpPr>
            <p:nvPr/>
          </p:nvSpPr>
          <p:spPr bwMode="auto">
            <a:xfrm>
              <a:off x="4208" y="2714"/>
              <a:ext cx="1065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16" name="Oval 176"/>
            <p:cNvSpPr>
              <a:spLocks noChangeArrowheads="1"/>
            </p:cNvSpPr>
            <p:nvPr/>
          </p:nvSpPr>
          <p:spPr bwMode="auto">
            <a:xfrm>
              <a:off x="4310" y="2380"/>
              <a:ext cx="156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17" name="Oval 177"/>
            <p:cNvSpPr>
              <a:spLocks noChangeArrowheads="1"/>
            </p:cNvSpPr>
            <p:nvPr/>
          </p:nvSpPr>
          <p:spPr bwMode="auto">
            <a:xfrm>
              <a:off x="4486" y="2386"/>
              <a:ext cx="163" cy="1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FF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18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6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2219" name="Rectangle 179"/>
            <p:cNvSpPr>
              <a:spLocks noChangeArrowheads="1"/>
            </p:cNvSpPr>
            <p:nvPr/>
          </p:nvSpPr>
          <p:spPr bwMode="auto">
            <a:xfrm>
              <a:off x="5063" y="1836"/>
              <a:ext cx="81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0910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06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706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706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42 0.00625 L 0.00764 0.08467 L 0.36285 0.08767 L 0.26996 0.22878 L 0.33698 0.22739 L 0.55069 0.01874 L 0.29583 0.52209 L 0.02882 0.5251 L 0.02882 0.41545 " pathEditMode="relative" rAng="0" ptsTypes="AAAAAAAAA">
                                      <p:cBhvr>
                                        <p:cTn id="27" dur="2000" fill="hold"/>
                                        <p:tgtEl>
                                          <p:spTgt spid="7068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205" y="25931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" dur="500"/>
                                        <p:tgtEl>
                                          <p:spTgt spid="7068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1000"/>
                                        <p:tgtEl>
                                          <p:spTgt spid="706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06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7068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6" dur="500"/>
                                        <p:tgtEl>
                                          <p:spTgt spid="7068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06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706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2.15591E-6 L -1.66667E-6 0.09415 L 0.28593 0.09091 L 0.52934 -0.40111 L 0.30937 -0.18182 L 0.23403 -0.19755 L 0.32118 -0.33079 L -0.01997 -0.33079 L -0.01875 -0.41846 " pathEditMode="relative" ptsTypes="AAAAAAAAA">
                                      <p:cBhvr>
                                        <p:cTn id="63" dur="2000" fill="hold"/>
                                        <p:tgtEl>
                                          <p:spTgt spid="7069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5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6" dur="500"/>
                                        <p:tgtEl>
                                          <p:spTgt spid="7069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9" dur="500"/>
                                        <p:tgtEl>
                                          <p:spTgt spid="7068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2" dur="500"/>
                                        <p:tgtEl>
                                          <p:spTgt spid="7068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7" dur="500"/>
                                        <p:tgtEl>
                                          <p:spTgt spid="7069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1000"/>
                                        <p:tgtEl>
                                          <p:spTgt spid="70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60" grpId="0"/>
      <p:bldP spid="706661" grpId="0"/>
      <p:bldP spid="706662" grpId="0"/>
      <p:bldP spid="70698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22" name="Group 300"/>
          <p:cNvGrpSpPr>
            <a:grpSpLocks/>
          </p:cNvGrpSpPr>
          <p:nvPr/>
        </p:nvGrpSpPr>
        <p:grpSpPr bwMode="auto">
          <a:xfrm>
            <a:off x="2297113" y="1273175"/>
            <a:ext cx="3554412" cy="3067050"/>
            <a:chOff x="773113" y="1273175"/>
            <a:chExt cx="3554412" cy="3066395"/>
          </a:xfrm>
        </p:grpSpPr>
        <p:sp>
          <p:nvSpPr>
            <p:cNvPr id="56567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568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569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570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571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438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>
                  <a:solidFill>
                    <a:srgbClr val="000000"/>
                  </a:solidFill>
                  <a:latin typeface="Arial" charset="0"/>
                  <a:cs typeface="Arial" charset="0"/>
                </a:rPr>
                <a:t>router</a:t>
              </a:r>
            </a:p>
            <a:p>
              <a:pPr>
                <a:defRPr/>
              </a:pPr>
              <a:r>
                <a:rPr lang="en-US" sz="1400">
                  <a:solidFill>
                    <a:srgbClr val="000000"/>
                  </a:solidFill>
                  <a:latin typeface="Arial" charset="0"/>
                  <a:cs typeface="Arial" charset="0"/>
                </a:rPr>
                <a:t>(runs DHCP)</a:t>
              </a:r>
            </a:p>
          </p:txBody>
        </p:sp>
        <p:grpSp>
          <p:nvGrpSpPr>
            <p:cNvPr id="56573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56625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6626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93440" name="Picture 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310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11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12" name="Rectangle 43"/>
            <p:cNvSpPr>
              <a:spLocks noChangeArrowheads="1"/>
            </p:cNvSpPr>
            <p:nvPr/>
          </p:nvSpPr>
          <p:spPr bwMode="auto">
            <a:xfrm rot="-54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grpSp>
          <p:nvGrpSpPr>
            <p:cNvPr id="56578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56593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460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56595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596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463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56598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93489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490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93465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56600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93487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488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93467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468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56603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93485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486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56604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6605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93483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484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93472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56607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608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8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475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56610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477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203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478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479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480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solidFill>
                    <a:srgbClr val="FF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481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482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grpSp>
          <p:nvGrpSpPr>
            <p:cNvPr id="56579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93446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447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448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449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>
                  <a:solidFill>
                    <a:srgbClr val="000000"/>
                  </a:solidFill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93450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56585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93456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457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458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56586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93453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454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455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4"/>
                  <a:ext cx="52" cy="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Comic Sans MS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56323" name="Freeform 2"/>
          <p:cNvSpPr>
            <a:spLocks/>
          </p:cNvSpPr>
          <p:nvPr/>
        </p:nvSpPr>
        <p:spPr bwMode="auto">
          <a:xfrm>
            <a:off x="1846264" y="4619625"/>
            <a:ext cx="3963987" cy="1716088"/>
          </a:xfrm>
          <a:custGeom>
            <a:avLst/>
            <a:gdLst>
              <a:gd name="T0" fmla="*/ 2147483647 w 2497"/>
              <a:gd name="T1" fmla="*/ 2147483647 h 1081"/>
              <a:gd name="T2" fmla="*/ 2147483647 w 2497"/>
              <a:gd name="T3" fmla="*/ 2147483647 h 1081"/>
              <a:gd name="T4" fmla="*/ 2147483647 w 2497"/>
              <a:gd name="T5" fmla="*/ 2147483647 h 1081"/>
              <a:gd name="T6" fmla="*/ 2147483647 w 2497"/>
              <a:gd name="T7" fmla="*/ 2147483647 h 1081"/>
              <a:gd name="T8" fmla="*/ 2147483647 w 2497"/>
              <a:gd name="T9" fmla="*/ 2147483647 h 1081"/>
              <a:gd name="T10" fmla="*/ 2147483647 w 2497"/>
              <a:gd name="T11" fmla="*/ 2147483647 h 1081"/>
              <a:gd name="T12" fmla="*/ 2147483647 w 2497"/>
              <a:gd name="T13" fmla="*/ 2147483647 h 1081"/>
              <a:gd name="T14" fmla="*/ 2147483647 w 2497"/>
              <a:gd name="T15" fmla="*/ 2147483647 h 1081"/>
              <a:gd name="T16" fmla="*/ 2147483647 w 2497"/>
              <a:gd name="T17" fmla="*/ 2147483647 h 1081"/>
              <a:gd name="T18" fmla="*/ 2147483647 w 2497"/>
              <a:gd name="T19" fmla="*/ 2147483647 h 1081"/>
              <a:gd name="T20" fmla="*/ 2147483647 w 2497"/>
              <a:gd name="T21" fmla="*/ 2147483647 h 1081"/>
              <a:gd name="T22" fmla="*/ 2147483647 w 2497"/>
              <a:gd name="T23" fmla="*/ 2147483647 h 1081"/>
              <a:gd name="T24" fmla="*/ 2147483647 w 2497"/>
              <a:gd name="T25" fmla="*/ 2147483647 h 1081"/>
              <a:gd name="T26" fmla="*/ 2147483647 w 2497"/>
              <a:gd name="T27" fmla="*/ 2147483647 h 1081"/>
              <a:gd name="T28" fmla="*/ 2147483647 w 2497"/>
              <a:gd name="T29" fmla="*/ 2147483647 h 1081"/>
              <a:gd name="T30" fmla="*/ 2147483647 w 2497"/>
              <a:gd name="T31" fmla="*/ 2147483647 h 108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497" h="1081">
                <a:moveTo>
                  <a:pt x="475" y="274"/>
                </a:moveTo>
                <a:cubicBezTo>
                  <a:pt x="381" y="316"/>
                  <a:pt x="280" y="389"/>
                  <a:pt x="204" y="437"/>
                </a:cubicBezTo>
                <a:cubicBezTo>
                  <a:pt x="128" y="485"/>
                  <a:pt x="42" y="503"/>
                  <a:pt x="21" y="559"/>
                </a:cubicBezTo>
                <a:cubicBezTo>
                  <a:pt x="0" y="615"/>
                  <a:pt x="56" y="734"/>
                  <a:pt x="75" y="776"/>
                </a:cubicBezTo>
                <a:cubicBezTo>
                  <a:pt x="94" y="818"/>
                  <a:pt x="116" y="789"/>
                  <a:pt x="136" y="810"/>
                </a:cubicBezTo>
                <a:cubicBezTo>
                  <a:pt x="156" y="831"/>
                  <a:pt x="167" y="876"/>
                  <a:pt x="197" y="905"/>
                </a:cubicBezTo>
                <a:cubicBezTo>
                  <a:pt x="227" y="934"/>
                  <a:pt x="231" y="970"/>
                  <a:pt x="319" y="986"/>
                </a:cubicBezTo>
                <a:cubicBezTo>
                  <a:pt x="407" y="1002"/>
                  <a:pt x="554" y="1003"/>
                  <a:pt x="726" y="1000"/>
                </a:cubicBezTo>
                <a:cubicBezTo>
                  <a:pt x="898" y="997"/>
                  <a:pt x="1146" y="961"/>
                  <a:pt x="1349" y="966"/>
                </a:cubicBezTo>
                <a:cubicBezTo>
                  <a:pt x="1552" y="971"/>
                  <a:pt x="1785" y="1028"/>
                  <a:pt x="1945" y="1033"/>
                </a:cubicBezTo>
                <a:cubicBezTo>
                  <a:pt x="2105" y="1038"/>
                  <a:pt x="2225" y="1081"/>
                  <a:pt x="2311" y="993"/>
                </a:cubicBezTo>
                <a:cubicBezTo>
                  <a:pt x="2397" y="905"/>
                  <a:pt x="2497" y="662"/>
                  <a:pt x="2460" y="506"/>
                </a:cubicBezTo>
                <a:cubicBezTo>
                  <a:pt x="2423" y="350"/>
                  <a:pt x="2280" y="116"/>
                  <a:pt x="2088" y="58"/>
                </a:cubicBezTo>
                <a:cubicBezTo>
                  <a:pt x="1896" y="0"/>
                  <a:pt x="1528" y="138"/>
                  <a:pt x="1308" y="159"/>
                </a:cubicBezTo>
                <a:cubicBezTo>
                  <a:pt x="1088" y="180"/>
                  <a:pt x="906" y="167"/>
                  <a:pt x="766" y="186"/>
                </a:cubicBezTo>
                <a:cubicBezTo>
                  <a:pt x="626" y="205"/>
                  <a:pt x="569" y="232"/>
                  <a:pt x="475" y="274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6324" name="Freeform 3"/>
          <p:cNvSpPr>
            <a:spLocks/>
          </p:cNvSpPr>
          <p:nvPr/>
        </p:nvSpPr>
        <p:spPr bwMode="auto">
          <a:xfrm>
            <a:off x="6275389" y="871538"/>
            <a:ext cx="1919287" cy="2227262"/>
          </a:xfrm>
          <a:custGeom>
            <a:avLst/>
            <a:gdLst>
              <a:gd name="T0" fmla="*/ 2147483647 w 1209"/>
              <a:gd name="T1" fmla="*/ 2147483647 h 1403"/>
              <a:gd name="T2" fmla="*/ 2147483647 w 1209"/>
              <a:gd name="T3" fmla="*/ 2147483647 h 1403"/>
              <a:gd name="T4" fmla="*/ 2147483647 w 1209"/>
              <a:gd name="T5" fmla="*/ 2147483647 h 1403"/>
              <a:gd name="T6" fmla="*/ 2147483647 w 1209"/>
              <a:gd name="T7" fmla="*/ 2147483647 h 1403"/>
              <a:gd name="T8" fmla="*/ 2147483647 w 1209"/>
              <a:gd name="T9" fmla="*/ 2147483647 h 1403"/>
              <a:gd name="T10" fmla="*/ 2147483647 w 1209"/>
              <a:gd name="T11" fmla="*/ 2147483647 h 1403"/>
              <a:gd name="T12" fmla="*/ 2147483647 w 1209"/>
              <a:gd name="T13" fmla="*/ 2147483647 h 1403"/>
              <a:gd name="T14" fmla="*/ 2147483647 w 1209"/>
              <a:gd name="T15" fmla="*/ 2147483647 h 1403"/>
              <a:gd name="T16" fmla="*/ 2147483647 w 1209"/>
              <a:gd name="T17" fmla="*/ 2147483647 h 1403"/>
              <a:gd name="T18" fmla="*/ 2147483647 w 1209"/>
              <a:gd name="T19" fmla="*/ 2147483647 h 1403"/>
              <a:gd name="T20" fmla="*/ 2147483647 w 1209"/>
              <a:gd name="T21" fmla="*/ 2147483647 h 1403"/>
              <a:gd name="T22" fmla="*/ 2147483647 w 1209"/>
              <a:gd name="T23" fmla="*/ 2147483647 h 140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09" h="1403">
                <a:moveTo>
                  <a:pt x="84" y="528"/>
                </a:moveTo>
                <a:cubicBezTo>
                  <a:pt x="51" y="600"/>
                  <a:pt x="28" y="643"/>
                  <a:pt x="16" y="705"/>
                </a:cubicBezTo>
                <a:cubicBezTo>
                  <a:pt x="4" y="767"/>
                  <a:pt x="0" y="845"/>
                  <a:pt x="9" y="901"/>
                </a:cubicBezTo>
                <a:cubicBezTo>
                  <a:pt x="18" y="957"/>
                  <a:pt x="44" y="983"/>
                  <a:pt x="70" y="1043"/>
                </a:cubicBezTo>
                <a:cubicBezTo>
                  <a:pt x="96" y="1103"/>
                  <a:pt x="130" y="1210"/>
                  <a:pt x="165" y="1260"/>
                </a:cubicBezTo>
                <a:cubicBezTo>
                  <a:pt x="200" y="1310"/>
                  <a:pt x="223" y="1324"/>
                  <a:pt x="280" y="1342"/>
                </a:cubicBezTo>
                <a:cubicBezTo>
                  <a:pt x="337" y="1360"/>
                  <a:pt x="393" y="1368"/>
                  <a:pt x="510" y="1369"/>
                </a:cubicBezTo>
                <a:cubicBezTo>
                  <a:pt x="627" y="1370"/>
                  <a:pt x="775" y="1403"/>
                  <a:pt x="985" y="1348"/>
                </a:cubicBezTo>
                <a:cubicBezTo>
                  <a:pt x="1195" y="1293"/>
                  <a:pt x="1209" y="54"/>
                  <a:pt x="985" y="27"/>
                </a:cubicBezTo>
                <a:cubicBezTo>
                  <a:pt x="761" y="0"/>
                  <a:pt x="606" y="115"/>
                  <a:pt x="477" y="156"/>
                </a:cubicBezTo>
                <a:cubicBezTo>
                  <a:pt x="348" y="197"/>
                  <a:pt x="280" y="207"/>
                  <a:pt x="212" y="271"/>
                </a:cubicBezTo>
                <a:cubicBezTo>
                  <a:pt x="144" y="335"/>
                  <a:pt x="117" y="456"/>
                  <a:pt x="84" y="528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3191" name="Rectangle 4"/>
          <p:cNvSpPr>
            <a:spLocks noGrp="1" noChangeArrowheads="1"/>
          </p:cNvSpPr>
          <p:nvPr>
            <p:ph type="title"/>
          </p:nvPr>
        </p:nvSpPr>
        <p:spPr>
          <a:xfrm>
            <a:off x="1847851" y="0"/>
            <a:ext cx="8361363" cy="973138"/>
          </a:xfrm>
        </p:spPr>
        <p:txBody>
          <a:bodyPr/>
          <a:lstStyle/>
          <a:p>
            <a:pPr>
              <a:defRPr/>
            </a:pPr>
            <a:r>
              <a:rPr lang="en-US" altLang="en-US" sz="3600">
                <a:ea typeface="ＭＳ Ｐゴシック" pitchFamily="34" charset="-128"/>
              </a:rPr>
              <a:t>A day in the life… HTTP request/reply </a:t>
            </a:r>
          </a:p>
        </p:txBody>
      </p:sp>
      <p:grpSp>
        <p:nvGrpSpPr>
          <p:cNvPr id="56326" name="Group 35"/>
          <p:cNvGrpSpPr>
            <a:grpSpLocks/>
          </p:cNvGrpSpPr>
          <p:nvPr/>
        </p:nvGrpSpPr>
        <p:grpSpPr bwMode="auto">
          <a:xfrm>
            <a:off x="2719388" y="1081088"/>
            <a:ext cx="976312" cy="1460500"/>
            <a:chOff x="651" y="681"/>
            <a:chExt cx="615" cy="920"/>
          </a:xfrm>
        </p:grpSpPr>
        <p:sp>
          <p:nvSpPr>
            <p:cNvPr id="56559" name="Freeform 36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56560" name="Group 37"/>
            <p:cNvGrpSpPr>
              <a:grpSpLocks/>
            </p:cNvGrpSpPr>
            <p:nvPr/>
          </p:nvGrpSpPr>
          <p:grpSpPr bwMode="auto">
            <a:xfrm>
              <a:off x="651" y="681"/>
              <a:ext cx="500" cy="828"/>
              <a:chOff x="569" y="2954"/>
              <a:chExt cx="500" cy="828"/>
            </a:xfrm>
          </p:grpSpPr>
          <p:sp>
            <p:nvSpPr>
              <p:cNvPr id="93427" name="Rectangle 38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428" name="Text Box 39"/>
              <p:cNvSpPr txBox="1">
                <a:spLocks noChangeArrowheads="1"/>
              </p:cNvSpPr>
              <p:nvPr/>
            </p:nvSpPr>
            <p:spPr bwMode="auto">
              <a:xfrm>
                <a:off x="607" y="2954"/>
                <a:ext cx="449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HTTP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TCP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Phy</a:t>
                </a:r>
              </a:p>
            </p:txBody>
          </p:sp>
          <p:sp>
            <p:nvSpPr>
              <p:cNvPr id="93429" name="Line 40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430" name="Line 41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431" name="Line 42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432" name="Line 43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07628" name="Group 44"/>
          <p:cNvGrpSpPr>
            <a:grpSpLocks/>
          </p:cNvGrpSpPr>
          <p:nvPr/>
        </p:nvGrpSpPr>
        <p:grpSpPr bwMode="auto">
          <a:xfrm>
            <a:off x="1966914" y="1054101"/>
            <a:ext cx="515937" cy="333375"/>
            <a:chOff x="328" y="678"/>
            <a:chExt cx="325" cy="210"/>
          </a:xfrm>
        </p:grpSpPr>
        <p:grpSp>
          <p:nvGrpSpPr>
            <p:cNvPr id="56555" name="Group 45"/>
            <p:cNvGrpSpPr>
              <a:grpSpLocks/>
            </p:cNvGrpSpPr>
            <p:nvPr/>
          </p:nvGrpSpPr>
          <p:grpSpPr bwMode="auto">
            <a:xfrm>
              <a:off x="328" y="693"/>
              <a:ext cx="325" cy="154"/>
              <a:chOff x="844" y="3337"/>
              <a:chExt cx="325" cy="154"/>
            </a:xfrm>
          </p:grpSpPr>
          <p:sp>
            <p:nvSpPr>
              <p:cNvPr id="93423" name="Rectangle 46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424" name="Text Box 47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>
                    <a:solidFill>
                      <a:srgbClr val="FFFFFF"/>
                    </a:solidFill>
                    <a:latin typeface="Arial" charset="0"/>
                  </a:rPr>
                  <a:t>HTTP</a:t>
                </a:r>
              </a:p>
            </p:txBody>
          </p:sp>
        </p:grpSp>
        <p:sp>
          <p:nvSpPr>
            <p:cNvPr id="93422" name="AutoShape 48"/>
            <p:cNvSpPr>
              <a:spLocks noChangeArrowheads="1"/>
            </p:cNvSpPr>
            <p:nvPr/>
          </p:nvSpPr>
          <p:spPr bwMode="auto">
            <a:xfrm>
              <a:off x="396" y="678"/>
              <a:ext cx="240" cy="210"/>
            </a:xfrm>
            <a:prstGeom prst="downArrow">
              <a:avLst>
                <a:gd name="adj1" fmla="val 49167"/>
                <a:gd name="adj2" fmla="val 24292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</p:grpSp>
      <p:sp>
        <p:nvSpPr>
          <p:cNvPr id="707633" name="Rectangle 49"/>
          <p:cNvSpPr>
            <a:spLocks noChangeArrowheads="1"/>
          </p:cNvSpPr>
          <p:nvPr/>
        </p:nvSpPr>
        <p:spPr bwMode="auto">
          <a:xfrm>
            <a:off x="6707188" y="3105151"/>
            <a:ext cx="3441700" cy="95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00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HTTP request </a:t>
            </a:r>
            <a:r>
              <a:rPr lang="en-US" sz="200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sent into TCP socket</a:t>
            </a:r>
          </a:p>
        </p:txBody>
      </p:sp>
      <p:sp>
        <p:nvSpPr>
          <p:cNvPr id="707634" name="Rectangle 50"/>
          <p:cNvSpPr>
            <a:spLocks noChangeArrowheads="1"/>
          </p:cNvSpPr>
          <p:nvPr/>
        </p:nvSpPr>
        <p:spPr bwMode="auto">
          <a:xfrm>
            <a:off x="6700839" y="3797300"/>
            <a:ext cx="3787775" cy="985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00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IP datagram containing HTTP request routed to www.google.com</a:t>
            </a:r>
          </a:p>
        </p:txBody>
      </p:sp>
      <p:sp>
        <p:nvSpPr>
          <p:cNvPr id="707635" name="Rectangle 51"/>
          <p:cNvSpPr>
            <a:spLocks noChangeArrowheads="1"/>
          </p:cNvSpPr>
          <p:nvPr/>
        </p:nvSpPr>
        <p:spPr bwMode="auto">
          <a:xfrm>
            <a:off x="6713538" y="5702301"/>
            <a:ext cx="3865562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00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IP datagram containing HTTP reply routed back to client</a:t>
            </a:r>
          </a:p>
        </p:txBody>
      </p:sp>
      <p:grpSp>
        <p:nvGrpSpPr>
          <p:cNvPr id="56331" name="Group 166"/>
          <p:cNvGrpSpPr>
            <a:grpSpLocks/>
          </p:cNvGrpSpPr>
          <p:nvPr/>
        </p:nvGrpSpPr>
        <p:grpSpPr bwMode="auto">
          <a:xfrm>
            <a:off x="5319714" y="2409826"/>
            <a:ext cx="1576387" cy="1287463"/>
            <a:chOff x="3228" y="1776"/>
            <a:chExt cx="252" cy="96"/>
          </a:xfrm>
        </p:grpSpPr>
        <p:sp>
          <p:nvSpPr>
            <p:cNvPr id="56553" name="Line 16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554" name="Line 16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6332" name="Group 167"/>
          <p:cNvGrpSpPr>
            <a:grpSpLocks/>
          </p:cNvGrpSpPr>
          <p:nvPr/>
        </p:nvGrpSpPr>
        <p:grpSpPr bwMode="auto">
          <a:xfrm flipH="1">
            <a:off x="7124700" y="2424113"/>
            <a:ext cx="400050" cy="152400"/>
            <a:chOff x="3228" y="1776"/>
            <a:chExt cx="252" cy="96"/>
          </a:xfrm>
        </p:grpSpPr>
        <p:sp>
          <p:nvSpPr>
            <p:cNvPr id="56551" name="Line 16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552" name="Line 16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6333" name="Group 170"/>
          <p:cNvGrpSpPr>
            <a:grpSpLocks/>
          </p:cNvGrpSpPr>
          <p:nvPr/>
        </p:nvGrpSpPr>
        <p:grpSpPr bwMode="auto">
          <a:xfrm flipH="1" flipV="1">
            <a:off x="7277100" y="1900238"/>
            <a:ext cx="400050" cy="152400"/>
            <a:chOff x="3228" y="1776"/>
            <a:chExt cx="252" cy="96"/>
          </a:xfrm>
        </p:grpSpPr>
        <p:sp>
          <p:nvSpPr>
            <p:cNvPr id="56549" name="Line 17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550" name="Line 17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6334" name="Group 110"/>
          <p:cNvGrpSpPr>
            <a:grpSpLocks/>
          </p:cNvGrpSpPr>
          <p:nvPr/>
        </p:nvGrpSpPr>
        <p:grpSpPr bwMode="auto">
          <a:xfrm>
            <a:off x="4581525" y="5273676"/>
            <a:ext cx="757238" cy="379413"/>
            <a:chOff x="2466" y="2026"/>
            <a:chExt cx="477" cy="282"/>
          </a:xfrm>
        </p:grpSpPr>
        <p:sp>
          <p:nvSpPr>
            <p:cNvPr id="56535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6536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537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6538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56539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56546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547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548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6540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56543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544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545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6541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542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6335" name="Line 136"/>
          <p:cNvSpPr>
            <a:spLocks noChangeShapeType="1"/>
          </p:cNvSpPr>
          <p:nvPr/>
        </p:nvSpPr>
        <p:spPr bwMode="auto">
          <a:xfrm flipV="1">
            <a:off x="4067175" y="5443539"/>
            <a:ext cx="490538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36" name="Text Box 137"/>
          <p:cNvSpPr txBox="1">
            <a:spLocks noChangeArrowheads="1"/>
          </p:cNvSpPr>
          <p:nvPr/>
        </p:nvSpPr>
        <p:spPr bwMode="auto">
          <a:xfrm>
            <a:off x="2527300" y="5835650"/>
            <a:ext cx="15954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64.233.169.105</a:t>
            </a:r>
          </a:p>
        </p:txBody>
      </p:sp>
      <p:sp>
        <p:nvSpPr>
          <p:cNvPr id="56337" name="Text Box 138"/>
          <p:cNvSpPr txBox="1">
            <a:spLocks noChangeArrowheads="1"/>
          </p:cNvSpPr>
          <p:nvPr/>
        </p:nvSpPr>
        <p:spPr bwMode="auto">
          <a:xfrm>
            <a:off x="2495551" y="5541963"/>
            <a:ext cx="1177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web server</a:t>
            </a:r>
          </a:p>
        </p:txBody>
      </p:sp>
      <p:grpSp>
        <p:nvGrpSpPr>
          <p:cNvPr id="56338" name="Group 194"/>
          <p:cNvGrpSpPr>
            <a:grpSpLocks/>
          </p:cNvGrpSpPr>
          <p:nvPr/>
        </p:nvGrpSpPr>
        <p:grpSpPr bwMode="auto">
          <a:xfrm>
            <a:off x="4494214" y="5649913"/>
            <a:ext cx="295275" cy="114300"/>
            <a:chOff x="3228" y="1776"/>
            <a:chExt cx="252" cy="96"/>
          </a:xfrm>
        </p:grpSpPr>
        <p:sp>
          <p:nvSpPr>
            <p:cNvPr id="56533" name="Line 195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534" name="Line 196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6339" name="Group 200"/>
          <p:cNvGrpSpPr>
            <a:grpSpLocks/>
          </p:cNvGrpSpPr>
          <p:nvPr/>
        </p:nvGrpSpPr>
        <p:grpSpPr bwMode="auto">
          <a:xfrm flipH="1" flipV="1">
            <a:off x="5337176" y="5354638"/>
            <a:ext cx="295275" cy="114300"/>
            <a:chOff x="3228" y="1776"/>
            <a:chExt cx="252" cy="96"/>
          </a:xfrm>
        </p:grpSpPr>
        <p:sp>
          <p:nvSpPr>
            <p:cNvPr id="56531" name="Line 20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532" name="Line 20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3206" name="Line 112"/>
          <p:cNvSpPr>
            <a:spLocks noChangeShapeType="1"/>
          </p:cNvSpPr>
          <p:nvPr/>
        </p:nvSpPr>
        <p:spPr bwMode="auto">
          <a:xfrm flipH="1">
            <a:off x="5118101" y="2432051"/>
            <a:ext cx="1882775" cy="2892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grpSp>
        <p:nvGrpSpPr>
          <p:cNvPr id="56341" name="Group 145"/>
          <p:cNvGrpSpPr>
            <a:grpSpLocks/>
          </p:cNvGrpSpPr>
          <p:nvPr/>
        </p:nvGrpSpPr>
        <p:grpSpPr bwMode="auto">
          <a:xfrm>
            <a:off x="3033713" y="3965575"/>
            <a:ext cx="976312" cy="1460500"/>
            <a:chOff x="4000" y="1895"/>
            <a:chExt cx="615" cy="920"/>
          </a:xfrm>
        </p:grpSpPr>
        <p:sp>
          <p:nvSpPr>
            <p:cNvPr id="56523" name="Freeform 146"/>
            <p:cNvSpPr>
              <a:spLocks/>
            </p:cNvSpPr>
            <p:nvPr/>
          </p:nvSpPr>
          <p:spPr bwMode="auto">
            <a:xfrm>
              <a:off x="4011" y="1912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56524" name="Group 147"/>
            <p:cNvGrpSpPr>
              <a:grpSpLocks/>
            </p:cNvGrpSpPr>
            <p:nvPr/>
          </p:nvGrpSpPr>
          <p:grpSpPr bwMode="auto">
            <a:xfrm>
              <a:off x="4000" y="1895"/>
              <a:ext cx="500" cy="828"/>
              <a:chOff x="569" y="2954"/>
              <a:chExt cx="500" cy="828"/>
            </a:xfrm>
          </p:grpSpPr>
          <p:sp>
            <p:nvSpPr>
              <p:cNvPr id="93391" name="Rectangle 148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392" name="Text Box 149"/>
              <p:cNvSpPr txBox="1">
                <a:spLocks noChangeArrowheads="1"/>
              </p:cNvSpPr>
              <p:nvPr/>
            </p:nvSpPr>
            <p:spPr bwMode="auto">
              <a:xfrm>
                <a:off x="607" y="2954"/>
                <a:ext cx="449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HTTP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TCP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>
                    <a:solidFill>
                      <a:srgbClr val="000000"/>
                    </a:solidFill>
                    <a:latin typeface="Arial" charset="0"/>
                  </a:rPr>
                  <a:t>Phy</a:t>
                </a:r>
              </a:p>
            </p:txBody>
          </p:sp>
          <p:sp>
            <p:nvSpPr>
              <p:cNvPr id="93393" name="Line 150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394" name="Line 151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395" name="Line 152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396" name="Line 153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</p:grpSp>
      </p:grpSp>
      <p:sp>
        <p:nvSpPr>
          <p:cNvPr id="707813" name="Rectangle 229"/>
          <p:cNvSpPr>
            <a:spLocks noChangeArrowheads="1"/>
          </p:cNvSpPr>
          <p:nvPr/>
        </p:nvSpPr>
        <p:spPr bwMode="auto">
          <a:xfrm>
            <a:off x="6707189" y="4735514"/>
            <a:ext cx="3787775" cy="98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00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web server responds with </a:t>
            </a:r>
            <a:r>
              <a:rPr lang="en-US" sz="200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HTTP reply </a:t>
            </a:r>
            <a:r>
              <a:rPr lang="en-US" sz="200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(containing web page)</a:t>
            </a:r>
          </a:p>
        </p:txBody>
      </p:sp>
      <p:grpSp>
        <p:nvGrpSpPr>
          <p:cNvPr id="707941" name="Group 357"/>
          <p:cNvGrpSpPr>
            <a:grpSpLocks/>
          </p:cNvGrpSpPr>
          <p:nvPr/>
        </p:nvGrpSpPr>
        <p:grpSpPr bwMode="auto">
          <a:xfrm>
            <a:off x="1612900" y="1363663"/>
            <a:ext cx="1081088" cy="1058862"/>
            <a:chOff x="56" y="859"/>
            <a:chExt cx="681" cy="667"/>
          </a:xfrm>
        </p:grpSpPr>
        <p:grpSp>
          <p:nvGrpSpPr>
            <p:cNvPr id="56492" name="Group 230"/>
            <p:cNvGrpSpPr>
              <a:grpSpLocks/>
            </p:cNvGrpSpPr>
            <p:nvPr/>
          </p:nvGrpSpPr>
          <p:grpSpPr bwMode="auto">
            <a:xfrm>
              <a:off x="290" y="874"/>
              <a:ext cx="379" cy="154"/>
              <a:chOff x="740" y="3209"/>
              <a:chExt cx="379" cy="154"/>
            </a:xfrm>
          </p:grpSpPr>
          <p:grpSp>
            <p:nvGrpSpPr>
              <p:cNvPr id="56518" name="Group 231"/>
              <p:cNvGrpSpPr>
                <a:grpSpLocks/>
              </p:cNvGrpSpPr>
              <p:nvPr/>
            </p:nvGrpSpPr>
            <p:grpSpPr bwMode="auto">
              <a:xfrm>
                <a:off x="794" y="3209"/>
                <a:ext cx="325" cy="154"/>
                <a:chOff x="844" y="3337"/>
                <a:chExt cx="325" cy="154"/>
              </a:xfrm>
            </p:grpSpPr>
            <p:sp>
              <p:nvSpPr>
                <p:cNvPr id="93387" name="Rectangle 232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388" name="Text Box 233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>
                      <a:solidFill>
                        <a:srgbClr val="FFFFFF"/>
                      </a:solidFill>
                      <a:latin typeface="Arial" charset="0"/>
                    </a:rPr>
                    <a:t>HTTP</a:t>
                  </a:r>
                </a:p>
              </p:txBody>
            </p:sp>
          </p:grpSp>
          <p:sp>
            <p:nvSpPr>
              <p:cNvPr id="93385" name="Rectangle 234"/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386" name="Rectangle 235"/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grpSp>
          <p:nvGrpSpPr>
            <p:cNvPr id="56493" name="Group 236"/>
            <p:cNvGrpSpPr>
              <a:grpSpLocks/>
            </p:cNvGrpSpPr>
            <p:nvPr/>
          </p:nvGrpSpPr>
          <p:grpSpPr bwMode="auto">
            <a:xfrm>
              <a:off x="290" y="1022"/>
              <a:ext cx="379" cy="154"/>
              <a:chOff x="836" y="3305"/>
              <a:chExt cx="379" cy="154"/>
            </a:xfrm>
          </p:grpSpPr>
          <p:grpSp>
            <p:nvGrpSpPr>
              <p:cNvPr id="56512" name="Group 237"/>
              <p:cNvGrpSpPr>
                <a:grpSpLocks/>
              </p:cNvGrpSpPr>
              <p:nvPr/>
            </p:nvGrpSpPr>
            <p:grpSpPr bwMode="auto">
              <a:xfrm>
                <a:off x="890" y="3305"/>
                <a:ext cx="325" cy="154"/>
                <a:chOff x="844" y="3337"/>
                <a:chExt cx="325" cy="154"/>
              </a:xfrm>
            </p:grpSpPr>
            <p:sp>
              <p:nvSpPr>
                <p:cNvPr id="93382" name="Rectangle 238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383" name="Text Box 239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>
                      <a:solidFill>
                        <a:srgbClr val="FFFFFF"/>
                      </a:solidFill>
                      <a:latin typeface="Arial" charset="0"/>
                    </a:rPr>
                    <a:t>HTTP</a:t>
                  </a:r>
                </a:p>
              </p:txBody>
            </p:sp>
          </p:grpSp>
          <p:grpSp>
            <p:nvGrpSpPr>
              <p:cNvPr id="56513" name="Group 240"/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93380" name="Rectangle 241"/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381" name="Rectangle 242"/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56494" name="Group 243"/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3376" name="Rectangle 244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377" name="Rectangle 245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grpSp>
          <p:nvGrpSpPr>
            <p:cNvPr id="56495" name="Group 246"/>
            <p:cNvGrpSpPr>
              <a:grpSpLocks/>
            </p:cNvGrpSpPr>
            <p:nvPr/>
          </p:nvGrpSpPr>
          <p:grpSpPr bwMode="auto">
            <a:xfrm>
              <a:off x="56" y="1189"/>
              <a:ext cx="681" cy="154"/>
              <a:chOff x="504" y="3523"/>
              <a:chExt cx="681" cy="154"/>
            </a:xfrm>
          </p:grpSpPr>
          <p:grpSp>
            <p:nvGrpSpPr>
              <p:cNvPr id="56497" name="Group 247"/>
              <p:cNvGrpSpPr>
                <a:grpSpLocks/>
              </p:cNvGrpSpPr>
              <p:nvPr/>
            </p:nvGrpSpPr>
            <p:grpSpPr bwMode="auto">
              <a:xfrm>
                <a:off x="623" y="3523"/>
                <a:ext cx="492" cy="154"/>
                <a:chOff x="723" y="3453"/>
                <a:chExt cx="492" cy="154"/>
              </a:xfrm>
            </p:grpSpPr>
            <p:grpSp>
              <p:nvGrpSpPr>
                <p:cNvPr id="56501" name="Group 248"/>
                <p:cNvGrpSpPr>
                  <a:grpSpLocks/>
                </p:cNvGrpSpPr>
                <p:nvPr/>
              </p:nvGrpSpPr>
              <p:grpSpPr bwMode="auto">
                <a:xfrm>
                  <a:off x="836" y="3453"/>
                  <a:ext cx="379" cy="154"/>
                  <a:chOff x="836" y="3305"/>
                  <a:chExt cx="379" cy="154"/>
                </a:xfrm>
              </p:grpSpPr>
              <p:grpSp>
                <p:nvGrpSpPr>
                  <p:cNvPr id="56504" name="Group 249"/>
                  <p:cNvGrpSpPr>
                    <a:grpSpLocks/>
                  </p:cNvGrpSpPr>
                  <p:nvPr/>
                </p:nvGrpSpPr>
                <p:grpSpPr bwMode="auto">
                  <a:xfrm>
                    <a:off x="890" y="3305"/>
                    <a:ext cx="325" cy="154"/>
                    <a:chOff x="844" y="3337"/>
                    <a:chExt cx="325" cy="154"/>
                  </a:xfrm>
                </p:grpSpPr>
                <p:sp>
                  <p:nvSpPr>
                    <p:cNvPr id="93374" name="Rectangle 25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89" y="3370"/>
                      <a:ext cx="245" cy="8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9525">
                      <a:solidFill>
                        <a:schemeClr val="bg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>
                        <a:solidFill>
                          <a:srgbClr val="000000"/>
                        </a:solidFill>
                        <a:latin typeface="Comic Sans M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3375" name="Text Box 25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44" y="3337"/>
                      <a:ext cx="325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>
                        <a:defRPr/>
                      </a:pPr>
                      <a:r>
                        <a:rPr lang="en-US" sz="1000" i="0">
                          <a:solidFill>
                            <a:srgbClr val="FFFFFF"/>
                          </a:solidFill>
                          <a:latin typeface="Arial" charset="0"/>
                        </a:rPr>
                        <a:t>HTTP</a:t>
                      </a:r>
                    </a:p>
                  </p:txBody>
                </p:sp>
              </p:grpSp>
              <p:grpSp>
                <p:nvGrpSpPr>
                  <p:cNvPr id="56505" name="Group 252"/>
                  <p:cNvGrpSpPr>
                    <a:grpSpLocks/>
                  </p:cNvGrpSpPr>
                  <p:nvPr/>
                </p:nvGrpSpPr>
                <p:grpSpPr bwMode="auto">
                  <a:xfrm>
                    <a:off x="836" y="3334"/>
                    <a:ext cx="354" cy="94"/>
                    <a:chOff x="836" y="3334"/>
                    <a:chExt cx="354" cy="94"/>
                  </a:xfrm>
                </p:grpSpPr>
                <p:sp>
                  <p:nvSpPr>
                    <p:cNvPr id="93372" name="Rectangle 25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6" y="3340"/>
                      <a:ext cx="88" cy="82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9525">
                      <a:solidFill>
                        <a:schemeClr val="bg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>
                        <a:solidFill>
                          <a:srgbClr val="000000"/>
                        </a:solidFill>
                        <a:latin typeface="Comic Sans M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3373" name="Rectangle 25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36" y="3334"/>
                      <a:ext cx="354" cy="94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>
                        <a:solidFill>
                          <a:srgbClr val="000000"/>
                        </a:solidFill>
                        <a:latin typeface="Comic Sans MS" charset="0"/>
                        <a:ea typeface="ＭＳ Ｐゴシック" charset="0"/>
                      </a:endParaRPr>
                    </a:p>
                  </p:txBody>
                </p:sp>
              </p:grpSp>
            </p:grpSp>
            <p:sp>
              <p:nvSpPr>
                <p:cNvPr id="93368" name="Rectangle 255"/>
                <p:cNvSpPr>
                  <a:spLocks noChangeArrowheads="1"/>
                </p:cNvSpPr>
                <p:nvPr/>
              </p:nvSpPr>
              <p:spPr bwMode="auto">
                <a:xfrm>
                  <a:off x="732" y="3484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369" name="Rectangle 256"/>
                <p:cNvSpPr>
                  <a:spLocks noChangeArrowheads="1"/>
                </p:cNvSpPr>
                <p:nvPr/>
              </p:nvSpPr>
              <p:spPr bwMode="auto">
                <a:xfrm>
                  <a:off x="723" y="3473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93364" name="Rectangle 257"/>
              <p:cNvSpPr>
                <a:spLocks noChangeArrowheads="1"/>
              </p:cNvSpPr>
              <p:nvPr/>
            </p:nvSpPr>
            <p:spPr bwMode="auto">
              <a:xfrm>
                <a:off x="517" y="3545"/>
                <a:ext cx="94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365" name="Rectangle 258"/>
              <p:cNvSpPr>
                <a:spLocks noChangeArrowheads="1"/>
              </p:cNvSpPr>
              <p:nvPr/>
            </p:nvSpPr>
            <p:spPr bwMode="auto">
              <a:xfrm>
                <a:off x="1115" y="3544"/>
                <a:ext cx="60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366" name="Rectangle 259"/>
              <p:cNvSpPr>
                <a:spLocks noChangeArrowheads="1"/>
              </p:cNvSpPr>
              <p:nvPr/>
            </p:nvSpPr>
            <p:spPr bwMode="auto">
              <a:xfrm>
                <a:off x="504" y="3529"/>
                <a:ext cx="681" cy="13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93362" name="AutoShape 356"/>
            <p:cNvSpPr>
              <a:spLocks noChangeArrowheads="1"/>
            </p:cNvSpPr>
            <p:nvPr/>
          </p:nvSpPr>
          <p:spPr bwMode="auto">
            <a:xfrm>
              <a:off x="341" y="859"/>
              <a:ext cx="240" cy="667"/>
            </a:xfrm>
            <a:prstGeom prst="downArrow">
              <a:avLst>
                <a:gd name="adj1" fmla="val 49167"/>
                <a:gd name="adj2" fmla="val 675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</p:grpSp>
      <p:grpSp>
        <p:nvGrpSpPr>
          <p:cNvPr id="707973" name="Group 389"/>
          <p:cNvGrpSpPr>
            <a:grpSpLocks/>
          </p:cNvGrpSpPr>
          <p:nvPr/>
        </p:nvGrpSpPr>
        <p:grpSpPr bwMode="auto">
          <a:xfrm>
            <a:off x="1616075" y="1890714"/>
            <a:ext cx="1081088" cy="244475"/>
            <a:chOff x="0" y="2762"/>
            <a:chExt cx="681" cy="154"/>
          </a:xfrm>
        </p:grpSpPr>
        <p:sp>
          <p:nvSpPr>
            <p:cNvPr id="93345" name="Rectangle 388"/>
            <p:cNvSpPr>
              <a:spLocks noChangeArrowheads="1"/>
            </p:cNvSpPr>
            <p:nvPr/>
          </p:nvSpPr>
          <p:spPr bwMode="auto">
            <a:xfrm>
              <a:off x="0" y="2768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56480" name="Group 376"/>
            <p:cNvGrpSpPr>
              <a:grpSpLocks/>
            </p:cNvGrpSpPr>
            <p:nvPr/>
          </p:nvGrpSpPr>
          <p:grpSpPr bwMode="auto">
            <a:xfrm>
              <a:off x="119" y="2762"/>
              <a:ext cx="492" cy="154"/>
              <a:chOff x="723" y="3453"/>
              <a:chExt cx="492" cy="154"/>
            </a:xfrm>
          </p:grpSpPr>
          <p:grpSp>
            <p:nvGrpSpPr>
              <p:cNvPr id="56483" name="Group 377"/>
              <p:cNvGrpSpPr>
                <a:grpSpLocks/>
              </p:cNvGrpSpPr>
              <p:nvPr/>
            </p:nvGrpSpPr>
            <p:grpSpPr bwMode="auto">
              <a:xfrm>
                <a:off x="836" y="3453"/>
                <a:ext cx="379" cy="154"/>
                <a:chOff x="836" y="3305"/>
                <a:chExt cx="379" cy="154"/>
              </a:xfrm>
            </p:grpSpPr>
            <p:grpSp>
              <p:nvGrpSpPr>
                <p:cNvPr id="56486" name="Group 378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93356" name="Rectangle 379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3357" name="Text Box 38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>
                        <a:solidFill>
                          <a:srgbClr val="FFFFFF"/>
                        </a:solidFill>
                        <a:latin typeface="Arial" charset="0"/>
                      </a:rPr>
                      <a:t>HTTP</a:t>
                    </a:r>
                  </a:p>
                </p:txBody>
              </p:sp>
            </p:grpSp>
            <p:grpSp>
              <p:nvGrpSpPr>
                <p:cNvPr id="56487" name="Group 381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3354" name="Rectangle 382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3355" name="Rectangle 383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93350" name="Rectangle 384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351" name="Rectangle 385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93347" name="Rectangle 386"/>
            <p:cNvSpPr>
              <a:spLocks noChangeArrowheads="1"/>
            </p:cNvSpPr>
            <p:nvPr/>
          </p:nvSpPr>
          <p:spPr bwMode="auto">
            <a:xfrm>
              <a:off x="13" y="2784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3348" name="Rectangle 387"/>
            <p:cNvSpPr>
              <a:spLocks noChangeArrowheads="1"/>
            </p:cNvSpPr>
            <p:nvPr/>
          </p:nvSpPr>
          <p:spPr bwMode="auto">
            <a:xfrm>
              <a:off x="611" y="2783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</p:grpSp>
      <p:grpSp>
        <p:nvGrpSpPr>
          <p:cNvPr id="707975" name="Group 391"/>
          <p:cNvGrpSpPr>
            <a:grpSpLocks/>
          </p:cNvGrpSpPr>
          <p:nvPr/>
        </p:nvGrpSpPr>
        <p:grpSpPr bwMode="auto">
          <a:xfrm>
            <a:off x="1935164" y="4051301"/>
            <a:ext cx="1081087" cy="949325"/>
            <a:chOff x="2231" y="3555"/>
            <a:chExt cx="681" cy="598"/>
          </a:xfrm>
        </p:grpSpPr>
        <p:grpSp>
          <p:nvGrpSpPr>
            <p:cNvPr id="56445" name="Group 392"/>
            <p:cNvGrpSpPr>
              <a:grpSpLocks/>
            </p:cNvGrpSpPr>
            <p:nvPr/>
          </p:nvGrpSpPr>
          <p:grpSpPr bwMode="auto">
            <a:xfrm>
              <a:off x="2231" y="3684"/>
              <a:ext cx="681" cy="469"/>
              <a:chOff x="152" y="970"/>
              <a:chExt cx="681" cy="469"/>
            </a:xfrm>
          </p:grpSpPr>
          <p:grpSp>
            <p:nvGrpSpPr>
              <p:cNvPr id="56449" name="Group 393"/>
              <p:cNvGrpSpPr>
                <a:grpSpLocks/>
              </p:cNvGrpSpPr>
              <p:nvPr/>
            </p:nvGrpSpPr>
            <p:grpSpPr bwMode="auto">
              <a:xfrm>
                <a:off x="386" y="970"/>
                <a:ext cx="379" cy="154"/>
                <a:chOff x="740" y="3209"/>
                <a:chExt cx="379" cy="154"/>
              </a:xfrm>
            </p:grpSpPr>
            <p:grpSp>
              <p:nvGrpSpPr>
                <p:cNvPr id="56474" name="Group 394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25" cy="154"/>
                  <a:chOff x="844" y="3337"/>
                  <a:chExt cx="325" cy="154"/>
                </a:xfrm>
              </p:grpSpPr>
              <p:sp>
                <p:nvSpPr>
                  <p:cNvPr id="93343" name="Rectangle 395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3344" name="Text Box 39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>
                        <a:solidFill>
                          <a:srgbClr val="FFFFFF"/>
                        </a:solidFill>
                        <a:latin typeface="Arial" charset="0"/>
                      </a:rPr>
                      <a:t>HTTP</a:t>
                    </a:r>
                  </a:p>
                </p:txBody>
              </p:sp>
            </p:grpSp>
            <p:sp>
              <p:nvSpPr>
                <p:cNvPr id="93341" name="Rectangle 397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342" name="Rectangle 398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56450" name="Group 399"/>
              <p:cNvGrpSpPr>
                <a:grpSpLocks/>
              </p:cNvGrpSpPr>
              <p:nvPr/>
            </p:nvGrpSpPr>
            <p:grpSpPr bwMode="auto">
              <a:xfrm>
                <a:off x="386" y="1118"/>
                <a:ext cx="379" cy="154"/>
                <a:chOff x="836" y="3305"/>
                <a:chExt cx="379" cy="154"/>
              </a:xfrm>
            </p:grpSpPr>
            <p:grpSp>
              <p:nvGrpSpPr>
                <p:cNvPr id="56468" name="Group 400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93338" name="Rectangle 401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3339" name="Text Box 40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>
                        <a:solidFill>
                          <a:srgbClr val="FFFFFF"/>
                        </a:solidFill>
                        <a:latin typeface="Arial" charset="0"/>
                      </a:rPr>
                      <a:t>HTTP</a:t>
                    </a:r>
                  </a:p>
                </p:txBody>
              </p:sp>
            </p:grpSp>
            <p:grpSp>
              <p:nvGrpSpPr>
                <p:cNvPr id="56469" name="Group 403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3336" name="Rectangle 404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3337" name="Rectangle 405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56451" name="Group 406"/>
              <p:cNvGrpSpPr>
                <a:grpSpLocks/>
              </p:cNvGrpSpPr>
              <p:nvPr/>
            </p:nvGrpSpPr>
            <p:grpSpPr bwMode="auto">
              <a:xfrm>
                <a:off x="273" y="1138"/>
                <a:ext cx="480" cy="112"/>
                <a:chOff x="627" y="3377"/>
                <a:chExt cx="480" cy="112"/>
              </a:xfrm>
            </p:grpSpPr>
            <p:sp>
              <p:nvSpPr>
                <p:cNvPr id="93332" name="Rectangle 407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333" name="Rectangle 408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56452" name="Group 409"/>
              <p:cNvGrpSpPr>
                <a:grpSpLocks/>
              </p:cNvGrpSpPr>
              <p:nvPr/>
            </p:nvGrpSpPr>
            <p:grpSpPr bwMode="auto">
              <a:xfrm>
                <a:off x="152" y="1285"/>
                <a:ext cx="681" cy="154"/>
                <a:chOff x="504" y="3523"/>
                <a:chExt cx="681" cy="154"/>
              </a:xfrm>
            </p:grpSpPr>
            <p:grpSp>
              <p:nvGrpSpPr>
                <p:cNvPr id="56453" name="Group 410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492" cy="154"/>
                  <a:chOff x="723" y="3453"/>
                  <a:chExt cx="492" cy="154"/>
                </a:xfrm>
              </p:grpSpPr>
              <p:grpSp>
                <p:nvGrpSpPr>
                  <p:cNvPr id="56457" name="Group 411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79" cy="154"/>
                    <a:chOff x="836" y="3305"/>
                    <a:chExt cx="379" cy="154"/>
                  </a:xfrm>
                </p:grpSpPr>
                <p:grpSp>
                  <p:nvGrpSpPr>
                    <p:cNvPr id="56460" name="Group 41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25" cy="154"/>
                      <a:chOff x="844" y="3337"/>
                      <a:chExt cx="325" cy="154"/>
                    </a:xfrm>
                  </p:grpSpPr>
                  <p:sp>
                    <p:nvSpPr>
                      <p:cNvPr id="93330" name="Rectangle 41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solidFill>
                            <a:srgbClr val="000000"/>
                          </a:solidFill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3331" name="Text Box 414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25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>
                            <a:solidFill>
                              <a:srgbClr val="FFFFFF"/>
                            </a:solidFill>
                            <a:latin typeface="Arial" charset="0"/>
                          </a:rPr>
                          <a:t>HTTP</a:t>
                        </a:r>
                      </a:p>
                    </p:txBody>
                  </p:sp>
                </p:grpSp>
                <p:grpSp>
                  <p:nvGrpSpPr>
                    <p:cNvPr id="56461" name="Group 41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93328" name="Rectangle 41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solidFill>
                            <a:srgbClr val="000000"/>
                          </a:solidFill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3329" name="Rectangle 41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>
                          <a:solidFill>
                            <a:srgbClr val="000000"/>
                          </a:solidFill>
                          <a:latin typeface="Comic Sans MS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93324" name="Rectangle 418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3325" name="Rectangle 419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93320" name="Rectangle 420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321" name="Rectangle 421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322" name="Rectangle 422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56446" name="Group 423"/>
            <p:cNvGrpSpPr>
              <a:grpSpLocks/>
            </p:cNvGrpSpPr>
            <p:nvPr/>
          </p:nvGrpSpPr>
          <p:grpSpPr bwMode="auto">
            <a:xfrm>
              <a:off x="2517" y="3555"/>
              <a:ext cx="325" cy="154"/>
              <a:chOff x="844" y="3337"/>
              <a:chExt cx="325" cy="154"/>
            </a:xfrm>
          </p:grpSpPr>
          <p:sp>
            <p:nvSpPr>
              <p:cNvPr id="93313" name="Rectangle 424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314" name="Text Box 425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>
                    <a:solidFill>
                      <a:srgbClr val="FFFFFF"/>
                    </a:solidFill>
                    <a:latin typeface="Arial" charset="0"/>
                  </a:rPr>
                  <a:t>HTTP</a:t>
                </a:r>
              </a:p>
            </p:txBody>
          </p:sp>
        </p:grpSp>
      </p:grpSp>
      <p:grpSp>
        <p:nvGrpSpPr>
          <p:cNvPr id="708061" name="Group 477"/>
          <p:cNvGrpSpPr>
            <a:grpSpLocks/>
          </p:cNvGrpSpPr>
          <p:nvPr/>
        </p:nvGrpSpPr>
        <p:grpSpPr bwMode="auto">
          <a:xfrm>
            <a:off x="1600200" y="1119188"/>
            <a:ext cx="1081088" cy="1016000"/>
            <a:chOff x="2256" y="3531"/>
            <a:chExt cx="681" cy="640"/>
          </a:xfrm>
        </p:grpSpPr>
        <p:grpSp>
          <p:nvGrpSpPr>
            <p:cNvPr id="56412" name="Group 321"/>
            <p:cNvGrpSpPr>
              <a:grpSpLocks/>
            </p:cNvGrpSpPr>
            <p:nvPr/>
          </p:nvGrpSpPr>
          <p:grpSpPr bwMode="auto">
            <a:xfrm>
              <a:off x="2482" y="3684"/>
              <a:ext cx="379" cy="154"/>
              <a:chOff x="740" y="3209"/>
              <a:chExt cx="379" cy="154"/>
            </a:xfrm>
          </p:grpSpPr>
          <p:grpSp>
            <p:nvGrpSpPr>
              <p:cNvPr id="56440" name="Group 322"/>
              <p:cNvGrpSpPr>
                <a:grpSpLocks/>
              </p:cNvGrpSpPr>
              <p:nvPr/>
            </p:nvGrpSpPr>
            <p:grpSpPr bwMode="auto">
              <a:xfrm>
                <a:off x="794" y="3209"/>
                <a:ext cx="325" cy="154"/>
                <a:chOff x="844" y="3337"/>
                <a:chExt cx="325" cy="154"/>
              </a:xfrm>
            </p:grpSpPr>
            <p:sp>
              <p:nvSpPr>
                <p:cNvPr id="93309" name="Rectangle 323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310" name="Text Box 324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>
                      <a:solidFill>
                        <a:srgbClr val="FFFFFF"/>
                      </a:solidFill>
                      <a:latin typeface="Arial" charset="0"/>
                    </a:rPr>
                    <a:t>HTTP</a:t>
                  </a:r>
                </a:p>
              </p:txBody>
            </p:sp>
          </p:grpSp>
          <p:sp>
            <p:nvSpPr>
              <p:cNvPr id="93307" name="Rectangle 325"/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308" name="Rectangle 326"/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grpSp>
          <p:nvGrpSpPr>
            <p:cNvPr id="56413" name="Group 327"/>
            <p:cNvGrpSpPr>
              <a:grpSpLocks/>
            </p:cNvGrpSpPr>
            <p:nvPr/>
          </p:nvGrpSpPr>
          <p:grpSpPr bwMode="auto">
            <a:xfrm>
              <a:off x="2482" y="3844"/>
              <a:ext cx="379" cy="154"/>
              <a:chOff x="836" y="3305"/>
              <a:chExt cx="379" cy="154"/>
            </a:xfrm>
          </p:grpSpPr>
          <p:grpSp>
            <p:nvGrpSpPr>
              <p:cNvPr id="56434" name="Group 328"/>
              <p:cNvGrpSpPr>
                <a:grpSpLocks/>
              </p:cNvGrpSpPr>
              <p:nvPr/>
            </p:nvGrpSpPr>
            <p:grpSpPr bwMode="auto">
              <a:xfrm>
                <a:off x="890" y="3305"/>
                <a:ext cx="325" cy="154"/>
                <a:chOff x="844" y="3337"/>
                <a:chExt cx="325" cy="154"/>
              </a:xfrm>
            </p:grpSpPr>
            <p:sp>
              <p:nvSpPr>
                <p:cNvPr id="93304" name="Rectangle 329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305" name="Text Box 330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>
                      <a:solidFill>
                        <a:srgbClr val="FFFFFF"/>
                      </a:solidFill>
                      <a:latin typeface="Arial" charset="0"/>
                    </a:rPr>
                    <a:t>HTTP</a:t>
                  </a:r>
                </a:p>
              </p:txBody>
            </p:sp>
          </p:grpSp>
          <p:grpSp>
            <p:nvGrpSpPr>
              <p:cNvPr id="56435" name="Group 331"/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93302" name="Rectangle 332"/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303" name="Rectangle 333"/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56414" name="Group 334"/>
            <p:cNvGrpSpPr>
              <a:grpSpLocks/>
            </p:cNvGrpSpPr>
            <p:nvPr/>
          </p:nvGrpSpPr>
          <p:grpSpPr bwMode="auto">
            <a:xfrm>
              <a:off x="2369" y="3858"/>
              <a:ext cx="480" cy="112"/>
              <a:chOff x="627" y="3377"/>
              <a:chExt cx="480" cy="112"/>
            </a:xfrm>
          </p:grpSpPr>
          <p:sp>
            <p:nvSpPr>
              <p:cNvPr id="93298" name="Rectangle 335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299" name="Rectangle 336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grpSp>
          <p:nvGrpSpPr>
            <p:cNvPr id="56415" name="Group 360"/>
            <p:cNvGrpSpPr>
              <a:grpSpLocks/>
            </p:cNvGrpSpPr>
            <p:nvPr/>
          </p:nvGrpSpPr>
          <p:grpSpPr bwMode="auto">
            <a:xfrm>
              <a:off x="2534" y="3531"/>
              <a:ext cx="325" cy="154"/>
              <a:chOff x="844" y="3337"/>
              <a:chExt cx="325" cy="154"/>
            </a:xfrm>
          </p:grpSpPr>
          <p:sp>
            <p:nvSpPr>
              <p:cNvPr id="93296" name="Rectangle 361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297" name="Text Box 362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>
                    <a:solidFill>
                      <a:srgbClr val="FFFFFF"/>
                    </a:solidFill>
                    <a:latin typeface="Arial" charset="0"/>
                  </a:rPr>
                  <a:t>HTTP</a:t>
                </a:r>
              </a:p>
            </p:txBody>
          </p:sp>
        </p:grpSp>
        <p:grpSp>
          <p:nvGrpSpPr>
            <p:cNvPr id="56416" name="Group 461"/>
            <p:cNvGrpSpPr>
              <a:grpSpLocks/>
            </p:cNvGrpSpPr>
            <p:nvPr/>
          </p:nvGrpSpPr>
          <p:grpSpPr bwMode="auto">
            <a:xfrm>
              <a:off x="2256" y="4017"/>
              <a:ext cx="681" cy="154"/>
              <a:chOff x="-341" y="3180"/>
              <a:chExt cx="681" cy="154"/>
            </a:xfrm>
          </p:grpSpPr>
          <p:sp>
            <p:nvSpPr>
              <p:cNvPr id="93283" name="Rectangle 457"/>
              <p:cNvSpPr>
                <a:spLocks noChangeArrowheads="1"/>
              </p:cNvSpPr>
              <p:nvPr/>
            </p:nvSpPr>
            <p:spPr bwMode="auto">
              <a:xfrm>
                <a:off x="-341" y="3186"/>
                <a:ext cx="681" cy="13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grpSp>
            <p:nvGrpSpPr>
              <p:cNvPr id="56418" name="Group 445"/>
              <p:cNvGrpSpPr>
                <a:grpSpLocks/>
              </p:cNvGrpSpPr>
              <p:nvPr/>
            </p:nvGrpSpPr>
            <p:grpSpPr bwMode="auto">
              <a:xfrm>
                <a:off x="-222" y="3180"/>
                <a:ext cx="492" cy="154"/>
                <a:chOff x="723" y="3453"/>
                <a:chExt cx="492" cy="154"/>
              </a:xfrm>
            </p:grpSpPr>
            <p:grpSp>
              <p:nvGrpSpPr>
                <p:cNvPr id="56421" name="Group 446"/>
                <p:cNvGrpSpPr>
                  <a:grpSpLocks/>
                </p:cNvGrpSpPr>
                <p:nvPr/>
              </p:nvGrpSpPr>
              <p:grpSpPr bwMode="auto">
                <a:xfrm>
                  <a:off x="836" y="3453"/>
                  <a:ext cx="379" cy="154"/>
                  <a:chOff x="836" y="3305"/>
                  <a:chExt cx="379" cy="154"/>
                </a:xfrm>
              </p:grpSpPr>
              <p:grpSp>
                <p:nvGrpSpPr>
                  <p:cNvPr id="56424" name="Group 447"/>
                  <p:cNvGrpSpPr>
                    <a:grpSpLocks/>
                  </p:cNvGrpSpPr>
                  <p:nvPr/>
                </p:nvGrpSpPr>
                <p:grpSpPr bwMode="auto">
                  <a:xfrm>
                    <a:off x="890" y="3305"/>
                    <a:ext cx="325" cy="154"/>
                    <a:chOff x="844" y="3337"/>
                    <a:chExt cx="325" cy="154"/>
                  </a:xfrm>
                </p:grpSpPr>
                <p:sp>
                  <p:nvSpPr>
                    <p:cNvPr id="93294" name="Rectangle 44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89" y="3370"/>
                      <a:ext cx="245" cy="8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9525">
                      <a:solidFill>
                        <a:schemeClr val="bg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>
                        <a:solidFill>
                          <a:srgbClr val="000000"/>
                        </a:solidFill>
                        <a:latin typeface="Comic Sans M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3295" name="Text Box 44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44" y="3337"/>
                      <a:ext cx="325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>
                        <a:defRPr/>
                      </a:pPr>
                      <a:r>
                        <a:rPr lang="en-US" sz="1000" i="0">
                          <a:solidFill>
                            <a:srgbClr val="FFFFFF"/>
                          </a:solidFill>
                          <a:latin typeface="Arial" charset="0"/>
                        </a:rPr>
                        <a:t>HTTP</a:t>
                      </a:r>
                    </a:p>
                  </p:txBody>
                </p:sp>
              </p:grpSp>
              <p:grpSp>
                <p:nvGrpSpPr>
                  <p:cNvPr id="56425" name="Group 450"/>
                  <p:cNvGrpSpPr>
                    <a:grpSpLocks/>
                  </p:cNvGrpSpPr>
                  <p:nvPr/>
                </p:nvGrpSpPr>
                <p:grpSpPr bwMode="auto">
                  <a:xfrm>
                    <a:off x="836" y="3334"/>
                    <a:ext cx="354" cy="94"/>
                    <a:chOff x="836" y="3334"/>
                    <a:chExt cx="354" cy="94"/>
                  </a:xfrm>
                </p:grpSpPr>
                <p:sp>
                  <p:nvSpPr>
                    <p:cNvPr id="93292" name="Rectangle 45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6" y="3340"/>
                      <a:ext cx="88" cy="82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9525">
                      <a:solidFill>
                        <a:schemeClr val="bg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>
                        <a:solidFill>
                          <a:srgbClr val="000000"/>
                        </a:solidFill>
                        <a:latin typeface="Comic Sans M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3293" name="Rectangle 45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36" y="3334"/>
                      <a:ext cx="354" cy="94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>
                        <a:solidFill>
                          <a:srgbClr val="000000"/>
                        </a:solidFill>
                        <a:latin typeface="Comic Sans MS" charset="0"/>
                        <a:ea typeface="ＭＳ Ｐゴシック" charset="0"/>
                      </a:endParaRPr>
                    </a:p>
                  </p:txBody>
                </p:sp>
              </p:grpSp>
            </p:grpSp>
            <p:sp>
              <p:nvSpPr>
                <p:cNvPr id="93288" name="Rectangle 453"/>
                <p:cNvSpPr>
                  <a:spLocks noChangeArrowheads="1"/>
                </p:cNvSpPr>
                <p:nvPr/>
              </p:nvSpPr>
              <p:spPr bwMode="auto">
                <a:xfrm>
                  <a:off x="732" y="3484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  <p:sp>
              <p:nvSpPr>
                <p:cNvPr id="93289" name="Rectangle 454"/>
                <p:cNvSpPr>
                  <a:spLocks noChangeArrowheads="1"/>
                </p:cNvSpPr>
                <p:nvPr/>
              </p:nvSpPr>
              <p:spPr bwMode="auto">
                <a:xfrm>
                  <a:off x="723" y="3473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  <a:latin typeface="Comic Sans MS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93285" name="Rectangle 455"/>
              <p:cNvSpPr>
                <a:spLocks noChangeArrowheads="1"/>
              </p:cNvSpPr>
              <p:nvPr/>
            </p:nvSpPr>
            <p:spPr bwMode="auto">
              <a:xfrm>
                <a:off x="-328" y="3202"/>
                <a:ext cx="94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286" name="Rectangle 456"/>
              <p:cNvSpPr>
                <a:spLocks noChangeArrowheads="1"/>
              </p:cNvSpPr>
              <p:nvPr/>
            </p:nvSpPr>
            <p:spPr bwMode="auto">
              <a:xfrm>
                <a:off x="270" y="3201"/>
                <a:ext cx="60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08046" name="Group 462"/>
          <p:cNvGrpSpPr>
            <a:grpSpLocks/>
          </p:cNvGrpSpPr>
          <p:nvPr/>
        </p:nvGrpSpPr>
        <p:grpSpPr bwMode="auto">
          <a:xfrm>
            <a:off x="1938339" y="4756151"/>
            <a:ext cx="1081087" cy="244475"/>
            <a:chOff x="-341" y="3180"/>
            <a:chExt cx="681" cy="154"/>
          </a:xfrm>
        </p:grpSpPr>
        <p:sp>
          <p:nvSpPr>
            <p:cNvPr id="93265" name="Rectangle 463"/>
            <p:cNvSpPr>
              <a:spLocks noChangeArrowheads="1"/>
            </p:cNvSpPr>
            <p:nvPr/>
          </p:nvSpPr>
          <p:spPr bwMode="auto">
            <a:xfrm>
              <a:off x="-341" y="3186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56400" name="Group 464"/>
            <p:cNvGrpSpPr>
              <a:grpSpLocks/>
            </p:cNvGrpSpPr>
            <p:nvPr/>
          </p:nvGrpSpPr>
          <p:grpSpPr bwMode="auto">
            <a:xfrm>
              <a:off x="-222" y="3180"/>
              <a:ext cx="492" cy="154"/>
              <a:chOff x="723" y="3453"/>
              <a:chExt cx="492" cy="154"/>
            </a:xfrm>
          </p:grpSpPr>
          <p:grpSp>
            <p:nvGrpSpPr>
              <p:cNvPr id="56403" name="Group 465"/>
              <p:cNvGrpSpPr>
                <a:grpSpLocks/>
              </p:cNvGrpSpPr>
              <p:nvPr/>
            </p:nvGrpSpPr>
            <p:grpSpPr bwMode="auto">
              <a:xfrm>
                <a:off x="836" y="3453"/>
                <a:ext cx="379" cy="154"/>
                <a:chOff x="836" y="3305"/>
                <a:chExt cx="379" cy="154"/>
              </a:xfrm>
            </p:grpSpPr>
            <p:grpSp>
              <p:nvGrpSpPr>
                <p:cNvPr id="56406" name="Group 466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93276" name="Rectangle 467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3277" name="Text Box 46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>
                        <a:solidFill>
                          <a:srgbClr val="FFFFFF"/>
                        </a:solidFill>
                        <a:latin typeface="Arial" charset="0"/>
                      </a:rPr>
                      <a:t>HTTP</a:t>
                    </a:r>
                  </a:p>
                </p:txBody>
              </p:sp>
            </p:grpSp>
            <p:grpSp>
              <p:nvGrpSpPr>
                <p:cNvPr id="56407" name="Group 469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3274" name="Rectangle 470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3275" name="Rectangle 471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  <a:latin typeface="Comic Sans MS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93270" name="Rectangle 472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271" name="Rectangle 473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93267" name="Rectangle 474"/>
            <p:cNvSpPr>
              <a:spLocks noChangeArrowheads="1"/>
            </p:cNvSpPr>
            <p:nvPr/>
          </p:nvSpPr>
          <p:spPr bwMode="auto">
            <a:xfrm>
              <a:off x="-328" y="3202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3268" name="Rectangle 475"/>
            <p:cNvSpPr>
              <a:spLocks noChangeArrowheads="1"/>
            </p:cNvSpPr>
            <p:nvPr/>
          </p:nvSpPr>
          <p:spPr bwMode="auto">
            <a:xfrm>
              <a:off x="270" y="3201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</p:grpSp>
      <p:pic>
        <p:nvPicPr>
          <p:cNvPr id="708062" name="Picture 47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630613" y="855663"/>
            <a:ext cx="1243012" cy="76835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708064" name="Rectangle 480"/>
          <p:cNvSpPr>
            <a:spLocks noChangeArrowheads="1"/>
          </p:cNvSpPr>
          <p:nvPr/>
        </p:nvSpPr>
        <p:spPr bwMode="auto">
          <a:xfrm>
            <a:off x="4881563" y="1019176"/>
            <a:ext cx="3865562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00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web page </a:t>
            </a:r>
            <a:r>
              <a:rPr lang="en-US" sz="200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finally (!!!) </a:t>
            </a:r>
            <a:r>
              <a:rPr lang="en-US" sz="200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displayed</a:t>
            </a:r>
          </a:p>
        </p:txBody>
      </p:sp>
      <p:grpSp>
        <p:nvGrpSpPr>
          <p:cNvPr id="56350" name="Group 248"/>
          <p:cNvGrpSpPr>
            <a:grpSpLocks/>
          </p:cNvGrpSpPr>
          <p:nvPr/>
        </p:nvGrpSpPr>
        <p:grpSpPr bwMode="auto">
          <a:xfrm>
            <a:off x="3994151" y="4932364"/>
            <a:ext cx="333375" cy="581025"/>
            <a:chOff x="4140" y="429"/>
            <a:chExt cx="1425" cy="2396"/>
          </a:xfrm>
        </p:grpSpPr>
        <p:sp>
          <p:nvSpPr>
            <p:cNvPr id="56367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34" name="Rectangle 149"/>
            <p:cNvSpPr>
              <a:spLocks noChangeArrowheads="1"/>
            </p:cNvSpPr>
            <p:nvPr/>
          </p:nvSpPr>
          <p:spPr bwMode="auto">
            <a:xfrm>
              <a:off x="4208" y="429"/>
              <a:ext cx="1045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56369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70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37" name="Rectangle 152"/>
            <p:cNvSpPr>
              <a:spLocks noChangeArrowheads="1"/>
            </p:cNvSpPr>
            <p:nvPr/>
          </p:nvSpPr>
          <p:spPr bwMode="auto">
            <a:xfrm>
              <a:off x="4215" y="691"/>
              <a:ext cx="590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56372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3263" name="AutoShape 154"/>
              <p:cNvSpPr>
                <a:spLocks noChangeArrowheads="1"/>
              </p:cNvSpPr>
              <p:nvPr/>
            </p:nvSpPr>
            <p:spPr bwMode="auto">
              <a:xfrm>
                <a:off x="616" y="2571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264" name="AutoShape 155"/>
              <p:cNvSpPr>
                <a:spLocks noChangeArrowheads="1"/>
              </p:cNvSpPr>
              <p:nvPr/>
            </p:nvSpPr>
            <p:spPr bwMode="auto">
              <a:xfrm>
                <a:off x="633" y="2590"/>
                <a:ext cx="686" cy="1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93239" name="Rectangle 156"/>
            <p:cNvSpPr>
              <a:spLocks noChangeArrowheads="1"/>
            </p:cNvSpPr>
            <p:nvPr/>
          </p:nvSpPr>
          <p:spPr bwMode="auto">
            <a:xfrm>
              <a:off x="4221" y="1018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56374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3261" name="AutoShape 158"/>
              <p:cNvSpPr>
                <a:spLocks noChangeArrowheads="1"/>
              </p:cNvSpPr>
              <p:nvPr/>
            </p:nvSpPr>
            <p:spPr bwMode="auto">
              <a:xfrm>
                <a:off x="610" y="2566"/>
                <a:ext cx="728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262" name="AutoShape 159"/>
              <p:cNvSpPr>
                <a:spLocks noChangeArrowheads="1"/>
              </p:cNvSpPr>
              <p:nvPr/>
            </p:nvSpPr>
            <p:spPr bwMode="auto">
              <a:xfrm>
                <a:off x="627" y="2580"/>
                <a:ext cx="694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93241" name="Rectangle 160"/>
            <p:cNvSpPr>
              <a:spLocks noChangeArrowheads="1"/>
            </p:cNvSpPr>
            <p:nvPr/>
          </p:nvSpPr>
          <p:spPr bwMode="auto">
            <a:xfrm>
              <a:off x="4215" y="1359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3242" name="Rectangle 161"/>
            <p:cNvSpPr>
              <a:spLocks noChangeArrowheads="1"/>
            </p:cNvSpPr>
            <p:nvPr/>
          </p:nvSpPr>
          <p:spPr bwMode="auto">
            <a:xfrm>
              <a:off x="4228" y="1653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grpSp>
          <p:nvGrpSpPr>
            <p:cNvPr id="56377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3259" name="AutoShape 163"/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19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260" name="AutoShape 164"/>
              <p:cNvSpPr>
                <a:spLocks noChangeArrowheads="1"/>
              </p:cNvSpPr>
              <p:nvPr/>
            </p:nvSpPr>
            <p:spPr bwMode="auto">
              <a:xfrm>
                <a:off x="634" y="2586"/>
                <a:ext cx="685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56378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6379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3257" name="AutoShape 167"/>
              <p:cNvSpPr>
                <a:spLocks noChangeArrowheads="1"/>
              </p:cNvSpPr>
              <p:nvPr/>
            </p:nvSpPr>
            <p:spPr bwMode="auto">
              <a:xfrm>
                <a:off x="612" y="2567"/>
                <a:ext cx="727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93258" name="AutoShape 168"/>
              <p:cNvSpPr>
                <a:spLocks noChangeArrowheads="1"/>
              </p:cNvSpPr>
              <p:nvPr/>
            </p:nvSpPr>
            <p:spPr bwMode="auto">
              <a:xfrm>
                <a:off x="629" y="2580"/>
                <a:ext cx="693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Comic Sans MS" charset="0"/>
                  <a:ea typeface="ＭＳ Ｐゴシック" charset="0"/>
                </a:endParaRPr>
              </a:p>
            </p:txBody>
          </p:sp>
        </p:grpSp>
        <p:sp>
          <p:nvSpPr>
            <p:cNvPr id="93246" name="Rectangle 169"/>
            <p:cNvSpPr>
              <a:spLocks noChangeArrowheads="1"/>
            </p:cNvSpPr>
            <p:nvPr/>
          </p:nvSpPr>
          <p:spPr bwMode="auto">
            <a:xfrm>
              <a:off x="5253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56381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82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49" name="Oval 172"/>
            <p:cNvSpPr>
              <a:spLocks noChangeArrowheads="1"/>
            </p:cNvSpPr>
            <p:nvPr/>
          </p:nvSpPr>
          <p:spPr bwMode="auto">
            <a:xfrm>
              <a:off x="5518" y="2609"/>
              <a:ext cx="47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56384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51" name="AutoShape 174"/>
            <p:cNvSpPr>
              <a:spLocks noChangeArrowheads="1"/>
            </p:cNvSpPr>
            <p:nvPr/>
          </p:nvSpPr>
          <p:spPr bwMode="auto">
            <a:xfrm>
              <a:off x="4140" y="2681"/>
              <a:ext cx="1201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3252" name="AutoShape 175"/>
            <p:cNvSpPr>
              <a:spLocks noChangeArrowheads="1"/>
            </p:cNvSpPr>
            <p:nvPr/>
          </p:nvSpPr>
          <p:spPr bwMode="auto">
            <a:xfrm>
              <a:off x="4208" y="2714"/>
              <a:ext cx="1065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3253" name="Oval 176"/>
            <p:cNvSpPr>
              <a:spLocks noChangeArrowheads="1"/>
            </p:cNvSpPr>
            <p:nvPr/>
          </p:nvSpPr>
          <p:spPr bwMode="auto">
            <a:xfrm>
              <a:off x="4310" y="2380"/>
              <a:ext cx="156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3254" name="Oval 177"/>
            <p:cNvSpPr>
              <a:spLocks noChangeArrowheads="1"/>
            </p:cNvSpPr>
            <p:nvPr/>
          </p:nvSpPr>
          <p:spPr bwMode="auto">
            <a:xfrm>
              <a:off x="4486" y="2386"/>
              <a:ext cx="163" cy="1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FF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3255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6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93256" name="Rectangle 179"/>
            <p:cNvSpPr>
              <a:spLocks noChangeArrowheads="1"/>
            </p:cNvSpPr>
            <p:nvPr/>
          </p:nvSpPr>
          <p:spPr bwMode="auto">
            <a:xfrm>
              <a:off x="5063" y="1836"/>
              <a:ext cx="81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</p:grpSp>
      <p:grpSp>
        <p:nvGrpSpPr>
          <p:cNvPr id="56351" name="Group 110"/>
          <p:cNvGrpSpPr>
            <a:grpSpLocks/>
          </p:cNvGrpSpPr>
          <p:nvPr/>
        </p:nvGrpSpPr>
        <p:grpSpPr bwMode="auto">
          <a:xfrm>
            <a:off x="6737350" y="2041526"/>
            <a:ext cx="757238" cy="379413"/>
            <a:chOff x="2466" y="2026"/>
            <a:chExt cx="477" cy="282"/>
          </a:xfrm>
        </p:grpSpPr>
        <p:sp>
          <p:nvSpPr>
            <p:cNvPr id="56353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6354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55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6356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9BBB59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064A2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BACC6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56357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56364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365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366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6358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56361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362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363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6359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60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712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07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7079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7076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6.03747E-6 L -1.66667E-6 0.07357 L 0.36771 0.07056 L 0.26545 0.23434 L 0.35625 0.23133 L 0.54826 0.0199 L 0.30347 0.51932 L 0.03437 0.51932 L 0.03437 0.41962 " pathEditMode="relative" ptsTypes="AAAAAAAAA">
                                      <p:cBhvr>
                                        <p:cTn id="24" dur="2000" fill="hold"/>
                                        <p:tgtEl>
                                          <p:spTgt spid="7079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07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7079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7079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07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708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0" dur="500"/>
                                        <p:tgtEl>
                                          <p:spTgt spid="7079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5.8501E-6 L 0.00573 0.09969 L 0.28159 0.09646 L 0.52534 -0.418 L 0.31614 -0.18367 L 0.22986 -0.18668 L 0.32309 -0.36295 L -0.03438 -0.36295 L -0.03334 -0.42101 " pathEditMode="relative" ptsTypes="AAAAAAAAA">
                                      <p:cBhvr>
                                        <p:cTn id="54" dur="2000" fill="hold"/>
                                        <p:tgtEl>
                                          <p:spTgt spid="7080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0" dur="500"/>
                                        <p:tgtEl>
                                          <p:spTgt spid="7080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708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1000"/>
                                        <p:tgtEl>
                                          <p:spTgt spid="708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3" presetID="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708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633" grpId="0"/>
      <p:bldP spid="707634" grpId="0"/>
      <p:bldP spid="707635" grpId="0"/>
      <p:bldP spid="707813" grpId="0"/>
      <p:bldP spid="708064" grpId="0"/>
      <p:bldP spid="708064" grpId="1"/>
    </p:bld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2294</Words>
  <Application>Microsoft Office PowerPoint</Application>
  <PresentationFormat>Widescreen</PresentationFormat>
  <Paragraphs>493</Paragraphs>
  <Slides>35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8" baseType="lpstr">
      <vt:lpstr>ＭＳ Ｐゴシック</vt:lpstr>
      <vt:lpstr>Arial</vt:lpstr>
      <vt:lpstr>Calibri</vt:lpstr>
      <vt:lpstr>Calibri Light</vt:lpstr>
      <vt:lpstr>Comic Sans MS</vt:lpstr>
      <vt:lpstr>Eras Demi ITC</vt:lpstr>
      <vt:lpstr>Gill Sans MT</vt:lpstr>
      <vt:lpstr>Tahoma</vt:lpstr>
      <vt:lpstr>Times New Roman</vt:lpstr>
      <vt:lpstr>Times-BoldItalic</vt:lpstr>
      <vt:lpstr>Tw Cen MT</vt:lpstr>
      <vt:lpstr>Wingdings</vt:lpstr>
      <vt:lpstr>Retrospect</vt:lpstr>
      <vt:lpstr>Networking Basics</vt:lpstr>
      <vt:lpstr>What’s a protocol?</vt:lpstr>
      <vt:lpstr>PowerPoint Presentation</vt:lpstr>
      <vt:lpstr>Protocol Layering</vt:lpstr>
      <vt:lpstr>Organization of air travel</vt:lpstr>
      <vt:lpstr>Layering of airline functionality</vt:lpstr>
      <vt:lpstr>Why layering?</vt:lpstr>
      <vt:lpstr>PowerPoint Presentation</vt:lpstr>
      <vt:lpstr>TCP/IP Protocol Suite</vt:lpstr>
      <vt:lpstr>PowerPoint Presentation</vt:lpstr>
      <vt:lpstr>Application Layer</vt:lpstr>
      <vt:lpstr>Transport Layer</vt:lpstr>
      <vt:lpstr>Internet/ Network Layer</vt:lpstr>
      <vt:lpstr>Network Interface Layer</vt:lpstr>
      <vt:lpstr>Physical Layer</vt:lpstr>
      <vt:lpstr>Protocols Involved in a day in the Life of a Web Page Request  </vt:lpstr>
      <vt:lpstr>DHCP (Dynamic host configuration protocol)</vt:lpstr>
      <vt:lpstr>IP addresses: how to get one?</vt:lpstr>
      <vt:lpstr>DHCP: Dynamic Host Configuration Protocol</vt:lpstr>
      <vt:lpstr>DHCP client-server scenario</vt:lpstr>
      <vt:lpstr>DHCP client-server scenario</vt:lpstr>
      <vt:lpstr>DHCP: more than IP addresses</vt:lpstr>
      <vt:lpstr>DNS (Domain name system)</vt:lpstr>
      <vt:lpstr>Example:    User requests the URL www.someschool.edu/index.html </vt:lpstr>
      <vt:lpstr>DNS: a distributed, hierarchical database</vt:lpstr>
      <vt:lpstr>TLD, authoritative servers</vt:lpstr>
      <vt:lpstr>Local DNS name server</vt:lpstr>
      <vt:lpstr>DNS name  resolution example</vt:lpstr>
      <vt:lpstr>A day in the life: scenario</vt:lpstr>
      <vt:lpstr>A day in the life… connecting to the Internet</vt:lpstr>
      <vt:lpstr>A day in the life… connecting to the Internet</vt:lpstr>
      <vt:lpstr>A day in the life… ARP (before DNS, before HTTP)</vt:lpstr>
      <vt:lpstr>A day in the life… using DNS</vt:lpstr>
      <vt:lpstr>A day in the life…TCP connection carrying HTTP</vt:lpstr>
      <vt:lpstr>A day in the life… HTTP request/reply </vt:lpstr>
    </vt:vector>
  </TitlesOfParts>
  <Company>UWB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Networking Basics</dc:title>
  <dc:creator>Geethapriya Thamilarasu</dc:creator>
  <cp:lastModifiedBy>Geethapriya Thamilarasu</cp:lastModifiedBy>
  <cp:revision>4</cp:revision>
  <dcterms:created xsi:type="dcterms:W3CDTF">2018-01-23T19:30:30Z</dcterms:created>
  <dcterms:modified xsi:type="dcterms:W3CDTF">2018-01-23T19:41:13Z</dcterms:modified>
</cp:coreProperties>
</file>